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EVIDENCE SLIDES — SOURCE AND SPEAKER NOTES</a:t>
            </a:r>
          </a:p>
          <a:p>
            <a:r>
              <a:t>Prepared 2026-10-16. Presentation styling follows ComparisonSlide.png (white, charcoal, coral highlight).</a:t>
            </a:r>
          </a:p>
          <a:p>
            <a:r>
              <a:t>All charts/tables replot retained v1 results. No new training, experiment, signature verification or lab validation was performed.</a:t>
            </a:r>
          </a:p>
          <a:p/>
          <a:p>
            <a:r>
              <a:t>SLIDE 1 / DENSITY</a:t>
            </a:r>
          </a:p>
          <a:p>
            <a:r>
              <a:t>MAE 0.1327425203 -&gt; 0.0566447055 g/cm3, a calculated 57.327% reduction.</a:t>
            </a:r>
          </a:p>
          <a:p>
            <a:r>
              <a:t>RadonPy labels are molecular-dynamics simulations, not measured production samples.</a:t>
            </a:r>
          </a:p>
          <a:p>
            <a:r>
              <a:t>Random within-corpus split: 646 train / 215 calibration / 216 test. R2 is not Pearson r.</a:t>
            </a:r>
          </a:p>
          <a:p>
            <a:r>
              <a:t>The source dataset name PI1070 does not determine the retained 1,077-row evaluation count.</a:t>
            </a:r>
          </a:p>
          <a:p/>
          <a:p>
            <a:r>
              <a:t>SLIDE 2 / THERMAL</a:t>
            </a:r>
          </a:p>
          <a:p>
            <a:r>
              <a:t>Uses the fresh, internally matched C8 comparison: 80.2999166 -&gt; 48.7735715 K MAE, a calculated 39.261% reduction.</a:t>
            </a:r>
          </a:p>
          <a:p>
            <a:r>
              <a:t>265 train / 88 calibration / 89 test = 442 valid experimental OpenPoly records.</a:t>
            </a:r>
          </a:p>
          <a:p>
            <a:r>
              <a:t>The physics baseline was transferred from a simulated Polyuniverse fit without OpenPoly refitting.</a:t>
            </a:r>
          </a:p>
          <a:p>
            <a:r>
              <a:t>This is not a universal win over all physics models or state of the art.</a:t>
            </a:r>
          </a:p>
          <a:p>
            <a:r>
              <a:t>Do not mix this row with the separate 51.2375 K scaffold-LOSO result or its different test protocol.</a:t>
            </a:r>
          </a:p>
          <a:p>
            <a:r>
              <a:t>The final external-validity audit refutes novel-chemistry transfer; these slides preserve a within-corpus claim only.</a:t>
            </a:r>
          </a:p>
          <a:p>
            <a:r>
              <a:t>The Polyuniverse absolute-temperature unit issue is not used as a positive performance claim here.</a:t>
            </a:r>
          </a:p>
          <a:p/>
          <a:p>
            <a:r>
              <a:t>SLIDE 3 / SOLUBILITY</a:t>
            </a:r>
          </a:p>
          <a:p>
            <a:r>
              <a:t>Full-corpus model RMSE 0.8770255643 vs solvent-mean 1.1686915142 (24.96% reduction).</a:t>
            </a:r>
          </a:p>
          <a:p>
            <a:r>
              <a:t>95% cluster-bootstrap interval 0.8416341721–0.9154344725.</a:t>
            </a:r>
          </a:p>
          <a:p>
            <a:r>
              <a:t>Hardened subset: 94,015 groups / 1,372 solutes; RMSE 0.8741657377 vs 1.1667252776.</a:t>
            </a:r>
          </a:p>
          <a:p>
            <a:r>
              <a:t>517 contradictory state-point groups (1,193 raw rows) excluded from both train/test material.</a:t>
            </a:r>
          </a:p>
          <a:p>
            <a:r>
              <a:t>This is small-molecule solubility supporting formulation research, not polymer dissolution or drug-release validation.</a:t>
            </a:r>
          </a:p>
          <a:p/>
          <a:p>
            <a:r>
              <a:t>SLIDE 4 / EVIDENCE PROCESS</a:t>
            </a:r>
          </a:p>
          <a:p>
            <a:r>
              <a:t>Density stack same-run RMSE 0.0723218955 vs RF 0.0861986512, but stack MAE 0.0569032315 vs RF 0.0566934387.</a:t>
            </a:r>
          </a:p>
          <a:p>
            <a:r>
              <a:t>This demonstrates why choosing only a flattering metric is insufficient. No blanket claim that physics+ML always wins.</a:t>
            </a:r>
          </a:p>
          <a:p>
            <a:r>
              <a:t>Audit-only development signatures are not external review or scientific validation. No signing-trust claim is made.</a:t>
            </a:r>
          </a:p>
          <a:p>
            <a:r>
              <a:t>Dielectric positive figures from the old pack were omitted because C8 retracts the contaminated-population claim.</a:t>
            </a:r>
          </a:p>
          <a:p>
            <a:r>
              <a:t>Creative license is limited to titles, layout and investment framing. No invented data, scatter points, confidence intervals or competitor results.</a:t>
            </a:r>
          </a:p>
          <a:p/>
          <a:p>
            <a:r>
              <a:t>SOURCE MAP (repository-relative; SHA256 pins are in source_manifest.json)</a:t>
            </a:r>
          </a:p>
          <a:p>
            <a:r>
              <a:t>D1: v1/amphora-molecule-property/reference/mvp20/data/radonpy_pi1070_density_ml_and_van_krevelen_physics_receipt.v1.json</a:t>
            </a:r>
          </a:p>
          <a:p>
            <a:r>
              <a:t>D2: v1/amphora-molecule-property/reference/mvp20/data/stacked_ml_and_van_krevelen_physics_density_radonpy_receipt.v1.json</a:t>
            </a:r>
          </a:p>
          <a:p>
            <a:r>
              <a:t>T1: v1/amphora-molecule-property/benchmarks/phys-ml-stack-comparison-c8-v3-final/receipt_body.canonical.json</a:t>
            </a:r>
          </a:p>
          <a:p>
            <a:r>
              <a:t>S1: v1/amphora-solvency-score/evidence/audit/hansen-hardened-validation-v1/bigsoldb-admissibility-hardened-lso-receipt.v1.dsse.json</a:t>
            </a:r>
          </a:p>
          <a:p>
            <a:r>
              <a:t>A1: v1/amphora-molecule-property/benchmarks/tg-density-external-validity-c7-v3-final/receipt_body.canonical.json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EVIDENCE SLIDES — SOURCE AND SPEAKER NOTES</a:t>
            </a:r>
          </a:p>
          <a:p>
            <a:r>
              <a:t>Prepared 2026-10-16. Presentation styling follows ComparisonSlide.png (white, charcoal, coral highlight).</a:t>
            </a:r>
          </a:p>
          <a:p>
            <a:r>
              <a:t>All charts/tables replot retained v1 results. No new training, experiment, signature verification or lab validation was performed.</a:t>
            </a:r>
          </a:p>
          <a:p/>
          <a:p>
            <a:r>
              <a:t>SLIDE 1 / DENSITY</a:t>
            </a:r>
          </a:p>
          <a:p>
            <a:r>
              <a:t>MAE 0.1327425203 -&gt; 0.0566447055 g/cm3, a calculated 57.327% reduction.</a:t>
            </a:r>
          </a:p>
          <a:p>
            <a:r>
              <a:t>RadonPy labels are molecular-dynamics simulations, not measured production samples.</a:t>
            </a:r>
          </a:p>
          <a:p>
            <a:r>
              <a:t>Random within-corpus split: 646 train / 215 calibration / 216 test. R2 is not Pearson r.</a:t>
            </a:r>
          </a:p>
          <a:p>
            <a:r>
              <a:t>The source dataset name PI1070 does not determine the retained 1,077-row evaluation count.</a:t>
            </a:r>
          </a:p>
          <a:p/>
          <a:p>
            <a:r>
              <a:t>SLIDE 2 / THERMAL</a:t>
            </a:r>
          </a:p>
          <a:p>
            <a:r>
              <a:t>Uses the fresh, internally matched C8 comparison: 80.2999166 -&gt; 48.7735715 K MAE, a calculated 39.261% reduction.</a:t>
            </a:r>
          </a:p>
          <a:p>
            <a:r>
              <a:t>265 train / 88 calibration / 89 test = 442 valid experimental OpenPoly records.</a:t>
            </a:r>
          </a:p>
          <a:p>
            <a:r>
              <a:t>The physics baseline was transferred from a simulated Polyuniverse fit without OpenPoly refitting.</a:t>
            </a:r>
          </a:p>
          <a:p>
            <a:r>
              <a:t>This is not a universal win over all physics models or state of the art.</a:t>
            </a:r>
          </a:p>
          <a:p>
            <a:r>
              <a:t>Do not mix this row with the separate 51.2375 K scaffold-LOSO result or its different test protocol.</a:t>
            </a:r>
          </a:p>
          <a:p>
            <a:r>
              <a:t>The final external-validity audit refutes novel-chemistry transfer; these slides preserve a within-corpus claim only.</a:t>
            </a:r>
          </a:p>
          <a:p>
            <a:r>
              <a:t>The Polyuniverse absolute-temperature unit issue is not used as a positive performance claim here.</a:t>
            </a:r>
          </a:p>
          <a:p/>
          <a:p>
            <a:r>
              <a:t>SLIDE 3 / SOLUBILITY</a:t>
            </a:r>
          </a:p>
          <a:p>
            <a:r>
              <a:t>Full-corpus model RMSE 0.8770255643 vs solvent-mean 1.1686915142 (24.96% reduction).</a:t>
            </a:r>
          </a:p>
          <a:p>
            <a:r>
              <a:t>95% cluster-bootstrap interval 0.8416341721–0.9154344725.</a:t>
            </a:r>
          </a:p>
          <a:p>
            <a:r>
              <a:t>Hardened subset: 94,015 groups / 1,372 solutes; RMSE 0.8741657377 vs 1.1667252776.</a:t>
            </a:r>
          </a:p>
          <a:p>
            <a:r>
              <a:t>517 contradictory state-point groups (1,193 raw rows) excluded from both train/test material.</a:t>
            </a:r>
          </a:p>
          <a:p>
            <a:r>
              <a:t>This is small-molecule solubility supporting formulation research, not polymer dissolution or drug-release validation.</a:t>
            </a:r>
          </a:p>
          <a:p/>
          <a:p>
            <a:r>
              <a:t>SLIDE 4 / EVIDENCE PROCESS</a:t>
            </a:r>
          </a:p>
          <a:p>
            <a:r>
              <a:t>Density stack same-run RMSE 0.0723218955 vs RF 0.0861986512, but stack MAE 0.0569032315 vs RF 0.0566934387.</a:t>
            </a:r>
          </a:p>
          <a:p>
            <a:r>
              <a:t>This demonstrates why choosing only a flattering metric is insufficient. No blanket claim that physics+ML always wins.</a:t>
            </a:r>
          </a:p>
          <a:p>
            <a:r>
              <a:t>Audit-only development signatures are not external review or scientific validation. No signing-trust claim is made.</a:t>
            </a:r>
          </a:p>
          <a:p>
            <a:r>
              <a:t>Dielectric positive figures from the old pack were omitted because C8 retracts the contaminated-population claim.</a:t>
            </a:r>
          </a:p>
          <a:p>
            <a:r>
              <a:t>Creative license is limited to titles, layout and investment framing. No invented data, scatter points, confidence intervals or competitor results.</a:t>
            </a:r>
          </a:p>
          <a:p/>
          <a:p>
            <a:r>
              <a:t>SOURCE MAP (repository-relative; SHA256 pins are in source_manifest.json)</a:t>
            </a:r>
          </a:p>
          <a:p>
            <a:r>
              <a:t>D1: v1/amphora-molecule-property/reference/mvp20/data/radonpy_pi1070_density_ml_and_van_krevelen_physics_receipt.v1.json</a:t>
            </a:r>
          </a:p>
          <a:p>
            <a:r>
              <a:t>D2: v1/amphora-molecule-property/reference/mvp20/data/stacked_ml_and_van_krevelen_physics_density_radonpy_receipt.v1.json</a:t>
            </a:r>
          </a:p>
          <a:p>
            <a:r>
              <a:t>T1: v1/amphora-molecule-property/benchmarks/phys-ml-stack-comparison-c8-v3-final/receipt_body.canonical.json</a:t>
            </a:r>
          </a:p>
          <a:p>
            <a:r>
              <a:t>S1: v1/amphora-solvency-score/evidence/audit/hansen-hardened-validation-v1/bigsoldb-admissibility-hardened-lso-receipt.v1.dsse.json</a:t>
            </a:r>
          </a:p>
          <a:p>
            <a:r>
              <a:t>A1: v1/amphora-molecule-property/benchmarks/tg-density-external-validity-c7-v3-final/receipt_body.canonical.json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EVIDENCE SLIDES — SOURCE AND SPEAKER NOTES</a:t>
            </a:r>
          </a:p>
          <a:p>
            <a:r>
              <a:t>Prepared 2026-10-16. Presentation styling follows ComparisonSlide.png (white, charcoal, coral highlight).</a:t>
            </a:r>
          </a:p>
          <a:p>
            <a:r>
              <a:t>All charts/tables replot retained v1 results. No new training, experiment, signature verification or lab validation was performed.</a:t>
            </a:r>
          </a:p>
          <a:p/>
          <a:p>
            <a:r>
              <a:t>SLIDE 1 / DENSITY</a:t>
            </a:r>
          </a:p>
          <a:p>
            <a:r>
              <a:t>MAE 0.1327425203 -&gt; 0.0566447055 g/cm3, a calculated 57.327% reduction.</a:t>
            </a:r>
          </a:p>
          <a:p>
            <a:r>
              <a:t>RadonPy labels are molecular-dynamics simulations, not measured production samples.</a:t>
            </a:r>
          </a:p>
          <a:p>
            <a:r>
              <a:t>Random within-corpus split: 646 train / 215 calibration / 216 test. R2 is not Pearson r.</a:t>
            </a:r>
          </a:p>
          <a:p>
            <a:r>
              <a:t>The source dataset name PI1070 does not determine the retained 1,077-row evaluation count.</a:t>
            </a:r>
          </a:p>
          <a:p/>
          <a:p>
            <a:r>
              <a:t>SLIDE 2 / THERMAL</a:t>
            </a:r>
          </a:p>
          <a:p>
            <a:r>
              <a:t>Uses the fresh, internally matched C8 comparison: 80.2999166 -&gt; 48.7735715 K MAE, a calculated 39.261% reduction.</a:t>
            </a:r>
          </a:p>
          <a:p>
            <a:r>
              <a:t>265 train / 88 calibration / 89 test = 442 valid experimental OpenPoly records.</a:t>
            </a:r>
          </a:p>
          <a:p>
            <a:r>
              <a:t>The physics baseline was transferred from a simulated Polyuniverse fit without OpenPoly refitting.</a:t>
            </a:r>
          </a:p>
          <a:p>
            <a:r>
              <a:t>This is not a universal win over all physics models or state of the art.</a:t>
            </a:r>
          </a:p>
          <a:p>
            <a:r>
              <a:t>Do not mix this row with the separate 51.2375 K scaffold-LOSO result or its different test protocol.</a:t>
            </a:r>
          </a:p>
          <a:p>
            <a:r>
              <a:t>The final external-validity audit refutes novel-chemistry transfer; these slides preserve a within-corpus claim only.</a:t>
            </a:r>
          </a:p>
          <a:p>
            <a:r>
              <a:t>The Polyuniverse absolute-temperature unit issue is not used as a positive performance claim here.</a:t>
            </a:r>
          </a:p>
          <a:p/>
          <a:p>
            <a:r>
              <a:t>SLIDE 3 / SOLUBILITY</a:t>
            </a:r>
          </a:p>
          <a:p>
            <a:r>
              <a:t>Full-corpus model RMSE 0.8770255643 vs solvent-mean 1.1686915142 (24.96% reduction).</a:t>
            </a:r>
          </a:p>
          <a:p>
            <a:r>
              <a:t>95% cluster-bootstrap interval 0.8416341721–0.9154344725.</a:t>
            </a:r>
          </a:p>
          <a:p>
            <a:r>
              <a:t>Hardened subset: 94,015 groups / 1,372 solutes; RMSE 0.8741657377 vs 1.1667252776.</a:t>
            </a:r>
          </a:p>
          <a:p>
            <a:r>
              <a:t>517 contradictory state-point groups (1,193 raw rows) excluded from both train/test material.</a:t>
            </a:r>
          </a:p>
          <a:p>
            <a:r>
              <a:t>This is small-molecule solubility supporting formulation research, not polymer dissolution or drug-release validation.</a:t>
            </a:r>
          </a:p>
          <a:p/>
          <a:p>
            <a:r>
              <a:t>SLIDE 4 / EVIDENCE PROCESS</a:t>
            </a:r>
          </a:p>
          <a:p>
            <a:r>
              <a:t>Density stack same-run RMSE 0.0723218955 vs RF 0.0861986512, but stack MAE 0.0569032315 vs RF 0.0566934387.</a:t>
            </a:r>
          </a:p>
          <a:p>
            <a:r>
              <a:t>This demonstrates why choosing only a flattering metric is insufficient. No blanket claim that physics+ML always wins.</a:t>
            </a:r>
          </a:p>
          <a:p>
            <a:r>
              <a:t>Audit-only development signatures are not external review or scientific validation. No signing-trust claim is made.</a:t>
            </a:r>
          </a:p>
          <a:p>
            <a:r>
              <a:t>Dielectric positive figures from the old pack were omitted because C8 retracts the contaminated-population claim.</a:t>
            </a:r>
          </a:p>
          <a:p>
            <a:r>
              <a:t>Creative license is limited to titles, layout and investment framing. No invented data, scatter points, confidence intervals or competitor results.</a:t>
            </a:r>
          </a:p>
          <a:p/>
          <a:p>
            <a:r>
              <a:t>SOURCE MAP (repository-relative; SHA256 pins are in source_manifest.json)</a:t>
            </a:r>
          </a:p>
          <a:p>
            <a:r>
              <a:t>D1: v1/amphora-molecule-property/reference/mvp20/data/radonpy_pi1070_density_ml_and_van_krevelen_physics_receipt.v1.json</a:t>
            </a:r>
          </a:p>
          <a:p>
            <a:r>
              <a:t>D2: v1/amphora-molecule-property/reference/mvp20/data/stacked_ml_and_van_krevelen_physics_density_radonpy_receipt.v1.json</a:t>
            </a:r>
          </a:p>
          <a:p>
            <a:r>
              <a:t>T1: v1/amphora-molecule-property/benchmarks/phys-ml-stack-comparison-c8-v3-final/receipt_body.canonical.json</a:t>
            </a:r>
          </a:p>
          <a:p>
            <a:r>
              <a:t>S1: v1/amphora-solvency-score/evidence/audit/hansen-hardened-validation-v1/bigsoldb-admissibility-hardened-lso-receipt.v1.dsse.json</a:t>
            </a:r>
          </a:p>
          <a:p>
            <a:r>
              <a:t>A1: v1/amphora-molecule-property/benchmarks/tg-density-external-validity-c7-v3-final/receipt_body.canonical.json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EVIDENCE SLIDES — SOURCE AND SPEAKER NOTES</a:t>
            </a:r>
          </a:p>
          <a:p>
            <a:r>
              <a:t>Prepared 2026-10-16. Presentation styling follows ComparisonSlide.png (white, charcoal, coral highlight).</a:t>
            </a:r>
          </a:p>
          <a:p>
            <a:r>
              <a:t>All charts/tables replot retained v1 results. No new training, experiment, signature verification or lab validation was performed.</a:t>
            </a:r>
          </a:p>
          <a:p/>
          <a:p>
            <a:r>
              <a:t>SLIDE 1 / DENSITY</a:t>
            </a:r>
          </a:p>
          <a:p>
            <a:r>
              <a:t>MAE 0.1327425203 -&gt; 0.0566447055 g/cm3, a calculated 57.327% reduction.</a:t>
            </a:r>
          </a:p>
          <a:p>
            <a:r>
              <a:t>RadonPy labels are molecular-dynamics simulations, not measured production samples.</a:t>
            </a:r>
          </a:p>
          <a:p>
            <a:r>
              <a:t>Random within-corpus split: 646 train / 215 calibration / 216 test. R2 is not Pearson r.</a:t>
            </a:r>
          </a:p>
          <a:p>
            <a:r>
              <a:t>The source dataset name PI1070 does not determine the retained 1,077-row evaluation count.</a:t>
            </a:r>
          </a:p>
          <a:p/>
          <a:p>
            <a:r>
              <a:t>SLIDE 2 / THERMAL</a:t>
            </a:r>
          </a:p>
          <a:p>
            <a:r>
              <a:t>Uses the fresh, internally matched C8 comparison: 80.2999166 -&gt; 48.7735715 K MAE, a calculated 39.261% reduction.</a:t>
            </a:r>
          </a:p>
          <a:p>
            <a:r>
              <a:t>265 train / 88 calibration / 89 test = 442 valid experimental OpenPoly records.</a:t>
            </a:r>
          </a:p>
          <a:p>
            <a:r>
              <a:t>The physics baseline was transferred from a simulated Polyuniverse fit without OpenPoly refitting.</a:t>
            </a:r>
          </a:p>
          <a:p>
            <a:r>
              <a:t>This is not a universal win over all physics models or state of the art.</a:t>
            </a:r>
          </a:p>
          <a:p>
            <a:r>
              <a:t>Do not mix this row with the separate 51.2375 K scaffold-LOSO result or its different test protocol.</a:t>
            </a:r>
          </a:p>
          <a:p>
            <a:r>
              <a:t>The final external-validity audit refutes novel-chemistry transfer; these slides preserve a within-corpus claim only.</a:t>
            </a:r>
          </a:p>
          <a:p>
            <a:r>
              <a:t>The Polyuniverse absolute-temperature unit issue is not used as a positive performance claim here.</a:t>
            </a:r>
          </a:p>
          <a:p/>
          <a:p>
            <a:r>
              <a:t>SLIDE 3 / SOLUBILITY</a:t>
            </a:r>
          </a:p>
          <a:p>
            <a:r>
              <a:t>Full-corpus model RMSE 0.8770255643 vs solvent-mean 1.1686915142 (24.96% reduction).</a:t>
            </a:r>
          </a:p>
          <a:p>
            <a:r>
              <a:t>95% cluster-bootstrap interval 0.8416341721–0.9154344725.</a:t>
            </a:r>
          </a:p>
          <a:p>
            <a:r>
              <a:t>Hardened subset: 94,015 groups / 1,372 solutes; RMSE 0.8741657377 vs 1.1667252776.</a:t>
            </a:r>
          </a:p>
          <a:p>
            <a:r>
              <a:t>517 contradictory state-point groups (1,193 raw rows) excluded from both train/test material.</a:t>
            </a:r>
          </a:p>
          <a:p>
            <a:r>
              <a:t>This is small-molecule solubility supporting formulation research, not polymer dissolution or drug-release validation.</a:t>
            </a:r>
          </a:p>
          <a:p/>
          <a:p>
            <a:r>
              <a:t>SLIDE 4 / EVIDENCE PROCESS</a:t>
            </a:r>
          </a:p>
          <a:p>
            <a:r>
              <a:t>Density stack same-run RMSE 0.0723218955 vs RF 0.0861986512, but stack MAE 0.0569032315 vs RF 0.0566934387.</a:t>
            </a:r>
          </a:p>
          <a:p>
            <a:r>
              <a:t>This demonstrates why choosing only a flattering metric is insufficient. No blanket claim that physics+ML always wins.</a:t>
            </a:r>
          </a:p>
          <a:p>
            <a:r>
              <a:t>Audit-only development signatures are not external review or scientific validation. No signing-trust claim is made.</a:t>
            </a:r>
          </a:p>
          <a:p>
            <a:r>
              <a:t>Dielectric positive figures from the old pack were omitted because C8 retracts the contaminated-population claim.</a:t>
            </a:r>
          </a:p>
          <a:p>
            <a:r>
              <a:t>Creative license is limited to titles, layout and investment framing. No invented data, scatter points, confidence intervals or competitor results.</a:t>
            </a:r>
          </a:p>
          <a:p/>
          <a:p>
            <a:r>
              <a:t>SOURCE MAP (repository-relative; SHA256 pins are in source_manifest.json)</a:t>
            </a:r>
          </a:p>
          <a:p>
            <a:r>
              <a:t>D1: v1/amphora-molecule-property/reference/mvp20/data/radonpy_pi1070_density_ml_and_van_krevelen_physics_receipt.v1.json</a:t>
            </a:r>
          </a:p>
          <a:p>
            <a:r>
              <a:t>D2: v1/amphora-molecule-property/reference/mvp20/data/stacked_ml_and_van_krevelen_physics_density_radonpy_receipt.v1.json</a:t>
            </a:r>
          </a:p>
          <a:p>
            <a:r>
              <a:t>T1: v1/amphora-molecule-property/benchmarks/phys-ml-stack-comparison-c8-v3-final/receipt_body.canonical.json</a:t>
            </a:r>
          </a:p>
          <a:p>
            <a:r>
              <a:t>S1: v1/amphora-solvency-score/evidence/audit/hansen-hardened-validation-v1/bigsoldb-admissibility-hardened-lso-receipt.v1.dsse.json</a:t>
            </a:r>
          </a:p>
          <a:p>
            <a:r>
              <a:t>A1: v1/amphora-molecule-property/benchmarks/tg-density-external-validity-c7-v3-final/receipt_body.canonical.json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438912"/>
            <a:ext cx="82296" cy="256032"/>
          </a:xfrm>
          <a:prstGeom prst="rect">
            <a:avLst/>
          </a:prstGeom>
          <a:solidFill>
            <a:srgbClr val="E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11480"/>
            <a:ext cx="1344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62D"/>
                </a:solidFill>
                <a:latin typeface="Arial"/>
              </a:defRPr>
            </a:pPr>
            <a:r>
              <a:t>POLYMER DENSITY / SAME-TEST-SET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960120"/>
            <a:ext cx="13807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v1 learned polymer density beyond</a:t>
            </a:r>
          </a:p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classical group-contribution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2057400"/>
            <a:ext cx="1362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06672"/>
                </a:solidFill>
                <a:latin typeface="Arial"/>
              </a:defRPr>
            </a:pPr>
            <a:r>
              <a:t>1,077 polymer structures from RadonPy PI1070; the model and physics baseline share the same 216-polymer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7827264"/>
            <a:ext cx="1344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Amphora Labs  /  Confidential  /  v1 evidence  /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61720" y="78272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3026664"/>
            <a:ext cx="2761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3026664"/>
            <a:ext cx="30998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How it was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26664"/>
            <a:ext cx="152704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MAE (g/cm3)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2666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Fit (R2)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675887"/>
            <a:ext cx="9345168" cy="12801"/>
          </a:xfrm>
          <a:prstGeom prst="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3867911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Van Krevelen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3867911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Random 60/20/20</a:t>
            </a:r>
          </a:p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train / calibrate /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3" y="3867911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0.1327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3867911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0.026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4700016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" y="4855464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Mean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4855464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Same test polymers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3" y="4855464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0.1268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4855464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5687568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" y="5705856"/>
            <a:ext cx="9345168" cy="960120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5843016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Amphora v1 / 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5843016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646 train / 215 calibrate</a:t>
            </a:r>
          </a:p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216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5843016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0.0566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5843016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0.720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" y="6675120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7000" y="2971800"/>
            <a:ext cx="3931920" cy="3822191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236976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EF462D"/>
                </a:solidFill>
                <a:latin typeface="Arial"/>
              </a:defRPr>
            </a:pPr>
            <a:r>
              <a:t>57.3% less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251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Learned molecular features improve density estimates over the named physics baseline.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5806440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06672"/>
                </a:solidFill>
                <a:latin typeface="Arial"/>
              </a:defRPr>
            </a:pPr>
            <a:r>
              <a:t>Supports screening within the tested chemical distribution.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7159752"/>
            <a:ext cx="137160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Source: RadonPy density comparison receipt [D1]. MD-simulated density at 300 K; random split.</a:t>
            </a:r>
          </a:p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Within-corpus result; novel-chemistry transfer is not established [A1].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438912"/>
            <a:ext cx="82296" cy="256032"/>
          </a:xfrm>
          <a:prstGeom prst="rect">
            <a:avLst/>
          </a:prstGeom>
          <a:solidFill>
            <a:srgbClr val="E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11480"/>
            <a:ext cx="1344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62D"/>
                </a:solidFill>
                <a:latin typeface="Arial"/>
              </a:defRPr>
            </a:pPr>
            <a:r>
              <a:t>THERMAL BEHAVIOR / EXPERIMENTAL POLYMER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960120"/>
            <a:ext cx="13807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v1 benchmarked thermal predictions</a:t>
            </a:r>
          </a:p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against experimental polymer 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2057400"/>
            <a:ext cx="1362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06672"/>
                </a:solidFill>
                <a:latin typeface="Arial"/>
              </a:defRPr>
            </a:pPr>
            <a:r>
              <a:t>OpenPoly glass-transition temperature: a matched 89-polymer test set compares physics, learned chemistry and their combination.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7827264"/>
            <a:ext cx="1344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Amphora Labs  /  Confidential  /  v1 evidence  /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61720" y="78272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3026664"/>
            <a:ext cx="2761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3026664"/>
            <a:ext cx="30998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How it was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26664"/>
            <a:ext cx="152704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MAE (K)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2666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Fit (R2)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675887"/>
            <a:ext cx="9345168" cy="12801"/>
          </a:xfrm>
          <a:prstGeom prst="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3867911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Transferred physics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3867911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Van Krevelen Ridge;</a:t>
            </a:r>
          </a:p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no OpenPoly refitting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3" y="3867911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80.30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3867911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-0.245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4700016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" y="4855464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Physics + ML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4855464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Same train / calibrate /</a:t>
            </a:r>
          </a:p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test partition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3" y="4855464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54.05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4855464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0.363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5687568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" y="5705856"/>
            <a:ext cx="9345168" cy="960120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5843016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Amphora v1 / 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5843016"/>
            <a:ext cx="30632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265 train / 88 calibrate</a:t>
            </a:r>
          </a:p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89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5843016"/>
            <a:ext cx="149047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48.77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5843016"/>
            <a:ext cx="144475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0.405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" y="6675120"/>
            <a:ext cx="9345168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7000" y="2971800"/>
            <a:ext cx="3931920" cy="3822191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236976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EF462D"/>
                </a:solidFill>
                <a:latin typeface="Arial"/>
              </a:defRPr>
            </a:pPr>
            <a:r>
              <a:t>39.3% less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251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On this matched test set, learned chemistry outperformed the transferred physics model.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5806440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06672"/>
                </a:solidFill>
                <a:latin typeface="Arial"/>
              </a:defRPr>
            </a:pPr>
            <a:r>
              <a:t>A measured starting point for prioritizing thermal-property experiments.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" y="7159752"/>
            <a:ext cx="137160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Source: final physics / ML / stack comparison receipt [T1]. Experimental OpenPoly Tg; fresh random 60/20/20 split.</a:t>
            </a:r>
          </a:p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Baseline was fitted on a different, simulated corpus. Single-corpus benchmark; not prospective lab validation [A1].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438912"/>
            <a:ext cx="82296" cy="256032"/>
          </a:xfrm>
          <a:prstGeom prst="rect">
            <a:avLst/>
          </a:prstGeom>
          <a:solidFill>
            <a:srgbClr val="E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11480"/>
            <a:ext cx="1344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62D"/>
                </a:solidFill>
                <a:latin typeface="Arial"/>
              </a:defRPr>
            </a:pPr>
            <a:r>
              <a:t>FORMULATION SUPPORT / UNSEEN-SOLUTE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960120"/>
            <a:ext cx="13807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v1 improved solubility predictions</a:t>
            </a:r>
          </a:p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for molecules withheld from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2057400"/>
            <a:ext cx="1362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06672"/>
                </a:solidFill>
                <a:latin typeface="Arial"/>
              </a:defRPr>
            </a:pPr>
            <a:r>
              <a:t>BigSolDB: 94,532 measurement groups across 1,372 solutes, evaluated with leave-solute-out cross-validation.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7827264"/>
            <a:ext cx="1344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Amphora Labs  /  Confidential  /  v1 evidence  /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61720" y="78272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3026664"/>
            <a:ext cx="27614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3026664"/>
            <a:ext cx="437997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How it was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026664"/>
            <a:ext cx="18470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606672"/>
                </a:solidFill>
                <a:latin typeface="Arial"/>
              </a:defRPr>
            </a:pPr>
            <a:r>
              <a:t>RMSE (log 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675887"/>
            <a:ext cx="9345167" cy="12801"/>
          </a:xfrm>
          <a:prstGeom prst="rect">
            <a:avLst/>
          </a:prstGeom>
          <a:solidFill>
            <a:srgbClr val="15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3867911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Best naive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3867911"/>
            <a:ext cx="4343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Solvent-mean baseline</a:t>
            </a:r>
          </a:p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on the same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3867911"/>
            <a:ext cx="18105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1.169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4700016"/>
            <a:ext cx="9345167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4855464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Data-cleaning stress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4855464"/>
            <a:ext cx="4343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Contradictory state-point</a:t>
            </a:r>
          </a:p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groups removed; same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4855464"/>
            <a:ext cx="18105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5181C"/>
                </a:solidFill>
                <a:latin typeface="Arial"/>
              </a:defRPr>
            </a:pPr>
            <a:r>
              <a:t>0.874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687568"/>
            <a:ext cx="9345167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" y="5705856"/>
            <a:ext cx="9345167" cy="960120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5843016"/>
            <a:ext cx="27249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Amphora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5843016"/>
            <a:ext cx="4343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Test solutes withheld</a:t>
            </a:r>
          </a:p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from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5843016"/>
            <a:ext cx="1810512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EF462D"/>
                </a:solidFill>
                <a:latin typeface="Arial"/>
              </a:defRPr>
            </a:pPr>
            <a:r>
              <a:t>0.877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" y="6675120"/>
            <a:ext cx="9345167" cy="9144"/>
          </a:xfrm>
          <a:prstGeom prst="rect">
            <a:avLst/>
          </a:prstGeom>
          <a:solidFill>
            <a:srgbClr val="D9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87000" y="2971800"/>
            <a:ext cx="3931920" cy="3822191"/>
          </a:xfrm>
          <a:prstGeom prst="rect">
            <a:avLst/>
          </a:prstGeom>
          <a:solidFill>
            <a:srgbClr val="FB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3236976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EF462D"/>
                </a:solidFill>
                <a:latin typeface="Arial"/>
              </a:defRPr>
            </a:pPr>
            <a:r>
              <a:t>25.0% less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4251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The advantage held after removing contradictory measurements: RMSE 0.877 became 0.874.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5806440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06672"/>
                </a:solidFill>
                <a:latin typeface="Arial"/>
              </a:defRPr>
            </a:pPr>
            <a:r>
              <a:t>Relevant to solvent selection; this is not a drug-release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7159752"/>
            <a:ext cx="137160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Source: BigSolDB admissibility-hardened leave-solute-out audit [S1]. Full-corpus RMSE 95% CI: 0.842-0.915.</a:t>
            </a:r>
          </a:p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Literature-data benchmark and internal robustness audit; no prospective formulation or release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3192" y="438912"/>
            <a:ext cx="82296" cy="256032"/>
          </a:xfrm>
          <a:prstGeom prst="rect">
            <a:avLst/>
          </a:prstGeom>
          <a:solidFill>
            <a:srgbClr val="E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11480"/>
            <a:ext cx="1344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EF462D"/>
                </a:solidFill>
                <a:latin typeface="Arial"/>
              </a:defRPr>
            </a:pPr>
            <a:r>
              <a:t>EVIDENCE PROCESS / REPEATABLE TECHNICAL DILIGENCE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960120"/>
            <a:ext cx="138074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v1 built an evidence trail</a:t>
            </a:r>
          </a:p>
          <a:p>
            <a:pPr>
              <a:spcAft>
                <a:spcPts val="0"/>
              </a:spcAft>
              <a:defRPr sz="3200" b="1">
                <a:solidFill>
                  <a:srgbClr val="15181C"/>
                </a:solidFill>
                <a:latin typeface="Arial"/>
              </a:defRPr>
            </a:pPr>
            <a:r>
              <a:t>behind the performance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2057400"/>
            <a:ext cx="13624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606672"/>
                </a:solidFill>
                <a:latin typeface="Arial"/>
              </a:defRPr>
            </a:pPr>
            <a:r>
              <a:t>Named baselines, retained test protocols and explicit failure findings make the results inspectable.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7827264"/>
            <a:ext cx="1344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Amphora Labs  /  Confidential  /  v1 evidence  /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61720" y="78272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3090672"/>
            <a:ext cx="4443984" cy="3145536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30098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EF462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136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5181C"/>
                </a:solidFill>
                <a:latin typeface="Arial"/>
              </a:defRPr>
            </a:pPr>
            <a:r>
              <a:t>Compare fairly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90288"/>
            <a:ext cx="399592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Density and thermal comparisons use matched test sets. Solubility holds entire solutes out of 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090672"/>
            <a:ext cx="4443984" cy="3145536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1" y="330098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EF462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39136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5181C"/>
                </a:solidFill>
                <a:latin typeface="Arial"/>
              </a:defRPr>
            </a:pPr>
            <a:r>
              <a:t>Challenge the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4590288"/>
            <a:ext cx="399592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Removing contradictory solubility measurements preserved the gain: RMSE 0.877 to 0.874.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4936" y="3090672"/>
            <a:ext cx="4443984" cy="3145536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76104" y="330098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EF462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6104" y="39136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5181C"/>
                </a:solidFill>
                <a:latin typeface="Arial"/>
              </a:defRPr>
            </a:pPr>
            <a:r>
              <a:t>Keep the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6104" y="4590288"/>
            <a:ext cx="3995928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5181C"/>
                </a:solidFill>
                <a:latin typeface="Arial"/>
              </a:defRPr>
            </a:pPr>
            <a:r>
              <a:t>Hybrid density improved RMSE, but not MAE. Novel-chemistry transfer failed; its limits remain explicit.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6492240"/>
            <a:ext cx="1371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15181C"/>
                </a:solidFill>
                <a:latin typeface="Arial"/>
              </a:defRPr>
            </a:pPr>
            <a:r>
              <a:t>The investment case: an existing, inspectable foundation for choosing the next experiments.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7159752"/>
            <a:ext cx="137160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Sources: comparison receipts [D1, T1], solubility stress test [S1], density stack [D2], external-validity audit [A1].</a:t>
            </a:r>
          </a:p>
          <a:p>
            <a:pPr>
              <a:spcAft>
                <a:spcPts val="0"/>
              </a:spcAft>
              <a:defRPr sz="1000" b="0">
                <a:solidFill>
                  <a:srgbClr val="606672"/>
                </a:solidFill>
                <a:latin typeface="Arial"/>
              </a:defRPr>
            </a:pPr>
            <a:r>
              <a:t>Retrospective computational evidence. Source receipts retain their original audit status; signatures were not re-verified for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