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.xml" ContentType="application/vnd.openxmlformats-officedocument.drawingml.chart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80" r:id="rId5"/>
    <p:sldId id="281" r:id="rId6"/>
    <p:sldId id="28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0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First close ($mm)</c:v>
                </c:pt>
              </c:strCache>
            </c:strRef>
          </c:tx>
          <c:spPr>
            <a:solidFill>
              <a:srgbClr val="6E14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6211C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Engine training + wet-lab loop</c:v>
                </c:pt>
                <c:pt idx="1">
                  <c:v>AmBisome &amp; Sandostatin packages, pilot batches, CMO</c:v>
                </c:pt>
                <c:pt idx="2">
                  <c:v>Defense programs + ITAR/CMMC/cleared-facility build</c:v>
                </c:pt>
                <c:pt idx="3">
                  <c:v>FaaS build + first paid engagements</c:v>
                </c:pt>
                <c:pt idx="4">
                  <c:v>Agro &amp; vet screens + eco-tox/agronomy hires</c:v>
                </c:pt>
                <c:pt idx="5">
                  <c:v>Market study, FTO/counsel, BD</c:v>
                </c:pt>
                <c:pt idx="6">
                  <c:v>G&amp;A and contingency reserve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18</c:v>
                </c:pt>
                <c:pt idx="2">
                  <c:v>13</c:v>
                </c:pt>
                <c:pt idx="3">
                  <c:v>8</c:v>
                </c:pt>
                <c:pt idx="4">
                  <c:v>7</c:v>
                </c:pt>
                <c:pt idx="5">
                  <c:v>4</c:v>
                </c:pt>
                <c:pt idx="6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FA-E941-AAB8-01F9B6144F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1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362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852160" cy="5852160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480560"/>
            <a:ext cx="4023360" cy="4023360"/>
          </a:xfrm>
          <a:prstGeom prst="ellipse">
            <a:avLst/>
          </a:prstGeom>
          <a:solidFill>
            <a:srgbClr val="5A102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mphora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2377440" cy="3615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16002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Formulation Engine</a:t>
            </a:r>
            <a:endParaRPr lang="en-US" sz="5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2461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700" dirty="0" err="1">
                <a:solidFill>
                  <a:srgbClr val="E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Neurosymbolic</a:t>
            </a:r>
            <a:r>
              <a:rPr lang="en-US" sz="1700" dirty="0">
                <a:solidFill>
                  <a:srgbClr val="E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LLM + GNN platform that discovers and reformulates complex molecular products — one engine, five regulated markets, partner-first economics.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760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Briefing · September 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C9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Jeff@amphora.bio</a:t>
            </a:r>
            <a:r>
              <a:rPr lang="en-US" sz="1300" dirty="0">
                <a:solidFill>
                  <a:srgbClr val="C9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Not investment or legal advice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Formulation is where drugs — and dollars — get stuck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887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Off-patent complex drugs stay monopolies for a decade because nobody can reproduce their microstructure to FDA’s equivalence standard. The barrier is formulation science, not law — and incumbents attack it with brute-force empirical iteration.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55–75%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729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brand price still charged a full decade after patent expiry on complex generics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074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Liposomes · PLGA depots · nanosuspensions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4256" y="21945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36008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5–8 yrs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1729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empirical trial-and-error per product for incumbent formulation teams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5074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failed batch is discarded knowledge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1584" y="21945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403336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$2.5bn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403336" y="317296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15 years to develop a new human drug — while a formulation fix of a proven molecule needs neither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403336" y="5074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physics blocks vet, agro &amp; defense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8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neurosymbolic engine built for formulation, not discovery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read the literature and patents; graph neural networks model particle architecture and release physics; a symbolic chemistry layer enforces hard constraints (composition, GRAS/excipient rules, process limits). The engine optimises formulations — a bounded, data-rich problem — instead of inventing molecules.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5767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532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Release-kinetics prediction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95351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 reference depot’s curve, or design a new one, before the first wet-lab batch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0488" y="23317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258775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46520" y="25767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532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 &amp; colloid design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295351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Liposome and PLGA microstructure from composition + process parameters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43708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3598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315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Solubility &amp; stability optimisation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473659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Amorphous dispersions, lyophilisation, excipient stabilisation under any stress condition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488" y="41148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46520" y="43708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446520" y="43598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4315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flywheel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473659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failed batch, service engagement and program trains the engine — second programs are cheaper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870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Molecule-agnostic by construction: the same capabilities transfer to human generics, veterinary depots, crop protection, defense materials and paid services.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27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ENGINE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pathways become executable, evolvable graphs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hard-coding one discovery workflow, Amphora assembles proven scientific modules into campaign-specific graphs - then improves both the candidates and the pathways used to find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5767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532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modules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95351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building blocks for generation, simulation, scoring, safety, experiments and evidence.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0488" y="23317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258775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46520" y="25767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532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graphs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295351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maps define sequence, branching, feedback loops and multi-stage reactions for each program.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43708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3598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315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graphs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473659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Neurosymbolic knowledge maps bound what the system knows, assumes, questions and must prove.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488" y="41148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46520" y="43708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446520" y="43598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4315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Graph Studio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473659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inspect, edit and redirect the pathway - with every decision and result preserved.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870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no longer one formulation pipeline. It is an engine for designing scientific campaigns across materials and biology.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27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7082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designed graphs create a compounding evidence graph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propose campaign structures from the objective, available modules and domain constraints. Typed execution and human review make every run inspectable, comparable and reusable.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DOMAIN GRAPH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786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scientific world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10128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Mechanisms, causal links, evidence, uncertainty and applicability boundaries give the LLM a rigorous reasoning space.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57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known - and what must be proven.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05740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99432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CAMPAIGN GRAPH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5786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the path to an answer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310128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become an executable program: generate, test, branch, iterate, combine reaction stages and request human judgment.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5257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itself can evolve.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9872" y="205740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BF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75904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PROVENANCE GRAPH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5786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from every outcome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310128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decision, intermediate, failure and result is linked back to the pathway and knowledge that produced it.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5257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becomes training signal and IP.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campaign produces an answer. A portfolio of campaigns teaches Amphora better ways to search.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2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2691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COMPOUNDS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learns better pathways - not just molecules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73352"/>
            <a:ext cx="384048" cy="384048"/>
          </a:xfrm>
          <a:prstGeom prst="ellipse">
            <a:avLst/>
          </a:prstGeom>
          <a:solidFill>
            <a:srgbClr val="A67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6623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1645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Pathway IP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10312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campaign structures become reusable, versioned playbooks with known evidence, cost and failure profiles.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0488" y="1417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46520" y="1673352"/>
            <a:ext cx="384048" cy="384048"/>
          </a:xfrm>
          <a:prstGeom prst="ellipse">
            <a:avLst/>
          </a:prstGeom>
          <a:solidFill>
            <a:srgbClr val="A67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46520" y="16623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645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Cross-domain discovery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10312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graph motifs can transfer between materials and biology while domain graphs preserve the right scientific boundaries.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703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959352"/>
            <a:ext cx="384048" cy="384048"/>
          </a:xfrm>
          <a:prstGeom prst="ellipse">
            <a:avLst/>
          </a:prstGeom>
          <a:solidFill>
            <a:srgbClr val="A67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2960" y="39483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3931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expertise captured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38912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edits, reroutes and approvals become structured lineage instead of disappearing into meetings and notebooks.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0488" y="3703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46520" y="3959352"/>
            <a:ext cx="384048" cy="384048"/>
          </a:xfrm>
          <a:prstGeom prst="ellipse">
            <a:avLst/>
          </a:prstGeom>
          <a:solidFill>
            <a:srgbClr val="A67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46520" y="39483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3931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Expanding capability base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438912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validated module enlarges the design space available to every future campaign without rebuilding the platform.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defensible asset is the connected history of what was tried, why it was tried, what worked - and which campaign design found it.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26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12561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verified catalysts opened the window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67335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2025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5544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PLGA-depot ANDA ever approved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99339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Viatris’ octreotide LAR cleared a pathway FDA had never approved in 25 years — the regulatory door is open.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44368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3246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2024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31272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Invega Sustenna patent invalidated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566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Federal Circuit unlocked a ~$2.8bn US long-acting injectable franchise.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51713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481888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ONGOING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470001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FDA is lowering the evidence burden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513892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GDUFA III product-specific guidances permit AmBisome approval on in-vitro data alone if composition matches.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easy white spaces are closing quarterly (Injectafer generics Jul 2026; Vivitrol settled for 2027/28). Speed is the strategy.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18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five programs, five regulatory clocks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887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low-regulatory-risk cash (services, agro, defense contracts) arrives first and funds the high-value generic programs — while diversifying regulatory exposure across FDA, EPA, FDA-CVM and DoD.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5528" y="25420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95528" y="25310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154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FaaS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931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Engine-as-service · zero approval risk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2028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25496" y="228600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54096" y="25420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054096" y="25310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54096" y="3154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Agrochemical licensing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054096" y="3931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amendment only · no trials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054096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2027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84064" y="228600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12664" y="25420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12664" y="25310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12664" y="3154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materials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312664" y="3931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 field care + MOF CBRN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312664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2027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42632" y="228600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71232" y="25420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571232" y="25310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571232" y="3154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Complex-generic core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571232" y="3931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AmBisome + Sandostatin → Lupron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571232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2028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1200" y="228600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829800" y="2542032"/>
            <a:ext cx="384048" cy="38404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9829800" y="25310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829800" y="3154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Veterinary ANADA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9829800" y="3931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Ceftiofur + cefovecin depots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829800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2028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is designed in: nothing expensive starts before the engine’s first technical readout, and gated programs slip with it — never substitute for it.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37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programs, ~$133mm risk-adjusted NPV</a:t>
            </a:r>
            <a:endParaRPr lang="en-US" sz="3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3401568"/>
        </p:xfrm>
        <a:graphic>
          <a:graphicData uri="http://schemas.openxmlformats.org/drawingml/2006/table">
            <a:tbl>
              <a:tblPr/>
              <a:tblGrid>
                <a:gridCol w="184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($mm)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rNPV ($mm)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Risk-adj. MOIC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2027–28 fees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proof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Agrochemical licensing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 upfronts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4.2–5.1x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 (SOF + CBRN)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 SBIR/OTA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 + ~41 non-dilutive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6.1–9.0x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ANDA core Wave 1 (partnered)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 upfronts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~3.0x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Veterinary ANADA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 upfronts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621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2.8–3.8x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349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~$188mm </a:t>
            </a: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new equity across tranches buys </a:t>
            </a:r>
            <a:r>
              <a:rPr lang="en-US" sz="1350" b="1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~$133mm rNPV, ~$41mm non-dilutive pull, and $642mm+ success-case cash to 2043 </a:t>
            </a: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human core alone — plus an engine an acquirer values above the sum of its programs.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4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Formulation-as-a-Service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155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the engine: sponsors get formulation answers in weeks with success-fee pricing — and every engagement is public, citable proof plus training data. The client owns the filing, so approval risk is zero.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8096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$12.9mm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capital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84448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$7.3mm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rNPV · ~29% op margin at maturity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9632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revenue · breakeven 2029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15984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217152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$103bn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formulation-CDMO market by 2035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703320"/>
            <a:ext cx="6492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— capped FaaS team stood up; productised solubility/stability &amp; release-curve offers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— two paid pilot engagements closed (Adjacency Seed unlock milestone)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— first recognised revenue; pilots convert to repeat MSAs; first joint case study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— cash breakeven; case studies open every licensing conversation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3401568"/>
            <a:ext cx="4315968" cy="2971800"/>
          </a:xfrm>
          <a:prstGeom prst="roundRect">
            <a:avLst>
              <a:gd name="adj" fmla="val 2462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71232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PARTNERS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571232" y="391363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Mid-cap &amp; specialty pharma with 505(b)(2) pipelines; CDMOs as channel (Lonza, Catalent, Thermo Fisher, Recipharm, Adare)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5029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SET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53309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CDMO formulation groups; Persist AI (robotic formulation lab); SaaS tools sold into sponsor R&amp;D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25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Agrochemical Formulation Licensing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155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protection is a formulation industry: actives are off-patent commodities and value sits in encapsulation, drift reduction, rainfastness and stabilising biologicals. No clinical trials of any kind — an EPA registration amendment is the entire pathway.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8096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1.08x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rNPV per $ — best in portfolio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84448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4.2–5.1x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MOIC · ~59% PoS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9632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upfront cash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15984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217152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$317bn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crop-protection market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703320"/>
            <a:ext cx="6492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 — portfolio screen + eco-tox/agronomy hire (the named competence gap: $6–10mm, 12–18 mo)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— first co-development licence on 2–3 formulation families; first upfronts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— partner EPA amendments filed; field-trial milestones; second licensee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2029–30 — running royalties (FMC precedent: $200–250mm/yr from one family)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3401568"/>
            <a:ext cx="4315968" cy="2971800"/>
          </a:xfrm>
          <a:prstGeom prst="roundRect">
            <a:avLst>
              <a:gd name="adj" fmla="val 2462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71232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PARTNERS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571232" y="391363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ADAMA, Nufarm, UPL (off-patent majors); FMC, Syngenta, BASF, Corteva, Bayer formulation &amp; biologicals units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5029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SET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53309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Majors’ in-house labs; adjuvant chemists (Croda, Clariant, Stepan, Solvay); materials-AI SaaS (Citrine, Uncountable, NobleAI)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25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Materials — SOF Field Care + MOF CBRN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155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funded DoD requirements that map directly onto the engine: thermostable field-care formulations (no cold chain, 3+ yr shelf life at 40–50°C) and MOF-based CBRN protective composites. SEAL/Ranger leadership de-risks requirement fit and opens SOCOM’s fast acquisition authority.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8096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1.20x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rNPV per $ on the funded pair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84448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~$41mm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non-dilutive contract capital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9632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6.1–9.0x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MOIC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15984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217152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SBIR/OTA awards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703320"/>
            <a:ext cx="6492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— post-employment counsel (18 USC 207) + data-rights strategy before any capture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2026–Q1 2027 — SBIR/OTA submissions (Army Phase II to $2m; CWMD Consortium OTA via ATI/DTRA)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2027–29 — DEVCOM CBC / DTRA evaluation; BARDA-ASPR, NIAID, JPEO-CBRND field-care programs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2030–32 — garment/filter qualification toward program of record; first production royalties 2032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3401568"/>
            <a:ext cx="4315968" cy="2971800"/>
          </a:xfrm>
          <a:prstGeom prst="roundRect">
            <a:avLst>
              <a:gd name="adj" fmla="val 2462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71232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PARTNERS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571232" y="391363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DTRA/CWMD, DEVCOM CBC, BARDA/ASPR, NIAID, JPEO-CBRND, SOCOM; garment &amp; filter-media integrators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5029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SET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53309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Tetramer (incumbent MOF-textile OTA); DEVCOM/university programs; thermostable players (Vaxess, Jurata, Micron Biomedical)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25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Complex-Generic ANDA Core — Wave 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155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anchor: break decade-old monopolies (AmBisome, Sandostatin LAR → Lupron Depot, Invega Sustenna) by solving the microstructure problem incumbents brute-force. Out-license, not launch: partners fund BE, litigation, manufacture and launch; Amphora keeps 10–15% royalties.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8096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$65mm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rNPV, partnered model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84448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~3.0x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MOIC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9632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$642mm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success-case cash to 2043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15984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217152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licences + ANDA filings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703320"/>
            <a:ext cx="6492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Now–mid-2027 (T1 $50mm) — engines trained; AmBisome in-vitro package; Sandostatin curve match; kill condition at 18 months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Mid-2027–29 (T2 $70mm) — ANDA-ready packages + tech transfer on Lupron; Invega gated on 2027 crowding check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— licences signed after readouts (a de-risked asset is worth 2–3x more); upfronts ~$9mm/program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— first royalty revenue; AmBisome retained 100% as wholly-owned proof asset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3401568"/>
            <a:ext cx="4315968" cy="2971800"/>
          </a:xfrm>
          <a:prstGeom prst="roundRect">
            <a:avLst>
              <a:gd name="adj" fmla="val 2462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71232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PARTNERS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571232" y="391363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Teva, Sandoz, Viatris, Hikma, Amneal (licensing); sterile-injectable CMOs with clean FDA inspection histories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5029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SET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53309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tentative approvals behind Invega; Teva/Amneal Vivitrol settlements; Sun’s AmBisome generic; depot specialists (Oakwood, Foresee, Peptron, G2GBio, Luye)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25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OF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Veterinary LAI Generics (ANADA)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155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PLGA engine pointed at approvals that need blood-level bioequivalence only — no efficacy trials, 2–3 year cycles. Two verified off-patent targets: Zoetis’ Excede (ceftiofur, US formulation patents expired Jul 2024) and Convenia (cefovecin).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8096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$36.6mm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capital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84448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$20.7mm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rNPV · 0.56x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9632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2.8–3.8x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MOIC · 38–47% PoS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15984" y="192024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217152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4871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licensing upfronts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703320"/>
            <a:ext cx="6492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(gated) — start after the human core’s first PLGA release-curve match de-risks the engine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2027–28 — ceftiofur &amp; cefovecin reformulation + target-species BE studies ($8–9mm per program)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— ANADA submissions to FDA CVM; first animal-health licensing upfronts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2029–30 — approvals, launch royalties; programs 3–4 selected from a proper portfolio screen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3401568"/>
            <a:ext cx="4315968" cy="2971800"/>
          </a:xfrm>
          <a:prstGeom prst="roundRect">
            <a:avLst>
              <a:gd name="adj" fmla="val 2462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71232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PARTNERS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571232" y="391363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Dechra, Vetoquinol, Ceva, Virbac, Norbrook, Bimeda; Elanco / Merck AH / Boehringer AH for bigger deals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5029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SET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53309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Zoetis lifecycle defence; generic vet players with US ambitions; LatAm ceftiofur generics seeking US entry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25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Capital-light: license the science, rent the launch machinery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41248" y="16184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Upfronts &amp; milestones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574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signature, ANDA/ANADA acceptance and approval milestones — ~$9mm risk-adjusted per human program signed; agro upfronts from 2027.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90488" y="14173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64808" y="16184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Royalties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64808" y="20574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on partner net sales (human core); running royalties in agro and vet; production royalties on defense programs of record.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5661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41248" y="37673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Fees &amp; contracts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20624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 fee-for-service with success kickers (~29% operating margin); ~$41mm of non-dilutive DoD contract revenue modelled fee-only at 12%.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0488" y="35661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64808" y="37673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Amphora never pays for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420624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studies, registration batches, Paragraph IV litigation, manufacturing plants, sales forces — partners carry the risks Amphora is worst positioned to hold.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timing is the hidden ROI lever: license after the formulation-match readout, never before — the step-up is 2–3x on royalty and upfront.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18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RAMP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arrives every year from 2027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05840" y="1600200"/>
            <a:ext cx="0" cy="4480560"/>
          </a:xfrm>
          <a:prstGeom prst="line">
            <a:avLst/>
          </a:prstGeom>
          <a:noFill/>
          <a:ln w="25400">
            <a:solidFill>
              <a:srgbClr val="D8C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490472"/>
            <a:ext cx="237744" cy="237744"/>
          </a:xfrm>
          <a:prstGeom prst="ellipse">
            <a:avLst/>
          </a:prstGeom>
          <a:solidFill>
            <a:srgbClr val="A67C2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44475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first close · FaaS team · SBIR/OTA submissions · engine training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96112" y="2249424"/>
            <a:ext cx="237744" cy="237744"/>
          </a:xfrm>
          <a:prstGeom prst="ellipse">
            <a:avLst/>
          </a:prstGeom>
          <a:solidFill>
            <a:srgbClr val="A67C2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371600" y="21762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20370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licensing upfronts · first SBIR/OTA awards · FaaS pilots paid · engine readouts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6112" y="3008376"/>
            <a:ext cx="237744" cy="237744"/>
          </a:xfrm>
          <a:prstGeom prst="ellipse">
            <a:avLst/>
          </a:prstGeom>
          <a:solidFill>
            <a:srgbClr val="6E142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371600" y="293522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96265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 revenue · human &amp; vet licences signed (upfronts) · ANDA/ANADA filings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112" y="3767328"/>
            <a:ext cx="237744" cy="237744"/>
          </a:xfrm>
          <a:prstGeom prst="ellipse">
            <a:avLst/>
          </a:prstGeom>
          <a:solidFill>
            <a:srgbClr val="6E142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371600" y="369417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37216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 breakeven · milestone payments · adjacency back-end self-funds; no further equity planned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6112" y="4526280"/>
            <a:ext cx="237744" cy="237744"/>
          </a:xfrm>
          <a:prstGeom prst="ellipse">
            <a:avLst/>
          </a:prstGeom>
          <a:solidFill>
            <a:srgbClr val="6E142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371600" y="44531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2423160" y="4480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human-core royalties · AmBisome &amp; Sandostatin launches · vet approvals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6112" y="5285232"/>
            <a:ext cx="237744" cy="237744"/>
          </a:xfrm>
          <a:prstGeom prst="ellipse">
            <a:avLst/>
          </a:prstGeom>
          <a:solidFill>
            <a:srgbClr val="6E142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371600" y="5212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2032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523951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production royalties · Lupron royalties scaling · portfolio exit window opens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6053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events land before the second close: agro upfronts, SBIR/OTA awards, FaaS fees.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25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pools, one engine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385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$103bn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4203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formulation-CDMO market by 2035 (~7.8% CAGR)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99432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19385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$317bn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54203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protection; $4.2–4.5bn adjuvants; sustainable segment +11.4%/yr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19872" y="14630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375904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19385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$41mm+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254203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non-dilutive DoD capital; PHEMCE multiyear budget FY2025–29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404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041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GENERICS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3159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$2.8bn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1947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Invega US franchise alone; ~$900mm Lupron brand; decade-long price umbrellas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599432" y="4041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VETERINARY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43159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$22.5mm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491947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6.5 yrs for one innovator companion-animal active — reformulation is a fraction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19872" y="3840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470B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375904" y="41148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sizes are vendor research (±30%). The models never use them as inputs — they run on program-level assumptions.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27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competitor classes — none spans the whole model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41248" y="145389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AI-formulation SaaS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45389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NobleAI · Citrine · Uncountable · Albert Invent · Turing Labs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43560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software seats; not built for FDA/EPA equivalence-grade prediction; own no products or royalties.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478024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41248" y="2606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+ robotics pharma labs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606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AI (closest analog, LAI focus)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58775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Seed-scale, services-oriented; no licensing portfolio, no multi-market engine. Watch closely.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630168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41248" y="375818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Incumbent empirical R&amp;D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75818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Teva · Sandoz · Viatris · Amneal · Hikma in-house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739896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yrs/product empirical iteration; customers first under partner-first model — but could build or buy AI. Speed to signed licences is the defence.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782312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41248" y="491032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Depot specialists &amp; CDMOs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49103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Oakwood · Foresee · InnoCore · Nanomi/Lonza · Evonik · Luye · Peptron · G2GBio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8920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Molecule-by-molecule craft: their second program costs what the first did. Also CMO partners and licensees.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combines regulatory-grade pharma formulation with agro and defense reach under a licensing model — the whitespace Amphora claims.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22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moat compounds with every program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73352"/>
            <a:ext cx="384048" cy="384048"/>
          </a:xfrm>
          <a:prstGeom prst="ellipse">
            <a:avLst/>
          </a:prstGeom>
          <a:solidFill>
            <a:srgbClr val="A67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6623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1645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flywheel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10312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failed batch, FaaS engagement and second program trains the engine — marginal program cost falls while incumbents restart from zero.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0488" y="1417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46520" y="1673352"/>
            <a:ext cx="384048" cy="384048"/>
          </a:xfrm>
          <a:prstGeom prst="ellipse">
            <a:avLst/>
          </a:prstGeom>
          <a:solidFill>
            <a:srgbClr val="A67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46520" y="16623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645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Regulatory-precedent speed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10312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exploit fresh pathways (first PLGA ANDA, in-vitro-only PSGs, ANADA BE-only, EPA amendments) faster than empirical labs can retool.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703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959352"/>
            <a:ext cx="384048" cy="384048"/>
          </a:xfrm>
          <a:prstGeom prst="ellipse">
            <a:avLst/>
          </a:prstGeom>
          <a:solidFill>
            <a:srgbClr val="A67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2960" y="39483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3931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access (defense)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38912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SEAL/Ranger leadership retires the classic failure mode — building to a misunderstood requirement — and opens SOCOM; credited at 80% PoR PoS vs 70–75% base.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0488" y="3703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46520" y="3959352"/>
            <a:ext cx="384048" cy="384048"/>
          </a:xfrm>
          <a:prstGeom prst="ellipse">
            <a:avLst/>
          </a:prstGeom>
          <a:solidFill>
            <a:srgbClr val="A67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46520" y="39483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3931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Partner-first economics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438912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Amphora carries formulation + BE science risk only; facility, litigation and launch risk sit with partners built to hold them.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royalties; the asset is the dataset — the only proprietary corpus of formulation failure data in existence, and it compounds with every program.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26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HONESTLY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kill this — and the structural answer to each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179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never matches a reference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019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condition: neither engine matches within 18 months → return remaining T1 capital. The thesis is falsifiable, cheaply.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90488" y="13716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46520" y="15179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Crowding in marquee targets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019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targets the two smallest markets first; Invega gated on a 2027 field assessment (five tentative approvals already behind it).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9718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31181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inspections (top CRL cause)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5021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Partner-first pushes facility risk to CMOs/licensees chosen for clean FDA inspection histories.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0488" y="29718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46520" y="31181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data rights &amp; monopsony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5021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Data-rights strategy written before first SBIR; royalty assumptions stress-tested (halving production scale cuts defense rNPV to ~$2m).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5720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718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Competence gaps (agro/vet/defense)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023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Costed hires and screens precede capital commitment; partner earlier at lower royalty if hiring slips.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0488" y="457200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46520" y="4718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risk — five fronts, one engine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510235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gates every expensive start on the core readout; adjacencies slip with it, never substitute for it.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23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who have built, sold, and deployed at scale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655064"/>
            <a:ext cx="566928" cy="56692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1618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Jeff Riley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527048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CEO- Founder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IPOs; $1.5B+ raised in deep-science. 30+ years as CEO; veteran.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81144" y="1655064"/>
            <a:ext cx="566928" cy="56692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81144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618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 Boches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 - Founder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Commercialized AI for scientific discovery; 2x founder, techbio operator.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19872" y="1417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57616" y="1655064"/>
            <a:ext cx="566928" cy="56692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357616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79992" y="1618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 Breashears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079992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- Founder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yrs AI &amp; autonomous systems; ex-Director of AI Engineering, Metis; engineering leadership at Citadel, Pico, Enfusion.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703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4672" y="3941064"/>
            <a:ext cx="566928" cy="56692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04672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527048" y="3904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Jepson Taylor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527048" y="4270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R&amp;D EVANGELIST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663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&amp; sold Zeff.ai to DataRobot; former Chief AI Strategist, Dataiku.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43400" y="3703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81144" y="3941064"/>
            <a:ext cx="566928" cy="56692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581144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3904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Christian Dunbar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4270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AFFAIRS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599432" y="4663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US Navy SEAL Captain; stood up the Navy’s AI Task Force.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19872" y="3703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357616" y="3941064"/>
            <a:ext cx="566928" cy="566928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8357616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079992" y="3904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 Spence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9079992" y="4270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- Founder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375904" y="4663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25-year Navy SEAL (retired Captain); deep defense &amp; energy networks.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Deep-science capital formation + commercial AI product + regulated-industry engineering + SOCOM/Navy operator access — the exact seats this strategy needs.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pic>
        <p:nvPicPr>
          <p:cNvPr id="42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Tranched to milestones — ~$84mm first close, ~$188mm total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1444752"/>
          </a:xfrm>
          <a:prstGeom prst="roundRect">
            <a:avLst>
              <a:gd name="adj" fmla="val 506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58191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close · now → mid-2027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737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$84mm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581912"/>
            <a:ext cx="5257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T1 $50mm (engine readouts, kill condition) + Adjacency Seed $18mm (FaaS + screens) + Defense $16mm (SBIR capture, cleared-facility build).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3017520"/>
            <a:ext cx="11064240" cy="1444752"/>
          </a:xfrm>
          <a:prstGeom prst="roundRect">
            <a:avLst>
              <a:gd name="adj" fmla="val 506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318211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close · mid-2027 → 2029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337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$104mm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3182112"/>
            <a:ext cx="5257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T2 $70mm (ANDA packages, licences after readouts) + Adjacency Expansion $34mm (first licences with upfronts). The last equity the company plans to raise.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4617720"/>
            <a:ext cx="11064240" cy="1444752"/>
          </a:xfrm>
          <a:prstGeom prst="roundRect">
            <a:avLst>
              <a:gd name="adj" fmla="val 506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478231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Self-funding · 2029 onward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4937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4782312"/>
            <a:ext cx="5257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upfronts, milestones, FaaS margin and non-dilutive contracts fund the back end. No Tranche 3: launch capital is the partners’ problem.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carries the real science risk and prices accordingly; readouts are reached before any licence is signed — negotiating leverage is the tranche’s true product.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18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RETURNS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Underwrite the math — the platform upside rides free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~3.0x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128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risk-adjusted MOIC on ~$188mm deployed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$133mm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22128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portfolio rNPV @ 12% discount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$642mm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128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success-case cash to 2043, human core alone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372600" y="1554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$41mm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372600" y="22128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non-dilutive capital = dilution avoided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10896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PATHS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657600"/>
            <a:ext cx="10424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sale of royalty portfolio + platform to a generic major (Teva / Sandoz / Viatris / Hikma) once 2–3 assets are licensed.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as a licensing company — each additional program per engine costs less than the last; agro/vet/FaaS added ~80% company value for 61% more capital.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and agro verticals independently sellable to a prime or ag major.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downside: a Tranche-2 world with one licensed asset and a validated engine is worth ~$10–25mm plus platform salvage — loss scenarios concentrate in the first $50mm.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16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OPTIONALITY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engine becomes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raise is priced entirely on Wave 1. Every later wave shares the same formulation physics, the same orchestrator/agent architecture, and the same compounding dataset — and costs the investor nothing today.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786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Funded now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10128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programs of this raise: complex-generic ANDAs, veterinary ANADAs, agrochemical licensing, defense materials, FaaS. Fully costed, milestone-gated, kill-conditioned.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57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the round prices.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05740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99432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5786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physics — already in motion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310128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where formulation is the product and proof already exists: maritime &amp; industrial coatings (live engagement with HII), battery electrolytes (solvent–salt–additive design), lubricants, adhesives, propellant binders.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5257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proof: the coatings work pre-dates this raise.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9872" y="205740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BF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75904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5786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Post-validation options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310128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Discovery-class materials — alloys, superconductors, novel crystal structures. Different data, different validation loop; pursued only after cross-domain validation, and via partners. Options, not commitments.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5257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at zero in this deck — deliberately.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readout separates Wave 1 pricing from Wave 2 reality: a matched reference formulation makes every adjacent domain a sub-repo, not a new company.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22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$84mm now, $188mm total — priced to milestones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$84mm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214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CLOSE · now → mid-2027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463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$104mm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1214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CLOSE · mid-2027 → 2029, unlocked by readouts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778240" y="1463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2121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2029 · back end self-funds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880360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29900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Tranche 1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$50mm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9718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trained; AmBisome in-vitro package; Sandostatin curve match. Kill condition: no reference match in 18 months → remaining capital returned.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904488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401421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Adjacency Seed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40873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$18mm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995928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 stood up + two paid engagements; agro and vet portfolio screens with named partners. Unlocks A2 only on signed evidence.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928616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68680" y="503834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build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51114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67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$16mm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5020056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 field-care + MOF CBRN programs; SBIR/OTA capture pulls ~$41mm non-dilutive alongside the equity.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0167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1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events land before the second close; every licence signs after its readout, when the asset is worth 2–3x more.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pic>
        <p:nvPicPr>
          <p:cNvPr id="24" name="Image 0" descr="/home/claude/amphora/logo_oxbloo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PROCEEDS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6E1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$84mm first close goes</a:t>
            </a:r>
            <a:endParaRPr lang="en-US" sz="3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3716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371600"/>
            <a:ext cx="3767328" cy="4480560"/>
          </a:xfrm>
          <a:prstGeom prst="roundRect">
            <a:avLst>
              <a:gd name="adj" fmla="val 1942"/>
            </a:avLst>
          </a:prstGeom>
          <a:solidFill>
            <a:srgbClr val="F5EF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13816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1920240"/>
            <a:ext cx="3246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 readouts inside 12–18 months — the only question that matters, answered before any licence is signed.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proprietary corpus of formulation failure data: the raise buys the dataset, not just the programs.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~$41mm of non-dilutive defense capital pulled alongside the equity.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 live before the second close.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053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allocation, management estimate; program-level detail in the supporting models. ~48% of capital is milestone-gated behind the first readouts.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E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pic>
        <p:nvPicPr>
          <p:cNvPr id="10" name="Image 0" descr="/home/claude/amphora/logo_oxblood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566928" y="6428232"/>
            <a:ext cx="658368" cy="1001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53312" y="64145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4A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023360"/>
            <a:ext cx="5669280" cy="5669280"/>
          </a:xfrm>
          <a:prstGeom prst="ellipse">
            <a:avLst/>
          </a:prstGeom>
          <a:solidFill>
            <a:srgbClr val="6E14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amphora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502920"/>
            <a:ext cx="1828800" cy="2781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0515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the $84mm first close.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B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events before the second close. Kill conditions at 18 months. An engine that gets cheaper with every program it runs.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22960" y="2971800"/>
            <a:ext cx="10515600" cy="804672"/>
          </a:xfrm>
          <a:prstGeom prst="roundRect">
            <a:avLst>
              <a:gd name="adj" fmla="val 6818"/>
            </a:avLst>
          </a:prstGeom>
          <a:solidFill>
            <a:srgbClr val="5A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097280" y="3081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TECHBIO LEADS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3558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 · DCVC Bio · ARCH · Khosla · a16z Bio+Health · 8VC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3931920"/>
            <a:ext cx="10515600" cy="804672"/>
          </a:xfrm>
          <a:prstGeom prst="roundRect">
            <a:avLst>
              <a:gd name="adj" fmla="val 6818"/>
            </a:avLst>
          </a:prstGeom>
          <a:solidFill>
            <a:srgbClr val="5A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1097280" y="4041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DUAL-USE LANE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43159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Capital · Razor’s Edge · America’s Frontier Fund · IQT · a16z American Dynamism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4892040"/>
            <a:ext cx="10515600" cy="804672"/>
          </a:xfrm>
          <a:prstGeom prst="roundRect">
            <a:avLst>
              <a:gd name="adj" fmla="val 6818"/>
            </a:avLst>
          </a:prstGeom>
          <a:solidFill>
            <a:srgbClr val="5A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097280" y="5001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/ STRATEGIC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52760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Leaps by Bayer · BASF VC · FMC Ventures · Syngenta GV · Anterra · Corteva Catalyst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techie@amphora.bio  ·  Amphora Labs  ·  September 2026  ·  Figures are management estimates; not investment or legal advice.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4042</Words>
  <Application>Microsoft Office PowerPoint</Application>
  <PresentationFormat>Widescreen</PresentationFormat>
  <Paragraphs>525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Adam Breashears</cp:lastModifiedBy>
  <cp:revision>7</cp:revision>
  <dcterms:created xsi:type="dcterms:W3CDTF">2026-09-01T18:55:52Z</dcterms:created>
  <dcterms:modified xsi:type="dcterms:W3CDTF">2026-09-11T17:08:20Z</dcterms:modified>
</cp:coreProperties>
</file>