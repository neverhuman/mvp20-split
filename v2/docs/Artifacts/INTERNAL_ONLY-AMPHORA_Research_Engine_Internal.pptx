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 is the common research infrastructure. A campaign is the map of work for one question. Materials and biology are capability domains that can be composed; no single product dictates the engine. This deck explains intended behavior and the source-reviewed implementation baseline.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 campaign as a research map with executable steps. Each run retains evidence and decisions, including failures. The proposed engine supports human review and bounded automation; it does not treat model output as scientific qualification.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 and campaign graphs are separately authored and versioned. Execution/provenance is derived from runs, not a third independently authored truth. The UI should allow traversal in both directions between decisions and the knowledge they consumed.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illustrative target workflow. A graph determines composition and conditional behavior. It can request evidence, wait for human review or laboratory work, and resume. Changes require validated graph revisions; the diagram is not a claim that the graph interpreter is implemented.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are examples of campaign composition, not fixed pipelines. A biology campaign must not require a polymer or epoxy node. A mixed campaign can connect materials to biological evidence only through typed, scientifically applicable adapters. Shared code does not automatically imply transferable calibration.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have reusable identities independent of campaigns. Acquisition and processing are campaign activities. Raw data is retained as permitted artifacts; extracted assertions pass review before trusted use. Snapshots, queries and transformations are pinned, and unavailable retention creates explicit replay limits. Credentials remain outside graph definitions.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docs/Architecture/Data_Sources_and_Acquisition.md;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Biological support includes entities, sequences, targets/pathways, systems, assays, samples and observations through versioned contracts. The UI must preserve uncertainty and contradictory evidence. Availability of a sequence adapter does not imply a validated biologics design system. No efficacy or safety claim is made here.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docs/Architecture/Product_Requirements.md#biological-and-cross-domain-research; Domain_Model.md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NSGA-II performs numerical parameter evolution. The feature-selection GA is another implemented search space. Generic campaign-topology mutation and crossover were not found in the inspected paths. A reusable kernel still needs typed adapters, complete history and scientific evaluators; it is not production drug optimization.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docs/Architecture/Evolutionary_Code_Reuse_Baseline.md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conceptual UI, not an implemented product screenshot. Graph Studio is a core engine capability: editing, execution state, intervention, revision comparison, source inspection and traversal into the domain graph. User actions follow access, activation and evidence authority rules.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reviewed numerical kernel is amphora-solver-lab/src/nsga2.rs. EnginePool::mutate changes identity/lineage only; authorized chemistry generation separately exists but applies resin/hardener roles. Feature evolution is real but tied to NOMAD targets. No named-drug/PLGA/PK runtime evaluator was located in the searched source. Runtime tests were not rerun because toolchains/dependencies were unavailable. This is a static code baseline, not a readiness certification.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docs/Architecture/Evolutionary_Code_Reuse_Baseline.md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names are from AMPHORA_Top5_Product_Brief_1.docx. This slide maps software reuse, not market ranking, regulatory pathways, dates or clinical recommendations. Potential shared process/release modules need applicability checks. Cross-product and cross-species evidence does not transfer automatically. Buspirone tests a different delivery representation.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docs/Architecture/Evolutionary_Code_Reuse_Baseline.md; ../Artifacts/AMPHORA_Top5_Product_Brief_1.docx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long-term aim is governed reuse of successful graph motifs and informative failures across projects. Raw customer/project evidence is private by default. Learned motifs remain candidate templates with ancestry, applicability and evidence; there is no automatic global promotion. This is a target capability.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docs/Architecture/Graph_Native_Research_Engine.md;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logical delivery sequence, not a dated delivery promise. Minimal execution inspection should accompany the foundational fixture; richer Studio intervention follows. Scientific evaluators require held-out validation and appropriate applicability. The biological-support gates include materials-to-biology composition and a biology-only assay fixture.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docs/Architecture/Evolutionary_Code_Reuse_Baseline.md; Product_Requirements.md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discussion should select the first proof campaign and the evidence owners. The architecture supports polymers and biology without fixing a portfolio-wide pipeline. The source baseline is a guide to reuse and gaps, not an assertion that the complete engine or drug-product science is already delivered.</a:t>
            </a:r>
          </a:p>
          <a:p/>
          <a:p>
            <a:r>
              <a:t>INTERNAL ONLY. Architecture and illustrative workflows; not claims of validated product performance.</a:t>
            </a:r>
          </a:p>
          <a:p>
            <a:r>
              <a:t>Source: docs/Architecture/Evolutionary_Code_Reuse_Baseline.md; Graph_Native_Research_Engine.md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ENGINE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Research pathways that adapt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INTERNAL CONCEPT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73936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1F5F6"/>
                </a:solidFill>
                <a:latin typeface="Aptos"/>
              </a:defRPr>
            </a:pPr>
            <a:r>
              <a:t>One engine.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1F5F6"/>
                </a:solidFill>
                <a:latin typeface="Aptos"/>
              </a:defRPr>
            </a:pPr>
            <a:r>
              <a:t>Many scientific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3465576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AFC1CE"/>
                </a:solidFill>
                <a:latin typeface="Aptos"/>
              </a:defRPr>
            </a:pPr>
            <a:r>
              <a:t>Combine materials, chemistry and biology into a research map that can change as we learn.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29784"/>
            <a:ext cx="192024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16178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REUSABLE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5129784"/>
            <a:ext cx="196596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5161788"/>
            <a:ext cx="1783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83BFFF"/>
                </a:solidFill>
                <a:latin typeface="Aptos"/>
              </a:defRPr>
            </a:pPr>
            <a:r>
              <a:t>ADAPTIVE PATHS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004304" y="2066543"/>
            <a:ext cx="1755648" cy="128017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04304" y="2194560"/>
            <a:ext cx="1161288" cy="1536192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59952" y="2066543"/>
            <a:ext cx="1920240" cy="786385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165592" y="2066543"/>
            <a:ext cx="594360" cy="1664209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165592" y="2852928"/>
            <a:ext cx="2514600" cy="877824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65592" y="3730752"/>
            <a:ext cx="2011680" cy="804672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177272" y="2852928"/>
            <a:ext cx="502920" cy="1682496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50024" y="4535424"/>
            <a:ext cx="3127248" cy="877824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50024" y="3730752"/>
            <a:ext cx="1115568" cy="1682496"/>
          </a:xfrm>
          <a:prstGeom prst="line">
            <a:avLst/>
          </a:prstGeom>
          <a:ln w="1905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73952" y="1874519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093976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56D9BD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746504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96596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A5F4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2532888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752344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83BFFF"/>
                </a:solidFill>
                <a:latin typeface="Aptos"/>
              </a:defRPr>
            </a:pPr>
            <a:r>
              <a:t>ASSAY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410712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630168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56D9BD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4215384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F4C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443484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4C77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9672" y="5093208"/>
            <a:ext cx="1298448" cy="658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5312664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56D9BD"/>
                </a:solidFill>
                <a:latin typeface="Aptos"/>
              </a:defRPr>
            </a:pPr>
            <a:r>
              <a:t>NEXT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THE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Turn a research question into an evidence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A campaign makes the next step, the reason for it, and the result visible.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14016"/>
            <a:ext cx="2688336" cy="26517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96896"/>
            <a:ext cx="22860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56D9B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331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1F5F6"/>
                </a:solidFill>
                <a:latin typeface="Aptos"/>
              </a:defRPr>
            </a:pPr>
            <a:r>
              <a:t>Define 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0565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What outcome matters?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What must stay fixed?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657600"/>
            <a:ext cx="146304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13695" y="3657600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213695" y="3607621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19272" y="2414016"/>
            <a:ext cx="2688336" cy="26517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2596896"/>
            <a:ext cx="22860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83B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337560"/>
            <a:ext cx="2331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1F5F6"/>
                </a:solidFill>
                <a:latin typeface="Aptos"/>
              </a:defRPr>
            </a:pPr>
            <a:r>
              <a:t>Choose the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410565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Select relevant data,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models and experiments.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16752" y="3657600"/>
            <a:ext cx="146304" cy="0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075767" y="3657600"/>
            <a:ext cx="87289" cy="49978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075767" y="3607621"/>
            <a:ext cx="87289" cy="4997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1344" y="2414016"/>
            <a:ext cx="2688336" cy="26517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596896"/>
            <a:ext cx="22860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BEA5F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337560"/>
            <a:ext cx="2331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1F5F6"/>
                </a:solidFill>
                <a:latin typeface="Aptos"/>
              </a:defRPr>
            </a:pPr>
            <a:r>
              <a:t>Learn and redirect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10565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Test a candidate.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Respond to the result.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78824" y="3657600"/>
            <a:ext cx="146304" cy="0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37839" y="3657600"/>
            <a:ext cx="87289" cy="4997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937839" y="3607621"/>
            <a:ext cx="87289" cy="49979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43416" y="2414016"/>
            <a:ext cx="2688336" cy="26517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6296" y="2596896"/>
            <a:ext cx="22860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4C7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337560"/>
            <a:ext cx="2331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1F5F6"/>
                </a:solidFill>
                <a:latin typeface="Aptos"/>
              </a:defRPr>
            </a:pPr>
            <a:r>
              <a:t>Explain the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410565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What did we use?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Why this next step?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The output includes the answer, the uncertainty, and the path that produced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TWO MAPS AND A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Knowledge guides the work. Runs record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We author the scientific context and the research plan; execution creates the history.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3502152" cy="2944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633472"/>
            <a:ext cx="310896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665476"/>
            <a:ext cx="292607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BEA5F4"/>
                </a:solidFill>
                <a:latin typeface="Aptos"/>
              </a:defRPr>
            </a:pPr>
            <a:r>
              <a:t>DOMAIN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1F5F6"/>
                </a:solidFill>
                <a:latin typeface="Aptos"/>
              </a:defRPr>
            </a:pPr>
            <a:r>
              <a:t>What we know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23160"/>
            <a:ext cx="3502152" cy="2944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633472"/>
            <a:ext cx="310896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65476"/>
            <a:ext cx="292607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CAMPAIGN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0896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1F5F6"/>
                </a:solidFill>
                <a:latin typeface="Aptos"/>
              </a:defRPr>
            </a:pPr>
            <a:r>
              <a:t>What we 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423160"/>
            <a:ext cx="3502152" cy="29443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633472"/>
            <a:ext cx="310896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665476"/>
            <a:ext cx="292607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4C77E"/>
                </a:solidFill>
                <a:latin typeface="Aptos"/>
              </a:defRPr>
            </a:pPr>
            <a:r>
              <a:t>DERIVED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08960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1F5F6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67328"/>
            <a:ext cx="309067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Entities and mechanisms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Evidence and contradictions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Limits of our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767328"/>
            <a:ext cx="309067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Steps and decision points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Branches and repeat loops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Human approvals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767328"/>
            <a:ext cx="309067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Inputs and results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Changes and failures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AFC1CE"/>
                </a:solidFill>
                <a:latin typeface="Aptos"/>
              </a:defRPr>
            </a:pPr>
            <a:r>
              <a:t>Who decided what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95928" y="3730752"/>
            <a:ext cx="301752" cy="0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210391" y="3730752"/>
            <a:ext cx="87289" cy="4997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210391" y="3680773"/>
            <a:ext cx="87289" cy="49979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72983" y="3730752"/>
            <a:ext cx="320041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105735" y="3730752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105735" y="3680773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New evidence can propose updates to either map; review determines what is accepted.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DYNAMIC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The result determines where the campaign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Illustrative delivery campaign: investigate, evaluate, branch, learn.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79776"/>
            <a:ext cx="1828800" cy="120700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907792"/>
            <a:ext cx="153619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Acquire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392424"/>
            <a:ext cx="15361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Reference + project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779776"/>
            <a:ext cx="1828800" cy="120700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2907792"/>
            <a:ext cx="153619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Propose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3392424"/>
            <a:ext cx="15361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Inside fixed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779776"/>
            <a:ext cx="1828800" cy="120700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2907792"/>
            <a:ext cx="153619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3392424"/>
            <a:ext cx="15361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Models + measurements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286000"/>
            <a:ext cx="1874519" cy="120700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F4C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2414016"/>
            <a:ext cx="1581911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898648"/>
            <a:ext cx="158191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Evidence sufficient?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286000"/>
            <a:ext cx="1874519" cy="120700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0384" y="2414016"/>
            <a:ext cx="1581911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Experiment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2898648"/>
            <a:ext cx="158191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Approved next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315968"/>
            <a:ext cx="1874519" cy="120700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4443983"/>
            <a:ext cx="1581911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Fill the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4928616"/>
            <a:ext cx="158191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Acquire or measure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3383280"/>
            <a:ext cx="411480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55911" y="3383280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655911" y="3333301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3383280"/>
            <a:ext cx="411480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96191" y="3383280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4896191" y="3333301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812280" y="2880360"/>
            <a:ext cx="594360" cy="50292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372288" y="2880360"/>
            <a:ext cx="34352" cy="94536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307721" y="2880360"/>
            <a:ext cx="98919" cy="1823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281160" y="2880360"/>
            <a:ext cx="502920" cy="0"/>
          </a:xfrm>
          <a:prstGeom prst="line">
            <a:avLst/>
          </a:prstGeom>
          <a:ln w="2540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696791" y="2880360"/>
            <a:ext cx="87289" cy="49978"/>
          </a:xfrm>
          <a:prstGeom prst="line">
            <a:avLst/>
          </a:prstGeom>
          <a:ln w="2540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696791" y="2830381"/>
            <a:ext cx="87289" cy="49979"/>
          </a:xfrm>
          <a:prstGeom prst="line">
            <a:avLst/>
          </a:prstGeom>
          <a:ln w="2540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12280" y="3383280"/>
            <a:ext cx="594360" cy="1463040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327483" y="4784260"/>
            <a:ext cx="79157" cy="62060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406640" y="4746639"/>
            <a:ext cx="13449" cy="99681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03720" y="37398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BEA5F4"/>
                </a:solidFill>
                <a:latin typeface="Aptos"/>
              </a:defRPr>
            </a:pPr>
            <a:r>
              <a:t>UNCERTAIN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21040" y="5522976"/>
            <a:ext cx="0" cy="219456"/>
          </a:xfrm>
          <a:prstGeom prst="line">
            <a:avLst/>
          </a:prstGeom>
          <a:ln w="2286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657600" y="5742432"/>
            <a:ext cx="4663440" cy="0"/>
          </a:xfrm>
          <a:prstGeom prst="line">
            <a:avLst/>
          </a:prstGeom>
          <a:ln w="2286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57600" y="3986784"/>
            <a:ext cx="0" cy="175564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657600" y="3986784"/>
            <a:ext cx="49978" cy="8728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607621" y="3986784"/>
            <a:ext cx="49979" cy="8728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716768" y="2048256"/>
            <a:ext cx="0" cy="237744"/>
          </a:xfrm>
          <a:prstGeom prst="line">
            <a:avLst/>
          </a:prstGeom>
          <a:ln w="2286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925312" y="2048256"/>
            <a:ext cx="4791456" cy="0"/>
          </a:xfrm>
          <a:prstGeom prst="line">
            <a:avLst/>
          </a:prstGeom>
          <a:ln w="2286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25312" y="2048256"/>
            <a:ext cx="0" cy="731520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5875333" y="2692487"/>
            <a:ext cx="49979" cy="8728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925312" y="2692487"/>
            <a:ext cx="49978" cy="8728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818120" y="18470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83BFFF"/>
                </a:solidFill>
                <a:latin typeface="Aptos"/>
              </a:defRPr>
            </a:pPr>
            <a:r>
              <a:t>NEW MEASUREMENTS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470916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F1F5F6"/>
                </a:solidFill>
                <a:latin typeface="Aptos"/>
              </a:defRPr>
            </a:pPr>
            <a:r>
              <a:t>Every loop has a purpose, a budget and a stopping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CROSS-DOMAIN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Use the science the question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Polymers are one capability family. Biology can join the same campaign—or stand on its own.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706624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56D9BD"/>
                </a:solidFill>
                <a:latin typeface="Aptos"/>
              </a:defRPr>
            </a:pPr>
            <a:r>
              <a:t>COATING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441448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4" y="2651760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Material properties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80" y="2843784"/>
            <a:ext cx="338328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63119" y="2843784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5463119" y="2793805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77840" y="2441448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4144" y="2651760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Process design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843784"/>
            <a:ext cx="338328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526359" y="2843784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8526359" y="2793805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41080" y="2441448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7384" y="2651760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Performance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739896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83BFFF"/>
                </a:solidFill>
                <a:latin typeface="Aptos"/>
              </a:defRPr>
            </a:pPr>
            <a:r>
              <a:t>DRUG 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3474720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0904" y="3685032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Polymer + process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80" y="3877056"/>
            <a:ext cx="338328" cy="0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463119" y="3877056"/>
            <a:ext cx="87289" cy="49978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463119" y="3827077"/>
            <a:ext cx="87289" cy="4997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77840" y="3474720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3685032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Release behavior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75320" y="3877056"/>
            <a:ext cx="338328" cy="0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526359" y="3877056"/>
            <a:ext cx="87289" cy="49978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526359" y="3827077"/>
            <a:ext cx="87289" cy="4997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41080" y="3474720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4" y="3685032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Biological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4773168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BEA5F4"/>
                </a:solidFill>
                <a:latin typeface="Aptos"/>
              </a:defRPr>
            </a:pPr>
            <a:r>
              <a:t>BIOLOGY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4600" y="4507992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0904" y="4718304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Target + mechanism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12080" y="4910328"/>
            <a:ext cx="338328" cy="0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463119" y="4910328"/>
            <a:ext cx="87289" cy="4997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5463119" y="4860349"/>
            <a:ext cx="87289" cy="49979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577840" y="4507992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24144" y="4718304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Assay evidence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75320" y="4910328"/>
            <a:ext cx="338328" cy="0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526359" y="4910328"/>
            <a:ext cx="87289" cy="4997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8526359" y="4860349"/>
            <a:ext cx="87289" cy="49979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641080" y="4507992"/>
            <a:ext cx="2679192" cy="804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87384" y="4718304"/>
            <a:ext cx="238658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Next experiment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Share capabilities when their inputs, scientific context and evidence are compatible.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DATA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Bring the right information into each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Source scope controls discovery and selection; permissions still apply to every use.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331720"/>
            <a:ext cx="3310128" cy="86868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450591"/>
            <a:ext cx="291693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EA5F4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61487"/>
            <a:ext cx="291693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1F5F6"/>
                </a:solidFill>
                <a:latin typeface="Aptos"/>
              </a:defRPr>
            </a:pPr>
            <a:r>
              <a:t>Shared scientific references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761487"/>
            <a:ext cx="731520" cy="886969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477904" y="3612914"/>
            <a:ext cx="94096" cy="35542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555017" y="3549315"/>
            <a:ext cx="16983" cy="99141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" y="3392424"/>
            <a:ext cx="3310128" cy="86868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511296"/>
            <a:ext cx="291693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83BFFF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822191"/>
            <a:ext cx="291693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1F5F6"/>
                </a:solidFill>
                <a:latin typeface="Aptos"/>
              </a:defRPr>
            </a:pPr>
            <a:r>
              <a:t>Target profile and requirements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40480" y="3648456"/>
            <a:ext cx="731520" cy="173735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498622" y="3648456"/>
            <a:ext cx="73378" cy="68795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475525" y="3620000"/>
            <a:ext cx="96475" cy="28456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4632" y="4453127"/>
            <a:ext cx="3310128" cy="86868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571999"/>
            <a:ext cx="291693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56D9BD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882895"/>
            <a:ext cx="291693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1F5F6"/>
                </a:solidFill>
                <a:latin typeface="Aptos"/>
              </a:defRPr>
            </a:pPr>
            <a:r>
              <a:t>Private experiments and measurements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840480" y="3648456"/>
            <a:ext cx="731520" cy="123443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570495" y="3648456"/>
            <a:ext cx="1505" cy="100572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484504" y="3648456"/>
            <a:ext cx="87496" cy="49614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99432" y="2788920"/>
            <a:ext cx="2331720" cy="17373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5736" y="2916936"/>
            <a:ext cx="203911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Acquire + prepare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3401568"/>
            <a:ext cx="2039112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Tables, papers, sequences,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images and instrument files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67728" y="3657600"/>
            <a:ext cx="457199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337639" y="3657600"/>
            <a:ext cx="87288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337639" y="3607621"/>
            <a:ext cx="87288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61504" y="2788920"/>
            <a:ext cx="1920240" cy="17373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8" y="2916936"/>
            <a:ext cx="162763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Retain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3401568"/>
            <a:ext cx="1627632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Versioned inputs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and transformations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18320" y="3657600"/>
            <a:ext cx="393192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24223" y="3657600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724223" y="3607621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48088" y="2788920"/>
            <a:ext cx="1847088" cy="1737360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F4C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4392" y="2916936"/>
            <a:ext cx="155448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4392" y="3401568"/>
            <a:ext cx="15544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Evidence ready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for the decision?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A refreshed source creates a new version. Earlier decisions keep their original evidence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BIOLOGICAL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A result has meaning only in its biological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The engine must keep observed activity, a predicted effect and an accepted conclusion distinct.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2404872"/>
            <a:ext cx="3767328" cy="319125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51760"/>
            <a:ext cx="333756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1F5F6"/>
                </a:solidFill>
                <a:latin typeface="Aptos"/>
              </a:defRPr>
            </a:pPr>
            <a:r>
              <a:t>A biological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93592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83BFFF"/>
                </a:solidFill>
                <a:latin typeface="Aptos"/>
              </a:defRPr>
            </a:pPr>
            <a:r>
              <a:t>What was measured?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83BFFF"/>
                </a:solidFill>
                <a:latin typeface="Aptos"/>
              </a:defRPr>
            </a:pPr>
            <a:r>
              <a:t>In which system?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83BFFF"/>
                </a:solidFill>
                <a:latin typeface="Aptos"/>
              </a:defRPr>
            </a:pPr>
            <a:r>
              <a:t>Under what conditions?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83BFFF"/>
                </a:solidFill>
                <a:latin typeface="Aptos"/>
              </a:defRPr>
            </a:pPr>
            <a:r>
              <a:t>With what uncertainty?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2404872"/>
            <a:ext cx="3438144" cy="149961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569464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EA5F4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044952"/>
            <a:ext cx="30358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1F5F6"/>
                </a:solidFill>
                <a:latin typeface="Aptos"/>
              </a:defRPr>
            </a:pPr>
            <a:r>
              <a:t>Species, tissue, cell 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2404872"/>
            <a:ext cx="3438144" cy="149961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2569464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EA5F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3044952"/>
            <a:ext cx="30358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1F5F6"/>
                </a:solidFill>
                <a:latin typeface="Aptos"/>
              </a:defRPr>
            </a:pPr>
            <a:r>
              <a:t>Assay, controls, replicates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008" y="4096512"/>
            <a:ext cx="3438144" cy="149961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4261104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EA5F4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4736592"/>
            <a:ext cx="30358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1F5F6"/>
                </a:solidFill>
                <a:latin typeface="Aptos"/>
              </a:defRPr>
            </a:pPr>
            <a:r>
              <a:t>Dose, route,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4096512"/>
            <a:ext cx="3438144" cy="149961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4261104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EA5F4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4736592"/>
            <a:ext cx="30358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1F5F6"/>
                </a:solidFill>
                <a:latin typeface="Aptos"/>
              </a:defRPr>
            </a:pPr>
            <a:r>
              <a:t>Source, limits, contradictions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4C77E"/>
                </a:solidFill>
                <a:latin typeface="Aptos"/>
              </a:defRPr>
            </a:pPr>
            <a:r>
              <a:t>Transferring a model across products, species or routes is a new applicability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LEARNING AT TWO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Improve the candidate—and eventually the research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These are different search spaces with different validation needs.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340864"/>
            <a:ext cx="5440680" cy="3090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2784" y="2340864"/>
            <a:ext cx="5440680" cy="30906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542032"/>
            <a:ext cx="333756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74036"/>
            <a:ext cx="315467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PARAMETER SEARCH  /  KERNEL EXISTS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42032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574036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4C77E"/>
                </a:solidFill>
                <a:latin typeface="Aptos"/>
              </a:defRPr>
            </a:pPr>
            <a:r>
              <a:t>PATHWAY EVOLUTION  /  FUTURE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081528"/>
            <a:ext cx="489204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F1F5F6"/>
                </a:solidFill>
                <a:latin typeface="Aptos"/>
              </a:defRPr>
            </a:pPr>
            <a:r>
              <a:t>Find better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81528"/>
            <a:ext cx="489204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F1F5F6"/>
                </a:solidFill>
                <a:latin typeface="Aptos"/>
              </a:defRPr>
            </a:pPr>
            <a:r>
              <a:t>Find a better sequence of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840480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C1CE"/>
                </a:solidFill>
                <a:latin typeface="Aptos"/>
              </a:defRPr>
            </a:pPr>
            <a:r>
              <a:t>Composition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3959352"/>
            <a:ext cx="2971800" cy="0"/>
          </a:xfrm>
          <a:prstGeom prst="line">
            <a:avLst/>
          </a:prstGeom>
          <a:ln w="508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306824" y="3881628"/>
            <a:ext cx="155448" cy="155448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233672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C1CE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4352544"/>
            <a:ext cx="2971800" cy="0"/>
          </a:xfrm>
          <a:prstGeom prst="line">
            <a:avLst/>
          </a:prstGeom>
          <a:ln w="508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474720" y="4274820"/>
            <a:ext cx="155448" cy="155448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626864"/>
            <a:ext cx="14173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FC1CE"/>
                </a:solidFill>
                <a:latin typeface="Aptos"/>
              </a:defRPr>
            </a:pPr>
            <a:r>
              <a:t>Geometry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23160" y="4745736"/>
            <a:ext cx="2971800" cy="0"/>
          </a:xfrm>
          <a:prstGeom prst="line">
            <a:avLst/>
          </a:prstGeom>
          <a:ln w="508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663440" y="4668012"/>
            <a:ext cx="155448" cy="155448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01384" y="3986784"/>
            <a:ext cx="1353312" cy="54864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415137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83BFFF"/>
                </a:solidFill>
                <a:latin typeface="Aptos"/>
              </a:defRPr>
            </a:pPr>
            <a:r>
              <a:t>TEST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3840" y="4261104"/>
            <a:ext cx="237743" cy="0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014295" y="4261104"/>
            <a:ext cx="87288" cy="49978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8014295" y="4211125"/>
            <a:ext cx="87288" cy="4997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29016" y="3986784"/>
            <a:ext cx="1353312" cy="54864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415137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83BFFF"/>
                </a:solidFill>
                <a:latin typeface="Aptos"/>
              </a:defRPr>
            </a:pPr>
            <a:r>
              <a:t>MODEL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91472" y="4261104"/>
            <a:ext cx="237744" cy="0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641927" y="4261104"/>
            <a:ext cx="87289" cy="49978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641927" y="4211125"/>
            <a:ext cx="87289" cy="49979"/>
          </a:xfrm>
          <a:prstGeom prst="line">
            <a:avLst/>
          </a:prstGeom>
          <a:ln w="25400">
            <a:solidFill>
              <a:srgbClr val="83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756648" y="3986784"/>
            <a:ext cx="1353312" cy="54864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4151376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83BFFF"/>
                </a:solidFill>
                <a:latin typeface="Aptos"/>
              </a:defRPr>
            </a:pPr>
            <a:r>
              <a:t>REVIEW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424160" y="4553712"/>
            <a:ext cx="0" cy="438912"/>
          </a:xfrm>
          <a:prstGeom prst="line">
            <a:avLst/>
          </a:prstGeom>
          <a:ln w="2286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159752" y="4992624"/>
            <a:ext cx="3264408" cy="0"/>
          </a:xfrm>
          <a:prstGeom prst="line">
            <a:avLst/>
          </a:prstGeom>
          <a:ln w="2286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159752" y="4553712"/>
            <a:ext cx="0" cy="438912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59752" y="4553712"/>
            <a:ext cx="49978" cy="8728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109773" y="4553712"/>
            <a:ext cx="49979" cy="87288"/>
          </a:xfrm>
          <a:prstGeom prst="line">
            <a:avLst/>
          </a:prstGeom>
          <a:ln w="25400">
            <a:solidFill>
              <a:srgbClr val="BEA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Evolution proposes alternatives. Constraints, evidence and human review decide what can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HUMAN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Scientists can see, question and redirect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Conceptual Graph Studio view: the map and the evidence remain connected.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286000"/>
            <a:ext cx="11228832" cy="340156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40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" y="2295144"/>
            <a:ext cx="11210544" cy="384048"/>
          </a:xfrm>
          <a:prstGeom prst="rect">
            <a:avLst/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86584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AFC1CE"/>
                </a:solidFill>
                <a:latin typeface="Aptos"/>
              </a:defRPr>
            </a:pPr>
            <a:r>
              <a:t>CAMPAIGN  /  DELIVERY STUDY  /  REVISION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62872" y="2340864"/>
            <a:ext cx="2157984" cy="274320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2372868"/>
            <a:ext cx="1975103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4C77E"/>
                </a:solidFill>
                <a:latin typeface="Aptos"/>
              </a:defRPr>
            </a:pPr>
            <a:r>
              <a:t>WAITING FOR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1828800" cy="112471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374136"/>
            <a:ext cx="153619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Reference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858768"/>
            <a:ext cx="153619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Snapshot retained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0984" y="3246120"/>
            <a:ext cx="1828800" cy="112471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3374136"/>
            <a:ext cx="153619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Evaluate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858768"/>
            <a:ext cx="153619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Result 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7568" y="3246120"/>
            <a:ext cx="1828800" cy="112471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F4C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3374136"/>
            <a:ext cx="1536192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Review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858768"/>
            <a:ext cx="153619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Decision pending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61488" y="3813048"/>
            <a:ext cx="502920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177119" y="3813048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177119" y="3763069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48072" y="3813048"/>
            <a:ext cx="502920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563703" y="3813048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563703" y="3763069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41832" y="4828032"/>
            <a:ext cx="6638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Inspect inputs     •     Compare revisions     •     Pause or revise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0416" y="2907792"/>
            <a:ext cx="0" cy="2505456"/>
          </a:xfrm>
          <a:prstGeom prst="line">
            <a:avLst/>
          </a:prstGeom>
          <a:ln w="127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02168" y="295351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4C77E"/>
                </a:solidFill>
                <a:latin typeface="Aptos"/>
              </a:defRPr>
            </a:pPr>
            <a:r>
              <a:t>WHY THIS DECISION?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3547872"/>
            <a:ext cx="31546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1F5F6"/>
                </a:solidFill>
                <a:latin typeface="Aptos"/>
              </a:defRPr>
            </a:pPr>
            <a:r>
              <a:t>Evidence used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F1F5F6"/>
                </a:solidFill>
                <a:latin typeface="Aptos"/>
              </a:defRPr>
            </a:pPr>
            <a:r>
              <a:t>Assumptions and gaps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F1F5F6"/>
                </a:solidFill>
                <a:latin typeface="Aptos"/>
              </a:defRPr>
            </a:pPr>
            <a:r>
              <a:t>Supporting knowledge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F1F5F6"/>
                </a:solidFill>
                <a:latin typeface="Aptos"/>
              </a:defRPr>
            </a:pPr>
            <a:r>
              <a:t>Prior attempts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A human intervention becomes a recorded research event—not a lost conversation.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We have reusable foundations. Scientific coverage must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Source review distinguishes working algorithms from product-specific science.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SOURCE-REVIEWED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450592"/>
            <a:ext cx="3557016" cy="28620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56D9BD"/>
                </a:solidFill>
                <a:latin typeface="Aptos"/>
              </a:defRPr>
            </a:pPr>
            <a:r>
              <a:t>REUSE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401568"/>
            <a:ext cx="73152" cy="73152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9184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Numerical evolutionary 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041648"/>
            <a:ext cx="73152" cy="73152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93192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Mixture and experiment grids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681728"/>
            <a:ext cx="73152" cy="73152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57200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Evidence and replay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450592"/>
            <a:ext cx="3557016" cy="28620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269748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83BFFF"/>
                </a:solidFill>
                <a:latin typeface="Aptos"/>
              </a:defRPr>
            </a:pPr>
            <a:r>
              <a:t>ADAPT</a:t>
            </a:r>
          </a:p>
        </p:txBody>
      </p:sp>
      <p:sp>
        <p:nvSpPr>
          <p:cNvPr id="19" name="Oval 18"/>
          <p:cNvSpPr/>
          <p:nvPr/>
        </p:nvSpPr>
        <p:spPr>
          <a:xfrm>
            <a:off x="4489704" y="3401568"/>
            <a:ext cx="73152" cy="73152"/>
          </a:xfrm>
          <a:prstGeom prst="ellipse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29184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Product representations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489704" y="4041648"/>
            <a:ext cx="73152" cy="73152"/>
          </a:xfrm>
          <a:prstGeom prst="ellipse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393192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Search-history integration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489704" y="4681728"/>
            <a:ext cx="73152" cy="73152"/>
          </a:xfrm>
          <a:prstGeom prst="ellipse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57200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Feature-selection workflows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2450592"/>
            <a:ext cx="3557016" cy="2862072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2697480"/>
            <a:ext cx="31912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4C77E"/>
                </a:solidFill>
                <a:latin typeface="Aptos"/>
              </a:defRPr>
            </a:pPr>
            <a:r>
              <a:t>BUILD + VALIDATE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0" y="3401568"/>
            <a:ext cx="73152" cy="73152"/>
          </a:xfrm>
          <a:prstGeom prst="ellipse">
            <a:avLst/>
          </a:prstGeom>
          <a:solidFill>
            <a:srgbClr val="F4C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6" y="329184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Release / biological evaluators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4041648"/>
            <a:ext cx="73152" cy="73152"/>
          </a:xfrm>
          <a:prstGeom prst="ellipse">
            <a:avLst/>
          </a:prstGeom>
          <a:solidFill>
            <a:srgbClr val="F4C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93192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Dynamic graph runtime + Studio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4681728"/>
            <a:ext cx="73152" cy="73152"/>
          </a:xfrm>
          <a:prstGeom prst="ellipse">
            <a:avLst/>
          </a:prstGeom>
          <a:solidFill>
            <a:srgbClr val="F4C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4572000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Campaign-pathway evolution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4C77E"/>
                </a:solidFill>
                <a:latin typeface="Aptos"/>
              </a:defRPr>
            </a:pPr>
            <a:r>
              <a:t>Reusable optimizer code does not establish a validated drug-release or biological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FIVE PRODUCTS, SHARED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A portfolio of research maps—not five separate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The product brief supplies examples of different scientific work on a common foundation.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56D9BD"/>
                </a:solidFill>
                <a:latin typeface="Aptos"/>
              </a:defRPr>
            </a:pPr>
            <a:r>
              <a:t>PRODUCT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258568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56D9BD"/>
                </a:solidFill>
                <a:latin typeface="Aptos"/>
              </a:defRPr>
            </a:pPr>
            <a:r>
              <a:t>POTENTIAL SHARED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2258568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56D9BD"/>
                </a:solidFill>
                <a:latin typeface="Aptos"/>
              </a:defRPr>
            </a:pPr>
            <a:r>
              <a:t>EVIDENCE STAYS SPECIFIC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670048"/>
            <a:ext cx="11219688" cy="475488"/>
          </a:xfrm>
          <a:prstGeom prst="rect">
            <a:avLst/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734056"/>
            <a:ext cx="3364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Dexamethasone implant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734056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Rod process + release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6" y="2734056"/>
            <a:ext cx="35753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Product, process and assay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246120"/>
            <a:ext cx="3364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Goserelin implant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246120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Rod process + release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3246120"/>
            <a:ext cx="35753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Peptide stability +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3694176"/>
            <a:ext cx="11219688" cy="475488"/>
          </a:xfrm>
          <a:prstGeom prst="rect">
            <a:avLst/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758184"/>
            <a:ext cx="3364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Once-daily buspirone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758184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Mixture search + experiment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3758184"/>
            <a:ext cx="35753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Oral matrix + absorption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270248"/>
            <a:ext cx="3364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Veterinary analgesia depot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270248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Depot analysis + evidence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4270248"/>
            <a:ext cx="35753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Route, species and duration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" y="4718304"/>
            <a:ext cx="11219688" cy="475488"/>
          </a:xfrm>
          <a:prstGeom prst="rect">
            <a:avLst/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782312"/>
            <a:ext cx="3364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1F5F6"/>
                </a:solidFill>
                <a:latin typeface="Aptos"/>
              </a:defRPr>
            </a:pPr>
            <a:r>
              <a:t>Canine OA injectable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4782312"/>
            <a:ext cx="34747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Depot analysis + evidence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6" y="4782312"/>
            <a:ext cx="357530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FC1CE"/>
                </a:solidFill>
                <a:latin typeface="Aptos"/>
              </a:defRPr>
            </a:pPr>
            <a:r>
              <a:t>Local/systemic branch + safety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Shared tools can reduce repeated engineering. Each product still has to earn its scientific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COMPOUNDING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Keep the failures. Reuse the lessons. Review the transfer.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A completed campaign should improve the next research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78608"/>
            <a:ext cx="2359152" cy="140817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06624"/>
            <a:ext cx="206654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91256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Question + pathway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2578608"/>
            <a:ext cx="2359152" cy="140817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83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706624"/>
            <a:ext cx="206654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91256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Results + failed attempts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578608"/>
            <a:ext cx="2359152" cy="140817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BEA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706624"/>
            <a:ext cx="206654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191256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Evidence + alternatives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2872" y="2578608"/>
            <a:ext cx="2359152" cy="1408176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solidFill>
              <a:srgbClr val="F4C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2706624"/>
            <a:ext cx="206654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50" b="1">
                <a:solidFill>
                  <a:srgbClr val="F1F5F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3191256"/>
            <a:ext cx="20665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FC1CE"/>
                </a:solidFill>
                <a:latin typeface="Aptos"/>
              </a:defRPr>
            </a:pPr>
            <a:r>
              <a:t>Where does this apply?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44368" y="3273552"/>
            <a:ext cx="475488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332567" y="3273552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332567" y="3223573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43016" y="3273552"/>
            <a:ext cx="475488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231215" y="3273552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6231215" y="3223573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41664" y="3273552"/>
            <a:ext cx="475488" cy="0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129863" y="3273552"/>
            <a:ext cx="87289" cy="4997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129863" y="3223573"/>
            <a:ext cx="87289" cy="49979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442448" y="4005072"/>
            <a:ext cx="0" cy="740664"/>
          </a:xfrm>
          <a:prstGeom prst="line">
            <a:avLst/>
          </a:prstGeom>
          <a:ln w="2286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675120" y="4745736"/>
            <a:ext cx="3767328" cy="0"/>
          </a:xfrm>
          <a:prstGeom prst="line">
            <a:avLst/>
          </a:prstGeom>
          <a:ln w="2540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75120" y="4695757"/>
            <a:ext cx="87288" cy="49979"/>
          </a:xfrm>
          <a:prstGeom prst="line">
            <a:avLst/>
          </a:prstGeom>
          <a:ln w="2540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75120" y="4745736"/>
            <a:ext cx="87288" cy="49978"/>
          </a:xfrm>
          <a:prstGeom prst="line">
            <a:avLst/>
          </a:prstGeom>
          <a:ln w="25400">
            <a:solidFill>
              <a:srgbClr val="F4C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21024" y="4407408"/>
            <a:ext cx="2999232" cy="722376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solidFill>
              <a:srgbClr val="56D9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5615" y="4617720"/>
            <a:ext cx="26700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56D9BD"/>
                </a:solidFill>
                <a:latin typeface="Aptos"/>
              </a:defRPr>
            </a:pPr>
            <a:r>
              <a:t>Reusable pathway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746504" y="4745736"/>
            <a:ext cx="1856232" cy="0"/>
          </a:xfrm>
          <a:prstGeom prst="line">
            <a:avLst/>
          </a:prstGeom>
          <a:ln w="2286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46504" y="4005072"/>
            <a:ext cx="0" cy="740664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46504" y="4005072"/>
            <a:ext cx="49978" cy="8728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696525" y="4005072"/>
            <a:ext cx="49979" cy="87288"/>
          </a:xfrm>
          <a:prstGeom prst="line">
            <a:avLst/>
          </a:prstGeom>
          <a:ln w="25400">
            <a:solidFill>
              <a:srgbClr val="56D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Retained history becomes useful only when context, rights and applicability travel with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DELIVERY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Prove the shared engine in small, visible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Each gate demonstrates a new capability without claiming the next one is already complete.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562356" y="2528316"/>
            <a:ext cx="283464" cy="283464"/>
          </a:xfrm>
          <a:prstGeom prst="ellipse">
            <a:avLst/>
          </a:prstGeom>
          <a:solidFill>
            <a:srgbClr val="56D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77824" y="2670048"/>
            <a:ext cx="2496312" cy="0"/>
          </a:xfrm>
          <a:prstGeom prst="line">
            <a:avLst/>
          </a:prstGeom>
          <a:ln w="254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632" y="319125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56D9BD"/>
                </a:solidFill>
                <a:latin typeface="Aptos"/>
              </a:defRPr>
            </a:pPr>
            <a:r>
              <a:t>GATE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685032"/>
            <a:ext cx="262432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F1F5F6"/>
                </a:solidFill>
                <a:latin typeface="Aptos"/>
              </a:defRPr>
            </a:pPr>
            <a:r>
              <a:t>Show 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590288"/>
            <a:ext cx="261518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Rod + oral fixtures.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One search kernel.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Synthetic objectives.</a:t>
            </a:r>
          </a:p>
        </p:txBody>
      </p:sp>
      <p:sp>
        <p:nvSpPr>
          <p:cNvPr id="14" name="Oval 13"/>
          <p:cNvSpPr/>
          <p:nvPr/>
        </p:nvSpPr>
        <p:spPr>
          <a:xfrm>
            <a:off x="3424428" y="2528316"/>
            <a:ext cx="283464" cy="283464"/>
          </a:xfrm>
          <a:prstGeom prst="ellipse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739896" y="2670048"/>
            <a:ext cx="2496312" cy="0"/>
          </a:xfrm>
          <a:prstGeom prst="line">
            <a:avLst/>
          </a:prstGeom>
          <a:ln w="254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6704" y="319125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83BFFF"/>
                </a:solidFill>
                <a:latin typeface="Aptos"/>
              </a:defRPr>
            </a:pPr>
            <a:r>
              <a:t>GATE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3685032"/>
            <a:ext cx="262432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F1F5F6"/>
                </a:solidFill>
                <a:latin typeface="Aptos"/>
              </a:defRPr>
            </a:pPr>
            <a:r>
              <a:t>Make it executable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4590288"/>
            <a:ext cx="261518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Versioned graphs.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Typed tools + data.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Retained state.</a:t>
            </a:r>
          </a:p>
        </p:txBody>
      </p:sp>
      <p:sp>
        <p:nvSpPr>
          <p:cNvPr id="19" name="Oval 18"/>
          <p:cNvSpPr/>
          <p:nvPr/>
        </p:nvSpPr>
        <p:spPr>
          <a:xfrm>
            <a:off x="6286500" y="2528316"/>
            <a:ext cx="283464" cy="283464"/>
          </a:xfrm>
          <a:prstGeom prst="ellipse">
            <a:avLst/>
          </a:prstGeom>
          <a:solidFill>
            <a:srgbClr val="BEA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01968" y="2670048"/>
            <a:ext cx="2496312" cy="0"/>
          </a:xfrm>
          <a:prstGeom prst="line">
            <a:avLst/>
          </a:prstGeom>
          <a:ln w="25400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08776" y="319125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EA5F4"/>
                </a:solidFill>
                <a:latin typeface="Aptos"/>
              </a:defRPr>
            </a:pPr>
            <a:r>
              <a:t>GATE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85032"/>
            <a:ext cx="262432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F1F5F6"/>
                </a:solidFill>
                <a:latin typeface="Aptos"/>
              </a:defRPr>
            </a:pPr>
            <a:r>
              <a:t>Make it scientific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4590288"/>
            <a:ext cx="261518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Reviewed datasets.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Validated models.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Clear assay context.</a:t>
            </a:r>
          </a:p>
        </p:txBody>
      </p:sp>
      <p:sp>
        <p:nvSpPr>
          <p:cNvPr id="24" name="Oval 23"/>
          <p:cNvSpPr/>
          <p:nvPr/>
        </p:nvSpPr>
        <p:spPr>
          <a:xfrm>
            <a:off x="9148572" y="2528316"/>
            <a:ext cx="283464" cy="283464"/>
          </a:xfrm>
          <a:prstGeom prst="ellipse">
            <a:avLst/>
          </a:prstGeom>
          <a:solidFill>
            <a:srgbClr val="F4C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319125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4C77E"/>
                </a:solidFill>
                <a:latin typeface="Aptos"/>
              </a:defRPr>
            </a:pPr>
            <a:r>
              <a:t>GATE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3685032"/>
            <a:ext cx="262432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F1F5F6"/>
                </a:solidFill>
                <a:latin typeface="Aptos"/>
              </a:defRPr>
            </a:pPr>
            <a:r>
              <a:t>Make it adaptive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4590288"/>
            <a:ext cx="2615184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Human Graph Studio.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Experiment loops.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Then evolve pathways.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Biology acceptance includes a campaign that works without a polymer or epoxy node.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56D9BD"/>
                </a:solidFill>
                <a:latin typeface="Aptos"/>
              </a:defRPr>
            </a:pPr>
            <a:r>
              <a:t>WHAT WE ARE ALIGNING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22376"/>
            <a:ext cx="11292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1F5F6"/>
                </a:solidFill>
                <a:latin typeface="Aptos"/>
              </a:defRPr>
            </a:pPr>
            <a:r>
              <a:t>Build a research engine that can change its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96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FC1CE"/>
                </a:solidFill>
                <a:latin typeface="Aptos"/>
              </a:defRPr>
            </a:pPr>
            <a:r>
              <a:t>The scientific question determines the combination of tools.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4552" cy="0"/>
          </a:xfrm>
          <a:prstGeom prst="line">
            <a:avLst/>
          </a:prstGeom>
          <a:ln w="8255">
            <a:solidFill>
              <a:srgbClr val="405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FC1CE"/>
                </a:solidFill>
                <a:latin typeface="Aptos"/>
              </a:defRPr>
            </a:pPr>
            <a:r>
              <a:t>AMPHORA  /  INTERNAL DISCUSSION ONLY  / 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967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6D9BD"/>
                </a:solidFill>
                <a:latin typeface="Aptos"/>
              </a:defRPr>
            </a:pPr>
            <a:r>
              <a:t>TARGET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93424" y="6492240"/>
            <a:ext cx="3291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F1F5F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414016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200" b="1">
                <a:solidFill>
                  <a:srgbClr val="F1F5F6"/>
                </a:solidFill>
                <a:latin typeface="Aptos"/>
              </a:defRPr>
            </a:pPr>
            <a:r>
              <a:t>Reusable science.</a:t>
            </a:r>
          </a:p>
          <a:p>
            <a:pPr algn="l">
              <a:spcAft>
                <a:spcPts val="500"/>
              </a:spcAft>
              <a:defRPr sz="3200" b="1">
                <a:solidFill>
                  <a:srgbClr val="F1F5F6"/>
                </a:solidFill>
                <a:latin typeface="Aptos"/>
              </a:defRPr>
            </a:pPr>
            <a:r>
              <a:t>Configurable campaigns.</a:t>
            </a:r>
          </a:p>
          <a:p>
            <a:pPr algn="l">
              <a:spcAft>
                <a:spcPts val="500"/>
              </a:spcAft>
              <a:defRPr sz="3200" b="1">
                <a:solidFill>
                  <a:srgbClr val="F1F5F6"/>
                </a:solidFill>
                <a:latin typeface="Aptos"/>
              </a:defRPr>
            </a:pPr>
            <a:r>
              <a:t>Visible evidence.</a:t>
            </a:r>
          </a:p>
          <a:p>
            <a:pPr algn="l">
              <a:spcAft>
                <a:spcPts val="500"/>
              </a:spcAft>
              <a:defRPr sz="3200" b="1">
                <a:solidFill>
                  <a:srgbClr val="F1F5F6"/>
                </a:solidFill>
                <a:latin typeface="Aptos"/>
              </a:defRPr>
            </a:pPr>
            <a:r>
              <a:t>Human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14016"/>
            <a:ext cx="5294376" cy="93268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2542032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56D9BD"/>
                </a:solidFill>
                <a:latin typeface="Aptos"/>
              </a:defRPr>
            </a:pPr>
            <a:r>
              <a:t>REUSE THE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2824" y="2862072"/>
            <a:ext cx="4892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Keep proven algorithms and evidence machinery.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38728"/>
            <a:ext cx="5294376" cy="93268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3666744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83BFFF"/>
                </a:solidFill>
                <a:latin typeface="Aptos"/>
              </a:defRPr>
            </a:pPr>
            <a:r>
              <a:t>EXPAND THE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3986784"/>
            <a:ext cx="4892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Add biological and materials capabilities as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663440"/>
            <a:ext cx="5294376" cy="932688"/>
          </a:xfrm>
          <a:prstGeom prst="roundRect">
            <a:avLst>
              <a:gd name="adj" fmla="val 12000"/>
            </a:avLst>
          </a:prstGeom>
          <a:solidFill>
            <a:srgbClr val="19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4791455"/>
            <a:ext cx="4892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4C77E"/>
                </a:solidFill>
                <a:latin typeface="Aptos"/>
              </a:defRPr>
            </a:pPr>
            <a:r>
              <a:t>PROVE THE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5111496"/>
            <a:ext cx="4892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1F5F6"/>
                </a:solidFill>
                <a:latin typeface="Aptos"/>
              </a:defRPr>
            </a:pPr>
            <a:r>
              <a:t>Validate the data, models and graph transitions.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97296"/>
            <a:ext cx="11274552" cy="393192"/>
          </a:xfrm>
          <a:prstGeom prst="roundRect">
            <a:avLst>
              <a:gd name="adj" fmla="val 12000"/>
            </a:avLst>
          </a:prstGeom>
          <a:solidFill>
            <a:srgbClr val="22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870448"/>
            <a:ext cx="109453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56D9BD"/>
                </a:solidFill>
                <a:latin typeface="Aptos"/>
              </a:defRPr>
            </a:pPr>
            <a:r>
              <a:t>First proof: the same search core, two product representations, one inspectable evidence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Amphora | The Adaptive Research Engine</dc:title>
  <dc:subject>Internal non-technical engine architecture and reuse discussion</dc:subject>
  <dc:creator>Amphora</dc:creator>
  <cp:keywords>INTERNAL ONLY; graph-native; biological research; materials; evolutionary search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