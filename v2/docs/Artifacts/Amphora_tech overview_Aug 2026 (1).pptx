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 id="2147483662" r:id="rId6"/>
    <p:sldMasterId id="214748366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Lst>
  <p:sldSz cy="5143500" cx="9144000"/>
  <p:notesSz cx="6858000" cy="9144000"/>
  <p:embeddedFontLst>
    <p:embeddedFont>
      <p:font typeface="Source Sans 3"/>
      <p:regular r:id="rId38"/>
      <p:bold r:id="rId39"/>
      <p:italic r:id="rId40"/>
      <p:boldItalic r:id="rId41"/>
    </p:embeddedFont>
    <p:embeddedFont>
      <p:font typeface="IBM Plex Mono"/>
      <p:regular r:id="rId42"/>
      <p:bold r:id="rId43"/>
      <p:italic r:id="rId44"/>
      <p:boldItalic r:id="rId45"/>
    </p:embeddedFont>
    <p:embeddedFont>
      <p:font typeface="Source Serif 4"/>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D070C2-8BC2-47F4-A555-C5E1C00899C6}">
  <a:tblStyle styleId="{51D070C2-8BC2-47F4-A555-C5E1C00899C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urceSans3-italic.fntdata"/><Relationship Id="rId42" Type="http://schemas.openxmlformats.org/officeDocument/2006/relationships/font" Target="fonts/IBMPlexMono-regular.fntdata"/><Relationship Id="rId41" Type="http://schemas.openxmlformats.org/officeDocument/2006/relationships/font" Target="fonts/SourceSans3-boldItalic.fntdata"/><Relationship Id="rId44" Type="http://schemas.openxmlformats.org/officeDocument/2006/relationships/font" Target="fonts/IBMPlexMono-italic.fntdata"/><Relationship Id="rId43" Type="http://schemas.openxmlformats.org/officeDocument/2006/relationships/font" Target="fonts/IBMPlexMono-bold.fntdata"/><Relationship Id="rId46" Type="http://schemas.openxmlformats.org/officeDocument/2006/relationships/font" Target="fonts/SourceSerif4-regular.fntdata"/><Relationship Id="rId45" Type="http://schemas.openxmlformats.org/officeDocument/2006/relationships/font" Target="fonts/IBMPlexMon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SourceSerif4-italic.fntdata"/><Relationship Id="rId47" Type="http://schemas.openxmlformats.org/officeDocument/2006/relationships/font" Target="fonts/SourceSerif4-bold.fntdata"/><Relationship Id="rId49" Type="http://schemas.openxmlformats.org/officeDocument/2006/relationships/font" Target="fonts/SourceSerif4-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font" Target="fonts/SourceSans3-bold.fntdata"/><Relationship Id="rId38" Type="http://schemas.openxmlformats.org/officeDocument/2006/relationships/font" Target="fonts/SourceSans3-regular.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f6d71cae90_2_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g3f6d71cae90_2_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 sz="1200" u="none" cap="none" strike="noStrike">
                <a:solidFill>
                  <a:schemeClr val="dk1"/>
                </a:solidFill>
                <a:latin typeface="Arial"/>
                <a:ea typeface="Arial"/>
                <a:cs typeface="Arial"/>
                <a:sym typeface="Arial"/>
              </a:rPr>
              <a:t>We are not a discovery company hoping someone can make the result. We start from your plant and work backwards. Flag early that this deck includes what we cannot do yet. That is deliberate.</a:t>
            </a:r>
            <a:endParaRPr/>
          </a:p>
        </p:txBody>
      </p:sp>
      <p:sp>
        <p:nvSpPr>
          <p:cNvPr id="57" name="Google Shape;57;g3f6d71cae90_2_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6d71cae90_2_16: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g3f6d71cae90_2_16: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Nobody argues the 90% figure. The point of the slide is the third item: the deadline is external, which makes this urgent rather than interesting.</a:t>
            </a:r>
            <a:endParaRPr/>
          </a:p>
        </p:txBody>
      </p:sp>
      <p:sp>
        <p:nvSpPr>
          <p:cNvPr id="68" name="Google Shape;68;g3f6d71cae90_2_16: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6d71cae90_2_4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g3f6d71cae90_2_4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Ask which of the three they are living with right now. The answer tells you which case study to spend time on. Most first projects start at number two, because a reformulation with a regulatory clock on it is the easiest thing to get funded.</a:t>
            </a:r>
            <a:endParaRPr/>
          </a:p>
        </p:txBody>
      </p:sp>
      <p:sp>
        <p:nvSpPr>
          <p:cNvPr id="93" name="Google Shape;93;g3f6d71cae90_2_4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6d71cae90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f6d71cae90_0_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whole pitch in one slide. If they remember one thing, make it this. Everything after is evidence for it.</a:t>
            </a:r>
            <a:endParaRPr/>
          </a:p>
        </p:txBody>
      </p:sp>
      <p:sp>
        <p:nvSpPr>
          <p:cNvPr id="118" name="Google Shape;118;g3f6d71cae90_0_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6d71cae90_2_8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g3f6d71cae90_2_8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The abstention behaviour matters more to a technical buyer than model quality. Everyone has models. Almost nobody tells you when theirs has no business answering.</a:t>
            </a:r>
            <a:endParaRPr/>
          </a:p>
        </p:txBody>
      </p:sp>
      <p:sp>
        <p:nvSpPr>
          <p:cNvPr id="155" name="Google Shape;155;g3f6d71cae90_2_8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6d71cae90_2_12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g3f6d71cae90_2_12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Roughly a dozen of these are assurance and plumbing rather than science. Say so if asked. No counts on the slide: the library expands every quarter and a fixed number dates the deck.</a:t>
            </a:r>
            <a:endParaRPr/>
          </a:p>
        </p:txBody>
      </p:sp>
      <p:sp>
        <p:nvSpPr>
          <p:cNvPr id="196" name="Google Shape;196;g3f6d71cae90_2_12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6d71cae90_2_147: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g3f6d71cae90_2_147: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Stay on outcome, not method. If pushed on how it is built: models come from automated search over feature construction and algorithm form, benchmarked against the strongest tabular foundation-model ensembles, and Jepson built and sold generative AI platforms into DataRobot. Say it once and return to what it delivers.</a:t>
            </a:r>
            <a:endParaRPr/>
          </a:p>
        </p:txBody>
      </p:sp>
      <p:sp>
        <p:nvSpPr>
          <p:cNvPr id="265" name="Google Shape;265;g3f6d71cae90_2_147: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6d71cae90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287" name="Google Shape;287;g3f6d71cae90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a:t>Full table with baselines, splits and sample sizes is in the appendix. Offer it. Handing it over unprompted is worth more than the numbers themselves.</a:t>
            </a:r>
            <a:endParaRPr/>
          </a:p>
        </p:txBody>
      </p:sp>
      <p:sp>
        <p:nvSpPr>
          <p:cNvPr id="288" name="Google Shape;288;g3f6d71cae90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6d71cae90_2_183: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g3f6d71cae90_2_183: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A capability claim, not a confession. Three moves: we run physics and machine learning side by side and let the benchmark pick, we adopt published methods when they win, and where nothing works we can name the data that would fix it. Land hard on the third card. If asked whether competitors have these cases too, the answer is yes, they just have not looked.</a:t>
            </a:r>
            <a:endParaRPr/>
          </a:p>
        </p:txBody>
      </p:sp>
      <p:sp>
        <p:nvSpPr>
          <p:cNvPr id="320" name="Google Shape;320;g3f6d71cae90_2_183: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f6d71cae90_0_26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353" name="Google Shape;353;g3f6d71cae90_0_26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a:t>Keep this plain. Two ideas: we check our own work hard and throw out what fails, and anything we hand over can be traced and re-run. Skip the internal vocabulary. If an engineer wants the machinery, the appendix has the evidence grading.</a:t>
            </a:r>
            <a:endParaRPr/>
          </a:p>
        </p:txBody>
      </p:sp>
      <p:sp>
        <p:nvSpPr>
          <p:cNvPr id="354" name="Google Shape;354;g3f6d71cae90_0_26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f6d71cae90_2_357: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0" name="Google Shape;380;g3f6d71cae90_2_357: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UMass Lowell matters most for maritime prospects. Salt spray and corrosion characterisation, with Navy funding behind the facility.</a:t>
            </a:r>
            <a:endParaRPr/>
          </a:p>
        </p:txBody>
      </p:sp>
      <p:sp>
        <p:nvSpPr>
          <p:cNvPr id="381" name="Google Shape;381;g3f6d71cae90_2_357: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f6d71cae90_2_39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g3f6d71cae90_2_39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The turn of the wheel is the point. Envelope in, campaign, panels on the bench, measurements back into the modules, next envelope answered faster. Say out loud that the fourth station is the one most vendors skip. Plenty of platforms generate candidates, very few close the loop with measured data they own.</a:t>
            </a:r>
            <a:endParaRPr/>
          </a:p>
        </p:txBody>
      </p:sp>
      <p:sp>
        <p:nvSpPr>
          <p:cNvPr id="410" name="Google Shape;410;g3f6d71cae90_2_39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f6d71cae90_2_42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g3f6d71cae90_2_42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Phase 0 is the ask at the end of the deck. Cheap, fast, and it tells both sides whether this is real.</a:t>
            </a:r>
            <a:endParaRPr/>
          </a:p>
        </p:txBody>
      </p:sp>
      <p:sp>
        <p:nvSpPr>
          <p:cNvPr id="449" name="Google Shape;449;g3f6d71cae90_2_42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f6d71cae90_2_46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g3f6d71cae90_2_46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These are the standard ranges, not a quote. Anchor on scope, then let the envelope phase size it properly.</a:t>
            </a:r>
            <a:endParaRPr/>
          </a:p>
        </p:txBody>
      </p:sp>
      <p:sp>
        <p:nvSpPr>
          <p:cNvPr id="483" name="Google Shape;483;g3f6d71cae90_2_46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f6ee83a4a3_0_1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g3f6ee83a4a3_0_17: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Ask which of the three brought them to the meeting, then spend the time there. The bottom bar is the bridge into the Huntington Ingalls case study, because that is exactly the situation: a product bought for years by people who could not describe it.</a:t>
            </a:r>
            <a:br>
              <a:rPr lang="en"/>
            </a:br>
            <a:br>
              <a:rPr lang="en"/>
            </a:br>
            <a:r>
              <a:rPr lang="en"/>
              <a:t>If someone asks whether this approach is real yet, the market answer is in the speaker notes rather than on the slide. Over $1.5bn went into AI materials companies in the past year. CuspAI raised $450M in July and is past $650M in total, Lila Sciences passed a $1.3bn valuation with Nvidia backing, Periodic Labs raised $300M. CuspAI's new materials foundry launched with 45 founding members including Nvidia, Meta, Samsung, Hyundai, Henkel and 3M, and not one of them is marine, energy or heavy industry. Useful line to have ready: a Lila Sciences scientist told MIT Technology Review last December that there are zero problems we can solve in the real world with simulation alone.</a:t>
            </a:r>
            <a:endParaRPr/>
          </a:p>
        </p:txBody>
      </p:sp>
      <p:sp>
        <p:nvSpPr>
          <p:cNvPr id="510" name="Google Shape;510;g3f6ee83a4a3_0_1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f6d71cae90_2_51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g3f6d71cae90_2_51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Wes is usually the most useful name in a defence or energy room. Lead with him there rather than with the AI credentials.</a:t>
            </a:r>
            <a:endParaRPr/>
          </a:p>
        </p:txBody>
      </p:sp>
      <p:sp>
        <p:nvSpPr>
          <p:cNvPr id="540" name="Google Shape;540;g3f6d71cae90_2_51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f6d71cae90_2_56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1" name="Google Shape;571;g3f6d71cae90_2_56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Close on the envelope, not a contract. Small, concrete, low risk, and it is the step that predicts whether a partnership works.</a:t>
            </a:r>
            <a:endParaRPr/>
          </a:p>
        </p:txBody>
      </p:sp>
      <p:sp>
        <p:nvSpPr>
          <p:cNvPr id="572" name="Google Shape;572;g3f6d71cae90_2_56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f6d71cae90_2_23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1" name="Google Shape;581;g3f6d71cae90_2_23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82" name="Google Shape;582;g3f6d71cae90_2_23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f6d71cae90_2_24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1" name="Google Shape;591;g3f6d71cae90_2_245: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The scope box is deliberate. It shows we respect a customer's boundaries even when overstating would flatter us. Prospects in the same industry notice that.</a:t>
            </a:r>
            <a:endParaRPr/>
          </a:p>
        </p:txBody>
      </p:sp>
      <p:sp>
        <p:nvSpPr>
          <p:cNvPr id="592" name="Google Shape;592;g3f6d71cae90_2_245: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f6d71cae90_0_333: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615" name="Google Shape;615;g3f6d71cae90_0_33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a:t>This converts a maritime prospect who is not the Navy. The naval work de-risks them, it does not compete with them.</a:t>
            </a:r>
            <a:endParaRPr/>
          </a:p>
        </p:txBody>
      </p:sp>
      <p:sp>
        <p:nvSpPr>
          <p:cNvPr id="616" name="Google Shape;616;g3f6d71cae90_0_33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f6d71cae90_2_29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1" name="Google Shape;641;g3f6d71cae90_2_29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42" name="Google Shape;642;g3f6d71cae90_2_29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6d71cae90_2_30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1" name="Google Shape;651;g3f6d71cae90_2_30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Nothing lab-validated in membranes yet. If asked directly, say so and point at the maritime programme as the one with a signed partner behind it.</a:t>
            </a:r>
            <a:endParaRPr/>
          </a:p>
        </p:txBody>
      </p:sp>
      <p:sp>
        <p:nvSpPr>
          <p:cNvPr id="652" name="Google Shape;652;g3f6d71cae90_2_30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f6d71cae90_2_32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4" name="Google Shape;694;g3f6d71cae90_2_32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95" name="Google Shape;695;g3f6d71cae90_2_32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f6d71cae90_2_333: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4" name="Google Shape;704;g3f6d71cae90_2_333: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Three formulations from the platform's physics engine, with a provenance chain behind them. They are proposals, not tested products. Say that before anyone asks.</a:t>
            </a:r>
            <a:endParaRPr/>
          </a:p>
        </p:txBody>
      </p:sp>
      <p:sp>
        <p:nvSpPr>
          <p:cNvPr id="705" name="Google Shape;705;g3f6d71cae90_2_333: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f6d71cae90_2_58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2" name="Google Shape;732;g3f6d71cae90_2_58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33" name="Google Shape;733;g3f6d71cae90_2_58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f6d71cae90_2_59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2" name="Google Shape;742;g3f6d71cae90_2_59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43" name="Google Shape;743;g3f6d71cae90_2_59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f6d71cae90_2_60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3" name="Google Shape;753;g3f6d71cae90_2_60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54" name="Google Shape;754;g3f6d71cae90_2_60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f6d71cae90_2_627: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0" name="Google Shape;780;g3f6d71cae90_2_627: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81" name="Google Shape;781;g3f6d71cae90_2_627: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f6d71cae90_0_497: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801" name="Google Shape;801;g3f6d71cae90_0_497: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
              <a:t>Put this in front of the technical people, not just the commercial ones. It is the reason they take a second meeting.</a:t>
            </a:r>
            <a:endParaRPr/>
          </a:p>
        </p:txBody>
      </p:sp>
      <p:sp>
        <p:nvSpPr>
          <p:cNvPr id="802" name="Google Shape;802;g3f6d71cae90_0_497: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3" name="Shape 5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430"/>
        </a:solidFill>
      </p:bgPr>
    </p:bg>
    <p:spTree>
      <p:nvGrpSpPr>
        <p:cNvPr id="58" name="Shape 58"/>
        <p:cNvGrpSpPr/>
        <p:nvPr/>
      </p:nvGrpSpPr>
      <p:grpSpPr>
        <a:xfrm>
          <a:off x="0" y="0"/>
          <a:ext cx="0" cy="0"/>
          <a:chOff x="0" y="0"/>
          <a:chExt cx="0" cy="0"/>
        </a:xfrm>
      </p:grpSpPr>
      <p:sp>
        <p:nvSpPr>
          <p:cNvPr id="59" name="Google Shape;59;p17"/>
          <p:cNvSpPr/>
          <p:nvPr/>
        </p:nvSpPr>
        <p:spPr>
          <a:xfrm>
            <a:off x="445770" y="1474470"/>
            <a:ext cx="6309360" cy="1303020"/>
          </a:xfrm>
          <a:prstGeom prst="rect">
            <a:avLst/>
          </a:prstGeom>
          <a:noFill/>
          <a:ln>
            <a:noFill/>
          </a:ln>
        </p:spPr>
        <p:txBody>
          <a:bodyPr anchorCtr="0" anchor="t" bIns="0" lIns="0" spcFirstLastPara="1" rIns="0" wrap="square" tIns="0">
            <a:noAutofit/>
          </a:bodyPr>
          <a:lstStyle/>
          <a:p>
            <a:pPr indent="0" lvl="0" marL="0" marR="0" rtl="0" algn="l">
              <a:lnSpc>
                <a:spcPct val="113043"/>
              </a:lnSpc>
              <a:spcBef>
                <a:spcPts val="0"/>
              </a:spcBef>
              <a:spcAft>
                <a:spcPts val="0"/>
              </a:spcAft>
              <a:buClr>
                <a:srgbClr val="FFFFFF"/>
              </a:buClr>
              <a:buSzPts val="3500"/>
              <a:buFont typeface="Cambria"/>
              <a:buNone/>
            </a:pPr>
            <a:r>
              <a:rPr b="1" lang="en" sz="3500">
                <a:solidFill>
                  <a:srgbClr val="FFFFFF"/>
                </a:solidFill>
                <a:latin typeface="Cambria"/>
                <a:ea typeface="Cambria"/>
                <a:cs typeface="Cambria"/>
                <a:sym typeface="Cambria"/>
              </a:rPr>
              <a:t>Advanced materials,</a:t>
            </a:r>
            <a:endParaRPr sz="3500">
              <a:solidFill>
                <a:schemeClr val="dk1"/>
              </a:solidFill>
              <a:latin typeface="Calibri"/>
              <a:ea typeface="Calibri"/>
              <a:cs typeface="Calibri"/>
              <a:sym typeface="Calibri"/>
            </a:endParaRPr>
          </a:p>
          <a:p>
            <a:pPr indent="0" lvl="0" marL="0" marR="0" rtl="0" algn="l">
              <a:lnSpc>
                <a:spcPct val="113043"/>
              </a:lnSpc>
              <a:spcBef>
                <a:spcPts val="0"/>
              </a:spcBef>
              <a:spcAft>
                <a:spcPts val="0"/>
              </a:spcAft>
              <a:buClr>
                <a:srgbClr val="FFFFFF"/>
              </a:buClr>
              <a:buSzPts val="3500"/>
              <a:buFont typeface="Cambria"/>
              <a:buNone/>
            </a:pPr>
            <a:r>
              <a:rPr b="1" lang="en" sz="3500">
                <a:solidFill>
                  <a:srgbClr val="FFFFFF"/>
                </a:solidFill>
                <a:latin typeface="Cambria"/>
                <a:ea typeface="Cambria"/>
                <a:cs typeface="Cambria"/>
                <a:sym typeface="Cambria"/>
              </a:rPr>
              <a:t>made manufacturable.</a:t>
            </a:r>
            <a:endParaRPr sz="3500">
              <a:solidFill>
                <a:schemeClr val="dk1"/>
              </a:solidFill>
              <a:latin typeface="Calibri"/>
              <a:ea typeface="Calibri"/>
              <a:cs typeface="Calibri"/>
              <a:sym typeface="Calibri"/>
            </a:endParaRPr>
          </a:p>
        </p:txBody>
      </p:sp>
      <p:sp>
        <p:nvSpPr>
          <p:cNvPr id="60" name="Google Shape;60;p17"/>
          <p:cNvSpPr/>
          <p:nvPr/>
        </p:nvSpPr>
        <p:spPr>
          <a:xfrm>
            <a:off x="445770" y="2846070"/>
            <a:ext cx="589788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FA9B8"/>
              </a:buClr>
              <a:buSzPts val="1300"/>
              <a:buFont typeface="Calibri"/>
              <a:buNone/>
            </a:pPr>
            <a:r>
              <a:rPr lang="en" sz="1300">
                <a:solidFill>
                  <a:srgbClr val="7FA9B8"/>
                </a:solidFill>
                <a:latin typeface="Calibri"/>
                <a:ea typeface="Calibri"/>
                <a:cs typeface="Calibri"/>
                <a:sym typeface="Calibri"/>
              </a:rPr>
              <a:t>We design polymers and coatings around the factory that has to make them.</a:t>
            </a:r>
            <a:endParaRPr sz="1300">
              <a:solidFill>
                <a:schemeClr val="dk1"/>
              </a:solidFill>
              <a:latin typeface="Calibri"/>
              <a:ea typeface="Calibri"/>
              <a:cs typeface="Calibri"/>
              <a:sym typeface="Calibri"/>
            </a:endParaRPr>
          </a:p>
        </p:txBody>
      </p:sp>
      <p:sp>
        <p:nvSpPr>
          <p:cNvPr id="61" name="Google Shape;61;p17"/>
          <p:cNvSpPr/>
          <p:nvPr/>
        </p:nvSpPr>
        <p:spPr>
          <a:xfrm>
            <a:off x="445770" y="3394710"/>
            <a:ext cx="1508760" cy="13716"/>
          </a:xfrm>
          <a:prstGeom prst="rect">
            <a:avLst/>
          </a:prstGeom>
          <a:solidFill>
            <a:srgbClr val="1D4A59"/>
          </a:solidFill>
          <a:ln cap="flat" cmpd="sng" w="12700">
            <a:solidFill>
              <a:srgbClr val="1D4A59"/>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 name="Google Shape;62;p17"/>
          <p:cNvSpPr/>
          <p:nvPr/>
        </p:nvSpPr>
        <p:spPr>
          <a:xfrm>
            <a:off x="445770" y="3566160"/>
            <a:ext cx="548640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FB6BF"/>
              </a:buClr>
              <a:buSzPts val="900"/>
              <a:buFont typeface="Calibri"/>
              <a:buNone/>
            </a:pPr>
            <a:r>
              <a:rPr lang="en" sz="900">
                <a:solidFill>
                  <a:srgbClr val="9FB6BF"/>
                </a:solidFill>
                <a:latin typeface="Calibri"/>
                <a:ea typeface="Calibri"/>
                <a:cs typeface="Calibri"/>
                <a:sym typeface="Calibri"/>
              </a:rPr>
              <a:t>Commercial introduction  ·  August 2026</a:t>
            </a:r>
            <a:endParaRPr sz="900">
              <a:solidFill>
                <a:schemeClr val="dk1"/>
              </a:solidFill>
              <a:latin typeface="Calibri"/>
              <a:ea typeface="Calibri"/>
              <a:cs typeface="Calibri"/>
              <a:sym typeface="Calibri"/>
            </a:endParaRPr>
          </a:p>
        </p:txBody>
      </p:sp>
      <p:sp>
        <p:nvSpPr>
          <p:cNvPr id="63" name="Google Shape;63;p17"/>
          <p:cNvSpPr/>
          <p:nvPr/>
        </p:nvSpPr>
        <p:spPr>
          <a:xfrm>
            <a:off x="445770" y="3806190"/>
            <a:ext cx="548640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FB6BF"/>
              </a:buClr>
              <a:buSzPts val="900"/>
              <a:buFont typeface="Calibri"/>
              <a:buNone/>
            </a:pPr>
            <a:r>
              <a:rPr lang="en" sz="900">
                <a:solidFill>
                  <a:srgbClr val="9FB6BF"/>
                </a:solidFill>
                <a:latin typeface="Calibri"/>
                <a:ea typeface="Calibri"/>
                <a:cs typeface="Calibri"/>
                <a:sym typeface="Calibri"/>
              </a:rPr>
              <a:t>amphoralabs.io  ·  jeff@amphoralabs.io  ·  alex@amphoralabs.io</a:t>
            </a:r>
            <a:endParaRPr sz="900">
              <a:solidFill>
                <a:schemeClr val="dk1"/>
              </a:solidFill>
              <a:latin typeface="Calibri"/>
              <a:ea typeface="Calibri"/>
              <a:cs typeface="Calibri"/>
              <a:sym typeface="Calibri"/>
            </a:endParaRPr>
          </a:p>
        </p:txBody>
      </p:sp>
      <p:pic>
        <p:nvPicPr>
          <p:cNvPr id="64" name="Google Shape;64;p17" title="AMPHORA LOGO WHITE.png"/>
          <p:cNvPicPr preferRelativeResize="0"/>
          <p:nvPr/>
        </p:nvPicPr>
        <p:blipFill rotWithShape="1">
          <a:blip r:embed="rId3">
            <a:alphaModFix/>
          </a:blip>
          <a:srcRect b="0" l="0" r="0" t="0"/>
          <a:stretch/>
        </p:blipFill>
        <p:spPr>
          <a:xfrm>
            <a:off x="278923" y="505148"/>
            <a:ext cx="4535777" cy="690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 name="Shape 69"/>
        <p:cNvGrpSpPr/>
        <p:nvPr/>
      </p:nvGrpSpPr>
      <p:grpSpPr>
        <a:xfrm>
          <a:off x="0" y="0"/>
          <a:ext cx="0" cy="0"/>
          <a:chOff x="0" y="0"/>
          <a:chExt cx="0" cy="0"/>
        </a:xfrm>
      </p:grpSpPr>
      <p:sp>
        <p:nvSpPr>
          <p:cNvPr id="70" name="Google Shape;70;p18"/>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THE PROBLEM</a:t>
            </a:r>
            <a:endParaRPr sz="800">
              <a:solidFill>
                <a:schemeClr val="dk1"/>
              </a:solidFill>
              <a:latin typeface="Calibri"/>
              <a:ea typeface="Calibri"/>
              <a:cs typeface="Calibri"/>
              <a:sym typeface="Calibri"/>
            </a:endParaRPr>
          </a:p>
        </p:txBody>
      </p:sp>
      <p:sp>
        <p:nvSpPr>
          <p:cNvPr id="71" name="Google Shape;71;p18"/>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600"/>
              <a:buFont typeface="Cambria"/>
              <a:buNone/>
            </a:pPr>
            <a:r>
              <a:rPr b="1" lang="en" sz="2600">
                <a:solidFill>
                  <a:srgbClr val="16333D"/>
                </a:solidFill>
                <a:latin typeface="Cambria"/>
                <a:ea typeface="Cambria"/>
                <a:cs typeface="Cambria"/>
                <a:sym typeface="Cambria"/>
              </a:rPr>
              <a:t>Most new materials never leave the lab.</a:t>
            </a:r>
            <a:endParaRPr sz="2600">
              <a:solidFill>
                <a:schemeClr val="dk1"/>
              </a:solidFill>
              <a:latin typeface="Calibri"/>
              <a:ea typeface="Calibri"/>
              <a:cs typeface="Calibri"/>
              <a:sym typeface="Calibri"/>
            </a:endParaRPr>
          </a:p>
        </p:txBody>
      </p:sp>
      <p:sp>
        <p:nvSpPr>
          <p:cNvPr id="72" name="Google Shape;72;p18"/>
          <p:cNvSpPr/>
          <p:nvPr/>
        </p:nvSpPr>
        <p:spPr>
          <a:xfrm>
            <a:off x="445770" y="1460754"/>
            <a:ext cx="315468" cy="315468"/>
          </a:xfrm>
          <a:prstGeom prst="ellipse">
            <a:avLst/>
          </a:prstGeom>
          <a:solidFill>
            <a:srgbClr val="C25A1E"/>
          </a:solidFill>
          <a:ln cap="flat" cmpd="sng" w="12700">
            <a:solidFill>
              <a:srgbClr val="C25A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3" name="Google Shape;73;p18"/>
          <p:cNvSpPr/>
          <p:nvPr/>
        </p:nvSpPr>
        <p:spPr>
          <a:xfrm>
            <a:off x="445770" y="1460754"/>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 sz="1100">
                <a:solidFill>
                  <a:srgbClr val="FFFFFF"/>
                </a:solidFill>
                <a:latin typeface="Calibri"/>
                <a:ea typeface="Calibri"/>
                <a:cs typeface="Calibri"/>
                <a:sym typeface="Calibri"/>
              </a:rPr>
              <a:t>1</a:t>
            </a:r>
            <a:endParaRPr sz="1100">
              <a:solidFill>
                <a:schemeClr val="dk1"/>
              </a:solidFill>
              <a:latin typeface="Calibri"/>
              <a:ea typeface="Calibri"/>
              <a:cs typeface="Calibri"/>
              <a:sym typeface="Calibri"/>
            </a:endParaRPr>
          </a:p>
        </p:txBody>
      </p:sp>
      <p:sp>
        <p:nvSpPr>
          <p:cNvPr id="74" name="Google Shape;74;p18"/>
          <p:cNvSpPr/>
          <p:nvPr/>
        </p:nvSpPr>
        <p:spPr>
          <a:xfrm>
            <a:off x="912123" y="1440175"/>
            <a:ext cx="4171800" cy="24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300"/>
              <a:buFont typeface="Calibri"/>
              <a:buNone/>
            </a:pPr>
            <a:r>
              <a:rPr b="1" lang="en" sz="1300">
                <a:solidFill>
                  <a:srgbClr val="16333D"/>
                </a:solidFill>
                <a:latin typeface="Calibri"/>
                <a:ea typeface="Calibri"/>
                <a:cs typeface="Calibri"/>
                <a:sym typeface="Calibri"/>
              </a:rPr>
              <a:t>Invention is not the bottleneck.</a:t>
            </a:r>
            <a:endParaRPr sz="1300">
              <a:solidFill>
                <a:schemeClr val="dk1"/>
              </a:solidFill>
              <a:latin typeface="Calibri"/>
              <a:ea typeface="Calibri"/>
              <a:cs typeface="Calibri"/>
              <a:sym typeface="Calibri"/>
            </a:endParaRPr>
          </a:p>
        </p:txBody>
      </p:sp>
      <p:sp>
        <p:nvSpPr>
          <p:cNvPr id="75" name="Google Shape;75;p18"/>
          <p:cNvSpPr/>
          <p:nvPr/>
        </p:nvSpPr>
        <p:spPr>
          <a:xfrm>
            <a:off x="912123" y="1728212"/>
            <a:ext cx="4171800" cy="548700"/>
          </a:xfrm>
          <a:prstGeom prst="rect">
            <a:avLst/>
          </a:prstGeom>
          <a:noFill/>
          <a:ln>
            <a:noFill/>
          </a:ln>
        </p:spPr>
        <p:txBody>
          <a:bodyPr anchorCtr="0" anchor="t" bIns="0" lIns="0" spcFirstLastPara="1" rIns="0" wrap="square" tIns="0">
            <a:noAutofit/>
          </a:bodyPr>
          <a:lstStyle/>
          <a:p>
            <a:pPr indent="0" lvl="0" marL="0" marR="0" rtl="0" algn="l">
              <a:lnSpc>
                <a:spcPct val="140740"/>
              </a:lnSpc>
              <a:spcBef>
                <a:spcPts val="0"/>
              </a:spcBef>
              <a:spcAft>
                <a:spcPts val="0"/>
              </a:spcAft>
              <a:buClr>
                <a:srgbClr val="5E7480"/>
              </a:buClr>
              <a:buSzPts val="1000"/>
              <a:buFont typeface="Calibri"/>
              <a:buNone/>
            </a:pPr>
            <a:r>
              <a:rPr lang="en" sz="1000">
                <a:solidFill>
                  <a:srgbClr val="5E7480"/>
                </a:solidFill>
                <a:latin typeface="Calibri"/>
                <a:ea typeface="Calibri"/>
                <a:cs typeface="Calibri"/>
                <a:sym typeface="Calibri"/>
              </a:rPr>
              <a:t>Labs publish materials stronger than steel every year. Around 90 in 100 never reach production.</a:t>
            </a:r>
            <a:endParaRPr sz="1000">
              <a:solidFill>
                <a:schemeClr val="dk1"/>
              </a:solidFill>
              <a:latin typeface="Calibri"/>
              <a:ea typeface="Calibri"/>
              <a:cs typeface="Calibri"/>
              <a:sym typeface="Calibri"/>
            </a:endParaRPr>
          </a:p>
        </p:txBody>
      </p:sp>
      <p:sp>
        <p:nvSpPr>
          <p:cNvPr id="76" name="Google Shape;76;p18"/>
          <p:cNvSpPr/>
          <p:nvPr/>
        </p:nvSpPr>
        <p:spPr>
          <a:xfrm>
            <a:off x="445770" y="2523744"/>
            <a:ext cx="315468" cy="315468"/>
          </a:xfrm>
          <a:prstGeom prst="ellipse">
            <a:avLst/>
          </a:prstGeom>
          <a:solidFill>
            <a:srgbClr val="C25A1E"/>
          </a:solidFill>
          <a:ln cap="flat" cmpd="sng" w="12700">
            <a:solidFill>
              <a:srgbClr val="C25A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7" name="Google Shape;77;p18"/>
          <p:cNvSpPr/>
          <p:nvPr/>
        </p:nvSpPr>
        <p:spPr>
          <a:xfrm>
            <a:off x="445770" y="2523744"/>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 sz="1100">
                <a:solidFill>
                  <a:srgbClr val="FFFFFF"/>
                </a:solidFill>
                <a:latin typeface="Calibri"/>
                <a:ea typeface="Calibri"/>
                <a:cs typeface="Calibri"/>
                <a:sym typeface="Calibri"/>
              </a:rPr>
              <a:t>2</a:t>
            </a:r>
            <a:endParaRPr sz="1100">
              <a:solidFill>
                <a:schemeClr val="dk1"/>
              </a:solidFill>
              <a:latin typeface="Calibri"/>
              <a:ea typeface="Calibri"/>
              <a:cs typeface="Calibri"/>
              <a:sym typeface="Calibri"/>
            </a:endParaRPr>
          </a:p>
        </p:txBody>
      </p:sp>
      <p:sp>
        <p:nvSpPr>
          <p:cNvPr id="78" name="Google Shape;78;p18"/>
          <p:cNvSpPr/>
          <p:nvPr/>
        </p:nvSpPr>
        <p:spPr>
          <a:xfrm>
            <a:off x="912123" y="2503170"/>
            <a:ext cx="4171800" cy="24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300"/>
              <a:buFont typeface="Calibri"/>
              <a:buNone/>
            </a:pPr>
            <a:r>
              <a:rPr b="1" lang="en" sz="1300">
                <a:solidFill>
                  <a:srgbClr val="16333D"/>
                </a:solidFill>
                <a:latin typeface="Calibri"/>
                <a:ea typeface="Calibri"/>
                <a:cs typeface="Calibri"/>
                <a:sym typeface="Calibri"/>
              </a:rPr>
              <a:t>They were designed without the plant in mind.</a:t>
            </a:r>
            <a:endParaRPr sz="1300">
              <a:solidFill>
                <a:schemeClr val="dk1"/>
              </a:solidFill>
              <a:latin typeface="Calibri"/>
              <a:ea typeface="Calibri"/>
              <a:cs typeface="Calibri"/>
              <a:sym typeface="Calibri"/>
            </a:endParaRPr>
          </a:p>
        </p:txBody>
      </p:sp>
      <p:sp>
        <p:nvSpPr>
          <p:cNvPr id="79" name="Google Shape;79;p18"/>
          <p:cNvSpPr/>
          <p:nvPr/>
        </p:nvSpPr>
        <p:spPr>
          <a:xfrm>
            <a:off x="912123" y="2791207"/>
            <a:ext cx="4171800" cy="548700"/>
          </a:xfrm>
          <a:prstGeom prst="rect">
            <a:avLst/>
          </a:prstGeom>
          <a:noFill/>
          <a:ln>
            <a:noFill/>
          </a:ln>
        </p:spPr>
        <p:txBody>
          <a:bodyPr anchorCtr="0" anchor="t" bIns="0" lIns="0" spcFirstLastPara="1" rIns="0" wrap="square" tIns="0">
            <a:noAutofit/>
          </a:bodyPr>
          <a:lstStyle/>
          <a:p>
            <a:pPr indent="0" lvl="0" marL="0" marR="0" rtl="0" algn="l">
              <a:lnSpc>
                <a:spcPct val="140740"/>
              </a:lnSpc>
              <a:spcBef>
                <a:spcPts val="0"/>
              </a:spcBef>
              <a:spcAft>
                <a:spcPts val="0"/>
              </a:spcAft>
              <a:buClr>
                <a:srgbClr val="5E7480"/>
              </a:buClr>
              <a:buSzPts val="1000"/>
              <a:buFont typeface="Calibri"/>
              <a:buNone/>
            </a:pPr>
            <a:r>
              <a:rPr lang="en" sz="1000">
                <a:solidFill>
                  <a:srgbClr val="5E7480"/>
                </a:solidFill>
                <a:latin typeface="Calibri"/>
                <a:ea typeface="Calibri"/>
                <a:cs typeface="Calibri"/>
                <a:sym typeface="Calibri"/>
              </a:rPr>
              <a:t>Cost, equipment and supply get considered after the chemistry is fixed. By then the chemistry cannot scale.</a:t>
            </a:r>
            <a:endParaRPr sz="1000">
              <a:solidFill>
                <a:schemeClr val="dk1"/>
              </a:solidFill>
              <a:latin typeface="Calibri"/>
              <a:ea typeface="Calibri"/>
              <a:cs typeface="Calibri"/>
              <a:sym typeface="Calibri"/>
            </a:endParaRPr>
          </a:p>
        </p:txBody>
      </p:sp>
      <p:sp>
        <p:nvSpPr>
          <p:cNvPr id="80" name="Google Shape;80;p18"/>
          <p:cNvSpPr/>
          <p:nvPr/>
        </p:nvSpPr>
        <p:spPr>
          <a:xfrm>
            <a:off x="445770" y="3586734"/>
            <a:ext cx="315468" cy="315468"/>
          </a:xfrm>
          <a:prstGeom prst="ellipse">
            <a:avLst/>
          </a:prstGeom>
          <a:solidFill>
            <a:srgbClr val="C25A1E"/>
          </a:solidFill>
          <a:ln cap="flat" cmpd="sng" w="12700">
            <a:solidFill>
              <a:srgbClr val="C25A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1" name="Google Shape;81;p18"/>
          <p:cNvSpPr/>
          <p:nvPr/>
        </p:nvSpPr>
        <p:spPr>
          <a:xfrm>
            <a:off x="445770" y="3586734"/>
            <a:ext cx="315468"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 sz="1100">
                <a:solidFill>
                  <a:srgbClr val="FFFFFF"/>
                </a:solidFill>
                <a:latin typeface="Calibri"/>
                <a:ea typeface="Calibri"/>
                <a:cs typeface="Calibri"/>
                <a:sym typeface="Calibri"/>
              </a:rPr>
              <a:t>3</a:t>
            </a:r>
            <a:endParaRPr sz="1100">
              <a:solidFill>
                <a:schemeClr val="dk1"/>
              </a:solidFill>
              <a:latin typeface="Calibri"/>
              <a:ea typeface="Calibri"/>
              <a:cs typeface="Calibri"/>
              <a:sym typeface="Calibri"/>
            </a:endParaRPr>
          </a:p>
        </p:txBody>
      </p:sp>
      <p:sp>
        <p:nvSpPr>
          <p:cNvPr id="82" name="Google Shape;82;p18"/>
          <p:cNvSpPr/>
          <p:nvPr/>
        </p:nvSpPr>
        <p:spPr>
          <a:xfrm>
            <a:off x="912114" y="3570345"/>
            <a:ext cx="5006400" cy="24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300"/>
              <a:buFont typeface="Calibri"/>
              <a:buNone/>
            </a:pPr>
            <a:r>
              <a:rPr b="1" lang="en" sz="1300">
                <a:solidFill>
                  <a:srgbClr val="16333D"/>
                </a:solidFill>
                <a:latin typeface="Calibri"/>
                <a:ea typeface="Calibri"/>
                <a:cs typeface="Calibri"/>
                <a:sym typeface="Calibri"/>
              </a:rPr>
              <a:t>Your deadlines are fixed, and someone else set them.</a:t>
            </a:r>
            <a:endParaRPr sz="1300">
              <a:solidFill>
                <a:schemeClr val="dk1"/>
              </a:solidFill>
              <a:latin typeface="Calibri"/>
              <a:ea typeface="Calibri"/>
              <a:cs typeface="Calibri"/>
              <a:sym typeface="Calibri"/>
            </a:endParaRPr>
          </a:p>
        </p:txBody>
      </p:sp>
      <p:sp>
        <p:nvSpPr>
          <p:cNvPr id="83" name="Google Shape;83;p18"/>
          <p:cNvSpPr/>
          <p:nvPr/>
        </p:nvSpPr>
        <p:spPr>
          <a:xfrm>
            <a:off x="912114" y="3854196"/>
            <a:ext cx="5006340" cy="548640"/>
          </a:xfrm>
          <a:prstGeom prst="rect">
            <a:avLst/>
          </a:prstGeom>
          <a:noFill/>
          <a:ln>
            <a:noFill/>
          </a:ln>
        </p:spPr>
        <p:txBody>
          <a:bodyPr anchorCtr="0" anchor="t" bIns="0" lIns="0" spcFirstLastPara="1" rIns="0" wrap="square" tIns="0">
            <a:noAutofit/>
          </a:bodyPr>
          <a:lstStyle/>
          <a:p>
            <a:pPr indent="0" lvl="0" marL="0" marR="0" rtl="0" algn="l">
              <a:lnSpc>
                <a:spcPct val="140740"/>
              </a:lnSpc>
              <a:spcBef>
                <a:spcPts val="0"/>
              </a:spcBef>
              <a:spcAft>
                <a:spcPts val="0"/>
              </a:spcAft>
              <a:buClr>
                <a:srgbClr val="5E7480"/>
              </a:buClr>
              <a:buSzPts val="1000"/>
              <a:buFont typeface="Calibri"/>
              <a:buNone/>
            </a:pPr>
            <a:r>
              <a:rPr lang="en" sz="1000">
                <a:solidFill>
                  <a:srgbClr val="5E7480"/>
                </a:solidFill>
                <a:latin typeface="Calibri"/>
                <a:ea typeface="Calibri"/>
                <a:cs typeface="Calibri"/>
                <a:sym typeface="Calibri"/>
              </a:rPr>
              <a:t>Restricted-substance rules put hard dates on replacements that do not exist yet.</a:t>
            </a:r>
            <a:endParaRPr sz="1000">
              <a:solidFill>
                <a:schemeClr val="dk1"/>
              </a:solidFill>
              <a:latin typeface="Calibri"/>
              <a:ea typeface="Calibri"/>
              <a:cs typeface="Calibri"/>
              <a:sym typeface="Calibri"/>
            </a:endParaRPr>
          </a:p>
        </p:txBody>
      </p:sp>
      <p:sp>
        <p:nvSpPr>
          <p:cNvPr id="84" name="Google Shape;84;p18"/>
          <p:cNvSpPr/>
          <p:nvPr/>
        </p:nvSpPr>
        <p:spPr>
          <a:xfrm>
            <a:off x="5966460" y="1440180"/>
            <a:ext cx="2729484" cy="2880360"/>
          </a:xfrm>
          <a:prstGeom prst="roundRect">
            <a:avLst>
              <a:gd fmla="val 1508" name="adj"/>
            </a:avLst>
          </a:prstGeom>
          <a:solidFill>
            <a:srgbClr val="0B2430"/>
          </a:solidFill>
          <a:ln cap="flat" cmpd="sng" w="12700">
            <a:solidFill>
              <a:srgbClr val="0B2430"/>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5" name="Google Shape;85;p18"/>
          <p:cNvSpPr/>
          <p:nvPr/>
        </p:nvSpPr>
        <p:spPr>
          <a:xfrm>
            <a:off x="6206490" y="1851660"/>
            <a:ext cx="2263140" cy="891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578"/>
              </a:buClr>
              <a:buSzPts val="5700"/>
              <a:buFont typeface="Cambria"/>
              <a:buNone/>
            </a:pPr>
            <a:r>
              <a:rPr b="1" lang="en" sz="5700">
                <a:solidFill>
                  <a:srgbClr val="E8A578"/>
                </a:solidFill>
                <a:latin typeface="Cambria"/>
                <a:ea typeface="Cambria"/>
                <a:cs typeface="Cambria"/>
                <a:sym typeface="Cambria"/>
              </a:rPr>
              <a:t>~90</a:t>
            </a:r>
            <a:endParaRPr sz="5700">
              <a:solidFill>
                <a:schemeClr val="dk1"/>
              </a:solidFill>
              <a:latin typeface="Calibri"/>
              <a:ea typeface="Calibri"/>
              <a:cs typeface="Calibri"/>
              <a:sym typeface="Calibri"/>
            </a:endParaRPr>
          </a:p>
        </p:txBody>
      </p:sp>
      <p:sp>
        <p:nvSpPr>
          <p:cNvPr id="86" name="Google Shape;86;p18"/>
          <p:cNvSpPr/>
          <p:nvPr/>
        </p:nvSpPr>
        <p:spPr>
          <a:xfrm>
            <a:off x="6206490" y="2846070"/>
            <a:ext cx="2263140" cy="685800"/>
          </a:xfrm>
          <a:prstGeom prst="rect">
            <a:avLst/>
          </a:prstGeom>
          <a:noFill/>
          <a:ln>
            <a:noFill/>
          </a:ln>
        </p:spPr>
        <p:txBody>
          <a:bodyPr anchorCtr="0" anchor="t" bIns="0" lIns="0" spcFirstLastPara="1" rIns="0" wrap="square" tIns="0">
            <a:noAutofit/>
          </a:bodyPr>
          <a:lstStyle/>
          <a:p>
            <a:pPr indent="0" lvl="0" marL="0" marR="0" rtl="0" algn="l">
              <a:lnSpc>
                <a:spcPct val="144827"/>
              </a:lnSpc>
              <a:spcBef>
                <a:spcPts val="0"/>
              </a:spcBef>
              <a:spcAft>
                <a:spcPts val="0"/>
              </a:spcAft>
              <a:buClr>
                <a:srgbClr val="FFFFFF"/>
              </a:buClr>
              <a:buSzPts val="1100"/>
              <a:buFont typeface="Calibri"/>
              <a:buNone/>
            </a:pPr>
            <a:r>
              <a:rPr lang="en" sz="1100">
                <a:solidFill>
                  <a:srgbClr val="FFFFFF"/>
                </a:solidFill>
                <a:latin typeface="Calibri"/>
                <a:ea typeface="Calibri"/>
                <a:cs typeface="Calibri"/>
                <a:sym typeface="Calibri"/>
              </a:rPr>
              <a:t>in every 100 promising lab materials never reach production.</a:t>
            </a:r>
            <a:endParaRPr sz="1100">
              <a:solidFill>
                <a:schemeClr val="dk1"/>
              </a:solidFill>
              <a:latin typeface="Calibri"/>
              <a:ea typeface="Calibri"/>
              <a:cs typeface="Calibri"/>
              <a:sym typeface="Calibri"/>
            </a:endParaRPr>
          </a:p>
        </p:txBody>
      </p:sp>
      <p:sp>
        <p:nvSpPr>
          <p:cNvPr id="87" name="Google Shape;87;p18"/>
          <p:cNvSpPr/>
          <p:nvPr/>
        </p:nvSpPr>
        <p:spPr>
          <a:xfrm>
            <a:off x="6206490" y="3634740"/>
            <a:ext cx="2263140" cy="48006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7FA9B8"/>
              </a:buClr>
              <a:buSzPts val="900"/>
              <a:buFont typeface="Calibri"/>
              <a:buNone/>
            </a:pPr>
            <a:r>
              <a:rPr i="1" lang="en" sz="900">
                <a:solidFill>
                  <a:srgbClr val="7FA9B8"/>
                </a:solidFill>
                <a:latin typeface="Calibri"/>
                <a:ea typeface="Calibri"/>
                <a:cs typeface="Calibri"/>
                <a:sym typeface="Calibri"/>
              </a:rPr>
              <a:t>The gap is manufacturability, not chemistry.</a:t>
            </a:r>
            <a:endParaRPr sz="900">
              <a:solidFill>
                <a:schemeClr val="dk1"/>
              </a:solidFill>
              <a:latin typeface="Calibri"/>
              <a:ea typeface="Calibri"/>
              <a:cs typeface="Calibri"/>
              <a:sym typeface="Calibri"/>
            </a:endParaRPr>
          </a:p>
        </p:txBody>
      </p:sp>
      <p:sp>
        <p:nvSpPr>
          <p:cNvPr id="88" name="Google Shape;88;p18"/>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89" name="Google Shape;89;p18"/>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2</a:t>
            </a:r>
            <a:endParaRPr sz="7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 name="Shape 94"/>
        <p:cNvGrpSpPr/>
        <p:nvPr/>
      </p:nvGrpSpPr>
      <p:grpSpPr>
        <a:xfrm>
          <a:off x="0" y="0"/>
          <a:ext cx="0" cy="0"/>
          <a:chOff x="0" y="0"/>
          <a:chExt cx="0" cy="0"/>
        </a:xfrm>
      </p:grpSpPr>
      <p:sp>
        <p:nvSpPr>
          <p:cNvPr id="95" name="Google Shape;95;p19"/>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WHAT WE DO</a:t>
            </a:r>
            <a:endParaRPr sz="800">
              <a:solidFill>
                <a:schemeClr val="dk1"/>
              </a:solidFill>
              <a:latin typeface="Calibri"/>
              <a:ea typeface="Calibri"/>
              <a:cs typeface="Calibri"/>
              <a:sym typeface="Calibri"/>
            </a:endParaRPr>
          </a:p>
        </p:txBody>
      </p:sp>
      <p:sp>
        <p:nvSpPr>
          <p:cNvPr id="96" name="Google Shape;96;p19"/>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600"/>
              <a:buFont typeface="Cambria"/>
              <a:buNone/>
            </a:pPr>
            <a:r>
              <a:rPr b="1" lang="en" sz="2600">
                <a:solidFill>
                  <a:srgbClr val="16333D"/>
                </a:solidFill>
                <a:latin typeface="Cambria"/>
                <a:ea typeface="Cambria"/>
                <a:cs typeface="Cambria"/>
                <a:sym typeface="Cambria"/>
              </a:rPr>
              <a:t>Three problems partners bring us.</a:t>
            </a:r>
            <a:endParaRPr sz="2600">
              <a:solidFill>
                <a:schemeClr val="dk1"/>
              </a:solidFill>
              <a:latin typeface="Calibri"/>
              <a:ea typeface="Calibri"/>
              <a:cs typeface="Calibri"/>
              <a:sym typeface="Calibri"/>
            </a:endParaRPr>
          </a:p>
        </p:txBody>
      </p:sp>
      <p:sp>
        <p:nvSpPr>
          <p:cNvPr id="97" name="Google Shape;97;p19"/>
          <p:cNvSpPr/>
          <p:nvPr/>
        </p:nvSpPr>
        <p:spPr>
          <a:xfrm>
            <a:off x="445770" y="3977640"/>
            <a:ext cx="8092440" cy="2880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E6F84"/>
              </a:buClr>
              <a:buSzPts val="1100"/>
              <a:buFont typeface="Calibri"/>
              <a:buNone/>
            </a:pPr>
            <a:r>
              <a:rPr i="1" lang="en" sz="1100">
                <a:solidFill>
                  <a:srgbClr val="2E6F84"/>
                </a:solidFill>
                <a:latin typeface="Calibri"/>
                <a:ea typeface="Calibri"/>
                <a:cs typeface="Calibri"/>
                <a:sym typeface="Calibri"/>
              </a:rPr>
              <a:t>In all three the constraint is the plant, not the molecule. Almost nobody models that.</a:t>
            </a:r>
            <a:endParaRPr sz="1100">
              <a:solidFill>
                <a:schemeClr val="dk1"/>
              </a:solidFill>
              <a:latin typeface="Calibri"/>
              <a:ea typeface="Calibri"/>
              <a:cs typeface="Calibri"/>
              <a:sym typeface="Calibri"/>
            </a:endParaRPr>
          </a:p>
        </p:txBody>
      </p:sp>
      <p:sp>
        <p:nvSpPr>
          <p:cNvPr id="98" name="Google Shape;98;p19"/>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99" name="Google Shape;99;p19"/>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3</a:t>
            </a:r>
            <a:endParaRPr sz="700">
              <a:solidFill>
                <a:schemeClr val="dk1"/>
              </a:solidFill>
              <a:latin typeface="Calibri"/>
              <a:ea typeface="Calibri"/>
              <a:cs typeface="Calibri"/>
              <a:sym typeface="Calibri"/>
            </a:endParaRPr>
          </a:p>
        </p:txBody>
      </p:sp>
      <p:sp>
        <p:nvSpPr>
          <p:cNvPr id="100" name="Google Shape;100;p19"/>
          <p:cNvSpPr/>
          <p:nvPr/>
        </p:nvSpPr>
        <p:spPr>
          <a:xfrm>
            <a:off x="454625" y="1337752"/>
            <a:ext cx="2589600" cy="2237700"/>
          </a:xfrm>
          <a:prstGeom prst="rect">
            <a:avLst/>
          </a:prstGeom>
          <a:solidFill>
            <a:srgbClr val="EDF1F2"/>
          </a:solidFill>
          <a:ln>
            <a:noFill/>
          </a:ln>
        </p:spPr>
        <p:txBody>
          <a:bodyPr anchorCtr="0" anchor="ctr" bIns="45925" lIns="45925" spcFirstLastPara="1" rIns="45925" wrap="square" tIns="45925">
            <a:noAutofit/>
          </a:bodyPr>
          <a:lstStyle/>
          <a:p>
            <a:pPr indent="0" lvl="0" marL="0" rtl="0" algn="l">
              <a:spcBef>
                <a:spcPts val="0"/>
              </a:spcBef>
              <a:spcAft>
                <a:spcPts val="0"/>
              </a:spcAft>
              <a:buNone/>
            </a:pPr>
            <a:r>
              <a:t/>
            </a:r>
            <a:endParaRPr/>
          </a:p>
        </p:txBody>
      </p:sp>
      <p:sp>
        <p:nvSpPr>
          <p:cNvPr id="101" name="Google Shape;101;p19"/>
          <p:cNvSpPr/>
          <p:nvPr/>
        </p:nvSpPr>
        <p:spPr>
          <a:xfrm>
            <a:off x="454625" y="1337752"/>
            <a:ext cx="2589600" cy="28800"/>
          </a:xfrm>
          <a:prstGeom prst="rect">
            <a:avLst/>
          </a:prstGeom>
          <a:solidFill>
            <a:srgbClr val="2E6F84"/>
          </a:solidFill>
          <a:ln>
            <a:noFill/>
          </a:ln>
        </p:spPr>
        <p:txBody>
          <a:bodyPr anchorCtr="0" anchor="ctr" bIns="45925" lIns="45925" spcFirstLastPara="1" rIns="45925" wrap="square" tIns="45925">
            <a:noAutofit/>
          </a:bodyPr>
          <a:lstStyle/>
          <a:p>
            <a:pPr indent="0" lvl="0" marL="0" rtl="0" algn="l">
              <a:spcBef>
                <a:spcPts val="0"/>
              </a:spcBef>
              <a:spcAft>
                <a:spcPts val="0"/>
              </a:spcAft>
              <a:buNone/>
            </a:pPr>
            <a:r>
              <a:t/>
            </a:r>
            <a:endParaRPr/>
          </a:p>
        </p:txBody>
      </p:sp>
      <p:sp>
        <p:nvSpPr>
          <p:cNvPr id="102" name="Google Shape;102;p19"/>
          <p:cNvSpPr/>
          <p:nvPr/>
        </p:nvSpPr>
        <p:spPr>
          <a:xfrm>
            <a:off x="665118" y="1615220"/>
            <a:ext cx="2385600" cy="373200"/>
          </a:xfrm>
          <a:prstGeom prst="rect">
            <a:avLst/>
          </a:prstGeom>
          <a:noFill/>
          <a:ln>
            <a:noFill/>
          </a:ln>
        </p:spPr>
        <p:txBody>
          <a:bodyPr anchorCtr="0" anchor="t" bIns="12750" lIns="12750" spcFirstLastPara="1" rIns="12750" wrap="square" tIns="12750">
            <a:noAutofit/>
          </a:bodyPr>
          <a:lstStyle/>
          <a:p>
            <a:pPr indent="0" lvl="0" marL="0" marR="0" rtl="0" algn="l">
              <a:lnSpc>
                <a:spcPct val="76684"/>
              </a:lnSpc>
              <a:spcBef>
                <a:spcPts val="0"/>
              </a:spcBef>
              <a:spcAft>
                <a:spcPts val="0"/>
              </a:spcAft>
              <a:buClr>
                <a:srgbClr val="2E6F84"/>
              </a:buClr>
              <a:buSzPts val="2787"/>
              <a:buFont typeface="IBM Plex Mono"/>
              <a:buNone/>
            </a:pPr>
            <a:r>
              <a:rPr b="0" i="0" lang="en" sz="2787" u="none" cap="none" strike="noStrike">
                <a:solidFill>
                  <a:srgbClr val="2E6F84"/>
                </a:solidFill>
                <a:latin typeface="IBM Plex Mono"/>
                <a:ea typeface="IBM Plex Mono"/>
                <a:cs typeface="IBM Plex Mono"/>
                <a:sym typeface="IBM Plex Mono"/>
              </a:rPr>
              <a:t>01</a:t>
            </a:r>
            <a:endParaRPr b="0" i="0" sz="2787" u="none" cap="none" strike="noStrike">
              <a:solidFill>
                <a:srgbClr val="000000"/>
              </a:solidFill>
              <a:latin typeface="Calibri"/>
              <a:ea typeface="Calibri"/>
              <a:cs typeface="Calibri"/>
              <a:sym typeface="Calibri"/>
            </a:endParaRPr>
          </a:p>
        </p:txBody>
      </p:sp>
      <p:sp>
        <p:nvSpPr>
          <p:cNvPr id="103" name="Google Shape;103;p19"/>
          <p:cNvSpPr/>
          <p:nvPr/>
        </p:nvSpPr>
        <p:spPr>
          <a:xfrm>
            <a:off x="665118" y="2084045"/>
            <a:ext cx="2233800" cy="425400"/>
          </a:xfrm>
          <a:prstGeom prst="rect">
            <a:avLst/>
          </a:prstGeom>
          <a:noFill/>
          <a:ln>
            <a:noFill/>
          </a:ln>
        </p:spPr>
        <p:txBody>
          <a:bodyPr anchorCtr="0" anchor="t" bIns="12750" lIns="12750" spcFirstLastPara="1" rIns="12750" wrap="square" tIns="12750">
            <a:noAutofit/>
          </a:bodyPr>
          <a:lstStyle/>
          <a:p>
            <a:pPr indent="0" lvl="0" marL="0" marR="0" rtl="0" algn="l">
              <a:lnSpc>
                <a:spcPct val="82485"/>
              </a:lnSpc>
              <a:spcBef>
                <a:spcPts val="0"/>
              </a:spcBef>
              <a:spcAft>
                <a:spcPts val="0"/>
              </a:spcAft>
              <a:buClr>
                <a:srgbClr val="0B2430"/>
              </a:buClr>
              <a:buSzPts val="1356"/>
              <a:buFont typeface="Source Sans 3"/>
              <a:buNone/>
            </a:pPr>
            <a:r>
              <a:rPr b="1" i="0" lang="en" sz="1356" u="none" cap="none" strike="noStrike">
                <a:solidFill>
                  <a:srgbClr val="0B2430"/>
                </a:solidFill>
                <a:latin typeface="Source Sans 3"/>
                <a:ea typeface="Source Sans 3"/>
                <a:cs typeface="Source Sans 3"/>
                <a:sym typeface="Source Sans 3"/>
              </a:rPr>
              <a:t>Develop new and improved materials</a:t>
            </a:r>
            <a:endParaRPr b="0" i="0" sz="1356" u="none" cap="none" strike="noStrike">
              <a:solidFill>
                <a:srgbClr val="000000"/>
              </a:solidFill>
              <a:latin typeface="Calibri"/>
              <a:ea typeface="Calibri"/>
              <a:cs typeface="Calibri"/>
              <a:sym typeface="Calibri"/>
            </a:endParaRPr>
          </a:p>
        </p:txBody>
      </p:sp>
      <p:sp>
        <p:nvSpPr>
          <p:cNvPr id="104" name="Google Shape;104;p19"/>
          <p:cNvSpPr/>
          <p:nvPr/>
        </p:nvSpPr>
        <p:spPr>
          <a:xfrm>
            <a:off x="665118" y="2605270"/>
            <a:ext cx="2233800" cy="379800"/>
          </a:xfrm>
          <a:prstGeom prst="rect">
            <a:avLst/>
          </a:prstGeom>
          <a:noFill/>
          <a:ln>
            <a:noFill/>
          </a:ln>
        </p:spPr>
        <p:txBody>
          <a:bodyPr anchorCtr="0" anchor="t" bIns="12750" lIns="12750" spcFirstLastPara="1" rIns="12750" wrap="square" tIns="12750">
            <a:noAutofit/>
          </a:bodyPr>
          <a:lstStyle/>
          <a:p>
            <a:pPr indent="0" lvl="0" marL="0" marR="0" rtl="0" algn="l">
              <a:lnSpc>
                <a:spcPct val="101892"/>
              </a:lnSpc>
              <a:spcBef>
                <a:spcPts val="0"/>
              </a:spcBef>
              <a:spcAft>
                <a:spcPts val="0"/>
              </a:spcAft>
              <a:buClr>
                <a:srgbClr val="5E7480"/>
              </a:buClr>
              <a:buSzPts val="979"/>
              <a:buFont typeface="Source Sans 3"/>
              <a:buNone/>
            </a:pPr>
            <a:r>
              <a:rPr b="0" i="0" lang="en" sz="979" u="none" cap="none" strike="noStrike">
                <a:solidFill>
                  <a:srgbClr val="5E7480"/>
                </a:solidFill>
                <a:latin typeface="Source Sans 3"/>
                <a:ea typeface="Source Sans 3"/>
                <a:cs typeface="Source Sans 3"/>
                <a:sym typeface="Source Sans 3"/>
              </a:rPr>
              <a:t>Performance you cannot buy today, and better versions of what you already run.</a:t>
            </a:r>
            <a:endParaRPr b="0" i="0" sz="979" u="none" cap="none" strike="noStrike">
              <a:solidFill>
                <a:srgbClr val="000000"/>
              </a:solidFill>
              <a:latin typeface="Calibri"/>
              <a:ea typeface="Calibri"/>
              <a:cs typeface="Calibri"/>
              <a:sym typeface="Calibri"/>
            </a:endParaRPr>
          </a:p>
        </p:txBody>
      </p:sp>
      <p:sp>
        <p:nvSpPr>
          <p:cNvPr id="105" name="Google Shape;105;p19"/>
          <p:cNvSpPr/>
          <p:nvPr/>
        </p:nvSpPr>
        <p:spPr>
          <a:xfrm>
            <a:off x="3273931" y="1337752"/>
            <a:ext cx="2589600" cy="2237700"/>
          </a:xfrm>
          <a:prstGeom prst="rect">
            <a:avLst/>
          </a:prstGeom>
          <a:solidFill>
            <a:srgbClr val="EDF1F2"/>
          </a:solidFill>
          <a:ln>
            <a:noFill/>
          </a:ln>
        </p:spPr>
        <p:txBody>
          <a:bodyPr anchorCtr="0" anchor="ctr" bIns="45925" lIns="45925" spcFirstLastPara="1" rIns="45925" wrap="square" tIns="45925">
            <a:noAutofit/>
          </a:bodyPr>
          <a:lstStyle/>
          <a:p>
            <a:pPr indent="0" lvl="0" marL="0" rtl="0" algn="l">
              <a:spcBef>
                <a:spcPts val="0"/>
              </a:spcBef>
              <a:spcAft>
                <a:spcPts val="0"/>
              </a:spcAft>
              <a:buNone/>
            </a:pPr>
            <a:r>
              <a:t/>
            </a:r>
            <a:endParaRPr/>
          </a:p>
        </p:txBody>
      </p:sp>
      <p:sp>
        <p:nvSpPr>
          <p:cNvPr id="106" name="Google Shape;106;p19"/>
          <p:cNvSpPr/>
          <p:nvPr/>
        </p:nvSpPr>
        <p:spPr>
          <a:xfrm>
            <a:off x="3273931" y="1337752"/>
            <a:ext cx="2589600" cy="28800"/>
          </a:xfrm>
          <a:prstGeom prst="rect">
            <a:avLst/>
          </a:prstGeom>
          <a:solidFill>
            <a:srgbClr val="C25A1E"/>
          </a:solidFill>
          <a:ln>
            <a:noFill/>
          </a:ln>
        </p:spPr>
        <p:txBody>
          <a:bodyPr anchorCtr="0" anchor="ctr" bIns="45925" lIns="45925" spcFirstLastPara="1" rIns="45925" wrap="square" tIns="45925">
            <a:noAutofit/>
          </a:bodyPr>
          <a:lstStyle/>
          <a:p>
            <a:pPr indent="0" lvl="0" marL="0" rtl="0" algn="l">
              <a:spcBef>
                <a:spcPts val="0"/>
              </a:spcBef>
              <a:spcAft>
                <a:spcPts val="0"/>
              </a:spcAft>
              <a:buNone/>
            </a:pPr>
            <a:r>
              <a:t/>
            </a:r>
            <a:endParaRPr/>
          </a:p>
        </p:txBody>
      </p:sp>
      <p:sp>
        <p:nvSpPr>
          <p:cNvPr id="107" name="Google Shape;107;p19"/>
          <p:cNvSpPr/>
          <p:nvPr/>
        </p:nvSpPr>
        <p:spPr>
          <a:xfrm>
            <a:off x="3484424" y="1615220"/>
            <a:ext cx="2385600" cy="373200"/>
          </a:xfrm>
          <a:prstGeom prst="rect">
            <a:avLst/>
          </a:prstGeom>
          <a:noFill/>
          <a:ln>
            <a:noFill/>
          </a:ln>
        </p:spPr>
        <p:txBody>
          <a:bodyPr anchorCtr="0" anchor="t" bIns="12750" lIns="12750" spcFirstLastPara="1" rIns="12750" wrap="square" tIns="12750">
            <a:noAutofit/>
          </a:bodyPr>
          <a:lstStyle/>
          <a:p>
            <a:pPr indent="0" lvl="0" marL="0" marR="0" rtl="0" algn="l">
              <a:lnSpc>
                <a:spcPct val="76684"/>
              </a:lnSpc>
              <a:spcBef>
                <a:spcPts val="0"/>
              </a:spcBef>
              <a:spcAft>
                <a:spcPts val="0"/>
              </a:spcAft>
              <a:buClr>
                <a:srgbClr val="C25A1E"/>
              </a:buClr>
              <a:buSzPts val="2787"/>
              <a:buFont typeface="IBM Plex Mono"/>
              <a:buNone/>
            </a:pPr>
            <a:r>
              <a:rPr b="0" i="0" lang="en" sz="2787" u="none" cap="none" strike="noStrike">
                <a:solidFill>
                  <a:srgbClr val="C25A1E"/>
                </a:solidFill>
                <a:latin typeface="IBM Plex Mono"/>
                <a:ea typeface="IBM Plex Mono"/>
                <a:cs typeface="IBM Plex Mono"/>
                <a:sym typeface="IBM Plex Mono"/>
              </a:rPr>
              <a:t>02</a:t>
            </a:r>
            <a:endParaRPr b="0" i="0" sz="2787" u="none" cap="none" strike="noStrike">
              <a:solidFill>
                <a:srgbClr val="000000"/>
              </a:solidFill>
              <a:latin typeface="Calibri"/>
              <a:ea typeface="Calibri"/>
              <a:cs typeface="Calibri"/>
              <a:sym typeface="Calibri"/>
            </a:endParaRPr>
          </a:p>
        </p:txBody>
      </p:sp>
      <p:sp>
        <p:nvSpPr>
          <p:cNvPr id="108" name="Google Shape;108;p19"/>
          <p:cNvSpPr/>
          <p:nvPr/>
        </p:nvSpPr>
        <p:spPr>
          <a:xfrm>
            <a:off x="3484424" y="2084045"/>
            <a:ext cx="2233800" cy="425400"/>
          </a:xfrm>
          <a:prstGeom prst="rect">
            <a:avLst/>
          </a:prstGeom>
          <a:noFill/>
          <a:ln>
            <a:noFill/>
          </a:ln>
        </p:spPr>
        <p:txBody>
          <a:bodyPr anchorCtr="0" anchor="t" bIns="12750" lIns="12750" spcFirstLastPara="1" rIns="12750" wrap="square" tIns="12750">
            <a:noAutofit/>
          </a:bodyPr>
          <a:lstStyle/>
          <a:p>
            <a:pPr indent="0" lvl="0" marL="0" marR="0" rtl="0" algn="l">
              <a:lnSpc>
                <a:spcPct val="82485"/>
              </a:lnSpc>
              <a:spcBef>
                <a:spcPts val="0"/>
              </a:spcBef>
              <a:spcAft>
                <a:spcPts val="0"/>
              </a:spcAft>
              <a:buClr>
                <a:srgbClr val="0B2430"/>
              </a:buClr>
              <a:buSzPts val="1356"/>
              <a:buFont typeface="Source Sans 3"/>
              <a:buNone/>
            </a:pPr>
            <a:r>
              <a:rPr b="1" i="0" lang="en" sz="1356" u="none" cap="none" strike="noStrike">
                <a:solidFill>
                  <a:srgbClr val="0B2430"/>
                </a:solidFill>
                <a:latin typeface="Source Sans 3"/>
                <a:ea typeface="Source Sans 3"/>
                <a:cs typeface="Source Sans 3"/>
                <a:sym typeface="Source Sans 3"/>
              </a:rPr>
              <a:t>Reformulate what you already make</a:t>
            </a:r>
            <a:endParaRPr b="0" i="0" sz="1356" u="none" cap="none" strike="noStrike">
              <a:solidFill>
                <a:srgbClr val="000000"/>
              </a:solidFill>
              <a:latin typeface="Calibri"/>
              <a:ea typeface="Calibri"/>
              <a:cs typeface="Calibri"/>
              <a:sym typeface="Calibri"/>
            </a:endParaRPr>
          </a:p>
        </p:txBody>
      </p:sp>
      <p:sp>
        <p:nvSpPr>
          <p:cNvPr id="109" name="Google Shape;109;p19"/>
          <p:cNvSpPr/>
          <p:nvPr/>
        </p:nvSpPr>
        <p:spPr>
          <a:xfrm>
            <a:off x="3484424" y="2605270"/>
            <a:ext cx="2233800" cy="740400"/>
          </a:xfrm>
          <a:prstGeom prst="rect">
            <a:avLst/>
          </a:prstGeom>
          <a:noFill/>
          <a:ln>
            <a:noFill/>
          </a:ln>
        </p:spPr>
        <p:txBody>
          <a:bodyPr anchorCtr="0" anchor="t" bIns="12750" lIns="12750" spcFirstLastPara="1" rIns="12750" wrap="square" tIns="12750">
            <a:noAutofit/>
          </a:bodyPr>
          <a:lstStyle/>
          <a:p>
            <a:pPr indent="0" lvl="0" marL="0" marR="0" rtl="0" algn="l">
              <a:lnSpc>
                <a:spcPct val="101892"/>
              </a:lnSpc>
              <a:spcBef>
                <a:spcPts val="0"/>
              </a:spcBef>
              <a:spcAft>
                <a:spcPts val="0"/>
              </a:spcAft>
              <a:buClr>
                <a:srgbClr val="5E7480"/>
              </a:buClr>
              <a:buSzPts val="979"/>
              <a:buFont typeface="Source Sans 3"/>
              <a:buNone/>
            </a:pPr>
            <a:r>
              <a:rPr b="0" i="0" lang="en" sz="979" u="none" cap="none" strike="noStrike">
                <a:solidFill>
                  <a:srgbClr val="5E7480"/>
                </a:solidFill>
                <a:latin typeface="Source Sans 3"/>
                <a:ea typeface="Source Sans 3"/>
                <a:cs typeface="Source Sans 3"/>
                <a:sym typeface="Source Sans 3"/>
              </a:rPr>
              <a:t>Same performance, lower cost, fewer supply risks. Restricted chemicals designed out before the deadline forces it.</a:t>
            </a:r>
            <a:endParaRPr b="0" i="0" sz="979" u="none" cap="none" strike="noStrike">
              <a:solidFill>
                <a:srgbClr val="000000"/>
              </a:solidFill>
              <a:latin typeface="Calibri"/>
              <a:ea typeface="Calibri"/>
              <a:cs typeface="Calibri"/>
              <a:sym typeface="Calibri"/>
            </a:endParaRPr>
          </a:p>
        </p:txBody>
      </p:sp>
      <p:sp>
        <p:nvSpPr>
          <p:cNvPr id="110" name="Google Shape;110;p19"/>
          <p:cNvSpPr/>
          <p:nvPr/>
        </p:nvSpPr>
        <p:spPr>
          <a:xfrm>
            <a:off x="6093274" y="1337752"/>
            <a:ext cx="2589600" cy="2237700"/>
          </a:xfrm>
          <a:prstGeom prst="rect">
            <a:avLst/>
          </a:prstGeom>
          <a:solidFill>
            <a:srgbClr val="EDF1F2"/>
          </a:solidFill>
          <a:ln>
            <a:noFill/>
          </a:ln>
        </p:spPr>
        <p:txBody>
          <a:bodyPr anchorCtr="0" anchor="ctr" bIns="45925" lIns="45925" spcFirstLastPara="1" rIns="45925" wrap="square" tIns="45925">
            <a:noAutofit/>
          </a:bodyPr>
          <a:lstStyle/>
          <a:p>
            <a:pPr indent="0" lvl="0" marL="0" rtl="0" algn="l">
              <a:spcBef>
                <a:spcPts val="0"/>
              </a:spcBef>
              <a:spcAft>
                <a:spcPts val="0"/>
              </a:spcAft>
              <a:buNone/>
            </a:pPr>
            <a:r>
              <a:t/>
            </a:r>
            <a:endParaRPr/>
          </a:p>
        </p:txBody>
      </p:sp>
      <p:sp>
        <p:nvSpPr>
          <p:cNvPr id="111" name="Google Shape;111;p19"/>
          <p:cNvSpPr/>
          <p:nvPr/>
        </p:nvSpPr>
        <p:spPr>
          <a:xfrm>
            <a:off x="6093274" y="1337752"/>
            <a:ext cx="2589600" cy="28800"/>
          </a:xfrm>
          <a:prstGeom prst="rect">
            <a:avLst/>
          </a:prstGeom>
          <a:solidFill>
            <a:srgbClr val="143845"/>
          </a:solidFill>
          <a:ln>
            <a:noFill/>
          </a:ln>
        </p:spPr>
        <p:txBody>
          <a:bodyPr anchorCtr="0" anchor="ctr" bIns="45925" lIns="45925" spcFirstLastPara="1" rIns="45925" wrap="square" tIns="45925">
            <a:noAutofit/>
          </a:bodyPr>
          <a:lstStyle/>
          <a:p>
            <a:pPr indent="0" lvl="0" marL="0" rtl="0" algn="l">
              <a:spcBef>
                <a:spcPts val="0"/>
              </a:spcBef>
              <a:spcAft>
                <a:spcPts val="0"/>
              </a:spcAft>
              <a:buNone/>
            </a:pPr>
            <a:r>
              <a:t/>
            </a:r>
            <a:endParaRPr/>
          </a:p>
        </p:txBody>
      </p:sp>
      <p:sp>
        <p:nvSpPr>
          <p:cNvPr id="112" name="Google Shape;112;p19"/>
          <p:cNvSpPr/>
          <p:nvPr/>
        </p:nvSpPr>
        <p:spPr>
          <a:xfrm>
            <a:off x="6303767" y="1615220"/>
            <a:ext cx="2385600" cy="373200"/>
          </a:xfrm>
          <a:prstGeom prst="rect">
            <a:avLst/>
          </a:prstGeom>
          <a:noFill/>
          <a:ln>
            <a:noFill/>
          </a:ln>
        </p:spPr>
        <p:txBody>
          <a:bodyPr anchorCtr="0" anchor="t" bIns="12750" lIns="12750" spcFirstLastPara="1" rIns="12750" wrap="square" tIns="12750">
            <a:noAutofit/>
          </a:bodyPr>
          <a:lstStyle/>
          <a:p>
            <a:pPr indent="0" lvl="0" marL="0" marR="0" rtl="0" algn="l">
              <a:lnSpc>
                <a:spcPct val="76684"/>
              </a:lnSpc>
              <a:spcBef>
                <a:spcPts val="0"/>
              </a:spcBef>
              <a:spcAft>
                <a:spcPts val="0"/>
              </a:spcAft>
              <a:buClr>
                <a:srgbClr val="143845"/>
              </a:buClr>
              <a:buSzPts val="2787"/>
              <a:buFont typeface="IBM Plex Mono"/>
              <a:buNone/>
            </a:pPr>
            <a:r>
              <a:rPr b="0" i="0" lang="en" sz="2787" u="none" cap="none" strike="noStrike">
                <a:solidFill>
                  <a:srgbClr val="143845"/>
                </a:solidFill>
                <a:latin typeface="IBM Plex Mono"/>
                <a:ea typeface="IBM Plex Mono"/>
                <a:cs typeface="IBM Plex Mono"/>
                <a:sym typeface="IBM Plex Mono"/>
              </a:rPr>
              <a:t>03</a:t>
            </a:r>
            <a:endParaRPr b="0" i="0" sz="2787" u="none" cap="none" strike="noStrike">
              <a:solidFill>
                <a:srgbClr val="000000"/>
              </a:solidFill>
              <a:latin typeface="Calibri"/>
              <a:ea typeface="Calibri"/>
              <a:cs typeface="Calibri"/>
              <a:sym typeface="Calibri"/>
            </a:endParaRPr>
          </a:p>
        </p:txBody>
      </p:sp>
      <p:sp>
        <p:nvSpPr>
          <p:cNvPr id="113" name="Google Shape;113;p19"/>
          <p:cNvSpPr/>
          <p:nvPr/>
        </p:nvSpPr>
        <p:spPr>
          <a:xfrm>
            <a:off x="6303767" y="2084045"/>
            <a:ext cx="2233800" cy="425400"/>
          </a:xfrm>
          <a:prstGeom prst="rect">
            <a:avLst/>
          </a:prstGeom>
          <a:noFill/>
          <a:ln>
            <a:noFill/>
          </a:ln>
        </p:spPr>
        <p:txBody>
          <a:bodyPr anchorCtr="0" anchor="t" bIns="12750" lIns="12750" spcFirstLastPara="1" rIns="12750" wrap="square" tIns="12750">
            <a:noAutofit/>
          </a:bodyPr>
          <a:lstStyle/>
          <a:p>
            <a:pPr indent="0" lvl="0" marL="0" marR="0" rtl="0" algn="l">
              <a:lnSpc>
                <a:spcPct val="82485"/>
              </a:lnSpc>
              <a:spcBef>
                <a:spcPts val="0"/>
              </a:spcBef>
              <a:spcAft>
                <a:spcPts val="0"/>
              </a:spcAft>
              <a:buClr>
                <a:srgbClr val="0B2430"/>
              </a:buClr>
              <a:buSzPts val="1356"/>
              <a:buFont typeface="Source Sans 3"/>
              <a:buNone/>
            </a:pPr>
            <a:r>
              <a:rPr b="1" i="0" lang="en" sz="1356" u="none" cap="none" strike="noStrike">
                <a:solidFill>
                  <a:srgbClr val="0B2430"/>
                </a:solidFill>
                <a:latin typeface="Source Sans 3"/>
                <a:ea typeface="Source Sans 3"/>
                <a:cs typeface="Source Sans 3"/>
                <a:sym typeface="Source Sans 3"/>
              </a:rPr>
              <a:t>Drop it into the plant you already own</a:t>
            </a:r>
            <a:endParaRPr b="0" i="0" sz="1356" u="none" cap="none" strike="noStrike">
              <a:solidFill>
                <a:srgbClr val="000000"/>
              </a:solidFill>
              <a:latin typeface="Calibri"/>
              <a:ea typeface="Calibri"/>
              <a:cs typeface="Calibri"/>
              <a:sym typeface="Calibri"/>
            </a:endParaRPr>
          </a:p>
        </p:txBody>
      </p:sp>
      <p:sp>
        <p:nvSpPr>
          <p:cNvPr id="114" name="Google Shape;114;p19"/>
          <p:cNvSpPr/>
          <p:nvPr/>
        </p:nvSpPr>
        <p:spPr>
          <a:xfrm>
            <a:off x="6303767" y="2605270"/>
            <a:ext cx="2233800" cy="560100"/>
          </a:xfrm>
          <a:prstGeom prst="rect">
            <a:avLst/>
          </a:prstGeom>
          <a:noFill/>
          <a:ln>
            <a:noFill/>
          </a:ln>
        </p:spPr>
        <p:txBody>
          <a:bodyPr anchorCtr="0" anchor="t" bIns="12750" lIns="12750" spcFirstLastPara="1" rIns="12750" wrap="square" tIns="12750">
            <a:noAutofit/>
          </a:bodyPr>
          <a:lstStyle/>
          <a:p>
            <a:pPr indent="0" lvl="0" marL="0" marR="0" rtl="0" algn="l">
              <a:lnSpc>
                <a:spcPct val="101892"/>
              </a:lnSpc>
              <a:spcBef>
                <a:spcPts val="0"/>
              </a:spcBef>
              <a:spcAft>
                <a:spcPts val="0"/>
              </a:spcAft>
              <a:buClr>
                <a:srgbClr val="5E7480"/>
              </a:buClr>
              <a:buSzPts val="979"/>
              <a:buFont typeface="Source Sans 3"/>
              <a:buNone/>
            </a:pPr>
            <a:r>
              <a:rPr b="0" i="0" lang="en" sz="979" u="none" cap="none" strike="noStrike">
                <a:solidFill>
                  <a:srgbClr val="5E7480"/>
                </a:solidFill>
                <a:latin typeface="Source Sans 3"/>
                <a:ea typeface="Source Sans 3"/>
                <a:cs typeface="Source Sans 3"/>
                <a:sym typeface="Source Sans 3"/>
              </a:rPr>
              <a:t>Held to your feedstocks, your reactors and your qualification path from the first design pass.</a:t>
            </a:r>
            <a:endParaRPr b="0" i="0" sz="979"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1F2"/>
        </a:solidFill>
      </p:bgPr>
    </p:bg>
    <p:spTree>
      <p:nvGrpSpPr>
        <p:cNvPr id="119" name="Shape 119"/>
        <p:cNvGrpSpPr/>
        <p:nvPr/>
      </p:nvGrpSpPr>
      <p:grpSpPr>
        <a:xfrm>
          <a:off x="0" y="0"/>
          <a:ext cx="0" cy="0"/>
          <a:chOff x="0" y="0"/>
          <a:chExt cx="0" cy="0"/>
        </a:xfrm>
      </p:grpSpPr>
      <p:sp>
        <p:nvSpPr>
          <p:cNvPr id="120" name="Google Shape;120;p20"/>
          <p:cNvSpPr/>
          <p:nvPr/>
        </p:nvSpPr>
        <p:spPr>
          <a:xfrm>
            <a:off x="476250" y="629404"/>
            <a:ext cx="9010800" cy="352200"/>
          </a:xfrm>
          <a:prstGeom prst="rect">
            <a:avLst/>
          </a:prstGeom>
          <a:noFill/>
          <a:ln>
            <a:noFill/>
          </a:ln>
        </p:spPr>
        <p:txBody>
          <a:bodyPr anchorCtr="0" anchor="t" bIns="12700" lIns="12700" spcFirstLastPara="1" rIns="12700" wrap="square" tIns="12700">
            <a:noAutofit/>
          </a:bodyPr>
          <a:lstStyle/>
          <a:p>
            <a:pPr indent="0" lvl="0" marL="0" marR="0" rtl="0" algn="l">
              <a:lnSpc>
                <a:spcPct val="77304"/>
              </a:lnSpc>
              <a:spcBef>
                <a:spcPts val="0"/>
              </a:spcBef>
              <a:spcAft>
                <a:spcPts val="0"/>
              </a:spcAft>
              <a:buClr>
                <a:srgbClr val="0B2430"/>
              </a:buClr>
              <a:buSzPts val="2500"/>
              <a:buFont typeface="Source Serif 4"/>
              <a:buNone/>
            </a:pPr>
            <a:r>
              <a:rPr b="1" i="0" lang="en" sz="2500" u="none" cap="none" strike="noStrike">
                <a:solidFill>
                  <a:srgbClr val="0B2430"/>
                </a:solidFill>
                <a:latin typeface="Cambria"/>
                <a:ea typeface="Cambria"/>
                <a:cs typeface="Cambria"/>
                <a:sym typeface="Cambria"/>
              </a:rPr>
              <a:t>We design backwards from the factory.</a:t>
            </a:r>
            <a:endParaRPr b="1" i="0" sz="2500" u="none" cap="none" strike="noStrike">
              <a:solidFill>
                <a:schemeClr val="dk1"/>
              </a:solidFill>
              <a:latin typeface="Cambria"/>
              <a:ea typeface="Cambria"/>
              <a:cs typeface="Cambria"/>
              <a:sym typeface="Cambria"/>
            </a:endParaRPr>
          </a:p>
        </p:txBody>
      </p:sp>
      <p:sp>
        <p:nvSpPr>
          <p:cNvPr id="121" name="Google Shape;121;p20"/>
          <p:cNvSpPr/>
          <p:nvPr/>
        </p:nvSpPr>
        <p:spPr>
          <a:xfrm>
            <a:off x="476250" y="1257077"/>
            <a:ext cx="4337700" cy="1809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0"/>
              </a:buClr>
              <a:buSzPts val="900"/>
              <a:buFont typeface="Source Sans 3"/>
              <a:buNone/>
            </a:pPr>
            <a:r>
              <a:rPr b="1" i="0" lang="en" sz="900" u="none" cap="none" strike="noStrike">
                <a:solidFill>
                  <a:srgbClr val="5E7480"/>
                </a:solidFill>
                <a:latin typeface="Source Sans 3"/>
                <a:ea typeface="Source Sans 3"/>
                <a:cs typeface="Source Sans 3"/>
                <a:sym typeface="Source Sans 3"/>
              </a:rPr>
              <a:t>THE USUAL ORDER</a:t>
            </a:r>
            <a:endParaRPr b="0" i="0" sz="900" u="none" cap="none" strike="noStrike">
              <a:solidFill>
                <a:schemeClr val="dk1"/>
              </a:solidFill>
              <a:latin typeface="Calibri"/>
              <a:ea typeface="Calibri"/>
              <a:cs typeface="Calibri"/>
              <a:sym typeface="Calibri"/>
            </a:endParaRPr>
          </a:p>
        </p:txBody>
      </p:sp>
      <p:sp>
        <p:nvSpPr>
          <p:cNvPr id="122" name="Google Shape;122;p20"/>
          <p:cNvSpPr/>
          <p:nvPr/>
        </p:nvSpPr>
        <p:spPr>
          <a:xfrm>
            <a:off x="476250" y="1504727"/>
            <a:ext cx="3943200" cy="423900"/>
          </a:xfrm>
          <a:prstGeom prst="rect">
            <a:avLst/>
          </a:prstGeom>
          <a:solidFill>
            <a:srgbClr val="E4E8E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3" name="Google Shape;123;p20"/>
          <p:cNvSpPr/>
          <p:nvPr/>
        </p:nvSpPr>
        <p:spPr>
          <a:xfrm>
            <a:off x="476250" y="1504727"/>
            <a:ext cx="23700" cy="423900"/>
          </a:xfrm>
          <a:prstGeom prst="rect">
            <a:avLst/>
          </a:prstGeom>
          <a:solidFill>
            <a:srgbClr val="9FB6B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4" name="Google Shape;124;p20"/>
          <p:cNvSpPr/>
          <p:nvPr/>
        </p:nvSpPr>
        <p:spPr>
          <a:xfrm>
            <a:off x="652463" y="1628552"/>
            <a:ext cx="37329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0"/>
              </a:buClr>
              <a:buSzPts val="1000"/>
              <a:buFont typeface="Source Sans 3"/>
              <a:buNone/>
            </a:pPr>
            <a:r>
              <a:rPr b="0" i="0" lang="en" sz="1000" u="none" cap="none" strike="noStrike">
                <a:solidFill>
                  <a:srgbClr val="5E7480"/>
                </a:solidFill>
                <a:latin typeface="Source Sans 3"/>
                <a:ea typeface="Source Sans 3"/>
                <a:cs typeface="Source Sans 3"/>
                <a:sym typeface="Source Sans 3"/>
              </a:rPr>
              <a:t>Pick a property target</a:t>
            </a:r>
            <a:endParaRPr b="0" i="0" sz="1000" u="none" cap="none" strike="noStrike">
              <a:solidFill>
                <a:schemeClr val="dk1"/>
              </a:solidFill>
              <a:latin typeface="Calibri"/>
              <a:ea typeface="Calibri"/>
              <a:cs typeface="Calibri"/>
              <a:sym typeface="Calibri"/>
            </a:endParaRPr>
          </a:p>
        </p:txBody>
      </p:sp>
      <p:sp>
        <p:nvSpPr>
          <p:cNvPr id="125" name="Google Shape;125;p20"/>
          <p:cNvSpPr/>
          <p:nvPr/>
        </p:nvSpPr>
        <p:spPr>
          <a:xfrm>
            <a:off x="476250" y="2014315"/>
            <a:ext cx="3943200" cy="423900"/>
          </a:xfrm>
          <a:prstGeom prst="rect">
            <a:avLst/>
          </a:prstGeom>
          <a:solidFill>
            <a:srgbClr val="E4E8E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6" name="Google Shape;126;p20"/>
          <p:cNvSpPr/>
          <p:nvPr/>
        </p:nvSpPr>
        <p:spPr>
          <a:xfrm>
            <a:off x="476250" y="2014315"/>
            <a:ext cx="23700" cy="423900"/>
          </a:xfrm>
          <a:prstGeom prst="rect">
            <a:avLst/>
          </a:prstGeom>
          <a:solidFill>
            <a:srgbClr val="9FB6B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7" name="Google Shape;127;p20"/>
          <p:cNvSpPr/>
          <p:nvPr/>
        </p:nvSpPr>
        <p:spPr>
          <a:xfrm>
            <a:off x="652463" y="2138140"/>
            <a:ext cx="37329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0"/>
              </a:buClr>
              <a:buSzPts val="1000"/>
              <a:buFont typeface="Source Sans 3"/>
              <a:buNone/>
            </a:pPr>
            <a:r>
              <a:rPr b="0" i="0" lang="en" sz="1000" u="none" cap="none" strike="noStrike">
                <a:solidFill>
                  <a:srgbClr val="5E7480"/>
                </a:solidFill>
                <a:latin typeface="Source Sans 3"/>
                <a:ea typeface="Source Sans 3"/>
                <a:cs typeface="Source Sans 3"/>
                <a:sym typeface="Source Sans 3"/>
              </a:rPr>
              <a:t>Generate millions of candidates</a:t>
            </a:r>
            <a:endParaRPr b="0" i="0" sz="1000" u="none" cap="none" strike="noStrike">
              <a:solidFill>
                <a:schemeClr val="dk1"/>
              </a:solidFill>
              <a:latin typeface="Calibri"/>
              <a:ea typeface="Calibri"/>
              <a:cs typeface="Calibri"/>
              <a:sym typeface="Calibri"/>
            </a:endParaRPr>
          </a:p>
        </p:txBody>
      </p:sp>
      <p:sp>
        <p:nvSpPr>
          <p:cNvPr id="128" name="Google Shape;128;p20"/>
          <p:cNvSpPr/>
          <p:nvPr/>
        </p:nvSpPr>
        <p:spPr>
          <a:xfrm>
            <a:off x="476250" y="2523902"/>
            <a:ext cx="3943200" cy="423900"/>
          </a:xfrm>
          <a:prstGeom prst="rect">
            <a:avLst/>
          </a:prstGeom>
          <a:solidFill>
            <a:srgbClr val="E4E8E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9" name="Google Shape;129;p20"/>
          <p:cNvSpPr/>
          <p:nvPr/>
        </p:nvSpPr>
        <p:spPr>
          <a:xfrm>
            <a:off x="476250" y="2523902"/>
            <a:ext cx="23700" cy="423900"/>
          </a:xfrm>
          <a:prstGeom prst="rect">
            <a:avLst/>
          </a:prstGeom>
          <a:solidFill>
            <a:srgbClr val="9FB6B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0" name="Google Shape;130;p20"/>
          <p:cNvSpPr/>
          <p:nvPr/>
        </p:nvSpPr>
        <p:spPr>
          <a:xfrm>
            <a:off x="652463" y="2647727"/>
            <a:ext cx="37329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0"/>
              </a:buClr>
              <a:buSzPts val="1000"/>
              <a:buFont typeface="Source Sans 3"/>
              <a:buNone/>
            </a:pPr>
            <a:r>
              <a:rPr b="0" i="0" lang="en" sz="1000" u="none" cap="none" strike="noStrike">
                <a:solidFill>
                  <a:srgbClr val="5E7480"/>
                </a:solidFill>
                <a:latin typeface="Source Sans 3"/>
                <a:ea typeface="Source Sans 3"/>
                <a:cs typeface="Source Sans 3"/>
                <a:sym typeface="Source Sans 3"/>
              </a:rPr>
              <a:t>Hand chemists a ranked list</a:t>
            </a:r>
            <a:endParaRPr b="0" i="0" sz="1000" u="none" cap="none" strike="noStrike">
              <a:solidFill>
                <a:schemeClr val="dk1"/>
              </a:solidFill>
              <a:latin typeface="Calibri"/>
              <a:ea typeface="Calibri"/>
              <a:cs typeface="Calibri"/>
              <a:sym typeface="Calibri"/>
            </a:endParaRPr>
          </a:p>
        </p:txBody>
      </p:sp>
      <p:sp>
        <p:nvSpPr>
          <p:cNvPr id="131" name="Google Shape;131;p20"/>
          <p:cNvSpPr/>
          <p:nvPr/>
        </p:nvSpPr>
        <p:spPr>
          <a:xfrm>
            <a:off x="476250" y="3033489"/>
            <a:ext cx="3943200" cy="423900"/>
          </a:xfrm>
          <a:prstGeom prst="rect">
            <a:avLst/>
          </a:prstGeom>
          <a:solidFill>
            <a:srgbClr val="E4E8E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2" name="Google Shape;132;p20"/>
          <p:cNvSpPr/>
          <p:nvPr/>
        </p:nvSpPr>
        <p:spPr>
          <a:xfrm>
            <a:off x="476250" y="3033489"/>
            <a:ext cx="23700" cy="423900"/>
          </a:xfrm>
          <a:prstGeom prst="rect">
            <a:avLst/>
          </a:prstGeom>
          <a:solidFill>
            <a:srgbClr val="C25A1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3" name="Google Shape;133;p20"/>
          <p:cNvSpPr/>
          <p:nvPr/>
        </p:nvSpPr>
        <p:spPr>
          <a:xfrm>
            <a:off x="652463" y="3157314"/>
            <a:ext cx="37329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B2430"/>
              </a:buClr>
              <a:buSzPts val="1000"/>
              <a:buFont typeface="Source Sans 3"/>
              <a:buNone/>
            </a:pPr>
            <a:r>
              <a:rPr b="1" i="0" lang="en" sz="1000" u="none" cap="none" strike="noStrike">
                <a:solidFill>
                  <a:srgbClr val="0B2430"/>
                </a:solidFill>
                <a:latin typeface="Source Sans 3"/>
                <a:ea typeface="Source Sans 3"/>
                <a:cs typeface="Source Sans 3"/>
                <a:sym typeface="Source Sans 3"/>
              </a:rPr>
              <a:t>Find out at scale-up what cannot be made</a:t>
            </a:r>
            <a:endParaRPr b="0" i="0" sz="1000" u="none" cap="none" strike="noStrike">
              <a:solidFill>
                <a:schemeClr val="dk1"/>
              </a:solidFill>
              <a:latin typeface="Calibri"/>
              <a:ea typeface="Calibri"/>
              <a:cs typeface="Calibri"/>
              <a:sym typeface="Calibri"/>
            </a:endParaRPr>
          </a:p>
        </p:txBody>
      </p:sp>
      <p:sp>
        <p:nvSpPr>
          <p:cNvPr id="134" name="Google Shape;134;p20"/>
          <p:cNvSpPr/>
          <p:nvPr/>
        </p:nvSpPr>
        <p:spPr>
          <a:xfrm>
            <a:off x="476250" y="3590702"/>
            <a:ext cx="4337700" cy="179100"/>
          </a:xfrm>
          <a:prstGeom prst="rect">
            <a:avLst/>
          </a:prstGeom>
          <a:noFill/>
          <a:ln>
            <a:noFill/>
          </a:ln>
        </p:spPr>
        <p:txBody>
          <a:bodyPr anchorCtr="0" anchor="t" bIns="12700" lIns="12700" spcFirstLastPara="1" rIns="12700" wrap="square" tIns="12700">
            <a:noAutofit/>
          </a:bodyPr>
          <a:lstStyle/>
          <a:p>
            <a:pPr indent="0" lvl="0" marL="0" marR="0" rtl="0" algn="l">
              <a:lnSpc>
                <a:spcPct val="98824"/>
              </a:lnSpc>
              <a:spcBef>
                <a:spcPts val="0"/>
              </a:spcBef>
              <a:spcAft>
                <a:spcPts val="0"/>
              </a:spcAft>
              <a:buClr>
                <a:srgbClr val="5E7480"/>
              </a:buClr>
              <a:buSzPts val="900"/>
              <a:buFont typeface="Source Sans 3"/>
              <a:buNone/>
            </a:pPr>
            <a:r>
              <a:rPr b="0" i="0" lang="en" sz="900" u="none" cap="none" strike="noStrike">
                <a:solidFill>
                  <a:srgbClr val="5E7480"/>
                </a:solidFill>
                <a:latin typeface="Source Sans 3"/>
                <a:ea typeface="Source Sans 3"/>
                <a:cs typeface="Source Sans 3"/>
                <a:sym typeface="Source Sans 3"/>
              </a:rPr>
              <a:t>Manufacturability gets checked last, by people, under time pressure.</a:t>
            </a:r>
            <a:endParaRPr b="0" i="0" sz="900" u="none" cap="none" strike="noStrike">
              <a:solidFill>
                <a:schemeClr val="dk1"/>
              </a:solidFill>
              <a:latin typeface="Calibri"/>
              <a:ea typeface="Calibri"/>
              <a:cs typeface="Calibri"/>
              <a:sym typeface="Calibri"/>
            </a:endParaRPr>
          </a:p>
        </p:txBody>
      </p:sp>
      <p:sp>
        <p:nvSpPr>
          <p:cNvPr id="135" name="Google Shape;135;p20"/>
          <p:cNvSpPr/>
          <p:nvPr/>
        </p:nvSpPr>
        <p:spPr>
          <a:xfrm>
            <a:off x="4724400" y="1257077"/>
            <a:ext cx="4337700" cy="1809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E6F84"/>
              </a:buClr>
              <a:buSzPts val="900"/>
              <a:buFont typeface="Source Sans 3"/>
              <a:buNone/>
            </a:pPr>
            <a:r>
              <a:rPr b="1" i="0" lang="en" sz="900" u="none" cap="none" strike="noStrike">
                <a:solidFill>
                  <a:srgbClr val="2E6F84"/>
                </a:solidFill>
                <a:latin typeface="Source Sans 3"/>
                <a:ea typeface="Source Sans 3"/>
                <a:cs typeface="Source Sans 3"/>
                <a:sym typeface="Source Sans 3"/>
              </a:rPr>
              <a:t>OUR ORDER</a:t>
            </a:r>
            <a:endParaRPr b="0" i="0" sz="900" u="none" cap="none" strike="noStrike">
              <a:solidFill>
                <a:schemeClr val="dk1"/>
              </a:solidFill>
              <a:latin typeface="Calibri"/>
              <a:ea typeface="Calibri"/>
              <a:cs typeface="Calibri"/>
              <a:sym typeface="Calibri"/>
            </a:endParaRPr>
          </a:p>
        </p:txBody>
      </p:sp>
      <p:sp>
        <p:nvSpPr>
          <p:cNvPr id="136" name="Google Shape;136;p20"/>
          <p:cNvSpPr/>
          <p:nvPr/>
        </p:nvSpPr>
        <p:spPr>
          <a:xfrm>
            <a:off x="4724400" y="1504727"/>
            <a:ext cx="3943200" cy="423900"/>
          </a:xfrm>
          <a:prstGeom prst="rect">
            <a:avLst/>
          </a:prstGeom>
          <a:solidFill>
            <a:srgbClr val="0B243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7" name="Google Shape;137;p20"/>
          <p:cNvSpPr/>
          <p:nvPr/>
        </p:nvSpPr>
        <p:spPr>
          <a:xfrm>
            <a:off x="4724400" y="1504727"/>
            <a:ext cx="23700" cy="423900"/>
          </a:xfrm>
          <a:prstGeom prst="rect">
            <a:avLst/>
          </a:prstGeom>
          <a:solidFill>
            <a:srgbClr val="E8A578"/>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8" name="Google Shape;138;p20"/>
          <p:cNvSpPr/>
          <p:nvPr/>
        </p:nvSpPr>
        <p:spPr>
          <a:xfrm>
            <a:off x="4900613" y="1628552"/>
            <a:ext cx="37329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CE5E8"/>
              </a:buClr>
              <a:buSzPts val="1000"/>
              <a:buFont typeface="Source Sans 3"/>
              <a:buNone/>
            </a:pPr>
            <a:r>
              <a:rPr b="0" i="0" lang="en" sz="1000" u="none" cap="none" strike="noStrike">
                <a:solidFill>
                  <a:srgbClr val="DCE5E8"/>
                </a:solidFill>
                <a:latin typeface="Source Sans 3"/>
                <a:ea typeface="Source Sans 3"/>
                <a:cs typeface="Source Sans 3"/>
                <a:sym typeface="Source Sans 3"/>
              </a:rPr>
              <a:t>Start from your plant, feedstocks and cost ceiling</a:t>
            </a:r>
            <a:endParaRPr b="0" i="0" sz="1000" u="none" cap="none" strike="noStrike">
              <a:solidFill>
                <a:schemeClr val="dk1"/>
              </a:solidFill>
              <a:latin typeface="Calibri"/>
              <a:ea typeface="Calibri"/>
              <a:cs typeface="Calibri"/>
              <a:sym typeface="Calibri"/>
            </a:endParaRPr>
          </a:p>
        </p:txBody>
      </p:sp>
      <p:sp>
        <p:nvSpPr>
          <p:cNvPr id="139" name="Google Shape;139;p20"/>
          <p:cNvSpPr/>
          <p:nvPr/>
        </p:nvSpPr>
        <p:spPr>
          <a:xfrm>
            <a:off x="4724400" y="2014315"/>
            <a:ext cx="3657600" cy="423900"/>
          </a:xfrm>
          <a:prstGeom prst="rect">
            <a:avLst/>
          </a:prstGeom>
          <a:solidFill>
            <a:srgbClr val="0B243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0" name="Google Shape;140;p20"/>
          <p:cNvSpPr/>
          <p:nvPr/>
        </p:nvSpPr>
        <p:spPr>
          <a:xfrm>
            <a:off x="4724400" y="2014315"/>
            <a:ext cx="23700" cy="423900"/>
          </a:xfrm>
          <a:prstGeom prst="rect">
            <a:avLst/>
          </a:prstGeom>
          <a:solidFill>
            <a:srgbClr val="E8A578"/>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1" name="Google Shape;141;p20"/>
          <p:cNvSpPr/>
          <p:nvPr/>
        </p:nvSpPr>
        <p:spPr>
          <a:xfrm>
            <a:off x="4900613" y="2138140"/>
            <a:ext cx="34386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CE5E8"/>
              </a:buClr>
              <a:buSzPts val="1000"/>
              <a:buFont typeface="Source Sans 3"/>
              <a:buNone/>
            </a:pPr>
            <a:r>
              <a:rPr b="0" i="0" lang="en" sz="1000" u="none" cap="none" strike="noStrike">
                <a:solidFill>
                  <a:srgbClr val="DCE5E8"/>
                </a:solidFill>
                <a:latin typeface="Source Sans 3"/>
                <a:ea typeface="Source Sans 3"/>
                <a:cs typeface="Source Sans 3"/>
                <a:sym typeface="Source Sans 3"/>
              </a:rPr>
              <a:t>Generate only inside that envelope</a:t>
            </a:r>
            <a:endParaRPr b="0" i="0" sz="1000" u="none" cap="none" strike="noStrike">
              <a:solidFill>
                <a:schemeClr val="dk1"/>
              </a:solidFill>
              <a:latin typeface="Calibri"/>
              <a:ea typeface="Calibri"/>
              <a:cs typeface="Calibri"/>
              <a:sym typeface="Calibri"/>
            </a:endParaRPr>
          </a:p>
        </p:txBody>
      </p:sp>
      <p:sp>
        <p:nvSpPr>
          <p:cNvPr id="142" name="Google Shape;142;p20"/>
          <p:cNvSpPr/>
          <p:nvPr/>
        </p:nvSpPr>
        <p:spPr>
          <a:xfrm>
            <a:off x="4724400" y="2523902"/>
            <a:ext cx="3372000" cy="423900"/>
          </a:xfrm>
          <a:prstGeom prst="rect">
            <a:avLst/>
          </a:prstGeom>
          <a:solidFill>
            <a:srgbClr val="0B243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3" name="Google Shape;143;p20"/>
          <p:cNvSpPr/>
          <p:nvPr/>
        </p:nvSpPr>
        <p:spPr>
          <a:xfrm>
            <a:off x="4724400" y="2523902"/>
            <a:ext cx="23700" cy="423900"/>
          </a:xfrm>
          <a:prstGeom prst="rect">
            <a:avLst/>
          </a:prstGeom>
          <a:solidFill>
            <a:srgbClr val="E8A578"/>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4" name="Google Shape;144;p20"/>
          <p:cNvSpPr/>
          <p:nvPr/>
        </p:nvSpPr>
        <p:spPr>
          <a:xfrm>
            <a:off x="4900613" y="2647727"/>
            <a:ext cx="31443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DCE5E8"/>
              </a:buClr>
              <a:buSzPts val="1000"/>
              <a:buFont typeface="Source Sans 3"/>
              <a:buNone/>
            </a:pPr>
            <a:r>
              <a:rPr b="0" i="0" lang="en" sz="1000" u="none" cap="none" strike="noStrike">
                <a:solidFill>
                  <a:srgbClr val="DCE5E8"/>
                </a:solidFill>
                <a:latin typeface="Source Sans 3"/>
                <a:ea typeface="Source Sans 3"/>
                <a:cs typeface="Source Sans 3"/>
                <a:sym typeface="Source Sans 3"/>
              </a:rPr>
              <a:t>Every candidate carries its process route and cost</a:t>
            </a:r>
            <a:endParaRPr b="0" i="0" sz="1000" u="none" cap="none" strike="noStrike">
              <a:solidFill>
                <a:schemeClr val="dk1"/>
              </a:solidFill>
              <a:latin typeface="Calibri"/>
              <a:ea typeface="Calibri"/>
              <a:cs typeface="Calibri"/>
              <a:sym typeface="Calibri"/>
            </a:endParaRPr>
          </a:p>
        </p:txBody>
      </p:sp>
      <p:sp>
        <p:nvSpPr>
          <p:cNvPr id="145" name="Google Shape;145;p20"/>
          <p:cNvSpPr/>
          <p:nvPr/>
        </p:nvSpPr>
        <p:spPr>
          <a:xfrm>
            <a:off x="4724400" y="3033489"/>
            <a:ext cx="3086100" cy="423900"/>
          </a:xfrm>
          <a:prstGeom prst="rect">
            <a:avLst/>
          </a:prstGeom>
          <a:solidFill>
            <a:srgbClr val="C25A1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6" name="Google Shape;146;p20"/>
          <p:cNvSpPr/>
          <p:nvPr/>
        </p:nvSpPr>
        <p:spPr>
          <a:xfrm>
            <a:off x="4724400" y="3033489"/>
            <a:ext cx="23700" cy="423900"/>
          </a:xfrm>
          <a:prstGeom prst="rect">
            <a:avLst/>
          </a:prstGeom>
          <a:solidFill>
            <a:srgbClr val="E8A578"/>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7" name="Google Shape;147;p20"/>
          <p:cNvSpPr/>
          <p:nvPr/>
        </p:nvSpPr>
        <p:spPr>
          <a:xfrm>
            <a:off x="4900613" y="3157314"/>
            <a:ext cx="28500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Source Sans 3"/>
              <a:buNone/>
            </a:pPr>
            <a:r>
              <a:rPr b="1" i="0" lang="en" sz="1000" u="none" cap="none" strike="noStrike">
                <a:solidFill>
                  <a:srgbClr val="FFFFFF"/>
                </a:solidFill>
                <a:latin typeface="Source Sans 3"/>
                <a:ea typeface="Source Sans 3"/>
                <a:cs typeface="Source Sans 3"/>
                <a:sym typeface="Source Sans 3"/>
              </a:rPr>
              <a:t>The lab only sees what your site could build</a:t>
            </a:r>
            <a:endParaRPr b="0" i="0" sz="1000" u="none" cap="none" strike="noStrike">
              <a:solidFill>
                <a:schemeClr val="dk1"/>
              </a:solidFill>
              <a:latin typeface="Calibri"/>
              <a:ea typeface="Calibri"/>
              <a:cs typeface="Calibri"/>
              <a:sym typeface="Calibri"/>
            </a:endParaRPr>
          </a:p>
        </p:txBody>
      </p:sp>
      <p:sp>
        <p:nvSpPr>
          <p:cNvPr id="148" name="Google Shape;148;p20"/>
          <p:cNvSpPr/>
          <p:nvPr/>
        </p:nvSpPr>
        <p:spPr>
          <a:xfrm>
            <a:off x="4724400" y="3590702"/>
            <a:ext cx="4337700" cy="179100"/>
          </a:xfrm>
          <a:prstGeom prst="rect">
            <a:avLst/>
          </a:prstGeom>
          <a:noFill/>
          <a:ln>
            <a:noFill/>
          </a:ln>
        </p:spPr>
        <p:txBody>
          <a:bodyPr anchorCtr="0" anchor="t" bIns="12700" lIns="12700" spcFirstLastPara="1" rIns="12700" wrap="square" tIns="12700">
            <a:noAutofit/>
          </a:bodyPr>
          <a:lstStyle/>
          <a:p>
            <a:pPr indent="0" lvl="0" marL="0" marR="0" rtl="0" algn="l">
              <a:lnSpc>
                <a:spcPct val="98824"/>
              </a:lnSpc>
              <a:spcBef>
                <a:spcPts val="0"/>
              </a:spcBef>
              <a:spcAft>
                <a:spcPts val="0"/>
              </a:spcAft>
              <a:buClr>
                <a:srgbClr val="2E6F84"/>
              </a:buClr>
              <a:buSzPts val="900"/>
              <a:buFont typeface="Source Sans 3"/>
              <a:buNone/>
            </a:pPr>
            <a:r>
              <a:rPr b="1" i="0" lang="en" sz="900" u="none" cap="none" strike="noStrike">
                <a:solidFill>
                  <a:srgbClr val="2E6F84"/>
                </a:solidFill>
                <a:latin typeface="Source Sans 3"/>
                <a:ea typeface="Source Sans 3"/>
                <a:cs typeface="Source Sans 3"/>
                <a:sym typeface="Source Sans 3"/>
              </a:rPr>
              <a:t>Manufacturability is the search space.</a:t>
            </a:r>
            <a:endParaRPr b="0" i="0" sz="900" u="none" cap="none" strike="noStrike">
              <a:solidFill>
                <a:schemeClr val="dk1"/>
              </a:solidFill>
              <a:latin typeface="Calibri"/>
              <a:ea typeface="Calibri"/>
              <a:cs typeface="Calibri"/>
              <a:sym typeface="Calibri"/>
            </a:endParaRPr>
          </a:p>
        </p:txBody>
      </p:sp>
      <p:sp>
        <p:nvSpPr>
          <p:cNvPr id="149" name="Google Shape;149;p20"/>
          <p:cNvSpPr/>
          <p:nvPr/>
        </p:nvSpPr>
        <p:spPr>
          <a:xfrm>
            <a:off x="476250" y="4619625"/>
            <a:ext cx="4930500" cy="1809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6333D"/>
              </a:buClr>
              <a:buSzPts val="900"/>
              <a:buFont typeface="Source Sans 3"/>
              <a:buNone/>
            </a:pPr>
            <a:r>
              <a:rPr b="1" i="0" lang="en" sz="900" u="none" cap="none" strike="noStrike">
                <a:solidFill>
                  <a:srgbClr val="16333D"/>
                </a:solidFill>
                <a:latin typeface="Source Sans 3"/>
                <a:ea typeface="Source Sans 3"/>
                <a:cs typeface="Source Sans 3"/>
                <a:sym typeface="Source Sans 3"/>
              </a:rPr>
              <a:t>A candidate your site cannot make is not a candidate. We rule it out before the lab.</a:t>
            </a:r>
            <a:endParaRPr b="0" i="0" sz="900" u="none" cap="none" strike="noStrike">
              <a:solidFill>
                <a:schemeClr val="dk1"/>
              </a:solidFill>
              <a:latin typeface="Calibri"/>
              <a:ea typeface="Calibri"/>
              <a:cs typeface="Calibri"/>
              <a:sym typeface="Calibri"/>
            </a:endParaRPr>
          </a:p>
        </p:txBody>
      </p:sp>
      <p:sp>
        <p:nvSpPr>
          <p:cNvPr id="150" name="Google Shape;150;p20"/>
          <p:cNvSpPr/>
          <p:nvPr/>
        </p:nvSpPr>
        <p:spPr>
          <a:xfrm>
            <a:off x="8542697" y="4619625"/>
            <a:ext cx="163200" cy="1809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0"/>
              </a:buClr>
              <a:buSzPts val="900"/>
              <a:buFont typeface="Source Sans 3"/>
              <a:buNone/>
            </a:pPr>
            <a:r>
              <a:rPr b="0" i="0" lang="en" sz="900" u="none" cap="none" strike="noStrike">
                <a:solidFill>
                  <a:srgbClr val="5E7480"/>
                </a:solidFill>
                <a:latin typeface="Source Sans 3"/>
                <a:ea typeface="Source Sans 3"/>
                <a:cs typeface="Source Sans 3"/>
                <a:sym typeface="Source Sans 3"/>
              </a:rPr>
              <a:t>04</a:t>
            </a:r>
            <a:endParaRPr b="0" i="0" sz="900" u="none" cap="none" strike="noStrike">
              <a:solidFill>
                <a:schemeClr val="dk1"/>
              </a:solidFill>
              <a:latin typeface="Calibri"/>
              <a:ea typeface="Calibri"/>
              <a:cs typeface="Calibri"/>
              <a:sym typeface="Calibri"/>
            </a:endParaRPr>
          </a:p>
        </p:txBody>
      </p:sp>
      <p:sp>
        <p:nvSpPr>
          <p:cNvPr id="151" name="Google Shape;151;p20"/>
          <p:cNvSpPr/>
          <p:nvPr/>
        </p:nvSpPr>
        <p:spPr>
          <a:xfrm>
            <a:off x="445770" y="377190"/>
            <a:ext cx="7543800" cy="19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OUR DIFFERENCE</a:t>
            </a:r>
            <a:endParaRPr sz="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sp>
        <p:nvSpPr>
          <p:cNvPr id="157" name="Google Shape;157;p21"/>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THE PLATFORM</a:t>
            </a:r>
            <a:endParaRPr sz="800">
              <a:solidFill>
                <a:schemeClr val="dk1"/>
              </a:solidFill>
              <a:latin typeface="Calibri"/>
              <a:ea typeface="Calibri"/>
              <a:cs typeface="Calibri"/>
              <a:sym typeface="Calibri"/>
            </a:endParaRPr>
          </a:p>
        </p:txBody>
      </p:sp>
      <p:sp>
        <p:nvSpPr>
          <p:cNvPr id="158" name="Google Shape;158;p21"/>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600"/>
              <a:buFont typeface="Cambria"/>
              <a:buNone/>
            </a:pPr>
            <a:r>
              <a:rPr b="1" lang="en" sz="2600">
                <a:solidFill>
                  <a:srgbClr val="16333D"/>
                </a:solidFill>
                <a:latin typeface="Cambria"/>
                <a:ea typeface="Cambria"/>
                <a:cs typeface="Cambria"/>
                <a:sym typeface="Cambria"/>
              </a:rPr>
              <a:t>One orchestrator. Many specialists.</a:t>
            </a:r>
            <a:endParaRPr sz="2600">
              <a:solidFill>
                <a:schemeClr val="dk1"/>
              </a:solidFill>
              <a:latin typeface="Calibri"/>
              <a:ea typeface="Calibri"/>
              <a:cs typeface="Calibri"/>
              <a:sym typeface="Calibri"/>
            </a:endParaRPr>
          </a:p>
        </p:txBody>
      </p:sp>
      <p:sp>
        <p:nvSpPr>
          <p:cNvPr id="159" name="Google Shape;159;p21"/>
          <p:cNvSpPr/>
          <p:nvPr/>
        </p:nvSpPr>
        <p:spPr>
          <a:xfrm>
            <a:off x="445775" y="3634748"/>
            <a:ext cx="8215800" cy="660300"/>
          </a:xfrm>
          <a:prstGeom prst="roundRect">
            <a:avLst>
              <a:gd fmla="val 4800"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0" name="Google Shape;160;p21"/>
          <p:cNvSpPr/>
          <p:nvPr/>
        </p:nvSpPr>
        <p:spPr>
          <a:xfrm>
            <a:off x="610958" y="3737902"/>
            <a:ext cx="2949000" cy="4527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333D"/>
              </a:buClr>
              <a:buSzPts val="1100"/>
              <a:buFont typeface="Calibri"/>
              <a:buNone/>
            </a:pPr>
            <a:r>
              <a:rPr b="1" lang="en" sz="1100">
                <a:solidFill>
                  <a:srgbClr val="16333D"/>
                </a:solidFill>
                <a:latin typeface="Calibri"/>
                <a:ea typeface="Calibri"/>
                <a:cs typeface="Calibri"/>
                <a:sym typeface="Calibri"/>
              </a:rPr>
              <a:t>The solver does not average scores.</a:t>
            </a:r>
            <a:endParaRPr sz="1100">
              <a:solidFill>
                <a:schemeClr val="dk1"/>
              </a:solidFill>
              <a:latin typeface="Calibri"/>
              <a:ea typeface="Calibri"/>
              <a:cs typeface="Calibri"/>
              <a:sym typeface="Calibri"/>
            </a:endParaRPr>
          </a:p>
        </p:txBody>
      </p:sp>
      <p:sp>
        <p:nvSpPr>
          <p:cNvPr id="161" name="Google Shape;161;p21"/>
          <p:cNvSpPr/>
          <p:nvPr/>
        </p:nvSpPr>
        <p:spPr>
          <a:xfrm>
            <a:off x="3806200" y="3744475"/>
            <a:ext cx="4658700" cy="6516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5E7480"/>
              </a:buClr>
              <a:buSzPts val="1000"/>
              <a:buFont typeface="Calibri"/>
              <a:buNone/>
            </a:pPr>
            <a:r>
              <a:rPr lang="en" sz="1000">
                <a:solidFill>
                  <a:srgbClr val="5E7480"/>
                </a:solidFill>
                <a:latin typeface="Calibri"/>
                <a:ea typeface="Calibri"/>
                <a:cs typeface="Calibri"/>
                <a:sym typeface="Calibri"/>
              </a:rPr>
              <a:t>Where a module has no business answering your question, it says so instead of producing a number. Missing evidence shows up as missing evidence, not as a confident average.</a:t>
            </a:r>
            <a:endParaRPr sz="1000">
              <a:solidFill>
                <a:schemeClr val="dk1"/>
              </a:solidFill>
              <a:latin typeface="Calibri"/>
              <a:ea typeface="Calibri"/>
              <a:cs typeface="Calibri"/>
              <a:sym typeface="Calibri"/>
            </a:endParaRPr>
          </a:p>
        </p:txBody>
      </p:sp>
      <p:sp>
        <p:nvSpPr>
          <p:cNvPr id="162" name="Google Shape;162;p21"/>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163" name="Google Shape;163;p21"/>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5</a:t>
            </a:r>
            <a:endParaRPr sz="700">
              <a:solidFill>
                <a:schemeClr val="dk1"/>
              </a:solidFill>
              <a:latin typeface="Calibri"/>
              <a:ea typeface="Calibri"/>
              <a:cs typeface="Calibri"/>
              <a:sym typeface="Calibri"/>
            </a:endParaRPr>
          </a:p>
        </p:txBody>
      </p:sp>
      <p:sp>
        <p:nvSpPr>
          <p:cNvPr id="164" name="Google Shape;164;p21"/>
          <p:cNvSpPr/>
          <p:nvPr/>
        </p:nvSpPr>
        <p:spPr>
          <a:xfrm>
            <a:off x="467788" y="1378100"/>
            <a:ext cx="1473600" cy="1748400"/>
          </a:xfrm>
          <a:prstGeom prst="rect">
            <a:avLst/>
          </a:prstGeom>
          <a:solidFill>
            <a:srgbClr val="143845"/>
          </a:solidFill>
          <a:ln>
            <a:noFill/>
          </a:ln>
        </p:spPr>
        <p:txBody>
          <a:bodyPr anchorCtr="0" anchor="ctr" bIns="45800" lIns="45800" spcFirstLastPara="1" rIns="45800" wrap="square" tIns="45800">
            <a:noAutofit/>
          </a:bodyPr>
          <a:lstStyle/>
          <a:p>
            <a:pPr indent="0" lvl="0" marL="0" rtl="0" algn="l">
              <a:spcBef>
                <a:spcPts val="0"/>
              </a:spcBef>
              <a:spcAft>
                <a:spcPts val="0"/>
              </a:spcAft>
              <a:buNone/>
            </a:pPr>
            <a:r>
              <a:t/>
            </a:r>
            <a:endParaRPr/>
          </a:p>
        </p:txBody>
      </p:sp>
      <p:sp>
        <p:nvSpPr>
          <p:cNvPr id="165" name="Google Shape;165;p21"/>
          <p:cNvSpPr/>
          <p:nvPr/>
        </p:nvSpPr>
        <p:spPr>
          <a:xfrm>
            <a:off x="467788" y="1378100"/>
            <a:ext cx="1473600" cy="24000"/>
          </a:xfrm>
          <a:prstGeom prst="rect">
            <a:avLst/>
          </a:prstGeom>
          <a:solidFill>
            <a:srgbClr val="7FA9B8"/>
          </a:solidFill>
          <a:ln>
            <a:noFill/>
          </a:ln>
        </p:spPr>
        <p:txBody>
          <a:bodyPr anchorCtr="0" anchor="ctr" bIns="45800" lIns="45800" spcFirstLastPara="1" rIns="45800" wrap="square" tIns="45800">
            <a:noAutofit/>
          </a:bodyPr>
          <a:lstStyle/>
          <a:p>
            <a:pPr indent="0" lvl="0" marL="0" rtl="0" algn="l">
              <a:spcBef>
                <a:spcPts val="0"/>
              </a:spcBef>
              <a:spcAft>
                <a:spcPts val="0"/>
              </a:spcAft>
              <a:buNone/>
            </a:pPr>
            <a:r>
              <a:t/>
            </a:r>
            <a:endParaRPr/>
          </a:p>
        </p:txBody>
      </p:sp>
      <p:sp>
        <p:nvSpPr>
          <p:cNvPr id="166" name="Google Shape;166;p21"/>
          <p:cNvSpPr/>
          <p:nvPr/>
        </p:nvSpPr>
        <p:spPr>
          <a:xfrm>
            <a:off x="610960" y="1573769"/>
            <a:ext cx="1306200" cy="167100"/>
          </a:xfrm>
          <a:prstGeom prst="rect">
            <a:avLst/>
          </a:prstGeom>
          <a:noFill/>
          <a:ln>
            <a:noFill/>
          </a:ln>
        </p:spPr>
        <p:txBody>
          <a:bodyPr anchorCtr="0" anchor="t" bIns="12725" lIns="12725" spcFirstLastPara="1" rIns="12725" wrap="square" tIns="12725">
            <a:noAutofit/>
          </a:bodyPr>
          <a:lstStyle/>
          <a:p>
            <a:pPr indent="0" lvl="0" marL="0" marR="0" rtl="0" algn="l">
              <a:spcBef>
                <a:spcPts val="0"/>
              </a:spcBef>
              <a:spcAft>
                <a:spcPts val="0"/>
              </a:spcAft>
              <a:buClr>
                <a:srgbClr val="7FA9B8"/>
              </a:buClr>
              <a:buSzPts val="902"/>
              <a:buFont typeface="IBM Plex Mono"/>
              <a:buNone/>
            </a:pPr>
            <a:r>
              <a:rPr b="0" i="0" lang="en" sz="902" u="none" cap="none" strike="noStrike">
                <a:solidFill>
                  <a:srgbClr val="7FA9B8"/>
                </a:solidFill>
                <a:latin typeface="IBM Plex Mono"/>
                <a:ea typeface="IBM Plex Mono"/>
                <a:cs typeface="IBM Plex Mono"/>
                <a:sym typeface="IBM Plex Mono"/>
              </a:rPr>
              <a:t>01</a:t>
            </a:r>
            <a:endParaRPr b="0" i="0" sz="902" u="none" cap="none" strike="noStrike">
              <a:solidFill>
                <a:srgbClr val="000000"/>
              </a:solidFill>
              <a:latin typeface="Calibri"/>
              <a:ea typeface="Calibri"/>
              <a:cs typeface="Calibri"/>
              <a:sym typeface="Calibri"/>
            </a:endParaRPr>
          </a:p>
        </p:txBody>
      </p:sp>
      <p:sp>
        <p:nvSpPr>
          <p:cNvPr id="167" name="Google Shape;167;p21"/>
          <p:cNvSpPr/>
          <p:nvPr/>
        </p:nvSpPr>
        <p:spPr>
          <a:xfrm>
            <a:off x="610960" y="1798073"/>
            <a:ext cx="1306200" cy="238800"/>
          </a:xfrm>
          <a:prstGeom prst="rect">
            <a:avLst/>
          </a:prstGeom>
          <a:noFill/>
          <a:ln>
            <a:noFill/>
          </a:ln>
        </p:spPr>
        <p:txBody>
          <a:bodyPr anchorCtr="0" anchor="t" bIns="12725" lIns="12725" spcFirstLastPara="1" rIns="12725" wrap="square" tIns="12725">
            <a:noAutofit/>
          </a:bodyPr>
          <a:lstStyle/>
          <a:p>
            <a:pPr indent="0" lvl="0" marL="0" marR="0" rtl="0" algn="l">
              <a:spcBef>
                <a:spcPts val="0"/>
              </a:spcBef>
              <a:spcAft>
                <a:spcPts val="0"/>
              </a:spcAft>
              <a:buClr>
                <a:srgbClr val="DCE5E8"/>
              </a:buClr>
              <a:buSzPts val="1203"/>
              <a:buFont typeface="Source Sans 3"/>
              <a:buNone/>
            </a:pPr>
            <a:r>
              <a:rPr b="1" i="0" lang="en" sz="1203" u="none" cap="none" strike="noStrike">
                <a:solidFill>
                  <a:srgbClr val="DCE5E8"/>
                </a:solidFill>
                <a:latin typeface="Source Sans 3"/>
                <a:ea typeface="Source Sans 3"/>
                <a:cs typeface="Source Sans 3"/>
                <a:sym typeface="Source Sans 3"/>
              </a:rPr>
              <a:t>Your envelope</a:t>
            </a:r>
            <a:endParaRPr b="0" i="0" sz="1203" u="none" cap="none" strike="noStrike">
              <a:solidFill>
                <a:srgbClr val="000000"/>
              </a:solidFill>
              <a:latin typeface="Calibri"/>
              <a:ea typeface="Calibri"/>
              <a:cs typeface="Calibri"/>
              <a:sym typeface="Calibri"/>
            </a:endParaRPr>
          </a:p>
        </p:txBody>
      </p:sp>
      <p:sp>
        <p:nvSpPr>
          <p:cNvPr id="168" name="Google Shape;168;p21"/>
          <p:cNvSpPr/>
          <p:nvPr/>
        </p:nvSpPr>
        <p:spPr>
          <a:xfrm>
            <a:off x="610960" y="2093964"/>
            <a:ext cx="1225500" cy="500100"/>
          </a:xfrm>
          <a:prstGeom prst="rect">
            <a:avLst/>
          </a:prstGeom>
          <a:noFill/>
          <a:ln>
            <a:noFill/>
          </a:ln>
        </p:spPr>
        <p:txBody>
          <a:bodyPr anchorCtr="0" anchor="t" bIns="12725" lIns="12725" spcFirstLastPara="1" rIns="12725" wrap="square" tIns="12725">
            <a:noAutofit/>
          </a:bodyPr>
          <a:lstStyle/>
          <a:p>
            <a:pPr indent="0" lvl="0" marL="0" marR="0" rtl="0" algn="l">
              <a:lnSpc>
                <a:spcPct val="98824"/>
              </a:lnSpc>
              <a:spcBef>
                <a:spcPts val="0"/>
              </a:spcBef>
              <a:spcAft>
                <a:spcPts val="0"/>
              </a:spcAft>
              <a:buClr>
                <a:srgbClr val="9FB6BF"/>
              </a:buClr>
              <a:buSzPts val="902"/>
              <a:buFont typeface="Source Sans 3"/>
              <a:buNone/>
            </a:pPr>
            <a:r>
              <a:rPr b="0" i="0" lang="en" sz="902" u="none" cap="none" strike="noStrike">
                <a:solidFill>
                  <a:srgbClr val="9FB6BF"/>
                </a:solidFill>
                <a:latin typeface="Source Sans 3"/>
                <a:ea typeface="Source Sans 3"/>
                <a:cs typeface="Source Sans 3"/>
                <a:sym typeface="Source Sans 3"/>
              </a:rPr>
              <a:t>Performance targets, process limits, restricted lists, cost ceiling.</a:t>
            </a:r>
            <a:endParaRPr b="0" i="0" sz="902" u="none" cap="none" strike="noStrike">
              <a:solidFill>
                <a:srgbClr val="000000"/>
              </a:solidFill>
              <a:latin typeface="Calibri"/>
              <a:ea typeface="Calibri"/>
              <a:cs typeface="Calibri"/>
              <a:sym typeface="Calibri"/>
            </a:endParaRPr>
          </a:p>
        </p:txBody>
      </p:sp>
      <p:sp>
        <p:nvSpPr>
          <p:cNvPr id="169" name="Google Shape;169;p21"/>
          <p:cNvSpPr/>
          <p:nvPr/>
        </p:nvSpPr>
        <p:spPr>
          <a:xfrm>
            <a:off x="1922406" y="1378100"/>
            <a:ext cx="248100" cy="1767600"/>
          </a:xfrm>
          <a:prstGeom prst="rect">
            <a:avLst/>
          </a:prstGeom>
          <a:noFill/>
          <a:ln>
            <a:noFill/>
          </a:ln>
        </p:spPr>
        <p:txBody>
          <a:bodyPr anchorCtr="0" anchor="ctr" bIns="12725" lIns="12725" spcFirstLastPara="1" rIns="12725" wrap="square" tIns="12725">
            <a:noAutofit/>
          </a:bodyPr>
          <a:lstStyle/>
          <a:p>
            <a:pPr indent="0" lvl="0" marL="0" marR="0" rtl="0" algn="ctr">
              <a:spcBef>
                <a:spcPts val="0"/>
              </a:spcBef>
              <a:spcAft>
                <a:spcPts val="0"/>
              </a:spcAft>
              <a:buClr>
                <a:srgbClr val="2E6F84"/>
              </a:buClr>
              <a:buSzPts val="1203"/>
              <a:buFont typeface="Source Sans 3"/>
              <a:buNone/>
            </a:pPr>
            <a:r>
              <a:rPr b="0" i="0" lang="en" sz="1203" u="none" cap="none" strike="noStrike">
                <a:solidFill>
                  <a:srgbClr val="2E6F84"/>
                </a:solidFill>
                <a:latin typeface="Source Sans 3"/>
                <a:ea typeface="Source Sans 3"/>
                <a:cs typeface="Source Sans 3"/>
                <a:sym typeface="Source Sans 3"/>
              </a:rPr>
              <a:t>▸</a:t>
            </a:r>
            <a:endParaRPr b="0" i="0" sz="1203" u="none" cap="none" strike="noStrike">
              <a:solidFill>
                <a:srgbClr val="000000"/>
              </a:solidFill>
              <a:latin typeface="Calibri"/>
              <a:ea typeface="Calibri"/>
              <a:cs typeface="Calibri"/>
              <a:sym typeface="Calibri"/>
            </a:endParaRPr>
          </a:p>
        </p:txBody>
      </p:sp>
      <p:sp>
        <p:nvSpPr>
          <p:cNvPr id="170" name="Google Shape;170;p21"/>
          <p:cNvSpPr/>
          <p:nvPr/>
        </p:nvSpPr>
        <p:spPr>
          <a:xfrm>
            <a:off x="2151482" y="1378100"/>
            <a:ext cx="1473600" cy="1748400"/>
          </a:xfrm>
          <a:prstGeom prst="rect">
            <a:avLst/>
          </a:prstGeom>
          <a:solidFill>
            <a:srgbClr val="143845"/>
          </a:solidFill>
          <a:ln>
            <a:noFill/>
          </a:ln>
        </p:spPr>
        <p:txBody>
          <a:bodyPr anchorCtr="0" anchor="ctr" bIns="45800" lIns="45800" spcFirstLastPara="1" rIns="45800" wrap="square" tIns="45800">
            <a:noAutofit/>
          </a:bodyPr>
          <a:lstStyle/>
          <a:p>
            <a:pPr indent="0" lvl="0" marL="0" rtl="0" algn="l">
              <a:spcBef>
                <a:spcPts val="0"/>
              </a:spcBef>
              <a:spcAft>
                <a:spcPts val="0"/>
              </a:spcAft>
              <a:buNone/>
            </a:pPr>
            <a:r>
              <a:t/>
            </a:r>
            <a:endParaRPr/>
          </a:p>
        </p:txBody>
      </p:sp>
      <p:sp>
        <p:nvSpPr>
          <p:cNvPr id="171" name="Google Shape;171;p21"/>
          <p:cNvSpPr/>
          <p:nvPr/>
        </p:nvSpPr>
        <p:spPr>
          <a:xfrm>
            <a:off x="2151482" y="1378100"/>
            <a:ext cx="1473600" cy="24000"/>
          </a:xfrm>
          <a:prstGeom prst="rect">
            <a:avLst/>
          </a:prstGeom>
          <a:solidFill>
            <a:srgbClr val="E8A578"/>
          </a:solidFill>
          <a:ln>
            <a:noFill/>
          </a:ln>
        </p:spPr>
        <p:txBody>
          <a:bodyPr anchorCtr="0" anchor="ctr" bIns="45800" lIns="45800" spcFirstLastPara="1" rIns="45800" wrap="square" tIns="45800">
            <a:noAutofit/>
          </a:bodyPr>
          <a:lstStyle/>
          <a:p>
            <a:pPr indent="0" lvl="0" marL="0" rtl="0" algn="l">
              <a:spcBef>
                <a:spcPts val="0"/>
              </a:spcBef>
              <a:spcAft>
                <a:spcPts val="0"/>
              </a:spcAft>
              <a:buNone/>
            </a:pPr>
            <a:r>
              <a:t/>
            </a:r>
            <a:endParaRPr/>
          </a:p>
        </p:txBody>
      </p:sp>
      <p:sp>
        <p:nvSpPr>
          <p:cNvPr id="172" name="Google Shape;172;p21"/>
          <p:cNvSpPr/>
          <p:nvPr/>
        </p:nvSpPr>
        <p:spPr>
          <a:xfrm>
            <a:off x="2294655" y="1573769"/>
            <a:ext cx="1306200" cy="167100"/>
          </a:xfrm>
          <a:prstGeom prst="rect">
            <a:avLst/>
          </a:prstGeom>
          <a:noFill/>
          <a:ln>
            <a:noFill/>
          </a:ln>
        </p:spPr>
        <p:txBody>
          <a:bodyPr anchorCtr="0" anchor="t" bIns="12725" lIns="12725" spcFirstLastPara="1" rIns="12725" wrap="square" tIns="12725">
            <a:noAutofit/>
          </a:bodyPr>
          <a:lstStyle/>
          <a:p>
            <a:pPr indent="0" lvl="0" marL="0" marR="0" rtl="0" algn="l">
              <a:spcBef>
                <a:spcPts val="0"/>
              </a:spcBef>
              <a:spcAft>
                <a:spcPts val="0"/>
              </a:spcAft>
              <a:buClr>
                <a:srgbClr val="E8A578"/>
              </a:buClr>
              <a:buSzPts val="902"/>
              <a:buFont typeface="IBM Plex Mono"/>
              <a:buNone/>
            </a:pPr>
            <a:r>
              <a:rPr b="0" i="0" lang="en" sz="902" u="none" cap="none" strike="noStrike">
                <a:solidFill>
                  <a:srgbClr val="E8A578"/>
                </a:solidFill>
                <a:latin typeface="IBM Plex Mono"/>
                <a:ea typeface="IBM Plex Mono"/>
                <a:cs typeface="IBM Plex Mono"/>
                <a:sym typeface="IBM Plex Mono"/>
              </a:rPr>
              <a:t>02</a:t>
            </a:r>
            <a:endParaRPr b="0" i="0" sz="902" u="none" cap="none" strike="noStrike">
              <a:solidFill>
                <a:srgbClr val="000000"/>
              </a:solidFill>
              <a:latin typeface="Calibri"/>
              <a:ea typeface="Calibri"/>
              <a:cs typeface="Calibri"/>
              <a:sym typeface="Calibri"/>
            </a:endParaRPr>
          </a:p>
        </p:txBody>
      </p:sp>
      <p:sp>
        <p:nvSpPr>
          <p:cNvPr id="173" name="Google Shape;173;p21"/>
          <p:cNvSpPr/>
          <p:nvPr/>
        </p:nvSpPr>
        <p:spPr>
          <a:xfrm>
            <a:off x="2294655" y="1798073"/>
            <a:ext cx="1306200" cy="238800"/>
          </a:xfrm>
          <a:prstGeom prst="rect">
            <a:avLst/>
          </a:prstGeom>
          <a:noFill/>
          <a:ln>
            <a:noFill/>
          </a:ln>
        </p:spPr>
        <p:txBody>
          <a:bodyPr anchorCtr="0" anchor="t" bIns="12725" lIns="12725" spcFirstLastPara="1" rIns="12725" wrap="square" tIns="12725">
            <a:noAutofit/>
          </a:bodyPr>
          <a:lstStyle/>
          <a:p>
            <a:pPr indent="0" lvl="0" marL="0" marR="0" rtl="0" algn="l">
              <a:spcBef>
                <a:spcPts val="0"/>
              </a:spcBef>
              <a:spcAft>
                <a:spcPts val="0"/>
              </a:spcAft>
              <a:buClr>
                <a:srgbClr val="DCE5E8"/>
              </a:buClr>
              <a:buSzPts val="1203"/>
              <a:buFont typeface="Source Sans 3"/>
              <a:buNone/>
            </a:pPr>
            <a:r>
              <a:rPr b="1" i="0" lang="en" sz="1203" u="none" cap="none" strike="noStrike">
                <a:solidFill>
                  <a:srgbClr val="DCE5E8"/>
                </a:solidFill>
                <a:latin typeface="Source Sans 3"/>
                <a:ea typeface="Source Sans 3"/>
                <a:cs typeface="Source Sans 3"/>
                <a:sym typeface="Source Sans 3"/>
              </a:rPr>
              <a:t>Orchestrator</a:t>
            </a:r>
            <a:endParaRPr b="0" i="0" sz="1203" u="none" cap="none" strike="noStrike">
              <a:solidFill>
                <a:srgbClr val="000000"/>
              </a:solidFill>
              <a:latin typeface="Calibri"/>
              <a:ea typeface="Calibri"/>
              <a:cs typeface="Calibri"/>
              <a:sym typeface="Calibri"/>
            </a:endParaRPr>
          </a:p>
        </p:txBody>
      </p:sp>
      <p:sp>
        <p:nvSpPr>
          <p:cNvPr id="174" name="Google Shape;174;p21"/>
          <p:cNvSpPr/>
          <p:nvPr/>
        </p:nvSpPr>
        <p:spPr>
          <a:xfrm>
            <a:off x="2294655" y="2093964"/>
            <a:ext cx="1225500" cy="660300"/>
          </a:xfrm>
          <a:prstGeom prst="rect">
            <a:avLst/>
          </a:prstGeom>
          <a:noFill/>
          <a:ln>
            <a:noFill/>
          </a:ln>
        </p:spPr>
        <p:txBody>
          <a:bodyPr anchorCtr="0" anchor="t" bIns="12725" lIns="12725" spcFirstLastPara="1" rIns="12725" wrap="square" tIns="12725">
            <a:noAutofit/>
          </a:bodyPr>
          <a:lstStyle/>
          <a:p>
            <a:pPr indent="0" lvl="0" marL="0" marR="0" rtl="0" algn="l">
              <a:lnSpc>
                <a:spcPct val="98824"/>
              </a:lnSpc>
              <a:spcBef>
                <a:spcPts val="0"/>
              </a:spcBef>
              <a:spcAft>
                <a:spcPts val="0"/>
              </a:spcAft>
              <a:buClr>
                <a:srgbClr val="9FB6BF"/>
              </a:buClr>
              <a:buSzPts val="902"/>
              <a:buFont typeface="Source Sans 3"/>
              <a:buNone/>
            </a:pPr>
            <a:r>
              <a:rPr b="0" i="0" lang="en" sz="902" u="none" cap="none" strike="noStrike">
                <a:solidFill>
                  <a:srgbClr val="9FB6BF"/>
                </a:solidFill>
                <a:latin typeface="Source Sans 3"/>
                <a:ea typeface="Source Sans 3"/>
                <a:cs typeface="Source Sans 3"/>
                <a:sym typeface="Source Sans 3"/>
              </a:rPr>
              <a:t>Turns that into an optimisation problem and picks which specialists to run.</a:t>
            </a:r>
            <a:endParaRPr b="0" i="0" sz="902" u="none" cap="none" strike="noStrike">
              <a:solidFill>
                <a:srgbClr val="000000"/>
              </a:solidFill>
              <a:latin typeface="Calibri"/>
              <a:ea typeface="Calibri"/>
              <a:cs typeface="Calibri"/>
              <a:sym typeface="Calibri"/>
            </a:endParaRPr>
          </a:p>
        </p:txBody>
      </p:sp>
      <p:sp>
        <p:nvSpPr>
          <p:cNvPr id="175" name="Google Shape;175;p21"/>
          <p:cNvSpPr/>
          <p:nvPr/>
        </p:nvSpPr>
        <p:spPr>
          <a:xfrm>
            <a:off x="3606101" y="1378100"/>
            <a:ext cx="248100" cy="1767600"/>
          </a:xfrm>
          <a:prstGeom prst="rect">
            <a:avLst/>
          </a:prstGeom>
          <a:noFill/>
          <a:ln>
            <a:noFill/>
          </a:ln>
        </p:spPr>
        <p:txBody>
          <a:bodyPr anchorCtr="0" anchor="ctr" bIns="12725" lIns="12725" spcFirstLastPara="1" rIns="12725" wrap="square" tIns="12725">
            <a:noAutofit/>
          </a:bodyPr>
          <a:lstStyle/>
          <a:p>
            <a:pPr indent="0" lvl="0" marL="0" marR="0" rtl="0" algn="ctr">
              <a:spcBef>
                <a:spcPts val="0"/>
              </a:spcBef>
              <a:spcAft>
                <a:spcPts val="0"/>
              </a:spcAft>
              <a:buClr>
                <a:srgbClr val="2E6F84"/>
              </a:buClr>
              <a:buSzPts val="1203"/>
              <a:buFont typeface="Source Sans 3"/>
              <a:buNone/>
            </a:pPr>
            <a:r>
              <a:rPr b="0" i="0" lang="en" sz="1203" u="none" cap="none" strike="noStrike">
                <a:solidFill>
                  <a:srgbClr val="2E6F84"/>
                </a:solidFill>
                <a:latin typeface="Source Sans 3"/>
                <a:ea typeface="Source Sans 3"/>
                <a:cs typeface="Source Sans 3"/>
                <a:sym typeface="Source Sans 3"/>
              </a:rPr>
              <a:t>▸</a:t>
            </a:r>
            <a:endParaRPr b="0" i="0" sz="1203" u="none" cap="none" strike="noStrike">
              <a:solidFill>
                <a:srgbClr val="000000"/>
              </a:solidFill>
              <a:latin typeface="Calibri"/>
              <a:ea typeface="Calibri"/>
              <a:cs typeface="Calibri"/>
              <a:sym typeface="Calibri"/>
            </a:endParaRPr>
          </a:p>
        </p:txBody>
      </p:sp>
      <p:sp>
        <p:nvSpPr>
          <p:cNvPr id="176" name="Google Shape;176;p21"/>
          <p:cNvSpPr/>
          <p:nvPr/>
        </p:nvSpPr>
        <p:spPr>
          <a:xfrm>
            <a:off x="3835177" y="1378100"/>
            <a:ext cx="1473900" cy="1748400"/>
          </a:xfrm>
          <a:prstGeom prst="rect">
            <a:avLst/>
          </a:prstGeom>
          <a:solidFill>
            <a:srgbClr val="143845"/>
          </a:solidFill>
          <a:ln>
            <a:noFill/>
          </a:ln>
        </p:spPr>
        <p:txBody>
          <a:bodyPr anchorCtr="0" anchor="ctr" bIns="45800" lIns="45800" spcFirstLastPara="1" rIns="45800" wrap="square" tIns="45800">
            <a:noAutofit/>
          </a:bodyPr>
          <a:lstStyle/>
          <a:p>
            <a:pPr indent="0" lvl="0" marL="0" rtl="0" algn="l">
              <a:spcBef>
                <a:spcPts val="0"/>
              </a:spcBef>
              <a:spcAft>
                <a:spcPts val="0"/>
              </a:spcAft>
              <a:buNone/>
            </a:pPr>
            <a:r>
              <a:t/>
            </a:r>
            <a:endParaRPr/>
          </a:p>
        </p:txBody>
      </p:sp>
      <p:sp>
        <p:nvSpPr>
          <p:cNvPr id="177" name="Google Shape;177;p21"/>
          <p:cNvSpPr/>
          <p:nvPr/>
        </p:nvSpPr>
        <p:spPr>
          <a:xfrm>
            <a:off x="3835177" y="1378100"/>
            <a:ext cx="1473900" cy="24000"/>
          </a:xfrm>
          <a:prstGeom prst="rect">
            <a:avLst/>
          </a:prstGeom>
          <a:solidFill>
            <a:srgbClr val="E8A578"/>
          </a:solidFill>
          <a:ln>
            <a:noFill/>
          </a:ln>
        </p:spPr>
        <p:txBody>
          <a:bodyPr anchorCtr="0" anchor="ctr" bIns="45800" lIns="45800" spcFirstLastPara="1" rIns="45800" wrap="square" tIns="45800">
            <a:noAutofit/>
          </a:bodyPr>
          <a:lstStyle/>
          <a:p>
            <a:pPr indent="0" lvl="0" marL="0" rtl="0" algn="l">
              <a:spcBef>
                <a:spcPts val="0"/>
              </a:spcBef>
              <a:spcAft>
                <a:spcPts val="0"/>
              </a:spcAft>
              <a:buNone/>
            </a:pPr>
            <a:r>
              <a:t/>
            </a:r>
            <a:endParaRPr/>
          </a:p>
        </p:txBody>
      </p:sp>
      <p:sp>
        <p:nvSpPr>
          <p:cNvPr id="178" name="Google Shape;178;p21"/>
          <p:cNvSpPr/>
          <p:nvPr/>
        </p:nvSpPr>
        <p:spPr>
          <a:xfrm>
            <a:off x="3978349" y="1573769"/>
            <a:ext cx="1306200" cy="167100"/>
          </a:xfrm>
          <a:prstGeom prst="rect">
            <a:avLst/>
          </a:prstGeom>
          <a:noFill/>
          <a:ln>
            <a:noFill/>
          </a:ln>
        </p:spPr>
        <p:txBody>
          <a:bodyPr anchorCtr="0" anchor="t" bIns="12725" lIns="12725" spcFirstLastPara="1" rIns="12725" wrap="square" tIns="12725">
            <a:noAutofit/>
          </a:bodyPr>
          <a:lstStyle/>
          <a:p>
            <a:pPr indent="0" lvl="0" marL="0" marR="0" rtl="0" algn="l">
              <a:spcBef>
                <a:spcPts val="0"/>
              </a:spcBef>
              <a:spcAft>
                <a:spcPts val="0"/>
              </a:spcAft>
              <a:buClr>
                <a:srgbClr val="E8A578"/>
              </a:buClr>
              <a:buSzPts val="902"/>
              <a:buFont typeface="IBM Plex Mono"/>
              <a:buNone/>
            </a:pPr>
            <a:r>
              <a:rPr b="0" i="0" lang="en" sz="902" u="none" cap="none" strike="noStrike">
                <a:solidFill>
                  <a:srgbClr val="E8A578"/>
                </a:solidFill>
                <a:latin typeface="IBM Plex Mono"/>
                <a:ea typeface="IBM Plex Mono"/>
                <a:cs typeface="IBM Plex Mono"/>
                <a:sym typeface="IBM Plex Mono"/>
              </a:rPr>
              <a:t>03</a:t>
            </a:r>
            <a:endParaRPr b="0" i="0" sz="902" u="none" cap="none" strike="noStrike">
              <a:solidFill>
                <a:srgbClr val="000000"/>
              </a:solidFill>
              <a:latin typeface="Calibri"/>
              <a:ea typeface="Calibri"/>
              <a:cs typeface="Calibri"/>
              <a:sym typeface="Calibri"/>
            </a:endParaRPr>
          </a:p>
        </p:txBody>
      </p:sp>
      <p:sp>
        <p:nvSpPr>
          <p:cNvPr id="179" name="Google Shape;179;p21"/>
          <p:cNvSpPr/>
          <p:nvPr/>
        </p:nvSpPr>
        <p:spPr>
          <a:xfrm>
            <a:off x="3978349" y="1798073"/>
            <a:ext cx="1225500" cy="458100"/>
          </a:xfrm>
          <a:prstGeom prst="rect">
            <a:avLst/>
          </a:prstGeom>
          <a:noFill/>
          <a:ln>
            <a:noFill/>
          </a:ln>
        </p:spPr>
        <p:txBody>
          <a:bodyPr anchorCtr="0" anchor="t" bIns="12725" lIns="12725" spcFirstLastPara="1" rIns="12725" wrap="square" tIns="12725">
            <a:noAutofit/>
          </a:bodyPr>
          <a:lstStyle/>
          <a:p>
            <a:pPr indent="0" lvl="0" marL="0" marR="0" rtl="0" algn="l">
              <a:spcBef>
                <a:spcPts val="0"/>
              </a:spcBef>
              <a:spcAft>
                <a:spcPts val="0"/>
              </a:spcAft>
              <a:buClr>
                <a:srgbClr val="DCE5E8"/>
              </a:buClr>
              <a:buSzPts val="1203"/>
              <a:buFont typeface="Source Sans 3"/>
              <a:buNone/>
            </a:pPr>
            <a:r>
              <a:rPr b="1" i="0" lang="en" sz="1203" u="none" cap="none" strike="noStrike">
                <a:solidFill>
                  <a:srgbClr val="DCE5E8"/>
                </a:solidFill>
                <a:latin typeface="Source Sans 3"/>
                <a:ea typeface="Source Sans 3"/>
                <a:cs typeface="Source Sans 3"/>
                <a:sym typeface="Source Sans 3"/>
              </a:rPr>
              <a:t>Specialist submodules</a:t>
            </a:r>
            <a:endParaRPr b="0" i="0" sz="1203" u="none" cap="none" strike="noStrike">
              <a:solidFill>
                <a:srgbClr val="000000"/>
              </a:solidFill>
              <a:latin typeface="Calibri"/>
              <a:ea typeface="Calibri"/>
              <a:cs typeface="Calibri"/>
              <a:sym typeface="Calibri"/>
            </a:endParaRPr>
          </a:p>
        </p:txBody>
      </p:sp>
      <p:sp>
        <p:nvSpPr>
          <p:cNvPr id="180" name="Google Shape;180;p21"/>
          <p:cNvSpPr/>
          <p:nvPr/>
        </p:nvSpPr>
        <p:spPr>
          <a:xfrm>
            <a:off x="3978349" y="2313495"/>
            <a:ext cx="1225500" cy="660300"/>
          </a:xfrm>
          <a:prstGeom prst="rect">
            <a:avLst/>
          </a:prstGeom>
          <a:noFill/>
          <a:ln>
            <a:noFill/>
          </a:ln>
        </p:spPr>
        <p:txBody>
          <a:bodyPr anchorCtr="0" anchor="t" bIns="12725" lIns="12725" spcFirstLastPara="1" rIns="12725" wrap="square" tIns="12725">
            <a:noAutofit/>
          </a:bodyPr>
          <a:lstStyle/>
          <a:p>
            <a:pPr indent="0" lvl="0" marL="0" marR="0" rtl="0" algn="l">
              <a:lnSpc>
                <a:spcPct val="98824"/>
              </a:lnSpc>
              <a:spcBef>
                <a:spcPts val="0"/>
              </a:spcBef>
              <a:spcAft>
                <a:spcPts val="0"/>
              </a:spcAft>
              <a:buClr>
                <a:srgbClr val="9FB6BF"/>
              </a:buClr>
              <a:buSzPts val="902"/>
              <a:buFont typeface="Source Sans 3"/>
              <a:buNone/>
            </a:pPr>
            <a:r>
              <a:rPr b="0" i="0" lang="en" sz="902" u="none" cap="none" strike="noStrike">
                <a:solidFill>
                  <a:srgbClr val="9FB6BF"/>
                </a:solidFill>
                <a:latin typeface="Source Sans 3"/>
                <a:ea typeface="Source Sans 3"/>
                <a:cs typeface="Source Sans 3"/>
                <a:sym typeface="Source Sans 3"/>
              </a:rPr>
              <a:t>Each models a single thing deeply. Corrosion. Cure. Viscosity. Sourcing. Cost.</a:t>
            </a:r>
            <a:endParaRPr b="0" i="0" sz="902" u="none" cap="none" strike="noStrike">
              <a:solidFill>
                <a:srgbClr val="000000"/>
              </a:solidFill>
              <a:latin typeface="Calibri"/>
              <a:ea typeface="Calibri"/>
              <a:cs typeface="Calibri"/>
              <a:sym typeface="Calibri"/>
            </a:endParaRPr>
          </a:p>
        </p:txBody>
      </p:sp>
      <p:sp>
        <p:nvSpPr>
          <p:cNvPr id="181" name="Google Shape;181;p21"/>
          <p:cNvSpPr/>
          <p:nvPr/>
        </p:nvSpPr>
        <p:spPr>
          <a:xfrm>
            <a:off x="5289833" y="1378100"/>
            <a:ext cx="248100" cy="1767600"/>
          </a:xfrm>
          <a:prstGeom prst="rect">
            <a:avLst/>
          </a:prstGeom>
          <a:noFill/>
          <a:ln>
            <a:noFill/>
          </a:ln>
        </p:spPr>
        <p:txBody>
          <a:bodyPr anchorCtr="0" anchor="ctr" bIns="12725" lIns="12725" spcFirstLastPara="1" rIns="12725" wrap="square" tIns="12725">
            <a:noAutofit/>
          </a:bodyPr>
          <a:lstStyle/>
          <a:p>
            <a:pPr indent="0" lvl="0" marL="0" marR="0" rtl="0" algn="ctr">
              <a:spcBef>
                <a:spcPts val="0"/>
              </a:spcBef>
              <a:spcAft>
                <a:spcPts val="0"/>
              </a:spcAft>
              <a:buClr>
                <a:srgbClr val="2E6F84"/>
              </a:buClr>
              <a:buSzPts val="1203"/>
              <a:buFont typeface="Source Sans 3"/>
              <a:buNone/>
            </a:pPr>
            <a:r>
              <a:rPr b="0" i="0" lang="en" sz="1203" u="none" cap="none" strike="noStrike">
                <a:solidFill>
                  <a:srgbClr val="2E6F84"/>
                </a:solidFill>
                <a:latin typeface="Source Sans 3"/>
                <a:ea typeface="Source Sans 3"/>
                <a:cs typeface="Source Sans 3"/>
                <a:sym typeface="Source Sans 3"/>
              </a:rPr>
              <a:t>▸</a:t>
            </a:r>
            <a:endParaRPr b="0" i="0" sz="1203" u="none" cap="none" strike="noStrike">
              <a:solidFill>
                <a:srgbClr val="000000"/>
              </a:solidFill>
              <a:latin typeface="Calibri"/>
              <a:ea typeface="Calibri"/>
              <a:cs typeface="Calibri"/>
              <a:sym typeface="Calibri"/>
            </a:endParaRPr>
          </a:p>
        </p:txBody>
      </p:sp>
      <p:sp>
        <p:nvSpPr>
          <p:cNvPr id="182" name="Google Shape;182;p21"/>
          <p:cNvSpPr/>
          <p:nvPr/>
        </p:nvSpPr>
        <p:spPr>
          <a:xfrm>
            <a:off x="5518909" y="1378100"/>
            <a:ext cx="1473600" cy="1748400"/>
          </a:xfrm>
          <a:prstGeom prst="rect">
            <a:avLst/>
          </a:prstGeom>
          <a:solidFill>
            <a:srgbClr val="143845"/>
          </a:solidFill>
          <a:ln>
            <a:noFill/>
          </a:ln>
        </p:spPr>
        <p:txBody>
          <a:bodyPr anchorCtr="0" anchor="ctr" bIns="45800" lIns="45800" spcFirstLastPara="1" rIns="45800" wrap="square" tIns="45800">
            <a:noAutofit/>
          </a:bodyPr>
          <a:lstStyle/>
          <a:p>
            <a:pPr indent="0" lvl="0" marL="0" rtl="0" algn="l">
              <a:spcBef>
                <a:spcPts val="0"/>
              </a:spcBef>
              <a:spcAft>
                <a:spcPts val="0"/>
              </a:spcAft>
              <a:buNone/>
            </a:pPr>
            <a:r>
              <a:t/>
            </a:r>
            <a:endParaRPr/>
          </a:p>
        </p:txBody>
      </p:sp>
      <p:sp>
        <p:nvSpPr>
          <p:cNvPr id="183" name="Google Shape;183;p21"/>
          <p:cNvSpPr/>
          <p:nvPr/>
        </p:nvSpPr>
        <p:spPr>
          <a:xfrm>
            <a:off x="5518909" y="1378100"/>
            <a:ext cx="1473600" cy="24000"/>
          </a:xfrm>
          <a:prstGeom prst="rect">
            <a:avLst/>
          </a:prstGeom>
          <a:solidFill>
            <a:srgbClr val="E8A578"/>
          </a:solidFill>
          <a:ln>
            <a:noFill/>
          </a:ln>
        </p:spPr>
        <p:txBody>
          <a:bodyPr anchorCtr="0" anchor="ctr" bIns="45800" lIns="45800" spcFirstLastPara="1" rIns="45800" wrap="square" tIns="45800">
            <a:noAutofit/>
          </a:bodyPr>
          <a:lstStyle/>
          <a:p>
            <a:pPr indent="0" lvl="0" marL="0" rtl="0" algn="l">
              <a:spcBef>
                <a:spcPts val="0"/>
              </a:spcBef>
              <a:spcAft>
                <a:spcPts val="0"/>
              </a:spcAft>
              <a:buNone/>
            </a:pPr>
            <a:r>
              <a:t/>
            </a:r>
            <a:endParaRPr/>
          </a:p>
        </p:txBody>
      </p:sp>
      <p:sp>
        <p:nvSpPr>
          <p:cNvPr id="184" name="Google Shape;184;p21"/>
          <p:cNvSpPr/>
          <p:nvPr/>
        </p:nvSpPr>
        <p:spPr>
          <a:xfrm>
            <a:off x="5662082" y="1573769"/>
            <a:ext cx="1306200" cy="167100"/>
          </a:xfrm>
          <a:prstGeom prst="rect">
            <a:avLst/>
          </a:prstGeom>
          <a:noFill/>
          <a:ln>
            <a:noFill/>
          </a:ln>
        </p:spPr>
        <p:txBody>
          <a:bodyPr anchorCtr="0" anchor="t" bIns="12725" lIns="12725" spcFirstLastPara="1" rIns="12725" wrap="square" tIns="12725">
            <a:noAutofit/>
          </a:bodyPr>
          <a:lstStyle/>
          <a:p>
            <a:pPr indent="0" lvl="0" marL="0" marR="0" rtl="0" algn="l">
              <a:spcBef>
                <a:spcPts val="0"/>
              </a:spcBef>
              <a:spcAft>
                <a:spcPts val="0"/>
              </a:spcAft>
              <a:buClr>
                <a:srgbClr val="E8A578"/>
              </a:buClr>
              <a:buSzPts val="902"/>
              <a:buFont typeface="IBM Plex Mono"/>
              <a:buNone/>
            </a:pPr>
            <a:r>
              <a:rPr b="0" i="0" lang="en" sz="902" u="none" cap="none" strike="noStrike">
                <a:solidFill>
                  <a:srgbClr val="E8A578"/>
                </a:solidFill>
                <a:latin typeface="IBM Plex Mono"/>
                <a:ea typeface="IBM Plex Mono"/>
                <a:cs typeface="IBM Plex Mono"/>
                <a:sym typeface="IBM Plex Mono"/>
              </a:rPr>
              <a:t>04</a:t>
            </a:r>
            <a:endParaRPr b="0" i="0" sz="902" u="none" cap="none" strike="noStrike">
              <a:solidFill>
                <a:srgbClr val="000000"/>
              </a:solidFill>
              <a:latin typeface="Calibri"/>
              <a:ea typeface="Calibri"/>
              <a:cs typeface="Calibri"/>
              <a:sym typeface="Calibri"/>
            </a:endParaRPr>
          </a:p>
        </p:txBody>
      </p:sp>
      <p:sp>
        <p:nvSpPr>
          <p:cNvPr id="185" name="Google Shape;185;p21"/>
          <p:cNvSpPr/>
          <p:nvPr/>
        </p:nvSpPr>
        <p:spPr>
          <a:xfrm>
            <a:off x="5662082" y="1798073"/>
            <a:ext cx="1306200" cy="238800"/>
          </a:xfrm>
          <a:prstGeom prst="rect">
            <a:avLst/>
          </a:prstGeom>
          <a:noFill/>
          <a:ln>
            <a:noFill/>
          </a:ln>
        </p:spPr>
        <p:txBody>
          <a:bodyPr anchorCtr="0" anchor="t" bIns="12725" lIns="12725" spcFirstLastPara="1" rIns="12725" wrap="square" tIns="12725">
            <a:noAutofit/>
          </a:bodyPr>
          <a:lstStyle/>
          <a:p>
            <a:pPr indent="0" lvl="0" marL="0" marR="0" rtl="0" algn="l">
              <a:spcBef>
                <a:spcPts val="0"/>
              </a:spcBef>
              <a:spcAft>
                <a:spcPts val="0"/>
              </a:spcAft>
              <a:buClr>
                <a:srgbClr val="DCE5E8"/>
              </a:buClr>
              <a:buSzPts val="1203"/>
              <a:buFont typeface="Source Sans 3"/>
              <a:buNone/>
            </a:pPr>
            <a:r>
              <a:rPr b="1" i="0" lang="en" sz="1203" u="none" cap="none" strike="noStrike">
                <a:solidFill>
                  <a:srgbClr val="DCE5E8"/>
                </a:solidFill>
                <a:latin typeface="Source Sans 3"/>
                <a:ea typeface="Source Sans 3"/>
                <a:cs typeface="Source Sans 3"/>
                <a:sym typeface="Source Sans 3"/>
              </a:rPr>
              <a:t>Policy solver</a:t>
            </a:r>
            <a:endParaRPr b="0" i="0" sz="1203" u="none" cap="none" strike="noStrike">
              <a:solidFill>
                <a:srgbClr val="000000"/>
              </a:solidFill>
              <a:latin typeface="Calibri"/>
              <a:ea typeface="Calibri"/>
              <a:cs typeface="Calibri"/>
              <a:sym typeface="Calibri"/>
            </a:endParaRPr>
          </a:p>
        </p:txBody>
      </p:sp>
      <p:sp>
        <p:nvSpPr>
          <p:cNvPr id="186" name="Google Shape;186;p21"/>
          <p:cNvSpPr/>
          <p:nvPr/>
        </p:nvSpPr>
        <p:spPr>
          <a:xfrm>
            <a:off x="5662082" y="2093964"/>
            <a:ext cx="1225500" cy="660300"/>
          </a:xfrm>
          <a:prstGeom prst="rect">
            <a:avLst/>
          </a:prstGeom>
          <a:noFill/>
          <a:ln>
            <a:noFill/>
          </a:ln>
        </p:spPr>
        <p:txBody>
          <a:bodyPr anchorCtr="0" anchor="t" bIns="12725" lIns="12725" spcFirstLastPara="1" rIns="12725" wrap="square" tIns="12725">
            <a:noAutofit/>
          </a:bodyPr>
          <a:lstStyle/>
          <a:p>
            <a:pPr indent="0" lvl="0" marL="0" marR="0" rtl="0" algn="l">
              <a:lnSpc>
                <a:spcPct val="98824"/>
              </a:lnSpc>
              <a:spcBef>
                <a:spcPts val="0"/>
              </a:spcBef>
              <a:spcAft>
                <a:spcPts val="0"/>
              </a:spcAft>
              <a:buClr>
                <a:srgbClr val="9FB6BF"/>
              </a:buClr>
              <a:buSzPts val="902"/>
              <a:buFont typeface="Source Sans 3"/>
              <a:buNone/>
            </a:pPr>
            <a:r>
              <a:rPr b="0" i="0" lang="en" sz="902" u="none" cap="none" strike="noStrike">
                <a:solidFill>
                  <a:srgbClr val="9FB6BF"/>
                </a:solidFill>
                <a:latin typeface="Source Sans 3"/>
                <a:ea typeface="Source Sans 3"/>
                <a:cs typeface="Source Sans 3"/>
                <a:sym typeface="Source Sans 3"/>
              </a:rPr>
              <a:t>Combines their answers. A module with no standing to answer abstains.</a:t>
            </a:r>
            <a:endParaRPr b="0" i="0" sz="902" u="none" cap="none" strike="noStrike">
              <a:solidFill>
                <a:srgbClr val="000000"/>
              </a:solidFill>
              <a:latin typeface="Calibri"/>
              <a:ea typeface="Calibri"/>
              <a:cs typeface="Calibri"/>
              <a:sym typeface="Calibri"/>
            </a:endParaRPr>
          </a:p>
        </p:txBody>
      </p:sp>
      <p:sp>
        <p:nvSpPr>
          <p:cNvPr id="187" name="Google Shape;187;p21"/>
          <p:cNvSpPr/>
          <p:nvPr/>
        </p:nvSpPr>
        <p:spPr>
          <a:xfrm>
            <a:off x="6973528" y="1378100"/>
            <a:ext cx="248100" cy="1767600"/>
          </a:xfrm>
          <a:prstGeom prst="rect">
            <a:avLst/>
          </a:prstGeom>
          <a:noFill/>
          <a:ln>
            <a:noFill/>
          </a:ln>
        </p:spPr>
        <p:txBody>
          <a:bodyPr anchorCtr="0" anchor="ctr" bIns="12725" lIns="12725" spcFirstLastPara="1" rIns="12725" wrap="square" tIns="12725">
            <a:noAutofit/>
          </a:bodyPr>
          <a:lstStyle/>
          <a:p>
            <a:pPr indent="0" lvl="0" marL="0" marR="0" rtl="0" algn="ctr">
              <a:spcBef>
                <a:spcPts val="0"/>
              </a:spcBef>
              <a:spcAft>
                <a:spcPts val="0"/>
              </a:spcAft>
              <a:buClr>
                <a:srgbClr val="C25A1E"/>
              </a:buClr>
              <a:buSzPts val="1203"/>
              <a:buFont typeface="Source Sans 3"/>
              <a:buNone/>
            </a:pPr>
            <a:r>
              <a:rPr b="0" i="0" lang="en" sz="1203" u="none" cap="none" strike="noStrike">
                <a:solidFill>
                  <a:srgbClr val="C25A1E"/>
                </a:solidFill>
                <a:latin typeface="Source Sans 3"/>
                <a:ea typeface="Source Sans 3"/>
                <a:cs typeface="Source Sans 3"/>
                <a:sym typeface="Source Sans 3"/>
              </a:rPr>
              <a:t>▸</a:t>
            </a:r>
            <a:endParaRPr b="0" i="0" sz="1203" u="none" cap="none" strike="noStrike">
              <a:solidFill>
                <a:srgbClr val="000000"/>
              </a:solidFill>
              <a:latin typeface="Calibri"/>
              <a:ea typeface="Calibri"/>
              <a:cs typeface="Calibri"/>
              <a:sym typeface="Calibri"/>
            </a:endParaRPr>
          </a:p>
        </p:txBody>
      </p:sp>
      <p:sp>
        <p:nvSpPr>
          <p:cNvPr id="188" name="Google Shape;188;p21"/>
          <p:cNvSpPr/>
          <p:nvPr/>
        </p:nvSpPr>
        <p:spPr>
          <a:xfrm>
            <a:off x="7202604" y="1378100"/>
            <a:ext cx="1473600" cy="1748400"/>
          </a:xfrm>
          <a:prstGeom prst="rect">
            <a:avLst/>
          </a:prstGeom>
          <a:solidFill>
            <a:srgbClr val="C25A1E"/>
          </a:solidFill>
          <a:ln>
            <a:noFill/>
          </a:ln>
        </p:spPr>
        <p:txBody>
          <a:bodyPr anchorCtr="0" anchor="ctr" bIns="45800" lIns="45800" spcFirstLastPara="1" rIns="45800" wrap="square" tIns="45800">
            <a:noAutofit/>
          </a:bodyPr>
          <a:lstStyle/>
          <a:p>
            <a:pPr indent="0" lvl="0" marL="0" rtl="0" algn="l">
              <a:spcBef>
                <a:spcPts val="0"/>
              </a:spcBef>
              <a:spcAft>
                <a:spcPts val="0"/>
              </a:spcAft>
              <a:buNone/>
            </a:pPr>
            <a:r>
              <a:t/>
            </a:r>
            <a:endParaRPr/>
          </a:p>
        </p:txBody>
      </p:sp>
      <p:sp>
        <p:nvSpPr>
          <p:cNvPr id="189" name="Google Shape;189;p21"/>
          <p:cNvSpPr/>
          <p:nvPr/>
        </p:nvSpPr>
        <p:spPr>
          <a:xfrm>
            <a:off x="7202604" y="1378100"/>
            <a:ext cx="1473600" cy="24000"/>
          </a:xfrm>
          <a:prstGeom prst="rect">
            <a:avLst/>
          </a:prstGeom>
          <a:solidFill>
            <a:srgbClr val="E8A578"/>
          </a:solidFill>
          <a:ln>
            <a:noFill/>
          </a:ln>
        </p:spPr>
        <p:txBody>
          <a:bodyPr anchorCtr="0" anchor="ctr" bIns="45800" lIns="45800" spcFirstLastPara="1" rIns="45800" wrap="square" tIns="45800">
            <a:noAutofit/>
          </a:bodyPr>
          <a:lstStyle/>
          <a:p>
            <a:pPr indent="0" lvl="0" marL="0" rtl="0" algn="l">
              <a:spcBef>
                <a:spcPts val="0"/>
              </a:spcBef>
              <a:spcAft>
                <a:spcPts val="0"/>
              </a:spcAft>
              <a:buNone/>
            </a:pPr>
            <a:r>
              <a:t/>
            </a:r>
            <a:endParaRPr/>
          </a:p>
        </p:txBody>
      </p:sp>
      <p:sp>
        <p:nvSpPr>
          <p:cNvPr id="190" name="Google Shape;190;p21"/>
          <p:cNvSpPr/>
          <p:nvPr/>
        </p:nvSpPr>
        <p:spPr>
          <a:xfrm>
            <a:off x="7345776" y="1573769"/>
            <a:ext cx="1306200" cy="167100"/>
          </a:xfrm>
          <a:prstGeom prst="rect">
            <a:avLst/>
          </a:prstGeom>
          <a:noFill/>
          <a:ln>
            <a:noFill/>
          </a:ln>
        </p:spPr>
        <p:txBody>
          <a:bodyPr anchorCtr="0" anchor="t" bIns="12725" lIns="12725" spcFirstLastPara="1" rIns="12725" wrap="square" tIns="12725">
            <a:noAutofit/>
          </a:bodyPr>
          <a:lstStyle/>
          <a:p>
            <a:pPr indent="0" lvl="0" marL="0" marR="0" rtl="0" algn="l">
              <a:spcBef>
                <a:spcPts val="0"/>
              </a:spcBef>
              <a:spcAft>
                <a:spcPts val="0"/>
              </a:spcAft>
              <a:buClr>
                <a:srgbClr val="F6D9C4"/>
              </a:buClr>
              <a:buSzPts val="902"/>
              <a:buFont typeface="IBM Plex Mono"/>
              <a:buNone/>
            </a:pPr>
            <a:r>
              <a:rPr b="0" i="0" lang="en" sz="902" u="none" cap="none" strike="noStrike">
                <a:solidFill>
                  <a:srgbClr val="F6D9C4"/>
                </a:solidFill>
                <a:latin typeface="IBM Plex Mono"/>
                <a:ea typeface="IBM Plex Mono"/>
                <a:cs typeface="IBM Plex Mono"/>
                <a:sym typeface="IBM Plex Mono"/>
              </a:rPr>
              <a:t>05</a:t>
            </a:r>
            <a:endParaRPr b="0" i="0" sz="902" u="none" cap="none" strike="noStrike">
              <a:solidFill>
                <a:srgbClr val="000000"/>
              </a:solidFill>
              <a:latin typeface="Calibri"/>
              <a:ea typeface="Calibri"/>
              <a:cs typeface="Calibri"/>
              <a:sym typeface="Calibri"/>
            </a:endParaRPr>
          </a:p>
        </p:txBody>
      </p:sp>
      <p:sp>
        <p:nvSpPr>
          <p:cNvPr id="191" name="Google Shape;191;p21"/>
          <p:cNvSpPr/>
          <p:nvPr/>
        </p:nvSpPr>
        <p:spPr>
          <a:xfrm>
            <a:off x="7345776" y="1798073"/>
            <a:ext cx="1306200" cy="238800"/>
          </a:xfrm>
          <a:prstGeom prst="rect">
            <a:avLst/>
          </a:prstGeom>
          <a:noFill/>
          <a:ln>
            <a:noFill/>
          </a:ln>
        </p:spPr>
        <p:txBody>
          <a:bodyPr anchorCtr="0" anchor="t" bIns="12725" lIns="12725" spcFirstLastPara="1" rIns="12725" wrap="square" tIns="12725">
            <a:noAutofit/>
          </a:bodyPr>
          <a:lstStyle/>
          <a:p>
            <a:pPr indent="0" lvl="0" marL="0" marR="0" rtl="0" algn="l">
              <a:spcBef>
                <a:spcPts val="0"/>
              </a:spcBef>
              <a:spcAft>
                <a:spcPts val="0"/>
              </a:spcAft>
              <a:buClr>
                <a:srgbClr val="FFFFFF"/>
              </a:buClr>
              <a:buSzPts val="1203"/>
              <a:buFont typeface="Source Sans 3"/>
              <a:buNone/>
            </a:pPr>
            <a:r>
              <a:rPr b="1" i="0" lang="en" sz="1203" u="none" cap="none" strike="noStrike">
                <a:solidFill>
                  <a:srgbClr val="FFFFFF"/>
                </a:solidFill>
                <a:latin typeface="Source Sans 3"/>
                <a:ea typeface="Source Sans 3"/>
                <a:cs typeface="Source Sans 3"/>
                <a:sym typeface="Source Sans 3"/>
              </a:rPr>
              <a:t>Candidates</a:t>
            </a:r>
            <a:endParaRPr b="0" i="0" sz="1203" u="none" cap="none" strike="noStrike">
              <a:solidFill>
                <a:srgbClr val="000000"/>
              </a:solidFill>
              <a:latin typeface="Calibri"/>
              <a:ea typeface="Calibri"/>
              <a:cs typeface="Calibri"/>
              <a:sym typeface="Calibri"/>
            </a:endParaRPr>
          </a:p>
        </p:txBody>
      </p:sp>
      <p:sp>
        <p:nvSpPr>
          <p:cNvPr id="192" name="Google Shape;192;p21"/>
          <p:cNvSpPr/>
          <p:nvPr/>
        </p:nvSpPr>
        <p:spPr>
          <a:xfrm>
            <a:off x="7345776" y="2093964"/>
            <a:ext cx="1225500" cy="500100"/>
          </a:xfrm>
          <a:prstGeom prst="rect">
            <a:avLst/>
          </a:prstGeom>
          <a:noFill/>
          <a:ln>
            <a:noFill/>
          </a:ln>
        </p:spPr>
        <p:txBody>
          <a:bodyPr anchorCtr="0" anchor="t" bIns="12725" lIns="12725" spcFirstLastPara="1" rIns="12725" wrap="square" tIns="12725">
            <a:noAutofit/>
          </a:bodyPr>
          <a:lstStyle/>
          <a:p>
            <a:pPr indent="0" lvl="0" marL="0" marR="0" rtl="0" algn="l">
              <a:lnSpc>
                <a:spcPct val="98824"/>
              </a:lnSpc>
              <a:spcBef>
                <a:spcPts val="0"/>
              </a:spcBef>
              <a:spcAft>
                <a:spcPts val="0"/>
              </a:spcAft>
              <a:buClr>
                <a:srgbClr val="F6D9C4"/>
              </a:buClr>
              <a:buSzPts val="902"/>
              <a:buFont typeface="Source Sans 3"/>
              <a:buNone/>
            </a:pPr>
            <a:r>
              <a:rPr b="0" i="0" lang="en" sz="902" u="none" cap="none" strike="noStrike">
                <a:solidFill>
                  <a:srgbClr val="F6D9C4"/>
                </a:solidFill>
                <a:latin typeface="Source Sans 3"/>
                <a:ea typeface="Source Sans 3"/>
                <a:cs typeface="Source Sans 3"/>
                <a:sym typeface="Source Sans 3"/>
              </a:rPr>
              <a:t>Each with a process route, a sourcing note and a cost estimate.</a:t>
            </a:r>
            <a:endParaRPr b="0" i="0" sz="902"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p22"/>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THE MODULE LIBRARY</a:t>
            </a:r>
            <a:endParaRPr sz="800">
              <a:solidFill>
                <a:schemeClr val="dk1"/>
              </a:solidFill>
              <a:latin typeface="Calibri"/>
              <a:ea typeface="Calibri"/>
              <a:cs typeface="Calibri"/>
              <a:sym typeface="Calibri"/>
            </a:endParaRPr>
          </a:p>
        </p:txBody>
      </p:sp>
      <p:sp>
        <p:nvSpPr>
          <p:cNvPr id="199" name="Google Shape;199;p22"/>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600"/>
              <a:buFont typeface="Cambria"/>
              <a:buNone/>
            </a:pPr>
            <a:r>
              <a:rPr b="1" lang="en" sz="2600">
                <a:solidFill>
                  <a:srgbClr val="16333D"/>
                </a:solidFill>
                <a:latin typeface="Cambria"/>
                <a:ea typeface="Cambria"/>
                <a:cs typeface="Cambria"/>
                <a:sym typeface="Cambria"/>
              </a:rPr>
              <a:t>A specialist model for every question that matters.</a:t>
            </a:r>
            <a:endParaRPr sz="2600">
              <a:solidFill>
                <a:schemeClr val="dk1"/>
              </a:solidFill>
              <a:latin typeface="Calibri"/>
              <a:ea typeface="Calibri"/>
              <a:cs typeface="Calibri"/>
              <a:sym typeface="Calibri"/>
            </a:endParaRPr>
          </a:p>
        </p:txBody>
      </p:sp>
      <p:sp>
        <p:nvSpPr>
          <p:cNvPr id="200" name="Google Shape;200;p22"/>
          <p:cNvSpPr/>
          <p:nvPr/>
        </p:nvSpPr>
        <p:spPr>
          <a:xfrm>
            <a:off x="445770" y="4512919"/>
            <a:ext cx="20574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100"/>
              <a:buFont typeface="Calibri"/>
              <a:buNone/>
            </a:pPr>
            <a:r>
              <a:rPr b="1" lang="en" sz="1100">
                <a:solidFill>
                  <a:srgbClr val="16333D"/>
                </a:solidFill>
                <a:latin typeface="Calibri"/>
                <a:ea typeface="Calibri"/>
                <a:cs typeface="Calibri"/>
                <a:sym typeface="Calibri"/>
              </a:rPr>
              <a:t>New question, new module.</a:t>
            </a:r>
            <a:endParaRPr sz="1100">
              <a:solidFill>
                <a:schemeClr val="dk1"/>
              </a:solidFill>
              <a:latin typeface="Calibri"/>
              <a:ea typeface="Calibri"/>
              <a:cs typeface="Calibri"/>
              <a:sym typeface="Calibri"/>
            </a:endParaRPr>
          </a:p>
        </p:txBody>
      </p:sp>
      <p:sp>
        <p:nvSpPr>
          <p:cNvPr id="201" name="Google Shape;201;p22"/>
          <p:cNvSpPr/>
          <p:nvPr/>
        </p:nvSpPr>
        <p:spPr>
          <a:xfrm>
            <a:off x="2556710" y="4533212"/>
            <a:ext cx="6035100" cy="42510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The library widens every quarter. Need a salt-spray protocol or a reactor we do not model? We build it, and it stays.</a:t>
            </a:r>
            <a:endParaRPr sz="900">
              <a:solidFill>
                <a:schemeClr val="dk1"/>
              </a:solidFill>
              <a:latin typeface="Calibri"/>
              <a:ea typeface="Calibri"/>
              <a:cs typeface="Calibri"/>
              <a:sym typeface="Calibri"/>
            </a:endParaRPr>
          </a:p>
        </p:txBody>
      </p:sp>
      <p:sp>
        <p:nvSpPr>
          <p:cNvPr id="202" name="Google Shape;202;p22"/>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203" name="Google Shape;203;p22"/>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6</a:t>
            </a:r>
            <a:endParaRPr sz="700">
              <a:solidFill>
                <a:schemeClr val="dk1"/>
              </a:solidFill>
              <a:latin typeface="Calibri"/>
              <a:ea typeface="Calibri"/>
              <a:cs typeface="Calibri"/>
              <a:sym typeface="Calibri"/>
            </a:endParaRPr>
          </a:p>
        </p:txBody>
      </p:sp>
      <p:sp>
        <p:nvSpPr>
          <p:cNvPr id="204" name="Google Shape;204;p22"/>
          <p:cNvSpPr/>
          <p:nvPr/>
        </p:nvSpPr>
        <p:spPr>
          <a:xfrm>
            <a:off x="515725" y="1455912"/>
            <a:ext cx="1873500" cy="13800"/>
          </a:xfrm>
          <a:prstGeom prst="rect">
            <a:avLst/>
          </a:prstGeom>
          <a:solidFill>
            <a:srgbClr val="2E6F84"/>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05" name="Google Shape;205;p22"/>
          <p:cNvSpPr/>
          <p:nvPr/>
        </p:nvSpPr>
        <p:spPr>
          <a:xfrm>
            <a:off x="515725" y="1231090"/>
            <a:ext cx="1929900" cy="178200"/>
          </a:xfrm>
          <a:prstGeom prst="rect">
            <a:avLst/>
          </a:prstGeom>
          <a:noFill/>
          <a:ln>
            <a:noFill/>
          </a:ln>
        </p:spPr>
        <p:txBody>
          <a:bodyPr anchorCtr="0" anchor="t" bIns="12475" lIns="12475" spcFirstLastPara="1" rIns="12475" wrap="square" tIns="12475">
            <a:noAutofit/>
          </a:bodyPr>
          <a:lstStyle/>
          <a:p>
            <a:pPr indent="0" lvl="0" marL="0" marR="0" rtl="0" algn="l">
              <a:spcBef>
                <a:spcPts val="0"/>
              </a:spcBef>
              <a:spcAft>
                <a:spcPts val="0"/>
              </a:spcAft>
              <a:buClr>
                <a:srgbClr val="2E6F84"/>
              </a:buClr>
              <a:buSzPts val="885"/>
              <a:buFont typeface="Source Sans 3"/>
              <a:buNone/>
            </a:pPr>
            <a:r>
              <a:rPr b="1" i="0" lang="en" sz="885" u="none" cap="none" strike="noStrike">
                <a:solidFill>
                  <a:srgbClr val="2E6F84"/>
                </a:solidFill>
                <a:latin typeface="Source Sans 3"/>
                <a:ea typeface="Source Sans 3"/>
                <a:cs typeface="Source Sans 3"/>
                <a:sym typeface="Source Sans 3"/>
              </a:rPr>
              <a:t>MOLECULE</a:t>
            </a:r>
            <a:endParaRPr b="0" i="0" sz="885" u="none" cap="none" strike="noStrike">
              <a:solidFill>
                <a:srgbClr val="000000"/>
              </a:solidFill>
              <a:latin typeface="Calibri"/>
              <a:ea typeface="Calibri"/>
              <a:cs typeface="Calibri"/>
              <a:sym typeface="Calibri"/>
            </a:endParaRPr>
          </a:p>
        </p:txBody>
      </p:sp>
      <p:sp>
        <p:nvSpPr>
          <p:cNvPr id="206" name="Google Shape;206;p22"/>
          <p:cNvSpPr/>
          <p:nvPr/>
        </p:nvSpPr>
        <p:spPr>
          <a:xfrm>
            <a:off x="515725" y="1563640"/>
            <a:ext cx="1873500" cy="290400"/>
          </a:xfrm>
          <a:prstGeom prst="rect">
            <a:avLst/>
          </a:prstGeom>
          <a:solidFill>
            <a:srgbClr val="EDF1F2"/>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07" name="Google Shape;207;p22"/>
          <p:cNvSpPr/>
          <p:nvPr/>
        </p:nvSpPr>
        <p:spPr>
          <a:xfrm>
            <a:off x="609401" y="1638580"/>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Identity and property diagnostics</a:t>
            </a:r>
            <a:endParaRPr b="0" i="0" sz="885" u="none" cap="none" strike="noStrike">
              <a:solidFill>
                <a:srgbClr val="000000"/>
              </a:solidFill>
              <a:latin typeface="Calibri"/>
              <a:ea typeface="Calibri"/>
              <a:cs typeface="Calibri"/>
              <a:sym typeface="Calibri"/>
            </a:endParaRPr>
          </a:p>
        </p:txBody>
      </p:sp>
      <p:sp>
        <p:nvSpPr>
          <p:cNvPr id="208" name="Google Shape;208;p22"/>
          <p:cNvSpPr/>
          <p:nvPr/>
        </p:nvSpPr>
        <p:spPr>
          <a:xfrm>
            <a:off x="515725" y="1910241"/>
            <a:ext cx="1873500" cy="290400"/>
          </a:xfrm>
          <a:prstGeom prst="rect">
            <a:avLst/>
          </a:prstGeom>
          <a:solidFill>
            <a:srgbClr val="EDF1F2"/>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09" name="Google Shape;209;p22"/>
          <p:cNvSpPr/>
          <p:nvPr/>
        </p:nvSpPr>
        <p:spPr>
          <a:xfrm>
            <a:off x="609401" y="1985182"/>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Proposal generation with lineage</a:t>
            </a:r>
            <a:endParaRPr b="0" i="0" sz="885" u="none" cap="none" strike="noStrike">
              <a:solidFill>
                <a:srgbClr val="000000"/>
              </a:solidFill>
              <a:latin typeface="Calibri"/>
              <a:ea typeface="Calibri"/>
              <a:cs typeface="Calibri"/>
              <a:sym typeface="Calibri"/>
            </a:endParaRPr>
          </a:p>
        </p:txBody>
      </p:sp>
      <p:sp>
        <p:nvSpPr>
          <p:cNvPr id="210" name="Google Shape;210;p22"/>
          <p:cNvSpPr/>
          <p:nvPr/>
        </p:nvSpPr>
        <p:spPr>
          <a:xfrm>
            <a:off x="515725" y="2256842"/>
            <a:ext cx="1873500" cy="290400"/>
          </a:xfrm>
          <a:prstGeom prst="rect">
            <a:avLst/>
          </a:prstGeom>
          <a:solidFill>
            <a:srgbClr val="EDF1F2"/>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11" name="Google Shape;211;p22"/>
          <p:cNvSpPr/>
          <p:nvPr/>
        </p:nvSpPr>
        <p:spPr>
          <a:xfrm>
            <a:off x="609401" y="2331783"/>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Role fitting</a:t>
            </a:r>
            <a:endParaRPr b="0" i="0" sz="885" u="none" cap="none" strike="noStrike">
              <a:solidFill>
                <a:srgbClr val="000000"/>
              </a:solidFill>
              <a:latin typeface="Calibri"/>
              <a:ea typeface="Calibri"/>
              <a:cs typeface="Calibri"/>
              <a:sym typeface="Calibri"/>
            </a:endParaRPr>
          </a:p>
        </p:txBody>
      </p:sp>
      <p:sp>
        <p:nvSpPr>
          <p:cNvPr id="212" name="Google Shape;212;p22"/>
          <p:cNvSpPr/>
          <p:nvPr/>
        </p:nvSpPr>
        <p:spPr>
          <a:xfrm>
            <a:off x="515725" y="2603443"/>
            <a:ext cx="1873500" cy="290400"/>
          </a:xfrm>
          <a:prstGeom prst="rect">
            <a:avLst/>
          </a:prstGeom>
          <a:solidFill>
            <a:srgbClr val="EDF1F2"/>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13" name="Google Shape;213;p22"/>
          <p:cNvSpPr/>
          <p:nvPr/>
        </p:nvSpPr>
        <p:spPr>
          <a:xfrm>
            <a:off x="609401" y="2678384"/>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Novelty distance</a:t>
            </a:r>
            <a:endParaRPr b="0" i="0" sz="885" u="none" cap="none" strike="noStrike">
              <a:solidFill>
                <a:srgbClr val="000000"/>
              </a:solidFill>
              <a:latin typeface="Calibri"/>
              <a:ea typeface="Calibri"/>
              <a:cs typeface="Calibri"/>
              <a:sym typeface="Calibri"/>
            </a:endParaRPr>
          </a:p>
        </p:txBody>
      </p:sp>
      <p:sp>
        <p:nvSpPr>
          <p:cNvPr id="214" name="Google Shape;214;p22"/>
          <p:cNvSpPr/>
          <p:nvPr/>
        </p:nvSpPr>
        <p:spPr>
          <a:xfrm>
            <a:off x="515725" y="2950044"/>
            <a:ext cx="1873500" cy="290400"/>
          </a:xfrm>
          <a:prstGeom prst="rect">
            <a:avLst/>
          </a:prstGeom>
          <a:solidFill>
            <a:srgbClr val="EDF1F2"/>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15" name="Google Shape;215;p22"/>
          <p:cNvSpPr/>
          <p:nvPr/>
        </p:nvSpPr>
        <p:spPr>
          <a:xfrm>
            <a:off x="609401" y="3024985"/>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Structural design gates</a:t>
            </a:r>
            <a:endParaRPr b="0" i="0" sz="885" u="none" cap="none" strike="noStrike">
              <a:solidFill>
                <a:srgbClr val="000000"/>
              </a:solidFill>
              <a:latin typeface="Calibri"/>
              <a:ea typeface="Calibri"/>
              <a:cs typeface="Calibri"/>
              <a:sym typeface="Calibri"/>
            </a:endParaRPr>
          </a:p>
        </p:txBody>
      </p:sp>
      <p:sp>
        <p:nvSpPr>
          <p:cNvPr id="216" name="Google Shape;216;p22"/>
          <p:cNvSpPr/>
          <p:nvPr/>
        </p:nvSpPr>
        <p:spPr>
          <a:xfrm>
            <a:off x="2576608" y="1455912"/>
            <a:ext cx="1873500" cy="13800"/>
          </a:xfrm>
          <a:prstGeom prst="rect">
            <a:avLst/>
          </a:prstGeom>
          <a:solidFill>
            <a:srgbClr val="2E6F84"/>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17" name="Google Shape;217;p22"/>
          <p:cNvSpPr/>
          <p:nvPr/>
        </p:nvSpPr>
        <p:spPr>
          <a:xfrm>
            <a:off x="2576608" y="1231090"/>
            <a:ext cx="1929900" cy="178200"/>
          </a:xfrm>
          <a:prstGeom prst="rect">
            <a:avLst/>
          </a:prstGeom>
          <a:noFill/>
          <a:ln>
            <a:noFill/>
          </a:ln>
        </p:spPr>
        <p:txBody>
          <a:bodyPr anchorCtr="0" anchor="t" bIns="12475" lIns="12475" spcFirstLastPara="1" rIns="12475" wrap="square" tIns="12475">
            <a:noAutofit/>
          </a:bodyPr>
          <a:lstStyle/>
          <a:p>
            <a:pPr indent="0" lvl="0" marL="0" marR="0" rtl="0" algn="l">
              <a:spcBef>
                <a:spcPts val="0"/>
              </a:spcBef>
              <a:spcAft>
                <a:spcPts val="0"/>
              </a:spcAft>
              <a:buClr>
                <a:srgbClr val="2E6F84"/>
              </a:buClr>
              <a:buSzPts val="885"/>
              <a:buFont typeface="Source Sans 3"/>
              <a:buNone/>
            </a:pPr>
            <a:r>
              <a:rPr b="1" i="0" lang="en" sz="885" u="none" cap="none" strike="noStrike">
                <a:solidFill>
                  <a:srgbClr val="2E6F84"/>
                </a:solidFill>
                <a:latin typeface="Source Sans 3"/>
                <a:ea typeface="Source Sans 3"/>
                <a:cs typeface="Source Sans 3"/>
                <a:sym typeface="Source Sans 3"/>
              </a:rPr>
              <a:t>FORMULATION</a:t>
            </a:r>
            <a:endParaRPr b="0" i="0" sz="885" u="none" cap="none" strike="noStrike">
              <a:solidFill>
                <a:srgbClr val="000000"/>
              </a:solidFill>
              <a:latin typeface="Calibri"/>
              <a:ea typeface="Calibri"/>
              <a:cs typeface="Calibri"/>
              <a:sym typeface="Calibri"/>
            </a:endParaRPr>
          </a:p>
        </p:txBody>
      </p:sp>
      <p:sp>
        <p:nvSpPr>
          <p:cNvPr id="218" name="Google Shape;218;p22"/>
          <p:cNvSpPr/>
          <p:nvPr/>
        </p:nvSpPr>
        <p:spPr>
          <a:xfrm>
            <a:off x="2576608" y="1563640"/>
            <a:ext cx="1873500" cy="290400"/>
          </a:xfrm>
          <a:prstGeom prst="rect">
            <a:avLst/>
          </a:prstGeom>
          <a:solidFill>
            <a:srgbClr val="EDF1F2"/>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19" name="Google Shape;219;p22"/>
          <p:cNvSpPr/>
          <p:nvPr/>
        </p:nvSpPr>
        <p:spPr>
          <a:xfrm>
            <a:off x="2670284" y="1638580"/>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Mass and equivalent arithmetic</a:t>
            </a:r>
            <a:endParaRPr b="0" i="0" sz="885" u="none" cap="none" strike="noStrike">
              <a:solidFill>
                <a:srgbClr val="000000"/>
              </a:solidFill>
              <a:latin typeface="Calibri"/>
              <a:ea typeface="Calibri"/>
              <a:cs typeface="Calibri"/>
              <a:sym typeface="Calibri"/>
            </a:endParaRPr>
          </a:p>
        </p:txBody>
      </p:sp>
      <p:sp>
        <p:nvSpPr>
          <p:cNvPr id="220" name="Google Shape;220;p22"/>
          <p:cNvSpPr/>
          <p:nvPr/>
        </p:nvSpPr>
        <p:spPr>
          <a:xfrm>
            <a:off x="2576608" y="1910241"/>
            <a:ext cx="1873500" cy="290400"/>
          </a:xfrm>
          <a:prstGeom prst="rect">
            <a:avLst/>
          </a:prstGeom>
          <a:solidFill>
            <a:srgbClr val="EDF1F2"/>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21" name="Google Shape;221;p22"/>
          <p:cNvSpPr/>
          <p:nvPr/>
        </p:nvSpPr>
        <p:spPr>
          <a:xfrm>
            <a:off x="2670284" y="1985182"/>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Formulation universe accounting</a:t>
            </a:r>
            <a:endParaRPr b="0" i="0" sz="885" u="none" cap="none" strike="noStrike">
              <a:solidFill>
                <a:srgbClr val="000000"/>
              </a:solidFill>
              <a:latin typeface="Calibri"/>
              <a:ea typeface="Calibri"/>
              <a:cs typeface="Calibri"/>
              <a:sym typeface="Calibri"/>
            </a:endParaRPr>
          </a:p>
        </p:txBody>
      </p:sp>
      <p:sp>
        <p:nvSpPr>
          <p:cNvPr id="222" name="Google Shape;222;p22"/>
          <p:cNvSpPr/>
          <p:nvPr/>
        </p:nvSpPr>
        <p:spPr>
          <a:xfrm>
            <a:off x="2576608" y="2256842"/>
            <a:ext cx="1873500" cy="290400"/>
          </a:xfrm>
          <a:prstGeom prst="rect">
            <a:avLst/>
          </a:prstGeom>
          <a:solidFill>
            <a:srgbClr val="EDF1F2"/>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23" name="Google Shape;223;p22"/>
          <p:cNvSpPr/>
          <p:nvPr/>
        </p:nvSpPr>
        <p:spPr>
          <a:xfrm>
            <a:off x="2670284" y="2331783"/>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Envelope gates</a:t>
            </a:r>
            <a:endParaRPr b="0" i="0" sz="885" u="none" cap="none" strike="noStrike">
              <a:solidFill>
                <a:srgbClr val="000000"/>
              </a:solidFill>
              <a:latin typeface="Calibri"/>
              <a:ea typeface="Calibri"/>
              <a:cs typeface="Calibri"/>
              <a:sym typeface="Calibri"/>
            </a:endParaRPr>
          </a:p>
        </p:txBody>
      </p:sp>
      <p:sp>
        <p:nvSpPr>
          <p:cNvPr id="224" name="Google Shape;224;p22"/>
          <p:cNvSpPr/>
          <p:nvPr/>
        </p:nvSpPr>
        <p:spPr>
          <a:xfrm>
            <a:off x="2576608" y="2603443"/>
            <a:ext cx="1873500" cy="290400"/>
          </a:xfrm>
          <a:prstGeom prst="rect">
            <a:avLst/>
          </a:prstGeom>
          <a:solidFill>
            <a:srgbClr val="EDF1F2"/>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25" name="Google Shape;225;p22"/>
          <p:cNvSpPr/>
          <p:nvPr/>
        </p:nvSpPr>
        <p:spPr>
          <a:xfrm>
            <a:off x="2670284" y="2678384"/>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Design rules</a:t>
            </a:r>
            <a:endParaRPr b="0" i="0" sz="885" u="none" cap="none" strike="noStrike">
              <a:solidFill>
                <a:srgbClr val="000000"/>
              </a:solidFill>
              <a:latin typeface="Calibri"/>
              <a:ea typeface="Calibri"/>
              <a:cs typeface="Calibri"/>
              <a:sym typeface="Calibri"/>
            </a:endParaRPr>
          </a:p>
        </p:txBody>
      </p:sp>
      <p:sp>
        <p:nvSpPr>
          <p:cNvPr id="226" name="Google Shape;226;p22"/>
          <p:cNvSpPr/>
          <p:nvPr/>
        </p:nvSpPr>
        <p:spPr>
          <a:xfrm>
            <a:off x="2576608" y="2950044"/>
            <a:ext cx="1873500" cy="290400"/>
          </a:xfrm>
          <a:prstGeom prst="rect">
            <a:avLst/>
          </a:prstGeom>
          <a:solidFill>
            <a:srgbClr val="EDF1F2"/>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27" name="Google Shape;227;p22"/>
          <p:cNvSpPr/>
          <p:nvPr/>
        </p:nvSpPr>
        <p:spPr>
          <a:xfrm>
            <a:off x="2670284" y="3024985"/>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Ingredient library</a:t>
            </a:r>
            <a:endParaRPr b="0" i="0" sz="885" u="none" cap="none" strike="noStrike">
              <a:solidFill>
                <a:srgbClr val="000000"/>
              </a:solidFill>
              <a:latin typeface="Calibri"/>
              <a:ea typeface="Calibri"/>
              <a:cs typeface="Calibri"/>
              <a:sym typeface="Calibri"/>
            </a:endParaRPr>
          </a:p>
        </p:txBody>
      </p:sp>
      <p:sp>
        <p:nvSpPr>
          <p:cNvPr id="228" name="Google Shape;228;p22"/>
          <p:cNvSpPr/>
          <p:nvPr/>
        </p:nvSpPr>
        <p:spPr>
          <a:xfrm>
            <a:off x="2576608" y="3296646"/>
            <a:ext cx="1873500" cy="290400"/>
          </a:xfrm>
          <a:prstGeom prst="rect">
            <a:avLst/>
          </a:prstGeom>
          <a:solidFill>
            <a:srgbClr val="EDF1F2"/>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29" name="Google Shape;229;p22"/>
          <p:cNvSpPr/>
          <p:nvPr/>
        </p:nvSpPr>
        <p:spPr>
          <a:xfrm>
            <a:off x="2670284" y="3371586"/>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Solvency and phase stability</a:t>
            </a:r>
            <a:endParaRPr b="0" i="0" sz="885" u="none" cap="none" strike="noStrike">
              <a:solidFill>
                <a:srgbClr val="000000"/>
              </a:solidFill>
              <a:latin typeface="Calibri"/>
              <a:ea typeface="Calibri"/>
              <a:cs typeface="Calibri"/>
              <a:sym typeface="Calibri"/>
            </a:endParaRPr>
          </a:p>
        </p:txBody>
      </p:sp>
      <p:sp>
        <p:nvSpPr>
          <p:cNvPr id="230" name="Google Shape;230;p22"/>
          <p:cNvSpPr/>
          <p:nvPr/>
        </p:nvSpPr>
        <p:spPr>
          <a:xfrm>
            <a:off x="2576608" y="3643247"/>
            <a:ext cx="1873500" cy="290400"/>
          </a:xfrm>
          <a:prstGeom prst="rect">
            <a:avLst/>
          </a:prstGeom>
          <a:solidFill>
            <a:srgbClr val="EDF1F2"/>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31" name="Google Shape;231;p22"/>
          <p:cNvSpPr/>
          <p:nvPr/>
        </p:nvSpPr>
        <p:spPr>
          <a:xfrm>
            <a:off x="2670284" y="3718188"/>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Tolerance robustness</a:t>
            </a:r>
            <a:endParaRPr b="0" i="0" sz="885" u="none" cap="none" strike="noStrike">
              <a:solidFill>
                <a:srgbClr val="000000"/>
              </a:solidFill>
              <a:latin typeface="Calibri"/>
              <a:ea typeface="Calibri"/>
              <a:cs typeface="Calibri"/>
              <a:sym typeface="Calibri"/>
            </a:endParaRPr>
          </a:p>
        </p:txBody>
      </p:sp>
      <p:sp>
        <p:nvSpPr>
          <p:cNvPr id="232" name="Google Shape;232;p22"/>
          <p:cNvSpPr/>
          <p:nvPr/>
        </p:nvSpPr>
        <p:spPr>
          <a:xfrm>
            <a:off x="4637490" y="1455912"/>
            <a:ext cx="1873500" cy="13800"/>
          </a:xfrm>
          <a:prstGeom prst="rect">
            <a:avLst/>
          </a:prstGeom>
          <a:solidFill>
            <a:srgbClr val="C25A1E"/>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33" name="Google Shape;233;p22"/>
          <p:cNvSpPr/>
          <p:nvPr/>
        </p:nvSpPr>
        <p:spPr>
          <a:xfrm>
            <a:off x="4637490" y="1231090"/>
            <a:ext cx="1929900" cy="178200"/>
          </a:xfrm>
          <a:prstGeom prst="rect">
            <a:avLst/>
          </a:prstGeom>
          <a:noFill/>
          <a:ln>
            <a:noFill/>
          </a:ln>
        </p:spPr>
        <p:txBody>
          <a:bodyPr anchorCtr="0" anchor="t" bIns="12475" lIns="12475" spcFirstLastPara="1" rIns="12475" wrap="square" tIns="12475">
            <a:noAutofit/>
          </a:bodyPr>
          <a:lstStyle/>
          <a:p>
            <a:pPr indent="0" lvl="0" marL="0" marR="0" rtl="0" algn="l">
              <a:spcBef>
                <a:spcPts val="0"/>
              </a:spcBef>
              <a:spcAft>
                <a:spcPts val="0"/>
              </a:spcAft>
              <a:buClr>
                <a:srgbClr val="C25A1E"/>
              </a:buClr>
              <a:buSzPts val="885"/>
              <a:buFont typeface="Source Sans 3"/>
              <a:buNone/>
            </a:pPr>
            <a:r>
              <a:rPr b="1" i="0" lang="en" sz="885" u="none" cap="none" strike="noStrike">
                <a:solidFill>
                  <a:srgbClr val="C25A1E"/>
                </a:solidFill>
                <a:latin typeface="Source Sans 3"/>
                <a:ea typeface="Source Sans 3"/>
                <a:cs typeface="Source Sans 3"/>
                <a:sym typeface="Source Sans 3"/>
              </a:rPr>
              <a:t>PERFORMANCE</a:t>
            </a:r>
            <a:endParaRPr b="0" i="0" sz="885" u="none" cap="none" strike="noStrike">
              <a:solidFill>
                <a:srgbClr val="000000"/>
              </a:solidFill>
              <a:latin typeface="Calibri"/>
              <a:ea typeface="Calibri"/>
              <a:cs typeface="Calibri"/>
              <a:sym typeface="Calibri"/>
            </a:endParaRPr>
          </a:p>
        </p:txBody>
      </p:sp>
      <p:sp>
        <p:nvSpPr>
          <p:cNvPr id="234" name="Google Shape;234;p22"/>
          <p:cNvSpPr/>
          <p:nvPr/>
        </p:nvSpPr>
        <p:spPr>
          <a:xfrm>
            <a:off x="4637490" y="1563640"/>
            <a:ext cx="1873500" cy="290400"/>
          </a:xfrm>
          <a:prstGeom prst="rect">
            <a:avLst/>
          </a:prstGeom>
          <a:solidFill>
            <a:srgbClr val="FBEEE5"/>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35" name="Google Shape;235;p22"/>
          <p:cNvSpPr/>
          <p:nvPr/>
        </p:nvSpPr>
        <p:spPr>
          <a:xfrm>
            <a:off x="4731167" y="1638580"/>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Barrier corrosion</a:t>
            </a:r>
            <a:endParaRPr b="0" i="0" sz="885" u="none" cap="none" strike="noStrike">
              <a:solidFill>
                <a:srgbClr val="000000"/>
              </a:solidFill>
              <a:latin typeface="Calibri"/>
              <a:ea typeface="Calibri"/>
              <a:cs typeface="Calibri"/>
              <a:sym typeface="Calibri"/>
            </a:endParaRPr>
          </a:p>
        </p:txBody>
      </p:sp>
      <p:sp>
        <p:nvSpPr>
          <p:cNvPr id="236" name="Google Shape;236;p22"/>
          <p:cNvSpPr/>
          <p:nvPr/>
        </p:nvSpPr>
        <p:spPr>
          <a:xfrm>
            <a:off x="4637490" y="1910241"/>
            <a:ext cx="1873500" cy="290400"/>
          </a:xfrm>
          <a:prstGeom prst="rect">
            <a:avLst/>
          </a:prstGeom>
          <a:solidFill>
            <a:srgbClr val="FBEEE5"/>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37" name="Google Shape;237;p22"/>
          <p:cNvSpPr/>
          <p:nvPr/>
        </p:nvSpPr>
        <p:spPr>
          <a:xfrm>
            <a:off x="4731167" y="1985182"/>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Cure and pot life</a:t>
            </a:r>
            <a:endParaRPr b="0" i="0" sz="885" u="none" cap="none" strike="noStrike">
              <a:solidFill>
                <a:srgbClr val="000000"/>
              </a:solidFill>
              <a:latin typeface="Calibri"/>
              <a:ea typeface="Calibri"/>
              <a:cs typeface="Calibri"/>
              <a:sym typeface="Calibri"/>
            </a:endParaRPr>
          </a:p>
        </p:txBody>
      </p:sp>
      <p:sp>
        <p:nvSpPr>
          <p:cNvPr id="238" name="Google Shape;238;p22"/>
          <p:cNvSpPr/>
          <p:nvPr/>
        </p:nvSpPr>
        <p:spPr>
          <a:xfrm>
            <a:off x="4637490" y="2256842"/>
            <a:ext cx="1873500" cy="290400"/>
          </a:xfrm>
          <a:prstGeom prst="rect">
            <a:avLst/>
          </a:prstGeom>
          <a:solidFill>
            <a:srgbClr val="FBEEE5"/>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39" name="Google Shape;239;p22"/>
          <p:cNvSpPr/>
          <p:nvPr/>
        </p:nvSpPr>
        <p:spPr>
          <a:xfrm>
            <a:off x="4731167" y="2331783"/>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Process quality control twin</a:t>
            </a:r>
            <a:endParaRPr b="0" i="0" sz="885" u="none" cap="none" strike="noStrike">
              <a:solidFill>
                <a:srgbClr val="000000"/>
              </a:solidFill>
              <a:latin typeface="Calibri"/>
              <a:ea typeface="Calibri"/>
              <a:cs typeface="Calibri"/>
              <a:sym typeface="Calibri"/>
            </a:endParaRPr>
          </a:p>
        </p:txBody>
      </p:sp>
      <p:sp>
        <p:nvSpPr>
          <p:cNvPr id="240" name="Google Shape;240;p22"/>
          <p:cNvSpPr/>
          <p:nvPr/>
        </p:nvSpPr>
        <p:spPr>
          <a:xfrm>
            <a:off x="4637490" y="2603443"/>
            <a:ext cx="1873500" cy="290400"/>
          </a:xfrm>
          <a:prstGeom prst="rect">
            <a:avLst/>
          </a:prstGeom>
          <a:solidFill>
            <a:srgbClr val="FBEEE5"/>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41" name="Google Shape;241;p22"/>
          <p:cNvSpPr/>
          <p:nvPr/>
        </p:nvSpPr>
        <p:spPr>
          <a:xfrm>
            <a:off x="4731167" y="2678384"/>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Viscosity and sag</a:t>
            </a:r>
            <a:endParaRPr b="0" i="0" sz="885" u="none" cap="none" strike="noStrike">
              <a:solidFill>
                <a:srgbClr val="000000"/>
              </a:solidFill>
              <a:latin typeface="Calibri"/>
              <a:ea typeface="Calibri"/>
              <a:cs typeface="Calibri"/>
              <a:sym typeface="Calibri"/>
            </a:endParaRPr>
          </a:p>
        </p:txBody>
      </p:sp>
      <p:sp>
        <p:nvSpPr>
          <p:cNvPr id="242" name="Google Shape;242;p22"/>
          <p:cNvSpPr/>
          <p:nvPr/>
        </p:nvSpPr>
        <p:spPr>
          <a:xfrm>
            <a:off x="4637490" y="2950044"/>
            <a:ext cx="1873500" cy="290400"/>
          </a:xfrm>
          <a:prstGeom prst="rect">
            <a:avLst/>
          </a:prstGeom>
          <a:solidFill>
            <a:srgbClr val="FBEEE5"/>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43" name="Google Shape;243;p22"/>
          <p:cNvSpPr/>
          <p:nvPr/>
        </p:nvSpPr>
        <p:spPr>
          <a:xfrm>
            <a:off x="4731167" y="3024985"/>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Corrosion benchmarking</a:t>
            </a:r>
            <a:endParaRPr b="0" i="0" sz="885" u="none" cap="none" strike="noStrike">
              <a:solidFill>
                <a:srgbClr val="000000"/>
              </a:solidFill>
              <a:latin typeface="Calibri"/>
              <a:ea typeface="Calibri"/>
              <a:cs typeface="Calibri"/>
              <a:sym typeface="Calibri"/>
            </a:endParaRPr>
          </a:p>
        </p:txBody>
      </p:sp>
      <p:sp>
        <p:nvSpPr>
          <p:cNvPr id="244" name="Google Shape;244;p22"/>
          <p:cNvSpPr/>
          <p:nvPr/>
        </p:nvSpPr>
        <p:spPr>
          <a:xfrm>
            <a:off x="6698373" y="1455912"/>
            <a:ext cx="1873500" cy="13800"/>
          </a:xfrm>
          <a:prstGeom prst="rect">
            <a:avLst/>
          </a:prstGeom>
          <a:solidFill>
            <a:srgbClr val="143845"/>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45" name="Google Shape;245;p22"/>
          <p:cNvSpPr/>
          <p:nvPr/>
        </p:nvSpPr>
        <p:spPr>
          <a:xfrm>
            <a:off x="6698373" y="1231090"/>
            <a:ext cx="1929900" cy="178200"/>
          </a:xfrm>
          <a:prstGeom prst="rect">
            <a:avLst/>
          </a:prstGeom>
          <a:noFill/>
          <a:ln>
            <a:noFill/>
          </a:ln>
        </p:spPr>
        <p:txBody>
          <a:bodyPr anchorCtr="0" anchor="t" bIns="12475" lIns="12475" spcFirstLastPara="1" rIns="12475" wrap="square" tIns="12475">
            <a:noAutofit/>
          </a:bodyPr>
          <a:lstStyle/>
          <a:p>
            <a:pPr indent="0" lvl="0" marL="0" marR="0" rtl="0" algn="l">
              <a:spcBef>
                <a:spcPts val="0"/>
              </a:spcBef>
              <a:spcAft>
                <a:spcPts val="0"/>
              </a:spcAft>
              <a:buClr>
                <a:srgbClr val="143845"/>
              </a:buClr>
              <a:buSzPts val="885"/>
              <a:buFont typeface="Source Sans 3"/>
              <a:buNone/>
            </a:pPr>
            <a:r>
              <a:rPr b="1" i="0" lang="en" sz="885" u="none" cap="none" strike="noStrike">
                <a:solidFill>
                  <a:srgbClr val="143845"/>
                </a:solidFill>
                <a:latin typeface="Source Sans 3"/>
                <a:ea typeface="Source Sans 3"/>
                <a:cs typeface="Source Sans 3"/>
                <a:sym typeface="Source Sans 3"/>
              </a:rPr>
              <a:t>ASSURANCE</a:t>
            </a:r>
            <a:endParaRPr b="0" i="0" sz="885" u="none" cap="none" strike="noStrike">
              <a:solidFill>
                <a:srgbClr val="000000"/>
              </a:solidFill>
              <a:latin typeface="Calibri"/>
              <a:ea typeface="Calibri"/>
              <a:cs typeface="Calibri"/>
              <a:sym typeface="Calibri"/>
            </a:endParaRPr>
          </a:p>
        </p:txBody>
      </p:sp>
      <p:sp>
        <p:nvSpPr>
          <p:cNvPr id="246" name="Google Shape;246;p22"/>
          <p:cNvSpPr/>
          <p:nvPr/>
        </p:nvSpPr>
        <p:spPr>
          <a:xfrm>
            <a:off x="6698373" y="1563640"/>
            <a:ext cx="1873500" cy="290400"/>
          </a:xfrm>
          <a:prstGeom prst="rect">
            <a:avLst/>
          </a:prstGeom>
          <a:solidFill>
            <a:srgbClr val="DCE5E8"/>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47" name="Google Shape;247;p22"/>
          <p:cNvSpPr/>
          <p:nvPr/>
        </p:nvSpPr>
        <p:spPr>
          <a:xfrm>
            <a:off x="6792049" y="1638580"/>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Candidate contracts</a:t>
            </a:r>
            <a:endParaRPr b="0" i="0" sz="885" u="none" cap="none" strike="noStrike">
              <a:solidFill>
                <a:srgbClr val="000000"/>
              </a:solidFill>
              <a:latin typeface="Calibri"/>
              <a:ea typeface="Calibri"/>
              <a:cs typeface="Calibri"/>
              <a:sym typeface="Calibri"/>
            </a:endParaRPr>
          </a:p>
        </p:txBody>
      </p:sp>
      <p:sp>
        <p:nvSpPr>
          <p:cNvPr id="248" name="Google Shape;248;p22"/>
          <p:cNvSpPr/>
          <p:nvPr/>
        </p:nvSpPr>
        <p:spPr>
          <a:xfrm>
            <a:off x="6698373" y="1910241"/>
            <a:ext cx="1873500" cy="290400"/>
          </a:xfrm>
          <a:prstGeom prst="rect">
            <a:avLst/>
          </a:prstGeom>
          <a:solidFill>
            <a:srgbClr val="DCE5E8"/>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49" name="Google Shape;249;p22"/>
          <p:cNvSpPr/>
          <p:nvPr/>
        </p:nvSpPr>
        <p:spPr>
          <a:xfrm>
            <a:off x="6792049" y="1985182"/>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Evidence intake</a:t>
            </a:r>
            <a:endParaRPr b="0" i="0" sz="885" u="none" cap="none" strike="noStrike">
              <a:solidFill>
                <a:srgbClr val="000000"/>
              </a:solidFill>
              <a:latin typeface="Calibri"/>
              <a:ea typeface="Calibri"/>
              <a:cs typeface="Calibri"/>
              <a:sym typeface="Calibri"/>
            </a:endParaRPr>
          </a:p>
        </p:txBody>
      </p:sp>
      <p:sp>
        <p:nvSpPr>
          <p:cNvPr id="250" name="Google Shape;250;p22"/>
          <p:cNvSpPr/>
          <p:nvPr/>
        </p:nvSpPr>
        <p:spPr>
          <a:xfrm>
            <a:off x="6698373" y="2256842"/>
            <a:ext cx="1873500" cy="290400"/>
          </a:xfrm>
          <a:prstGeom prst="rect">
            <a:avLst/>
          </a:prstGeom>
          <a:solidFill>
            <a:srgbClr val="DCE5E8"/>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51" name="Google Shape;251;p22"/>
          <p:cNvSpPr/>
          <p:nvPr/>
        </p:nvSpPr>
        <p:spPr>
          <a:xfrm>
            <a:off x="6792049" y="2331783"/>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Source and rights ledger</a:t>
            </a:r>
            <a:endParaRPr b="0" i="0" sz="885" u="none" cap="none" strike="noStrike">
              <a:solidFill>
                <a:srgbClr val="000000"/>
              </a:solidFill>
              <a:latin typeface="Calibri"/>
              <a:ea typeface="Calibri"/>
              <a:cs typeface="Calibri"/>
              <a:sym typeface="Calibri"/>
            </a:endParaRPr>
          </a:p>
        </p:txBody>
      </p:sp>
      <p:sp>
        <p:nvSpPr>
          <p:cNvPr id="252" name="Google Shape;252;p22"/>
          <p:cNvSpPr/>
          <p:nvPr/>
        </p:nvSpPr>
        <p:spPr>
          <a:xfrm>
            <a:off x="6698373" y="2603443"/>
            <a:ext cx="1873500" cy="290400"/>
          </a:xfrm>
          <a:prstGeom prst="rect">
            <a:avLst/>
          </a:prstGeom>
          <a:solidFill>
            <a:srgbClr val="DCE5E8"/>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53" name="Google Shape;253;p22"/>
          <p:cNvSpPr/>
          <p:nvPr/>
        </p:nvSpPr>
        <p:spPr>
          <a:xfrm>
            <a:off x="6792049" y="2678384"/>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Run provenance and replay</a:t>
            </a:r>
            <a:endParaRPr b="0" i="0" sz="885" u="none" cap="none" strike="noStrike">
              <a:solidFill>
                <a:srgbClr val="000000"/>
              </a:solidFill>
              <a:latin typeface="Calibri"/>
              <a:ea typeface="Calibri"/>
              <a:cs typeface="Calibri"/>
              <a:sym typeface="Calibri"/>
            </a:endParaRPr>
          </a:p>
        </p:txBody>
      </p:sp>
      <p:sp>
        <p:nvSpPr>
          <p:cNvPr id="254" name="Google Shape;254;p22"/>
          <p:cNvSpPr/>
          <p:nvPr/>
        </p:nvSpPr>
        <p:spPr>
          <a:xfrm>
            <a:off x="6698373" y="2950044"/>
            <a:ext cx="1873500" cy="290400"/>
          </a:xfrm>
          <a:prstGeom prst="rect">
            <a:avLst/>
          </a:prstGeom>
          <a:solidFill>
            <a:srgbClr val="DCE5E8"/>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55" name="Google Shape;255;p22"/>
          <p:cNvSpPr/>
          <p:nvPr/>
        </p:nvSpPr>
        <p:spPr>
          <a:xfrm>
            <a:off x="6792049" y="3024985"/>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Red-team audit</a:t>
            </a:r>
            <a:endParaRPr b="0" i="0" sz="885" u="none" cap="none" strike="noStrike">
              <a:solidFill>
                <a:srgbClr val="000000"/>
              </a:solidFill>
              <a:latin typeface="Calibri"/>
              <a:ea typeface="Calibri"/>
              <a:cs typeface="Calibri"/>
              <a:sym typeface="Calibri"/>
            </a:endParaRPr>
          </a:p>
        </p:txBody>
      </p:sp>
      <p:sp>
        <p:nvSpPr>
          <p:cNvPr id="256" name="Google Shape;256;p22"/>
          <p:cNvSpPr/>
          <p:nvPr/>
        </p:nvSpPr>
        <p:spPr>
          <a:xfrm>
            <a:off x="6698373" y="3296646"/>
            <a:ext cx="1873500" cy="290400"/>
          </a:xfrm>
          <a:prstGeom prst="rect">
            <a:avLst/>
          </a:prstGeom>
          <a:solidFill>
            <a:srgbClr val="DCE5E8"/>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57" name="Google Shape;257;p22"/>
          <p:cNvSpPr/>
          <p:nvPr/>
        </p:nvSpPr>
        <p:spPr>
          <a:xfrm>
            <a:off x="6792049" y="3371586"/>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Freedom-to-operate flagging</a:t>
            </a:r>
            <a:endParaRPr b="0" i="0" sz="885" u="none" cap="none" strike="noStrike">
              <a:solidFill>
                <a:srgbClr val="000000"/>
              </a:solidFill>
              <a:latin typeface="Calibri"/>
              <a:ea typeface="Calibri"/>
              <a:cs typeface="Calibri"/>
              <a:sym typeface="Calibri"/>
            </a:endParaRPr>
          </a:p>
        </p:txBody>
      </p:sp>
      <p:sp>
        <p:nvSpPr>
          <p:cNvPr id="258" name="Google Shape;258;p22"/>
          <p:cNvSpPr/>
          <p:nvPr/>
        </p:nvSpPr>
        <p:spPr>
          <a:xfrm>
            <a:off x="6698373" y="3643247"/>
            <a:ext cx="1873500" cy="430800"/>
          </a:xfrm>
          <a:prstGeom prst="rect">
            <a:avLst/>
          </a:prstGeom>
          <a:solidFill>
            <a:srgbClr val="DCE5E8"/>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59" name="Google Shape;259;p22"/>
          <p:cNvSpPr/>
          <p:nvPr/>
        </p:nvSpPr>
        <p:spPr>
          <a:xfrm>
            <a:off x="6792049" y="3718188"/>
            <a:ext cx="1742400" cy="2997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Sourcing, environment, health and safety</a:t>
            </a:r>
            <a:endParaRPr b="0" i="0" sz="885" u="none" cap="none" strike="noStrike">
              <a:solidFill>
                <a:srgbClr val="000000"/>
              </a:solidFill>
              <a:latin typeface="Calibri"/>
              <a:ea typeface="Calibri"/>
              <a:cs typeface="Calibri"/>
              <a:sym typeface="Calibri"/>
            </a:endParaRPr>
          </a:p>
        </p:txBody>
      </p:sp>
      <p:sp>
        <p:nvSpPr>
          <p:cNvPr id="260" name="Google Shape;260;p22"/>
          <p:cNvSpPr/>
          <p:nvPr/>
        </p:nvSpPr>
        <p:spPr>
          <a:xfrm>
            <a:off x="6698373" y="4130362"/>
            <a:ext cx="1873500" cy="290400"/>
          </a:xfrm>
          <a:prstGeom prst="rect">
            <a:avLst/>
          </a:prstGeom>
          <a:solidFill>
            <a:srgbClr val="DCE5E8"/>
          </a:solidFill>
          <a:ln>
            <a:noFill/>
          </a:ln>
        </p:spPr>
        <p:txBody>
          <a:bodyPr anchorCtr="0" anchor="ctr" bIns="44950" lIns="44950" spcFirstLastPara="1" rIns="44950" wrap="square" tIns="44950">
            <a:noAutofit/>
          </a:bodyPr>
          <a:lstStyle/>
          <a:p>
            <a:pPr indent="0" lvl="0" marL="0" rtl="0" algn="l">
              <a:spcBef>
                <a:spcPts val="0"/>
              </a:spcBef>
              <a:spcAft>
                <a:spcPts val="0"/>
              </a:spcAft>
              <a:buNone/>
            </a:pPr>
            <a:r>
              <a:t/>
            </a:r>
            <a:endParaRPr/>
          </a:p>
        </p:txBody>
      </p:sp>
      <p:sp>
        <p:nvSpPr>
          <p:cNvPr id="261" name="Google Shape;261;p22"/>
          <p:cNvSpPr/>
          <p:nvPr/>
        </p:nvSpPr>
        <p:spPr>
          <a:xfrm>
            <a:off x="6792049" y="4205303"/>
            <a:ext cx="1742400" cy="159300"/>
          </a:xfrm>
          <a:prstGeom prst="rect">
            <a:avLst/>
          </a:prstGeom>
          <a:noFill/>
          <a:ln>
            <a:noFill/>
          </a:ln>
        </p:spPr>
        <p:txBody>
          <a:bodyPr anchorCtr="0" anchor="t" bIns="12475" lIns="12475" spcFirstLastPara="1" rIns="12475" wrap="square" tIns="12475">
            <a:noAutofit/>
          </a:bodyPr>
          <a:lstStyle/>
          <a:p>
            <a:pPr indent="0" lvl="0" marL="0" marR="0" rtl="0" algn="l">
              <a:lnSpc>
                <a:spcPct val="88235"/>
              </a:lnSpc>
              <a:spcBef>
                <a:spcPts val="0"/>
              </a:spcBef>
              <a:spcAft>
                <a:spcPts val="0"/>
              </a:spcAft>
              <a:buClr>
                <a:srgbClr val="0B2430"/>
              </a:buClr>
              <a:buSzPts val="885"/>
              <a:buFont typeface="Source Sans 3"/>
              <a:buNone/>
            </a:pPr>
            <a:r>
              <a:rPr b="0" i="0" lang="en" sz="885" u="none" cap="none" strike="noStrike">
                <a:solidFill>
                  <a:srgbClr val="0B2430"/>
                </a:solidFill>
                <a:latin typeface="Source Sans 3"/>
                <a:ea typeface="Source Sans 3"/>
                <a:cs typeface="Source Sans 3"/>
                <a:sym typeface="Source Sans 3"/>
              </a:rPr>
              <a:t>Report packaging</a:t>
            </a:r>
            <a:endParaRPr b="0" i="0" sz="885"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430"/>
        </a:solidFill>
      </p:bgPr>
    </p:bg>
    <p:spTree>
      <p:nvGrpSpPr>
        <p:cNvPr id="266" name="Shape 266"/>
        <p:cNvGrpSpPr/>
        <p:nvPr/>
      </p:nvGrpSpPr>
      <p:grpSpPr>
        <a:xfrm>
          <a:off x="0" y="0"/>
          <a:ext cx="0" cy="0"/>
          <a:chOff x="0" y="0"/>
          <a:chExt cx="0" cy="0"/>
        </a:xfrm>
      </p:grpSpPr>
      <p:sp>
        <p:nvSpPr>
          <p:cNvPr id="267" name="Google Shape;267;p23"/>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A578"/>
              </a:buClr>
              <a:buSzPts val="800"/>
              <a:buFont typeface="Calibri"/>
              <a:buNone/>
            </a:pPr>
            <a:r>
              <a:rPr b="1" lang="en" sz="800">
                <a:solidFill>
                  <a:srgbClr val="E8A578"/>
                </a:solidFill>
                <a:latin typeface="Calibri"/>
                <a:ea typeface="Calibri"/>
                <a:cs typeface="Calibri"/>
                <a:sym typeface="Calibri"/>
              </a:rPr>
              <a:t>DEPTH</a:t>
            </a:r>
            <a:endParaRPr sz="800">
              <a:solidFill>
                <a:schemeClr val="dk1"/>
              </a:solidFill>
              <a:latin typeface="Calibri"/>
              <a:ea typeface="Calibri"/>
              <a:cs typeface="Calibri"/>
              <a:sym typeface="Calibri"/>
            </a:endParaRPr>
          </a:p>
        </p:txBody>
      </p:sp>
      <p:sp>
        <p:nvSpPr>
          <p:cNvPr id="268" name="Google Shape;268;p23"/>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 sz="2600">
                <a:solidFill>
                  <a:srgbClr val="FFFFFF"/>
                </a:solidFill>
                <a:latin typeface="Cambria"/>
                <a:ea typeface="Cambria"/>
                <a:cs typeface="Cambria"/>
                <a:sym typeface="Cambria"/>
              </a:rPr>
              <a:t>Each module is a “doctorate” on one question.</a:t>
            </a:r>
            <a:endParaRPr sz="2600">
              <a:solidFill>
                <a:schemeClr val="dk1"/>
              </a:solidFill>
              <a:latin typeface="Calibri"/>
              <a:ea typeface="Calibri"/>
              <a:cs typeface="Calibri"/>
              <a:sym typeface="Calibri"/>
            </a:endParaRPr>
          </a:p>
        </p:txBody>
      </p:sp>
      <p:sp>
        <p:nvSpPr>
          <p:cNvPr id="269" name="Google Shape;269;p23"/>
          <p:cNvSpPr/>
          <p:nvPr/>
        </p:nvSpPr>
        <p:spPr>
          <a:xfrm>
            <a:off x="445770" y="1440180"/>
            <a:ext cx="301752" cy="301752"/>
          </a:xfrm>
          <a:prstGeom prst="ellipse">
            <a:avLst/>
          </a:prstGeom>
          <a:solidFill>
            <a:srgbClr val="C25A1E"/>
          </a:solidFill>
          <a:ln cap="flat" cmpd="sng" w="12700">
            <a:solidFill>
              <a:srgbClr val="C25A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0" name="Google Shape;270;p23"/>
          <p:cNvSpPr/>
          <p:nvPr/>
        </p:nvSpPr>
        <p:spPr>
          <a:xfrm>
            <a:off x="445770" y="1440180"/>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1</a:t>
            </a:r>
            <a:endParaRPr sz="1000">
              <a:solidFill>
                <a:schemeClr val="dk1"/>
              </a:solidFill>
              <a:latin typeface="Calibri"/>
              <a:ea typeface="Calibri"/>
              <a:cs typeface="Calibri"/>
              <a:sym typeface="Calibri"/>
            </a:endParaRPr>
          </a:p>
        </p:txBody>
      </p:sp>
      <p:sp>
        <p:nvSpPr>
          <p:cNvPr id="271" name="Google Shape;271;p23"/>
          <p:cNvSpPr/>
          <p:nvPr/>
        </p:nvSpPr>
        <p:spPr>
          <a:xfrm>
            <a:off x="912125" y="1405900"/>
            <a:ext cx="6551700" cy="24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mbria"/>
              <a:buNone/>
            </a:pPr>
            <a:r>
              <a:rPr b="1" lang="en" sz="1400">
                <a:solidFill>
                  <a:srgbClr val="FFFFFF"/>
                </a:solidFill>
                <a:latin typeface="Cambria"/>
                <a:ea typeface="Cambria"/>
                <a:cs typeface="Cambria"/>
                <a:sym typeface="Cambria"/>
              </a:rPr>
              <a:t>You get a specialist, not one model stretched thin</a:t>
            </a:r>
            <a:endParaRPr sz="1400">
              <a:solidFill>
                <a:schemeClr val="dk1"/>
              </a:solidFill>
              <a:latin typeface="Calibri"/>
              <a:ea typeface="Calibri"/>
              <a:cs typeface="Calibri"/>
              <a:sym typeface="Calibri"/>
            </a:endParaRPr>
          </a:p>
        </p:txBody>
      </p:sp>
      <p:sp>
        <p:nvSpPr>
          <p:cNvPr id="272" name="Google Shape;272;p23"/>
          <p:cNvSpPr/>
          <p:nvPr/>
        </p:nvSpPr>
        <p:spPr>
          <a:xfrm>
            <a:off x="912125" y="1680218"/>
            <a:ext cx="6551700" cy="582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9FB6BF"/>
              </a:buClr>
              <a:buSzPts val="1000"/>
              <a:buFont typeface="Calibri"/>
              <a:buNone/>
            </a:pPr>
            <a:r>
              <a:rPr lang="en" sz="1000">
                <a:solidFill>
                  <a:srgbClr val="9FB6BF"/>
                </a:solidFill>
                <a:latin typeface="Calibri"/>
                <a:ea typeface="Calibri"/>
                <a:cs typeface="Calibri"/>
                <a:sym typeface="Calibri"/>
              </a:rPr>
              <a:t>Corrosion is its own research programme. So is cure, and solvency, and sourcing. Each is built from the published work in that field, then pushed past it.</a:t>
            </a:r>
            <a:endParaRPr sz="1000">
              <a:solidFill>
                <a:schemeClr val="dk1"/>
              </a:solidFill>
              <a:latin typeface="Calibri"/>
              <a:ea typeface="Calibri"/>
              <a:cs typeface="Calibri"/>
              <a:sym typeface="Calibri"/>
            </a:endParaRPr>
          </a:p>
        </p:txBody>
      </p:sp>
      <p:sp>
        <p:nvSpPr>
          <p:cNvPr id="273" name="Google Shape;273;p23"/>
          <p:cNvSpPr/>
          <p:nvPr/>
        </p:nvSpPr>
        <p:spPr>
          <a:xfrm>
            <a:off x="445770" y="2414016"/>
            <a:ext cx="301752" cy="301752"/>
          </a:xfrm>
          <a:prstGeom prst="ellipse">
            <a:avLst/>
          </a:prstGeom>
          <a:solidFill>
            <a:srgbClr val="C25A1E"/>
          </a:solidFill>
          <a:ln cap="flat" cmpd="sng" w="12700">
            <a:solidFill>
              <a:srgbClr val="C25A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4" name="Google Shape;274;p23"/>
          <p:cNvSpPr/>
          <p:nvPr/>
        </p:nvSpPr>
        <p:spPr>
          <a:xfrm>
            <a:off x="445770" y="2414016"/>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2</a:t>
            </a:r>
            <a:endParaRPr sz="1000">
              <a:solidFill>
                <a:schemeClr val="dk1"/>
              </a:solidFill>
              <a:latin typeface="Calibri"/>
              <a:ea typeface="Calibri"/>
              <a:cs typeface="Calibri"/>
              <a:sym typeface="Calibri"/>
            </a:endParaRPr>
          </a:p>
        </p:txBody>
      </p:sp>
      <p:sp>
        <p:nvSpPr>
          <p:cNvPr id="275" name="Google Shape;275;p23"/>
          <p:cNvSpPr/>
          <p:nvPr/>
        </p:nvSpPr>
        <p:spPr>
          <a:xfrm>
            <a:off x="912125" y="2379729"/>
            <a:ext cx="6551700" cy="24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mbria"/>
              <a:buNone/>
            </a:pPr>
            <a:r>
              <a:rPr b="1" lang="en" sz="1400">
                <a:solidFill>
                  <a:srgbClr val="FFFFFF"/>
                </a:solidFill>
                <a:latin typeface="Cambria"/>
                <a:ea typeface="Cambria"/>
                <a:cs typeface="Cambria"/>
                <a:sym typeface="Cambria"/>
              </a:rPr>
              <a:t>The bar is the best method anyone has published</a:t>
            </a:r>
            <a:endParaRPr sz="1400">
              <a:solidFill>
                <a:schemeClr val="dk1"/>
              </a:solidFill>
              <a:latin typeface="Calibri"/>
              <a:ea typeface="Calibri"/>
              <a:cs typeface="Calibri"/>
              <a:sym typeface="Calibri"/>
            </a:endParaRPr>
          </a:p>
        </p:txBody>
      </p:sp>
      <p:sp>
        <p:nvSpPr>
          <p:cNvPr id="276" name="Google Shape;276;p23"/>
          <p:cNvSpPr/>
          <p:nvPr/>
        </p:nvSpPr>
        <p:spPr>
          <a:xfrm>
            <a:off x="912125" y="2654046"/>
            <a:ext cx="6551700" cy="582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9FB6BF"/>
              </a:buClr>
              <a:buSzPts val="1000"/>
              <a:buFont typeface="Calibri"/>
              <a:buNone/>
            </a:pPr>
            <a:r>
              <a:rPr lang="en" sz="1000">
                <a:solidFill>
                  <a:srgbClr val="9FB6BF"/>
                </a:solidFill>
                <a:latin typeface="Calibri"/>
                <a:ea typeface="Calibri"/>
                <a:cs typeface="Calibri"/>
                <a:sym typeface="Calibri"/>
              </a:rPr>
              <a:t>Not a null, not an internal control. Where a module is finished it beats the strongest published baseline by 19% to 62%, depending on the property.</a:t>
            </a:r>
            <a:endParaRPr sz="1000">
              <a:solidFill>
                <a:schemeClr val="dk1"/>
              </a:solidFill>
              <a:latin typeface="Calibri"/>
              <a:ea typeface="Calibri"/>
              <a:cs typeface="Calibri"/>
              <a:sym typeface="Calibri"/>
            </a:endParaRPr>
          </a:p>
        </p:txBody>
      </p:sp>
      <p:sp>
        <p:nvSpPr>
          <p:cNvPr id="277" name="Google Shape;277;p23"/>
          <p:cNvSpPr/>
          <p:nvPr/>
        </p:nvSpPr>
        <p:spPr>
          <a:xfrm>
            <a:off x="445770" y="3387852"/>
            <a:ext cx="301752" cy="301752"/>
          </a:xfrm>
          <a:prstGeom prst="ellipse">
            <a:avLst/>
          </a:prstGeom>
          <a:solidFill>
            <a:srgbClr val="C25A1E"/>
          </a:solidFill>
          <a:ln cap="flat" cmpd="sng" w="12700">
            <a:solidFill>
              <a:srgbClr val="C25A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8" name="Google Shape;278;p23"/>
          <p:cNvSpPr/>
          <p:nvPr/>
        </p:nvSpPr>
        <p:spPr>
          <a:xfrm>
            <a:off x="445770" y="3387852"/>
            <a:ext cx="301752"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3</a:t>
            </a:r>
            <a:endParaRPr sz="1000">
              <a:solidFill>
                <a:schemeClr val="dk1"/>
              </a:solidFill>
              <a:latin typeface="Calibri"/>
              <a:ea typeface="Calibri"/>
              <a:cs typeface="Calibri"/>
              <a:sym typeface="Calibri"/>
            </a:endParaRPr>
          </a:p>
        </p:txBody>
      </p:sp>
      <p:sp>
        <p:nvSpPr>
          <p:cNvPr id="279" name="Google Shape;279;p23"/>
          <p:cNvSpPr/>
          <p:nvPr/>
        </p:nvSpPr>
        <p:spPr>
          <a:xfrm>
            <a:off x="912125" y="3353557"/>
            <a:ext cx="6551700" cy="24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mbria"/>
              <a:buNone/>
            </a:pPr>
            <a:r>
              <a:rPr b="1" lang="en" sz="1400">
                <a:solidFill>
                  <a:srgbClr val="FFFFFF"/>
                </a:solidFill>
                <a:latin typeface="Cambria"/>
                <a:ea typeface="Cambria"/>
                <a:cs typeface="Cambria"/>
                <a:sym typeface="Cambria"/>
              </a:rPr>
              <a:t>Fewer trips to the lab</a:t>
            </a:r>
            <a:endParaRPr sz="1400">
              <a:solidFill>
                <a:schemeClr val="dk1"/>
              </a:solidFill>
              <a:latin typeface="Calibri"/>
              <a:ea typeface="Calibri"/>
              <a:cs typeface="Calibri"/>
              <a:sym typeface="Calibri"/>
            </a:endParaRPr>
          </a:p>
        </p:txBody>
      </p:sp>
      <p:sp>
        <p:nvSpPr>
          <p:cNvPr id="280" name="Google Shape;280;p23"/>
          <p:cNvSpPr/>
          <p:nvPr/>
        </p:nvSpPr>
        <p:spPr>
          <a:xfrm>
            <a:off x="912125" y="3627875"/>
            <a:ext cx="6551700" cy="582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9FB6BF"/>
              </a:buClr>
              <a:buSzPts val="1000"/>
              <a:buFont typeface="Calibri"/>
              <a:buNone/>
            </a:pPr>
            <a:r>
              <a:rPr lang="en" sz="1000">
                <a:solidFill>
                  <a:srgbClr val="9FB6BF"/>
                </a:solidFill>
                <a:latin typeface="Calibri"/>
                <a:ea typeface="Calibri"/>
                <a:cs typeface="Calibri"/>
                <a:sym typeface="Calibri"/>
              </a:rPr>
              <a:t>A shortlist that is right more often means fewer rounds between the design bench and the test panel. That loop is where the calendar and the money go.</a:t>
            </a:r>
            <a:endParaRPr sz="1000">
              <a:solidFill>
                <a:schemeClr val="dk1"/>
              </a:solidFill>
              <a:latin typeface="Calibri"/>
              <a:ea typeface="Calibri"/>
              <a:cs typeface="Calibri"/>
              <a:sym typeface="Calibri"/>
            </a:endParaRPr>
          </a:p>
        </p:txBody>
      </p:sp>
      <p:sp>
        <p:nvSpPr>
          <p:cNvPr id="281" name="Google Shape;281;p23"/>
          <p:cNvSpPr/>
          <p:nvPr/>
        </p:nvSpPr>
        <p:spPr>
          <a:xfrm>
            <a:off x="445770" y="4265676"/>
            <a:ext cx="8215884" cy="493776"/>
          </a:xfrm>
          <a:prstGeom prst="roundRect">
            <a:avLst>
              <a:gd fmla="val 8333" name="adj"/>
            </a:avLst>
          </a:prstGeom>
          <a:solidFill>
            <a:srgbClr val="143845"/>
          </a:solidFill>
          <a:ln cap="flat" cmpd="sng" w="12700">
            <a:solidFill>
              <a:srgbClr val="14384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2" name="Google Shape;282;p23"/>
          <p:cNvSpPr/>
          <p:nvPr/>
        </p:nvSpPr>
        <p:spPr>
          <a:xfrm>
            <a:off x="692658" y="4265676"/>
            <a:ext cx="7749540" cy="493776"/>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7FA9B8"/>
              </a:buClr>
              <a:buSzPts val="900"/>
              <a:buFont typeface="Calibri"/>
              <a:buNone/>
            </a:pPr>
            <a:r>
              <a:rPr lang="en" sz="900">
                <a:solidFill>
                  <a:srgbClr val="7FA9B8"/>
                </a:solidFill>
                <a:latin typeface="Calibri"/>
                <a:ea typeface="Calibri"/>
                <a:cs typeface="Calibri"/>
                <a:sym typeface="Calibri"/>
              </a:rPr>
              <a:t>Every module we finish stays finished, gets re-benchmarked when the field moves, and is available to every partner from the day it lands.</a:t>
            </a:r>
            <a:endParaRPr sz="900">
              <a:solidFill>
                <a:schemeClr val="dk1"/>
              </a:solidFill>
              <a:latin typeface="Calibri"/>
              <a:ea typeface="Calibri"/>
              <a:cs typeface="Calibri"/>
              <a:sym typeface="Calibri"/>
            </a:endParaRPr>
          </a:p>
        </p:txBody>
      </p:sp>
      <p:sp>
        <p:nvSpPr>
          <p:cNvPr id="283" name="Google Shape;283;p23"/>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FB6BF"/>
              </a:buClr>
              <a:buSzPts val="700"/>
              <a:buFont typeface="Calibri"/>
              <a:buNone/>
            </a:pPr>
            <a:r>
              <a:rPr lang="en" sz="700">
                <a:solidFill>
                  <a:srgbClr val="9FB6BF"/>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284" name="Google Shape;284;p23"/>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9FB6BF"/>
              </a:buClr>
              <a:buSzPts val="700"/>
              <a:buFont typeface="Calibri"/>
              <a:buNone/>
            </a:pPr>
            <a:r>
              <a:rPr lang="en" sz="700">
                <a:solidFill>
                  <a:srgbClr val="9FB6BF"/>
                </a:solidFill>
                <a:latin typeface="Calibri"/>
                <a:ea typeface="Calibri"/>
                <a:cs typeface="Calibri"/>
                <a:sym typeface="Calibri"/>
              </a:rPr>
              <a:t>7</a:t>
            </a:r>
            <a:endParaRPr sz="7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430"/>
        </a:solidFill>
      </p:bgPr>
    </p:bg>
    <p:spTree>
      <p:nvGrpSpPr>
        <p:cNvPr id="289" name="Shape 289"/>
        <p:cNvGrpSpPr/>
        <p:nvPr/>
      </p:nvGrpSpPr>
      <p:grpSpPr>
        <a:xfrm>
          <a:off x="0" y="0"/>
          <a:ext cx="0" cy="0"/>
          <a:chOff x="0" y="0"/>
          <a:chExt cx="0" cy="0"/>
        </a:xfrm>
      </p:grpSpPr>
      <p:sp>
        <p:nvSpPr>
          <p:cNvPr id="290" name="Google Shape;290;p24"/>
          <p:cNvSpPr/>
          <p:nvPr/>
        </p:nvSpPr>
        <p:spPr>
          <a:xfrm>
            <a:off x="476250" y="714375"/>
            <a:ext cx="9010800" cy="352200"/>
          </a:xfrm>
          <a:prstGeom prst="rect">
            <a:avLst/>
          </a:prstGeom>
          <a:noFill/>
          <a:ln>
            <a:noFill/>
          </a:ln>
        </p:spPr>
        <p:txBody>
          <a:bodyPr anchorCtr="0" anchor="t" bIns="12700" lIns="12700" spcFirstLastPara="1" rIns="12700" wrap="square" tIns="12700">
            <a:noAutofit/>
          </a:bodyPr>
          <a:lstStyle/>
          <a:p>
            <a:pPr indent="0" lvl="0" marL="0" marR="0" rtl="0" algn="l">
              <a:lnSpc>
                <a:spcPct val="77304"/>
              </a:lnSpc>
              <a:spcBef>
                <a:spcPts val="0"/>
              </a:spcBef>
              <a:spcAft>
                <a:spcPts val="0"/>
              </a:spcAft>
              <a:buClr>
                <a:srgbClr val="FFFFFF"/>
              </a:buClr>
              <a:buSzPts val="2500"/>
              <a:buFont typeface="Source Serif 4"/>
              <a:buNone/>
            </a:pPr>
            <a:r>
              <a:rPr b="1" i="0" lang="en" sz="2500" u="none" cap="none" strike="noStrike">
                <a:solidFill>
                  <a:srgbClr val="FFFFFF"/>
                </a:solidFill>
                <a:latin typeface="Cambria"/>
                <a:ea typeface="Cambria"/>
                <a:cs typeface="Cambria"/>
                <a:sym typeface="Cambria"/>
              </a:rPr>
              <a:t>Where we beat the best published method.</a:t>
            </a:r>
            <a:endParaRPr b="1" i="0" sz="2500" u="none" cap="none" strike="noStrike">
              <a:solidFill>
                <a:schemeClr val="dk1"/>
              </a:solidFill>
              <a:latin typeface="Cambria"/>
              <a:ea typeface="Cambria"/>
              <a:cs typeface="Cambria"/>
              <a:sym typeface="Cambria"/>
            </a:endParaRPr>
          </a:p>
        </p:txBody>
      </p:sp>
      <p:sp>
        <p:nvSpPr>
          <p:cNvPr id="291" name="Google Shape;291;p24"/>
          <p:cNvSpPr/>
          <p:nvPr/>
        </p:nvSpPr>
        <p:spPr>
          <a:xfrm>
            <a:off x="476250" y="1257077"/>
            <a:ext cx="5867400" cy="181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FB6BF"/>
              </a:buClr>
              <a:buSzPts val="900"/>
              <a:buFont typeface="Source Sans 3"/>
              <a:buNone/>
            </a:pPr>
            <a:r>
              <a:rPr b="0" i="0" lang="en" sz="900" u="none" cap="none" strike="noStrike">
                <a:solidFill>
                  <a:srgbClr val="9FB6BF"/>
                </a:solidFill>
                <a:latin typeface="Source Sans 3"/>
                <a:ea typeface="Source Sans 3"/>
                <a:cs typeface="Source Sans 3"/>
                <a:sym typeface="Source Sans 3"/>
              </a:rPr>
              <a:t>Cut in prediction error against the strongest published baseline for each property</a:t>
            </a:r>
            <a:endParaRPr b="0" i="0" sz="900" u="none" cap="none" strike="noStrike">
              <a:solidFill>
                <a:schemeClr val="dk1"/>
              </a:solidFill>
              <a:latin typeface="Calibri"/>
              <a:ea typeface="Calibri"/>
              <a:cs typeface="Calibri"/>
              <a:sym typeface="Calibri"/>
            </a:endParaRPr>
          </a:p>
        </p:txBody>
      </p:sp>
      <p:sp>
        <p:nvSpPr>
          <p:cNvPr id="292" name="Google Shape;292;p24"/>
          <p:cNvSpPr/>
          <p:nvPr/>
        </p:nvSpPr>
        <p:spPr>
          <a:xfrm>
            <a:off x="476250" y="1626171"/>
            <a:ext cx="17811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Source Sans 3"/>
              <a:buNone/>
            </a:pPr>
            <a:r>
              <a:rPr b="0" i="0" lang="en" sz="1000" u="none" cap="none" strike="noStrike">
                <a:solidFill>
                  <a:srgbClr val="FFFFFF"/>
                </a:solidFill>
                <a:latin typeface="Source Sans 3"/>
                <a:ea typeface="Source Sans 3"/>
                <a:cs typeface="Source Sans 3"/>
                <a:sym typeface="Source Sans 3"/>
              </a:rPr>
              <a:t>Hansen parameter</a:t>
            </a:r>
            <a:endParaRPr b="0" i="0" sz="1000" u="none" cap="none" strike="noStrike">
              <a:solidFill>
                <a:schemeClr val="dk1"/>
              </a:solidFill>
              <a:latin typeface="Calibri"/>
              <a:ea typeface="Calibri"/>
              <a:cs typeface="Calibri"/>
              <a:sym typeface="Calibri"/>
            </a:endParaRPr>
          </a:p>
        </p:txBody>
      </p:sp>
      <p:sp>
        <p:nvSpPr>
          <p:cNvPr id="293" name="Google Shape;293;p24"/>
          <p:cNvSpPr/>
          <p:nvPr/>
        </p:nvSpPr>
        <p:spPr>
          <a:xfrm>
            <a:off x="2209800" y="1590452"/>
            <a:ext cx="2952900" cy="247800"/>
          </a:xfrm>
          <a:prstGeom prst="rect">
            <a:avLst/>
          </a:prstGeom>
          <a:solidFill>
            <a:srgbClr val="C25A1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4" name="Google Shape;294;p24"/>
          <p:cNvSpPr/>
          <p:nvPr/>
        </p:nvSpPr>
        <p:spPr>
          <a:xfrm>
            <a:off x="5257800" y="1571402"/>
            <a:ext cx="4551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E8A578"/>
              </a:buClr>
              <a:buSzPts val="1700"/>
              <a:buFont typeface="Source Serif 4"/>
              <a:buNone/>
            </a:pPr>
            <a:r>
              <a:rPr b="0" i="0" lang="en" sz="1700" u="none" cap="none" strike="noStrike">
                <a:solidFill>
                  <a:srgbClr val="E8A578"/>
                </a:solidFill>
                <a:latin typeface="Source Serif 4"/>
                <a:ea typeface="Source Serif 4"/>
                <a:cs typeface="Source Serif 4"/>
                <a:sym typeface="Source Serif 4"/>
              </a:rPr>
              <a:t>62%</a:t>
            </a:r>
            <a:endParaRPr b="0" i="0" sz="1700" u="none" cap="none" strike="noStrike">
              <a:solidFill>
                <a:schemeClr val="dk1"/>
              </a:solidFill>
              <a:latin typeface="Calibri"/>
              <a:ea typeface="Calibri"/>
              <a:cs typeface="Calibri"/>
              <a:sym typeface="Calibri"/>
            </a:endParaRPr>
          </a:p>
        </p:txBody>
      </p:sp>
      <p:sp>
        <p:nvSpPr>
          <p:cNvPr id="295" name="Google Shape;295;p24"/>
          <p:cNvSpPr/>
          <p:nvPr/>
        </p:nvSpPr>
        <p:spPr>
          <a:xfrm>
            <a:off x="476250" y="2035746"/>
            <a:ext cx="17811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Source Sans 3"/>
              <a:buNone/>
            </a:pPr>
            <a:r>
              <a:rPr b="0" i="0" lang="en" sz="1000" u="none" cap="none" strike="noStrike">
                <a:solidFill>
                  <a:srgbClr val="FFFFFF"/>
                </a:solidFill>
                <a:latin typeface="Source Sans 3"/>
                <a:ea typeface="Source Sans 3"/>
                <a:cs typeface="Source Sans 3"/>
                <a:sym typeface="Source Sans 3"/>
              </a:rPr>
              <a:t>Density</a:t>
            </a:r>
            <a:endParaRPr b="0" i="0" sz="1000" u="none" cap="none" strike="noStrike">
              <a:solidFill>
                <a:schemeClr val="dk1"/>
              </a:solidFill>
              <a:latin typeface="Calibri"/>
              <a:ea typeface="Calibri"/>
              <a:cs typeface="Calibri"/>
              <a:sym typeface="Calibri"/>
            </a:endParaRPr>
          </a:p>
        </p:txBody>
      </p:sp>
      <p:sp>
        <p:nvSpPr>
          <p:cNvPr id="296" name="Google Shape;296;p24"/>
          <p:cNvSpPr/>
          <p:nvPr/>
        </p:nvSpPr>
        <p:spPr>
          <a:xfrm>
            <a:off x="2209800" y="2000027"/>
            <a:ext cx="2724300" cy="247800"/>
          </a:xfrm>
          <a:prstGeom prst="rect">
            <a:avLst/>
          </a:prstGeom>
          <a:solidFill>
            <a:srgbClr val="C25A1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7" name="Google Shape;297;p24"/>
          <p:cNvSpPr/>
          <p:nvPr/>
        </p:nvSpPr>
        <p:spPr>
          <a:xfrm>
            <a:off x="5029200" y="1980977"/>
            <a:ext cx="4551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E8A578"/>
              </a:buClr>
              <a:buSzPts val="1700"/>
              <a:buFont typeface="Source Serif 4"/>
              <a:buNone/>
            </a:pPr>
            <a:r>
              <a:rPr b="0" i="0" lang="en" sz="1700" u="none" cap="none" strike="noStrike">
                <a:solidFill>
                  <a:srgbClr val="E8A578"/>
                </a:solidFill>
                <a:latin typeface="Source Serif 4"/>
                <a:ea typeface="Source Serif 4"/>
                <a:cs typeface="Source Serif 4"/>
                <a:sym typeface="Source Serif 4"/>
              </a:rPr>
              <a:t>57%</a:t>
            </a:r>
            <a:endParaRPr b="0" i="0" sz="1700" u="none" cap="none" strike="noStrike">
              <a:solidFill>
                <a:schemeClr val="dk1"/>
              </a:solidFill>
              <a:latin typeface="Calibri"/>
              <a:ea typeface="Calibri"/>
              <a:cs typeface="Calibri"/>
              <a:sym typeface="Calibri"/>
            </a:endParaRPr>
          </a:p>
        </p:txBody>
      </p:sp>
      <p:sp>
        <p:nvSpPr>
          <p:cNvPr id="298" name="Google Shape;298;p24"/>
          <p:cNvSpPr/>
          <p:nvPr/>
        </p:nvSpPr>
        <p:spPr>
          <a:xfrm>
            <a:off x="476250" y="2445321"/>
            <a:ext cx="17811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Source Sans 3"/>
              <a:buNone/>
            </a:pPr>
            <a:r>
              <a:rPr b="0" i="0" lang="en" sz="1000" u="none" cap="none" strike="noStrike">
                <a:solidFill>
                  <a:srgbClr val="FFFFFF"/>
                </a:solidFill>
                <a:latin typeface="Source Sans 3"/>
                <a:ea typeface="Source Sans 3"/>
                <a:cs typeface="Source Sans 3"/>
                <a:sym typeface="Source Sans 3"/>
              </a:rPr>
              <a:t>Glass transition</a:t>
            </a:r>
            <a:endParaRPr b="0" i="0" sz="1000" u="none" cap="none" strike="noStrike">
              <a:solidFill>
                <a:schemeClr val="dk1"/>
              </a:solidFill>
              <a:latin typeface="Calibri"/>
              <a:ea typeface="Calibri"/>
              <a:cs typeface="Calibri"/>
              <a:sym typeface="Calibri"/>
            </a:endParaRPr>
          </a:p>
        </p:txBody>
      </p:sp>
      <p:sp>
        <p:nvSpPr>
          <p:cNvPr id="299" name="Google Shape;299;p24"/>
          <p:cNvSpPr/>
          <p:nvPr/>
        </p:nvSpPr>
        <p:spPr>
          <a:xfrm>
            <a:off x="2209800" y="2409602"/>
            <a:ext cx="1295400" cy="247800"/>
          </a:xfrm>
          <a:prstGeom prst="rect">
            <a:avLst/>
          </a:prstGeom>
          <a:solidFill>
            <a:srgbClr val="2E6F8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00" name="Google Shape;300;p24"/>
          <p:cNvSpPr/>
          <p:nvPr/>
        </p:nvSpPr>
        <p:spPr>
          <a:xfrm>
            <a:off x="3600450" y="2390552"/>
            <a:ext cx="4551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FA9B8"/>
              </a:buClr>
              <a:buSzPts val="1700"/>
              <a:buFont typeface="Source Serif 4"/>
              <a:buNone/>
            </a:pPr>
            <a:r>
              <a:rPr b="0" i="0" lang="en" sz="1700" u="none" cap="none" strike="noStrike">
                <a:solidFill>
                  <a:srgbClr val="7FA9B8"/>
                </a:solidFill>
                <a:latin typeface="Source Serif 4"/>
                <a:ea typeface="Source Serif 4"/>
                <a:cs typeface="Source Serif 4"/>
                <a:sym typeface="Source Serif 4"/>
              </a:rPr>
              <a:t>27%</a:t>
            </a:r>
            <a:endParaRPr b="0" i="0" sz="1700" u="none" cap="none" strike="noStrike">
              <a:solidFill>
                <a:schemeClr val="dk1"/>
              </a:solidFill>
              <a:latin typeface="Calibri"/>
              <a:ea typeface="Calibri"/>
              <a:cs typeface="Calibri"/>
              <a:sym typeface="Calibri"/>
            </a:endParaRPr>
          </a:p>
        </p:txBody>
      </p:sp>
      <p:sp>
        <p:nvSpPr>
          <p:cNvPr id="301" name="Google Shape;301;p24"/>
          <p:cNvSpPr/>
          <p:nvPr/>
        </p:nvSpPr>
        <p:spPr>
          <a:xfrm>
            <a:off x="476250" y="2854896"/>
            <a:ext cx="17811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Source Sans 3"/>
              <a:buNone/>
            </a:pPr>
            <a:r>
              <a:rPr b="0" i="0" lang="en" sz="1000" u="none" cap="none" strike="noStrike">
                <a:solidFill>
                  <a:srgbClr val="FFFFFF"/>
                </a:solidFill>
                <a:latin typeface="Source Sans 3"/>
                <a:ea typeface="Source Sans 3"/>
                <a:cs typeface="Source Sans 3"/>
                <a:sym typeface="Source Sans 3"/>
              </a:rPr>
              <a:t>Solubility</a:t>
            </a:r>
            <a:endParaRPr b="0" i="0" sz="1000" u="none" cap="none" strike="noStrike">
              <a:solidFill>
                <a:schemeClr val="dk1"/>
              </a:solidFill>
              <a:latin typeface="Calibri"/>
              <a:ea typeface="Calibri"/>
              <a:cs typeface="Calibri"/>
              <a:sym typeface="Calibri"/>
            </a:endParaRPr>
          </a:p>
        </p:txBody>
      </p:sp>
      <p:sp>
        <p:nvSpPr>
          <p:cNvPr id="302" name="Google Shape;302;p24"/>
          <p:cNvSpPr/>
          <p:nvPr/>
        </p:nvSpPr>
        <p:spPr>
          <a:xfrm>
            <a:off x="2209800" y="2819177"/>
            <a:ext cx="1190700" cy="247800"/>
          </a:xfrm>
          <a:prstGeom prst="rect">
            <a:avLst/>
          </a:prstGeom>
          <a:solidFill>
            <a:srgbClr val="2E6F8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03" name="Google Shape;303;p24"/>
          <p:cNvSpPr/>
          <p:nvPr/>
        </p:nvSpPr>
        <p:spPr>
          <a:xfrm>
            <a:off x="3495675" y="2800127"/>
            <a:ext cx="4551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FA9B8"/>
              </a:buClr>
              <a:buSzPts val="1700"/>
              <a:buFont typeface="Source Serif 4"/>
              <a:buNone/>
            </a:pPr>
            <a:r>
              <a:rPr b="0" i="0" lang="en" sz="1700" u="none" cap="none" strike="noStrike">
                <a:solidFill>
                  <a:srgbClr val="7FA9B8"/>
                </a:solidFill>
                <a:latin typeface="Source Serif 4"/>
                <a:ea typeface="Source Serif 4"/>
                <a:cs typeface="Source Serif 4"/>
                <a:sym typeface="Source Serif 4"/>
              </a:rPr>
              <a:t>25%</a:t>
            </a:r>
            <a:endParaRPr b="0" i="0" sz="1700" u="none" cap="none" strike="noStrike">
              <a:solidFill>
                <a:schemeClr val="dk1"/>
              </a:solidFill>
              <a:latin typeface="Calibri"/>
              <a:ea typeface="Calibri"/>
              <a:cs typeface="Calibri"/>
              <a:sym typeface="Calibri"/>
            </a:endParaRPr>
          </a:p>
        </p:txBody>
      </p:sp>
      <p:sp>
        <p:nvSpPr>
          <p:cNvPr id="304" name="Google Shape;304;p24"/>
          <p:cNvSpPr/>
          <p:nvPr/>
        </p:nvSpPr>
        <p:spPr>
          <a:xfrm>
            <a:off x="476250" y="3264471"/>
            <a:ext cx="17811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Source Sans 3"/>
              <a:buNone/>
            </a:pPr>
            <a:r>
              <a:rPr b="0" i="0" lang="en" sz="1000" u="none" cap="none" strike="noStrike">
                <a:solidFill>
                  <a:srgbClr val="FFFFFF"/>
                </a:solidFill>
                <a:latin typeface="Source Sans 3"/>
                <a:ea typeface="Source Sans 3"/>
                <a:cs typeface="Source Sans 3"/>
                <a:sym typeface="Source Sans 3"/>
              </a:rPr>
              <a:t>Refractive index</a:t>
            </a:r>
            <a:endParaRPr b="0" i="0" sz="1000" u="none" cap="none" strike="noStrike">
              <a:solidFill>
                <a:schemeClr val="dk1"/>
              </a:solidFill>
              <a:latin typeface="Calibri"/>
              <a:ea typeface="Calibri"/>
              <a:cs typeface="Calibri"/>
              <a:sym typeface="Calibri"/>
            </a:endParaRPr>
          </a:p>
        </p:txBody>
      </p:sp>
      <p:sp>
        <p:nvSpPr>
          <p:cNvPr id="305" name="Google Shape;305;p24"/>
          <p:cNvSpPr/>
          <p:nvPr/>
        </p:nvSpPr>
        <p:spPr>
          <a:xfrm>
            <a:off x="2209800" y="3228752"/>
            <a:ext cx="919200" cy="247800"/>
          </a:xfrm>
          <a:prstGeom prst="rect">
            <a:avLst/>
          </a:prstGeom>
          <a:solidFill>
            <a:srgbClr val="2E6F8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06" name="Google Shape;306;p24"/>
          <p:cNvSpPr/>
          <p:nvPr/>
        </p:nvSpPr>
        <p:spPr>
          <a:xfrm>
            <a:off x="3224213" y="3209702"/>
            <a:ext cx="455100" cy="304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FA9B8"/>
              </a:buClr>
              <a:buSzPts val="1700"/>
              <a:buFont typeface="Source Serif 4"/>
              <a:buNone/>
            </a:pPr>
            <a:r>
              <a:rPr b="0" i="0" lang="en" sz="1700" u="none" cap="none" strike="noStrike">
                <a:solidFill>
                  <a:srgbClr val="7FA9B8"/>
                </a:solidFill>
                <a:latin typeface="Source Serif 4"/>
                <a:ea typeface="Source Serif 4"/>
                <a:cs typeface="Source Serif 4"/>
                <a:sym typeface="Source Serif 4"/>
              </a:rPr>
              <a:t>19%</a:t>
            </a:r>
            <a:endParaRPr b="0" i="0" sz="1700" u="none" cap="none" strike="noStrike">
              <a:solidFill>
                <a:schemeClr val="dk1"/>
              </a:solidFill>
              <a:latin typeface="Calibri"/>
              <a:ea typeface="Calibri"/>
              <a:cs typeface="Calibri"/>
              <a:sym typeface="Calibri"/>
            </a:endParaRPr>
          </a:p>
        </p:txBody>
      </p:sp>
      <p:sp>
        <p:nvSpPr>
          <p:cNvPr id="307" name="Google Shape;307;p24"/>
          <p:cNvSpPr/>
          <p:nvPr/>
        </p:nvSpPr>
        <p:spPr>
          <a:xfrm>
            <a:off x="6191250" y="1257077"/>
            <a:ext cx="2476500" cy="2388900"/>
          </a:xfrm>
          <a:prstGeom prst="rect">
            <a:avLst/>
          </a:prstGeom>
          <a:solidFill>
            <a:srgbClr val="14384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08" name="Google Shape;308;p24"/>
          <p:cNvSpPr/>
          <p:nvPr/>
        </p:nvSpPr>
        <p:spPr>
          <a:xfrm>
            <a:off x="6362700" y="1447577"/>
            <a:ext cx="2346900" cy="181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E8A578"/>
              </a:buClr>
              <a:buSzPts val="900"/>
              <a:buFont typeface="Source Sans 3"/>
              <a:buNone/>
            </a:pPr>
            <a:r>
              <a:rPr b="1" i="0" lang="en" sz="900" u="none" cap="none" strike="noStrike">
                <a:solidFill>
                  <a:srgbClr val="E8A578"/>
                </a:solidFill>
                <a:latin typeface="Source Sans 3"/>
                <a:ea typeface="Source Sans 3"/>
                <a:cs typeface="Source Sans 3"/>
                <a:sym typeface="Source Sans 3"/>
              </a:rPr>
              <a:t>WHAT THE BASELINES ARE</a:t>
            </a:r>
            <a:endParaRPr b="0" i="0" sz="900" u="none" cap="none" strike="noStrike">
              <a:solidFill>
                <a:schemeClr val="dk1"/>
              </a:solidFill>
              <a:latin typeface="Calibri"/>
              <a:ea typeface="Calibri"/>
              <a:cs typeface="Calibri"/>
              <a:sym typeface="Calibri"/>
            </a:endParaRPr>
          </a:p>
        </p:txBody>
      </p:sp>
      <p:sp>
        <p:nvSpPr>
          <p:cNvPr id="309" name="Google Shape;309;p24"/>
          <p:cNvSpPr/>
          <p:nvPr/>
        </p:nvSpPr>
        <p:spPr>
          <a:xfrm>
            <a:off x="6362700" y="1723802"/>
            <a:ext cx="2197800" cy="327600"/>
          </a:xfrm>
          <a:prstGeom prst="rect">
            <a:avLst/>
          </a:prstGeom>
          <a:noFill/>
          <a:ln>
            <a:noFill/>
          </a:ln>
        </p:spPr>
        <p:txBody>
          <a:bodyPr anchorCtr="0" anchor="t" bIns="12700" lIns="12700" spcFirstLastPara="1" rIns="12700" wrap="square" tIns="12700">
            <a:noAutofit/>
          </a:bodyPr>
          <a:lstStyle/>
          <a:p>
            <a:pPr indent="0" lvl="0" marL="0" marR="0" rtl="0" algn="l">
              <a:lnSpc>
                <a:spcPct val="95294"/>
              </a:lnSpc>
              <a:spcBef>
                <a:spcPts val="0"/>
              </a:spcBef>
              <a:spcAft>
                <a:spcPts val="0"/>
              </a:spcAft>
              <a:buClr>
                <a:srgbClr val="DCE5E8"/>
              </a:buClr>
              <a:buSzPts val="900"/>
              <a:buFont typeface="Source Sans 3"/>
              <a:buNone/>
            </a:pPr>
            <a:r>
              <a:rPr b="0" i="0" lang="en" sz="900" u="none" cap="none" strike="noStrike">
                <a:solidFill>
                  <a:srgbClr val="DCE5E8"/>
                </a:solidFill>
                <a:latin typeface="Source Sans 3"/>
                <a:ea typeface="Source Sans 3"/>
                <a:cs typeface="Source Sans 3"/>
                <a:sym typeface="Source Sans 3"/>
              </a:rPr>
              <a:t>Hansen: beats Hildebrand–Scott (1950), zero fitted parameters</a:t>
            </a:r>
            <a:endParaRPr b="0" i="0" sz="900" u="none" cap="none" strike="noStrike">
              <a:solidFill>
                <a:schemeClr val="dk1"/>
              </a:solidFill>
              <a:latin typeface="Calibri"/>
              <a:ea typeface="Calibri"/>
              <a:cs typeface="Calibri"/>
              <a:sym typeface="Calibri"/>
            </a:endParaRPr>
          </a:p>
        </p:txBody>
      </p:sp>
      <p:sp>
        <p:nvSpPr>
          <p:cNvPr id="310" name="Google Shape;310;p24"/>
          <p:cNvSpPr/>
          <p:nvPr/>
        </p:nvSpPr>
        <p:spPr>
          <a:xfrm>
            <a:off x="6362700" y="2118122"/>
            <a:ext cx="2346900" cy="173400"/>
          </a:xfrm>
          <a:prstGeom prst="rect">
            <a:avLst/>
          </a:prstGeom>
          <a:noFill/>
          <a:ln>
            <a:noFill/>
          </a:ln>
        </p:spPr>
        <p:txBody>
          <a:bodyPr anchorCtr="0" anchor="t" bIns="12700" lIns="12700" spcFirstLastPara="1" rIns="12700" wrap="square" tIns="12700">
            <a:noAutofit/>
          </a:bodyPr>
          <a:lstStyle/>
          <a:p>
            <a:pPr indent="0" lvl="0" marL="0" marR="0" rtl="0" algn="l">
              <a:lnSpc>
                <a:spcPct val="95294"/>
              </a:lnSpc>
              <a:spcBef>
                <a:spcPts val="0"/>
              </a:spcBef>
              <a:spcAft>
                <a:spcPts val="0"/>
              </a:spcAft>
              <a:buClr>
                <a:srgbClr val="DCE5E8"/>
              </a:buClr>
              <a:buSzPts val="900"/>
              <a:buFont typeface="Source Sans 3"/>
              <a:buNone/>
            </a:pPr>
            <a:r>
              <a:rPr b="0" i="0" lang="en" sz="900" u="none" cap="none" strike="noStrike">
                <a:solidFill>
                  <a:srgbClr val="DCE5E8"/>
                </a:solidFill>
                <a:latin typeface="Source Sans 3"/>
                <a:ea typeface="Source Sans 3"/>
                <a:cs typeface="Source Sans 3"/>
                <a:sym typeface="Source Sans 3"/>
              </a:rPr>
              <a:t>Density: beats Van Krevelen, n = 1,077</a:t>
            </a:r>
            <a:endParaRPr b="0" i="0" sz="900" u="none" cap="none" strike="noStrike">
              <a:solidFill>
                <a:schemeClr val="dk1"/>
              </a:solidFill>
              <a:latin typeface="Calibri"/>
              <a:ea typeface="Calibri"/>
              <a:cs typeface="Calibri"/>
              <a:sym typeface="Calibri"/>
            </a:endParaRPr>
          </a:p>
        </p:txBody>
      </p:sp>
      <p:sp>
        <p:nvSpPr>
          <p:cNvPr id="311" name="Google Shape;311;p24"/>
          <p:cNvSpPr/>
          <p:nvPr/>
        </p:nvSpPr>
        <p:spPr>
          <a:xfrm>
            <a:off x="6362700" y="2358145"/>
            <a:ext cx="2197800" cy="327600"/>
          </a:xfrm>
          <a:prstGeom prst="rect">
            <a:avLst/>
          </a:prstGeom>
          <a:noFill/>
          <a:ln>
            <a:noFill/>
          </a:ln>
        </p:spPr>
        <p:txBody>
          <a:bodyPr anchorCtr="0" anchor="t" bIns="12700" lIns="12700" spcFirstLastPara="1" rIns="12700" wrap="square" tIns="12700">
            <a:noAutofit/>
          </a:bodyPr>
          <a:lstStyle/>
          <a:p>
            <a:pPr indent="0" lvl="0" marL="0" marR="0" rtl="0" algn="l">
              <a:lnSpc>
                <a:spcPct val="95294"/>
              </a:lnSpc>
              <a:spcBef>
                <a:spcPts val="0"/>
              </a:spcBef>
              <a:spcAft>
                <a:spcPts val="0"/>
              </a:spcAft>
              <a:buClr>
                <a:srgbClr val="DCE5E8"/>
              </a:buClr>
              <a:buSzPts val="900"/>
              <a:buFont typeface="Source Sans 3"/>
              <a:buNone/>
            </a:pPr>
            <a:r>
              <a:rPr b="0" i="0" lang="en" sz="900" u="none" cap="none" strike="noStrike">
                <a:solidFill>
                  <a:srgbClr val="DCE5E8"/>
                </a:solidFill>
                <a:latin typeface="Source Sans 3"/>
                <a:ea typeface="Source Sans 3"/>
                <a:cs typeface="Source Sans 3"/>
                <a:sym typeface="Source Sans 3"/>
              </a:rPr>
              <a:t>Glass transition: beats Van Krevelen ridge, leave-one-scaffold-out</a:t>
            </a:r>
            <a:endParaRPr b="0" i="0" sz="900" u="none" cap="none" strike="noStrike">
              <a:solidFill>
                <a:schemeClr val="dk1"/>
              </a:solidFill>
              <a:latin typeface="Calibri"/>
              <a:ea typeface="Calibri"/>
              <a:cs typeface="Calibri"/>
              <a:sym typeface="Calibri"/>
            </a:endParaRPr>
          </a:p>
        </p:txBody>
      </p:sp>
      <p:sp>
        <p:nvSpPr>
          <p:cNvPr id="312" name="Google Shape;312;p24"/>
          <p:cNvSpPr/>
          <p:nvPr/>
        </p:nvSpPr>
        <p:spPr>
          <a:xfrm>
            <a:off x="6362700" y="2752465"/>
            <a:ext cx="2197800" cy="327600"/>
          </a:xfrm>
          <a:prstGeom prst="rect">
            <a:avLst/>
          </a:prstGeom>
          <a:noFill/>
          <a:ln>
            <a:noFill/>
          </a:ln>
        </p:spPr>
        <p:txBody>
          <a:bodyPr anchorCtr="0" anchor="t" bIns="12700" lIns="12700" spcFirstLastPara="1" rIns="12700" wrap="square" tIns="12700">
            <a:noAutofit/>
          </a:bodyPr>
          <a:lstStyle/>
          <a:p>
            <a:pPr indent="0" lvl="0" marL="0" marR="0" rtl="0" algn="l">
              <a:lnSpc>
                <a:spcPct val="95294"/>
              </a:lnSpc>
              <a:spcBef>
                <a:spcPts val="0"/>
              </a:spcBef>
              <a:spcAft>
                <a:spcPts val="0"/>
              </a:spcAft>
              <a:buClr>
                <a:srgbClr val="DCE5E8"/>
              </a:buClr>
              <a:buSzPts val="900"/>
              <a:buFont typeface="Source Sans 3"/>
              <a:buNone/>
            </a:pPr>
            <a:r>
              <a:rPr b="0" i="0" lang="en" sz="900" u="none" cap="none" strike="noStrike">
                <a:solidFill>
                  <a:srgbClr val="DCE5E8"/>
                </a:solidFill>
                <a:latin typeface="Source Sans 3"/>
                <a:ea typeface="Source Sans 3"/>
                <a:cs typeface="Source Sans 3"/>
                <a:sym typeface="Source Sans 3"/>
              </a:rPr>
              <a:t>Solubility: beats the best naive solvent-mean, n = 94,532</a:t>
            </a:r>
            <a:endParaRPr b="0" i="0" sz="900" u="none" cap="none" strike="noStrike">
              <a:solidFill>
                <a:schemeClr val="dk1"/>
              </a:solidFill>
              <a:latin typeface="Calibri"/>
              <a:ea typeface="Calibri"/>
              <a:cs typeface="Calibri"/>
              <a:sym typeface="Calibri"/>
            </a:endParaRPr>
          </a:p>
        </p:txBody>
      </p:sp>
      <p:sp>
        <p:nvSpPr>
          <p:cNvPr id="313" name="Google Shape;313;p24"/>
          <p:cNvSpPr/>
          <p:nvPr/>
        </p:nvSpPr>
        <p:spPr>
          <a:xfrm>
            <a:off x="6362700" y="3146785"/>
            <a:ext cx="2197800" cy="327600"/>
          </a:xfrm>
          <a:prstGeom prst="rect">
            <a:avLst/>
          </a:prstGeom>
          <a:noFill/>
          <a:ln>
            <a:noFill/>
          </a:ln>
        </p:spPr>
        <p:txBody>
          <a:bodyPr anchorCtr="0" anchor="t" bIns="12700" lIns="12700" spcFirstLastPara="1" rIns="12700" wrap="square" tIns="12700">
            <a:noAutofit/>
          </a:bodyPr>
          <a:lstStyle/>
          <a:p>
            <a:pPr indent="0" lvl="0" marL="0" marR="0" rtl="0" algn="l">
              <a:lnSpc>
                <a:spcPct val="95294"/>
              </a:lnSpc>
              <a:spcBef>
                <a:spcPts val="0"/>
              </a:spcBef>
              <a:spcAft>
                <a:spcPts val="0"/>
              </a:spcAft>
              <a:buClr>
                <a:srgbClr val="DCE5E8"/>
              </a:buClr>
              <a:buSzPts val="900"/>
              <a:buFont typeface="Source Sans 3"/>
              <a:buNone/>
            </a:pPr>
            <a:r>
              <a:rPr b="0" i="0" lang="en" sz="900" u="none" cap="none" strike="noStrike">
                <a:solidFill>
                  <a:srgbClr val="DCE5E8"/>
                </a:solidFill>
                <a:latin typeface="Source Sans 3"/>
                <a:ea typeface="Source Sans 3"/>
                <a:cs typeface="Source Sans 3"/>
                <a:sym typeface="Source Sans 3"/>
              </a:rPr>
              <a:t>Refractive index: beats Lorentz–Lorenz on real measured density</a:t>
            </a:r>
            <a:endParaRPr b="0" i="0" sz="900" u="none" cap="none" strike="noStrike">
              <a:solidFill>
                <a:schemeClr val="dk1"/>
              </a:solidFill>
              <a:latin typeface="Calibri"/>
              <a:ea typeface="Calibri"/>
              <a:cs typeface="Calibri"/>
              <a:sym typeface="Calibri"/>
            </a:endParaRPr>
          </a:p>
        </p:txBody>
      </p:sp>
      <p:sp>
        <p:nvSpPr>
          <p:cNvPr id="314" name="Google Shape;314;p24"/>
          <p:cNvSpPr/>
          <p:nvPr/>
        </p:nvSpPr>
        <p:spPr>
          <a:xfrm>
            <a:off x="476250" y="4619625"/>
            <a:ext cx="6748800" cy="181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FB6BF"/>
              </a:buClr>
              <a:buSzPts val="900"/>
              <a:buFont typeface="Source Sans 3"/>
              <a:buNone/>
            </a:pPr>
            <a:r>
              <a:rPr b="0" i="0" lang="en" sz="900" u="none" cap="none" strike="noStrike">
                <a:solidFill>
                  <a:srgbClr val="9FB6BF"/>
                </a:solidFill>
                <a:latin typeface="Source Sans 3"/>
                <a:ea typeface="Source Sans 3"/>
                <a:cs typeface="Source Sans 3"/>
                <a:sym typeface="Source Sans 3"/>
              </a:rPr>
              <a:t>Every value comes from a signed receipt with its test method recorded. Two use a plain random split. We flag which.</a:t>
            </a:r>
            <a:endParaRPr b="0" i="0" sz="900" u="none" cap="none" strike="noStrike">
              <a:solidFill>
                <a:schemeClr val="dk1"/>
              </a:solidFill>
              <a:latin typeface="Calibri"/>
              <a:ea typeface="Calibri"/>
              <a:cs typeface="Calibri"/>
              <a:sym typeface="Calibri"/>
            </a:endParaRPr>
          </a:p>
        </p:txBody>
      </p:sp>
      <p:sp>
        <p:nvSpPr>
          <p:cNvPr id="315" name="Google Shape;315;p24"/>
          <p:cNvSpPr/>
          <p:nvPr/>
        </p:nvSpPr>
        <p:spPr>
          <a:xfrm>
            <a:off x="8542697" y="4619625"/>
            <a:ext cx="163200" cy="181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0"/>
              </a:buClr>
              <a:buSzPts val="900"/>
              <a:buFont typeface="Source Sans 3"/>
              <a:buNone/>
            </a:pPr>
            <a:r>
              <a:rPr b="0" i="0" lang="en" sz="900" u="none" cap="none" strike="noStrike">
                <a:solidFill>
                  <a:srgbClr val="5E7480"/>
                </a:solidFill>
                <a:latin typeface="Source Sans 3"/>
                <a:ea typeface="Source Sans 3"/>
                <a:cs typeface="Source Sans 3"/>
                <a:sym typeface="Source Sans 3"/>
              </a:rPr>
              <a:t>08</a:t>
            </a:r>
            <a:endParaRPr b="0" i="0" sz="900" u="none" cap="none" strike="noStrike">
              <a:solidFill>
                <a:schemeClr val="dk1"/>
              </a:solidFill>
              <a:latin typeface="Calibri"/>
              <a:ea typeface="Calibri"/>
              <a:cs typeface="Calibri"/>
              <a:sym typeface="Calibri"/>
            </a:endParaRPr>
          </a:p>
        </p:txBody>
      </p:sp>
      <p:sp>
        <p:nvSpPr>
          <p:cNvPr id="316" name="Google Shape;316;p24"/>
          <p:cNvSpPr/>
          <p:nvPr/>
        </p:nvSpPr>
        <p:spPr>
          <a:xfrm>
            <a:off x="445770" y="377190"/>
            <a:ext cx="7543800" cy="19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A578"/>
              </a:buClr>
              <a:buSzPts val="800"/>
              <a:buFont typeface="Calibri"/>
              <a:buNone/>
            </a:pPr>
            <a:r>
              <a:rPr b="1" lang="en" sz="800">
                <a:solidFill>
                  <a:srgbClr val="E8A578"/>
                </a:solidFill>
                <a:latin typeface="Calibri"/>
                <a:ea typeface="Calibri"/>
                <a:cs typeface="Calibri"/>
                <a:sym typeface="Calibri"/>
              </a:rPr>
              <a:t>EVIDENCE</a:t>
            </a:r>
            <a:endParaRPr sz="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1" name="Shape 321"/>
        <p:cNvGrpSpPr/>
        <p:nvPr/>
      </p:nvGrpSpPr>
      <p:grpSpPr>
        <a:xfrm>
          <a:off x="0" y="0"/>
          <a:ext cx="0" cy="0"/>
          <a:chOff x="0" y="0"/>
          <a:chExt cx="0" cy="0"/>
        </a:xfrm>
      </p:grpSpPr>
      <p:sp>
        <p:nvSpPr>
          <p:cNvPr id="322" name="Google Shape;322;p25"/>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METHOD SELECTION</a:t>
            </a:r>
            <a:endParaRPr sz="800">
              <a:solidFill>
                <a:schemeClr val="dk1"/>
              </a:solidFill>
              <a:latin typeface="Calibri"/>
              <a:ea typeface="Calibri"/>
              <a:cs typeface="Calibri"/>
              <a:sym typeface="Calibri"/>
            </a:endParaRPr>
          </a:p>
        </p:txBody>
      </p:sp>
      <p:sp>
        <p:nvSpPr>
          <p:cNvPr id="323" name="Google Shape;323;p25"/>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600"/>
              <a:buFont typeface="Cambria"/>
              <a:buNone/>
            </a:pPr>
            <a:r>
              <a:rPr b="1" lang="en" sz="2600">
                <a:solidFill>
                  <a:srgbClr val="16333D"/>
                </a:solidFill>
                <a:latin typeface="Cambria"/>
                <a:ea typeface="Cambria"/>
                <a:cs typeface="Cambria"/>
                <a:sym typeface="Cambria"/>
              </a:rPr>
              <a:t>We dynamically select the strongest methods.</a:t>
            </a:r>
            <a:endParaRPr sz="2600">
              <a:solidFill>
                <a:schemeClr val="dk1"/>
              </a:solidFill>
              <a:latin typeface="Calibri"/>
              <a:ea typeface="Calibri"/>
              <a:cs typeface="Calibri"/>
              <a:sym typeface="Calibri"/>
            </a:endParaRPr>
          </a:p>
        </p:txBody>
      </p:sp>
      <p:sp>
        <p:nvSpPr>
          <p:cNvPr id="324" name="Google Shape;324;p25"/>
          <p:cNvSpPr/>
          <p:nvPr/>
        </p:nvSpPr>
        <p:spPr>
          <a:xfrm>
            <a:off x="445770" y="1280261"/>
            <a:ext cx="82158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100"/>
              <a:buFont typeface="Calibri"/>
              <a:buNone/>
            </a:pPr>
            <a:r>
              <a:rPr b="1" lang="en" sz="1100">
                <a:solidFill>
                  <a:srgbClr val="16333D"/>
                </a:solidFill>
                <a:latin typeface="Calibri"/>
                <a:ea typeface="Calibri"/>
                <a:cs typeface="Calibri"/>
                <a:sym typeface="Calibri"/>
              </a:rPr>
              <a:t>Example: </a:t>
            </a:r>
            <a:r>
              <a:rPr lang="en" sz="1100">
                <a:solidFill>
                  <a:srgbClr val="16333D"/>
                </a:solidFill>
                <a:latin typeface="Calibri"/>
                <a:ea typeface="Calibri"/>
                <a:cs typeface="Calibri"/>
                <a:sym typeface="Calibri"/>
              </a:rPr>
              <a:t>System orchestrates all available data and machine learning to design materials leveraging the best in class models for every parameter</a:t>
            </a:r>
            <a:endParaRPr sz="1100">
              <a:solidFill>
                <a:schemeClr val="dk1"/>
              </a:solidFill>
              <a:latin typeface="Calibri"/>
              <a:ea typeface="Calibri"/>
              <a:cs typeface="Calibri"/>
              <a:sym typeface="Calibri"/>
            </a:endParaRPr>
          </a:p>
        </p:txBody>
      </p:sp>
      <p:sp>
        <p:nvSpPr>
          <p:cNvPr id="325" name="Google Shape;325;p25"/>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326" name="Google Shape;326;p25"/>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9</a:t>
            </a:r>
            <a:endParaRPr sz="700">
              <a:solidFill>
                <a:schemeClr val="dk1"/>
              </a:solidFill>
              <a:latin typeface="Calibri"/>
              <a:ea typeface="Calibri"/>
              <a:cs typeface="Calibri"/>
              <a:sym typeface="Calibri"/>
            </a:endParaRPr>
          </a:p>
        </p:txBody>
      </p:sp>
      <p:sp>
        <p:nvSpPr>
          <p:cNvPr id="327" name="Google Shape;327;p25"/>
          <p:cNvSpPr/>
          <p:nvPr/>
        </p:nvSpPr>
        <p:spPr>
          <a:xfrm>
            <a:off x="445775" y="1624475"/>
            <a:ext cx="2598600" cy="2229600"/>
          </a:xfrm>
          <a:prstGeom prst="rect">
            <a:avLst/>
          </a:prstGeom>
          <a:noFill/>
          <a:ln cap="flat" cmpd="sng" w="9550">
            <a:solidFill>
              <a:srgbClr val="DCE5E8"/>
            </a:solidFill>
            <a:prstDash val="solid"/>
            <a:round/>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328" name="Google Shape;328;p25"/>
          <p:cNvSpPr/>
          <p:nvPr/>
        </p:nvSpPr>
        <p:spPr>
          <a:xfrm>
            <a:off x="455328" y="1634028"/>
            <a:ext cx="2579400" cy="391800"/>
          </a:xfrm>
          <a:prstGeom prst="rect">
            <a:avLst/>
          </a:prstGeom>
          <a:solidFill>
            <a:srgbClr val="EDF1F2"/>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329" name="Google Shape;329;p25"/>
          <p:cNvSpPr/>
          <p:nvPr/>
        </p:nvSpPr>
        <p:spPr>
          <a:xfrm>
            <a:off x="608182" y="1748668"/>
            <a:ext cx="1097700" cy="181500"/>
          </a:xfrm>
          <a:prstGeom prst="rect">
            <a:avLst/>
          </a:prstGeom>
          <a:noFill/>
          <a:ln>
            <a:noFill/>
          </a:ln>
        </p:spPr>
        <p:txBody>
          <a:bodyPr anchorCtr="0" anchor="t" bIns="12750" lIns="12750" spcFirstLastPara="1" rIns="12750" wrap="square" tIns="12750">
            <a:noAutofit/>
          </a:bodyPr>
          <a:lstStyle/>
          <a:p>
            <a:pPr indent="0" lvl="0" marL="0" marR="0" rtl="0" algn="l">
              <a:spcBef>
                <a:spcPts val="0"/>
              </a:spcBef>
              <a:spcAft>
                <a:spcPts val="0"/>
              </a:spcAft>
              <a:buClr>
                <a:srgbClr val="16333D"/>
              </a:buClr>
              <a:buSzPts val="903"/>
              <a:buFont typeface="Source Sans 3"/>
              <a:buNone/>
            </a:pPr>
            <a:r>
              <a:rPr b="1" i="0" lang="en" sz="903" u="none" cap="none" strike="noStrike">
                <a:solidFill>
                  <a:srgbClr val="16333D"/>
                </a:solidFill>
                <a:latin typeface="Source Sans 3"/>
                <a:ea typeface="Source Sans 3"/>
                <a:cs typeface="Source Sans 3"/>
                <a:sym typeface="Source Sans 3"/>
              </a:rPr>
              <a:t>MELT VISCOSITY</a:t>
            </a:r>
            <a:endParaRPr b="0" i="0" sz="903" u="none" cap="none" strike="noStrike">
              <a:solidFill>
                <a:srgbClr val="000000"/>
              </a:solidFill>
              <a:latin typeface="Calibri"/>
              <a:ea typeface="Calibri"/>
              <a:cs typeface="Calibri"/>
              <a:sym typeface="Calibri"/>
            </a:endParaRPr>
          </a:p>
        </p:txBody>
      </p:sp>
      <p:sp>
        <p:nvSpPr>
          <p:cNvPr id="330" name="Google Shape;330;p25"/>
          <p:cNvSpPr/>
          <p:nvPr/>
        </p:nvSpPr>
        <p:spPr>
          <a:xfrm>
            <a:off x="2400366" y="1755833"/>
            <a:ext cx="519900" cy="167100"/>
          </a:xfrm>
          <a:prstGeom prst="rect">
            <a:avLst/>
          </a:prstGeom>
          <a:noFill/>
          <a:ln>
            <a:noFill/>
          </a:ln>
        </p:spPr>
        <p:txBody>
          <a:bodyPr anchorCtr="0" anchor="t" bIns="12750" lIns="12750" spcFirstLastPara="1" rIns="12750" wrap="square" tIns="12750">
            <a:noAutofit/>
          </a:bodyPr>
          <a:lstStyle/>
          <a:p>
            <a:pPr indent="0" lvl="0" marL="0" marR="0" rtl="0" algn="l">
              <a:spcBef>
                <a:spcPts val="0"/>
              </a:spcBef>
              <a:spcAft>
                <a:spcPts val="0"/>
              </a:spcAft>
              <a:buClr>
                <a:srgbClr val="2E6F84"/>
              </a:buClr>
              <a:buSzPts val="903"/>
              <a:buFont typeface="IBM Plex Mono"/>
              <a:buNone/>
            </a:pPr>
            <a:r>
              <a:rPr b="0" i="0" lang="en" sz="903" u="none" cap="none" strike="noStrike">
                <a:solidFill>
                  <a:srgbClr val="2E6F84"/>
                </a:solidFill>
                <a:latin typeface="IBM Plex Mono"/>
                <a:ea typeface="IBM Plex Mono"/>
                <a:cs typeface="IBM Plex Mono"/>
                <a:sym typeface="IBM Plex Mono"/>
              </a:rPr>
              <a:t>PHYSICS</a:t>
            </a:r>
            <a:endParaRPr b="0" i="0" sz="903" u="none" cap="none" strike="noStrike">
              <a:solidFill>
                <a:srgbClr val="000000"/>
              </a:solidFill>
              <a:latin typeface="Calibri"/>
              <a:ea typeface="Calibri"/>
              <a:cs typeface="Calibri"/>
              <a:sym typeface="Calibri"/>
            </a:endParaRPr>
          </a:p>
        </p:txBody>
      </p:sp>
      <p:sp>
        <p:nvSpPr>
          <p:cNvPr id="331" name="Google Shape;331;p25"/>
          <p:cNvSpPr/>
          <p:nvPr/>
        </p:nvSpPr>
        <p:spPr>
          <a:xfrm>
            <a:off x="608182" y="2178569"/>
            <a:ext cx="2501100" cy="202500"/>
          </a:xfrm>
          <a:prstGeom prst="rect">
            <a:avLst/>
          </a:prstGeom>
          <a:noFill/>
          <a:ln>
            <a:noFill/>
          </a:ln>
        </p:spPr>
        <p:txBody>
          <a:bodyPr anchorCtr="0" anchor="t" bIns="12750" lIns="12750" spcFirstLastPara="1" rIns="12750" wrap="square" tIns="12750">
            <a:noAutofit/>
          </a:bodyPr>
          <a:lstStyle/>
          <a:p>
            <a:pPr indent="0" lvl="0" marL="0" marR="0" rtl="0" algn="l">
              <a:lnSpc>
                <a:spcPct val="83478"/>
              </a:lnSpc>
              <a:spcBef>
                <a:spcPts val="0"/>
              </a:spcBef>
              <a:spcAft>
                <a:spcPts val="0"/>
              </a:spcAft>
              <a:buClr>
                <a:srgbClr val="0B2430"/>
              </a:buClr>
              <a:buSzPts val="1204"/>
              <a:buFont typeface="Source Sans 3"/>
              <a:buNone/>
            </a:pPr>
            <a:r>
              <a:rPr b="1" i="0" lang="en" sz="1204" u="none" cap="none" strike="noStrike">
                <a:solidFill>
                  <a:srgbClr val="0B2430"/>
                </a:solidFill>
                <a:latin typeface="Source Sans 3"/>
                <a:ea typeface="Source Sans 3"/>
                <a:cs typeface="Source Sans 3"/>
                <a:sym typeface="Source Sans 3"/>
              </a:rPr>
              <a:t>Physics won. We kept the physics.</a:t>
            </a:r>
            <a:endParaRPr b="0" i="0" sz="1204" u="none" cap="none" strike="noStrike">
              <a:solidFill>
                <a:srgbClr val="000000"/>
              </a:solidFill>
              <a:latin typeface="Calibri"/>
              <a:ea typeface="Calibri"/>
              <a:cs typeface="Calibri"/>
              <a:sym typeface="Calibri"/>
            </a:endParaRPr>
          </a:p>
        </p:txBody>
      </p:sp>
      <p:sp>
        <p:nvSpPr>
          <p:cNvPr id="332" name="Google Shape;332;p25"/>
          <p:cNvSpPr/>
          <p:nvPr/>
        </p:nvSpPr>
        <p:spPr>
          <a:xfrm>
            <a:off x="608182" y="2447965"/>
            <a:ext cx="2341800" cy="517800"/>
          </a:xfrm>
          <a:prstGeom prst="rect">
            <a:avLst/>
          </a:prstGeom>
          <a:noFill/>
          <a:ln>
            <a:noFill/>
          </a:ln>
        </p:spPr>
        <p:txBody>
          <a:bodyPr anchorCtr="0" anchor="t" bIns="12750" lIns="12750" spcFirstLastPara="1" rIns="12750" wrap="square" tIns="12750">
            <a:noAutofit/>
          </a:bodyPr>
          <a:lstStyle/>
          <a:p>
            <a:pPr indent="0" lvl="0" marL="0" marR="0" rtl="0" algn="l">
              <a:lnSpc>
                <a:spcPct val="102353"/>
              </a:lnSpc>
              <a:spcBef>
                <a:spcPts val="0"/>
              </a:spcBef>
              <a:spcAft>
                <a:spcPts val="0"/>
              </a:spcAft>
              <a:buClr>
                <a:srgbClr val="5E7480"/>
              </a:buClr>
              <a:buSzPts val="903"/>
              <a:buFont typeface="Source Sans 3"/>
              <a:buNone/>
            </a:pPr>
            <a:r>
              <a:rPr b="0" i="0" lang="en" sz="903" u="none" cap="none" strike="noStrike">
                <a:solidFill>
                  <a:srgbClr val="5E7480"/>
                </a:solidFill>
                <a:latin typeface="Source Sans 3"/>
                <a:ea typeface="Source Sans 3"/>
                <a:cs typeface="Source Sans 3"/>
                <a:sym typeface="Source Sans 3"/>
              </a:rPr>
              <a:t>Classical polymer physics predicts melt viscosity better than our model. So the platform uses the physics.</a:t>
            </a:r>
            <a:endParaRPr b="0" i="0" sz="903" u="none" cap="none" strike="noStrike">
              <a:solidFill>
                <a:srgbClr val="000000"/>
              </a:solidFill>
              <a:latin typeface="Calibri"/>
              <a:ea typeface="Calibri"/>
              <a:cs typeface="Calibri"/>
              <a:sym typeface="Calibri"/>
            </a:endParaRPr>
          </a:p>
        </p:txBody>
      </p:sp>
      <p:sp>
        <p:nvSpPr>
          <p:cNvPr id="333" name="Google Shape;333;p25"/>
          <p:cNvSpPr/>
          <p:nvPr/>
        </p:nvSpPr>
        <p:spPr>
          <a:xfrm>
            <a:off x="608182" y="3032585"/>
            <a:ext cx="2341800" cy="328500"/>
          </a:xfrm>
          <a:prstGeom prst="rect">
            <a:avLst/>
          </a:prstGeom>
          <a:noFill/>
          <a:ln>
            <a:noFill/>
          </a:ln>
        </p:spPr>
        <p:txBody>
          <a:bodyPr anchorCtr="0" anchor="t" bIns="12750" lIns="12750" spcFirstLastPara="1" rIns="12750" wrap="square" tIns="12750">
            <a:noAutofit/>
          </a:bodyPr>
          <a:lstStyle/>
          <a:p>
            <a:pPr indent="0" lvl="0" marL="0" marR="0" rtl="0" algn="l">
              <a:lnSpc>
                <a:spcPct val="95294"/>
              </a:lnSpc>
              <a:spcBef>
                <a:spcPts val="0"/>
              </a:spcBef>
              <a:spcAft>
                <a:spcPts val="0"/>
              </a:spcAft>
              <a:buClr>
                <a:srgbClr val="16333D"/>
              </a:buClr>
              <a:buSzPts val="903"/>
              <a:buFont typeface="Source Sans 3"/>
              <a:buNone/>
            </a:pPr>
            <a:r>
              <a:rPr b="1" i="0" lang="en" sz="903" u="none" cap="none" strike="noStrike">
                <a:solidFill>
                  <a:srgbClr val="16333D"/>
                </a:solidFill>
                <a:latin typeface="Source Sans 3"/>
                <a:ea typeface="Source Sans 3"/>
                <a:cs typeface="Source Sans 3"/>
                <a:sym typeface="Source Sans 3"/>
              </a:rPr>
              <a:t>A company whose whole story is the model finds that call harder to make.</a:t>
            </a:r>
            <a:endParaRPr b="0" i="0" sz="903" u="none" cap="none" strike="noStrike">
              <a:solidFill>
                <a:srgbClr val="000000"/>
              </a:solidFill>
              <a:latin typeface="Calibri"/>
              <a:ea typeface="Calibri"/>
              <a:cs typeface="Calibri"/>
              <a:sym typeface="Calibri"/>
            </a:endParaRPr>
          </a:p>
        </p:txBody>
      </p:sp>
      <p:sp>
        <p:nvSpPr>
          <p:cNvPr id="334" name="Google Shape;334;p25"/>
          <p:cNvSpPr/>
          <p:nvPr/>
        </p:nvSpPr>
        <p:spPr>
          <a:xfrm>
            <a:off x="3254458" y="1624475"/>
            <a:ext cx="2598600" cy="2229600"/>
          </a:xfrm>
          <a:prstGeom prst="rect">
            <a:avLst/>
          </a:prstGeom>
          <a:noFill/>
          <a:ln cap="flat" cmpd="sng" w="9550">
            <a:solidFill>
              <a:srgbClr val="DCE5E8"/>
            </a:solidFill>
            <a:prstDash val="solid"/>
            <a:round/>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335" name="Google Shape;335;p25"/>
          <p:cNvSpPr/>
          <p:nvPr/>
        </p:nvSpPr>
        <p:spPr>
          <a:xfrm>
            <a:off x="3264011" y="1634028"/>
            <a:ext cx="2579400" cy="391800"/>
          </a:xfrm>
          <a:prstGeom prst="rect">
            <a:avLst/>
          </a:prstGeom>
          <a:solidFill>
            <a:srgbClr val="EDF1F2"/>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336" name="Google Shape;336;p25"/>
          <p:cNvSpPr/>
          <p:nvPr/>
        </p:nvSpPr>
        <p:spPr>
          <a:xfrm>
            <a:off x="3416865" y="1748668"/>
            <a:ext cx="1039500" cy="181500"/>
          </a:xfrm>
          <a:prstGeom prst="rect">
            <a:avLst/>
          </a:prstGeom>
          <a:noFill/>
          <a:ln>
            <a:noFill/>
          </a:ln>
        </p:spPr>
        <p:txBody>
          <a:bodyPr anchorCtr="0" anchor="t" bIns="12750" lIns="12750" spcFirstLastPara="1" rIns="12750" wrap="square" tIns="12750">
            <a:noAutofit/>
          </a:bodyPr>
          <a:lstStyle/>
          <a:p>
            <a:pPr indent="0" lvl="0" marL="0" marR="0" rtl="0" algn="l">
              <a:spcBef>
                <a:spcPts val="0"/>
              </a:spcBef>
              <a:spcAft>
                <a:spcPts val="0"/>
              </a:spcAft>
              <a:buClr>
                <a:srgbClr val="16333D"/>
              </a:buClr>
              <a:buSzPts val="903"/>
              <a:buFont typeface="Source Sans 3"/>
              <a:buNone/>
            </a:pPr>
            <a:r>
              <a:rPr b="1" i="0" lang="en" sz="903" u="none" cap="none" strike="noStrike">
                <a:solidFill>
                  <a:srgbClr val="16333D"/>
                </a:solidFill>
                <a:latin typeface="Source Sans 3"/>
                <a:ea typeface="Source Sans 3"/>
                <a:cs typeface="Source Sans 3"/>
                <a:sym typeface="Source Sans 3"/>
              </a:rPr>
              <a:t>CURE KINETICS</a:t>
            </a:r>
            <a:endParaRPr b="0" i="0" sz="903" u="none" cap="none" strike="noStrike">
              <a:solidFill>
                <a:srgbClr val="000000"/>
              </a:solidFill>
              <a:latin typeface="Calibri"/>
              <a:ea typeface="Calibri"/>
              <a:cs typeface="Calibri"/>
              <a:sym typeface="Calibri"/>
            </a:endParaRPr>
          </a:p>
        </p:txBody>
      </p:sp>
      <p:sp>
        <p:nvSpPr>
          <p:cNvPr id="337" name="Google Shape;337;p25"/>
          <p:cNvSpPr/>
          <p:nvPr/>
        </p:nvSpPr>
        <p:spPr>
          <a:xfrm>
            <a:off x="5002720" y="1755833"/>
            <a:ext cx="756600" cy="167100"/>
          </a:xfrm>
          <a:prstGeom prst="rect">
            <a:avLst/>
          </a:prstGeom>
          <a:noFill/>
          <a:ln>
            <a:noFill/>
          </a:ln>
        </p:spPr>
        <p:txBody>
          <a:bodyPr anchorCtr="0" anchor="t" bIns="12750" lIns="12750" spcFirstLastPara="1" rIns="12750" wrap="square" tIns="12750">
            <a:noAutofit/>
          </a:bodyPr>
          <a:lstStyle/>
          <a:p>
            <a:pPr indent="0" lvl="0" marL="0" marR="0" rtl="0" algn="l">
              <a:spcBef>
                <a:spcPts val="0"/>
              </a:spcBef>
              <a:spcAft>
                <a:spcPts val="0"/>
              </a:spcAft>
              <a:buClr>
                <a:srgbClr val="2E6F84"/>
              </a:buClr>
              <a:buSzPts val="903"/>
              <a:buFont typeface="IBM Plex Mono"/>
              <a:buNone/>
            </a:pPr>
            <a:r>
              <a:rPr b="0" i="0" lang="en" sz="903" u="none" cap="none" strike="noStrike">
                <a:solidFill>
                  <a:srgbClr val="2E6F84"/>
                </a:solidFill>
                <a:latin typeface="IBM Plex Mono"/>
                <a:ea typeface="IBM Plex Mono"/>
                <a:cs typeface="IBM Plex Mono"/>
                <a:sym typeface="IBM Plex Mono"/>
              </a:rPr>
              <a:t>LITERATURE</a:t>
            </a:r>
            <a:endParaRPr b="0" i="0" sz="903" u="none" cap="none" strike="noStrike">
              <a:solidFill>
                <a:srgbClr val="000000"/>
              </a:solidFill>
              <a:latin typeface="Calibri"/>
              <a:ea typeface="Calibri"/>
              <a:cs typeface="Calibri"/>
              <a:sym typeface="Calibri"/>
            </a:endParaRPr>
          </a:p>
        </p:txBody>
      </p:sp>
      <p:sp>
        <p:nvSpPr>
          <p:cNvPr id="338" name="Google Shape;338;p25"/>
          <p:cNvSpPr/>
          <p:nvPr/>
        </p:nvSpPr>
        <p:spPr>
          <a:xfrm>
            <a:off x="3416865" y="2178569"/>
            <a:ext cx="2341800" cy="385800"/>
          </a:xfrm>
          <a:prstGeom prst="rect">
            <a:avLst/>
          </a:prstGeom>
          <a:noFill/>
          <a:ln>
            <a:noFill/>
          </a:ln>
        </p:spPr>
        <p:txBody>
          <a:bodyPr anchorCtr="0" anchor="t" bIns="12750" lIns="12750" spcFirstLastPara="1" rIns="12750" wrap="square" tIns="12750">
            <a:noAutofit/>
          </a:bodyPr>
          <a:lstStyle/>
          <a:p>
            <a:pPr indent="0" lvl="0" marL="0" marR="0" rtl="0" algn="l">
              <a:lnSpc>
                <a:spcPct val="83478"/>
              </a:lnSpc>
              <a:spcBef>
                <a:spcPts val="0"/>
              </a:spcBef>
              <a:spcAft>
                <a:spcPts val="0"/>
              </a:spcAft>
              <a:buClr>
                <a:srgbClr val="0B2430"/>
              </a:buClr>
              <a:buSzPts val="1204"/>
              <a:buFont typeface="Source Sans 3"/>
              <a:buNone/>
            </a:pPr>
            <a:r>
              <a:rPr b="1" i="0" lang="en" sz="1204" u="none" cap="none" strike="noStrike">
                <a:solidFill>
                  <a:srgbClr val="0B2430"/>
                </a:solidFill>
                <a:latin typeface="Source Sans 3"/>
                <a:ea typeface="Source Sans 3"/>
                <a:cs typeface="Source Sans 3"/>
                <a:sym typeface="Source Sans 3"/>
              </a:rPr>
              <a:t>The literature won. We use the literature.</a:t>
            </a:r>
            <a:endParaRPr b="0" i="0" sz="1204" u="none" cap="none" strike="noStrike">
              <a:solidFill>
                <a:srgbClr val="000000"/>
              </a:solidFill>
              <a:latin typeface="Calibri"/>
              <a:ea typeface="Calibri"/>
              <a:cs typeface="Calibri"/>
              <a:sym typeface="Calibri"/>
            </a:endParaRPr>
          </a:p>
        </p:txBody>
      </p:sp>
      <p:sp>
        <p:nvSpPr>
          <p:cNvPr id="339" name="Google Shape;339;p25"/>
          <p:cNvSpPr/>
          <p:nvPr/>
        </p:nvSpPr>
        <p:spPr>
          <a:xfrm>
            <a:off x="3397758" y="2631382"/>
            <a:ext cx="607500" cy="360600"/>
          </a:xfrm>
          <a:prstGeom prst="rect">
            <a:avLst/>
          </a:prstGeom>
          <a:noFill/>
          <a:ln>
            <a:noFill/>
          </a:ln>
        </p:spPr>
        <p:txBody>
          <a:bodyPr anchorCtr="0" anchor="t" bIns="12750" lIns="12750" spcFirstLastPara="1" rIns="12750" wrap="square" tIns="12750">
            <a:noAutofit/>
          </a:bodyPr>
          <a:lstStyle/>
          <a:p>
            <a:pPr indent="0" lvl="0" marL="0" marR="0" rtl="0" algn="ctr">
              <a:spcBef>
                <a:spcPts val="0"/>
              </a:spcBef>
              <a:spcAft>
                <a:spcPts val="0"/>
              </a:spcAft>
              <a:buClr>
                <a:srgbClr val="2E6F84"/>
              </a:buClr>
              <a:buSzPts val="1956"/>
              <a:buFont typeface="Source Serif 4"/>
              <a:buNone/>
            </a:pPr>
            <a:r>
              <a:rPr b="0" i="0" lang="en" sz="1956" u="none" cap="none" strike="noStrike">
                <a:solidFill>
                  <a:srgbClr val="2E6F84"/>
                </a:solidFill>
                <a:latin typeface="Source Serif 4"/>
                <a:ea typeface="Source Serif 4"/>
                <a:cs typeface="Source Serif 4"/>
                <a:sym typeface="Source Serif 4"/>
              </a:rPr>
              <a:t>9.3%</a:t>
            </a:r>
            <a:endParaRPr b="0" i="0" sz="1956" u="none" cap="none" strike="noStrike">
              <a:solidFill>
                <a:srgbClr val="000000"/>
              </a:solidFill>
              <a:latin typeface="Calibri"/>
              <a:ea typeface="Calibri"/>
              <a:cs typeface="Calibri"/>
              <a:sym typeface="Calibri"/>
            </a:endParaRPr>
          </a:p>
        </p:txBody>
      </p:sp>
      <p:sp>
        <p:nvSpPr>
          <p:cNvPr id="340" name="Google Shape;340;p25"/>
          <p:cNvSpPr/>
          <p:nvPr/>
        </p:nvSpPr>
        <p:spPr>
          <a:xfrm>
            <a:off x="3397758" y="2972914"/>
            <a:ext cx="607500" cy="181500"/>
          </a:xfrm>
          <a:prstGeom prst="rect">
            <a:avLst/>
          </a:prstGeom>
          <a:noFill/>
          <a:ln>
            <a:noFill/>
          </a:ln>
        </p:spPr>
        <p:txBody>
          <a:bodyPr anchorCtr="0" anchor="t" bIns="12750" lIns="12750" spcFirstLastPara="1" rIns="12750" wrap="square" tIns="12750">
            <a:noAutofit/>
          </a:bodyPr>
          <a:lstStyle/>
          <a:p>
            <a:pPr indent="0" lvl="0" marL="0" marR="0" rtl="0" algn="ctr">
              <a:spcBef>
                <a:spcPts val="0"/>
              </a:spcBef>
              <a:spcAft>
                <a:spcPts val="0"/>
              </a:spcAft>
              <a:buClr>
                <a:srgbClr val="5E7480"/>
              </a:buClr>
              <a:buSzPts val="903"/>
              <a:buFont typeface="Source Sans 3"/>
              <a:buNone/>
            </a:pPr>
            <a:r>
              <a:rPr b="0" i="0" lang="en" sz="903" u="none" cap="none" strike="noStrike">
                <a:solidFill>
                  <a:srgbClr val="5E7480"/>
                </a:solidFill>
                <a:latin typeface="Source Sans 3"/>
                <a:ea typeface="Source Sans 3"/>
                <a:cs typeface="Source Sans 3"/>
                <a:sym typeface="Source Sans 3"/>
              </a:rPr>
              <a:t>published</a:t>
            </a:r>
            <a:endParaRPr b="0" i="0" sz="903" u="none" cap="none" strike="noStrike">
              <a:solidFill>
                <a:srgbClr val="000000"/>
              </a:solidFill>
              <a:latin typeface="Calibri"/>
              <a:ea typeface="Calibri"/>
              <a:cs typeface="Calibri"/>
              <a:sym typeface="Calibri"/>
            </a:endParaRPr>
          </a:p>
        </p:txBody>
      </p:sp>
      <p:sp>
        <p:nvSpPr>
          <p:cNvPr id="341" name="Google Shape;341;p25"/>
          <p:cNvSpPr/>
          <p:nvPr/>
        </p:nvSpPr>
        <p:spPr>
          <a:xfrm>
            <a:off x="4409709" y="2631382"/>
            <a:ext cx="770700" cy="360600"/>
          </a:xfrm>
          <a:prstGeom prst="rect">
            <a:avLst/>
          </a:prstGeom>
          <a:noFill/>
          <a:ln>
            <a:noFill/>
          </a:ln>
        </p:spPr>
        <p:txBody>
          <a:bodyPr anchorCtr="0" anchor="t" bIns="12750" lIns="12750" spcFirstLastPara="1" rIns="12750" wrap="square" tIns="12750">
            <a:noAutofit/>
          </a:bodyPr>
          <a:lstStyle/>
          <a:p>
            <a:pPr indent="0" lvl="0" marL="0" marR="0" rtl="0" algn="ctr">
              <a:spcBef>
                <a:spcPts val="0"/>
              </a:spcBef>
              <a:spcAft>
                <a:spcPts val="0"/>
              </a:spcAft>
              <a:buClr>
                <a:srgbClr val="9FB6BF"/>
              </a:buClr>
              <a:buSzPts val="1956"/>
              <a:buFont typeface="Source Serif 4"/>
              <a:buNone/>
            </a:pPr>
            <a:r>
              <a:rPr b="0" i="0" lang="en" sz="1956" u="none" cap="none" strike="noStrike">
                <a:solidFill>
                  <a:srgbClr val="9FB6BF"/>
                </a:solidFill>
                <a:latin typeface="Source Serif 4"/>
                <a:ea typeface="Source Serif 4"/>
                <a:cs typeface="Source Serif 4"/>
                <a:sym typeface="Source Serif 4"/>
              </a:rPr>
              <a:t>13.3%</a:t>
            </a:r>
            <a:endParaRPr b="0" i="0" sz="1956" u="none" cap="none" strike="noStrike">
              <a:solidFill>
                <a:srgbClr val="000000"/>
              </a:solidFill>
              <a:latin typeface="Calibri"/>
              <a:ea typeface="Calibri"/>
              <a:cs typeface="Calibri"/>
              <a:sym typeface="Calibri"/>
            </a:endParaRPr>
          </a:p>
        </p:txBody>
      </p:sp>
      <p:sp>
        <p:nvSpPr>
          <p:cNvPr id="342" name="Google Shape;342;p25"/>
          <p:cNvSpPr/>
          <p:nvPr/>
        </p:nvSpPr>
        <p:spPr>
          <a:xfrm>
            <a:off x="4409709" y="2972914"/>
            <a:ext cx="770700" cy="181500"/>
          </a:xfrm>
          <a:prstGeom prst="rect">
            <a:avLst/>
          </a:prstGeom>
          <a:noFill/>
          <a:ln>
            <a:noFill/>
          </a:ln>
        </p:spPr>
        <p:txBody>
          <a:bodyPr anchorCtr="0" anchor="t" bIns="12750" lIns="12750" spcFirstLastPara="1" rIns="12750" wrap="square" tIns="12750">
            <a:noAutofit/>
          </a:bodyPr>
          <a:lstStyle/>
          <a:p>
            <a:pPr indent="0" lvl="0" marL="0" marR="0" rtl="0" algn="ctr">
              <a:spcBef>
                <a:spcPts val="0"/>
              </a:spcBef>
              <a:spcAft>
                <a:spcPts val="0"/>
              </a:spcAft>
              <a:buClr>
                <a:srgbClr val="5E7480"/>
              </a:buClr>
              <a:buSzPts val="903"/>
              <a:buFont typeface="Source Sans 3"/>
              <a:buNone/>
            </a:pPr>
            <a:r>
              <a:rPr b="0" i="0" lang="en" sz="903" u="none" cap="none" strike="noStrike">
                <a:solidFill>
                  <a:srgbClr val="5E7480"/>
                </a:solidFill>
                <a:latin typeface="Source Sans 3"/>
                <a:ea typeface="Source Sans 3"/>
                <a:cs typeface="Source Sans 3"/>
                <a:sym typeface="Source Sans 3"/>
              </a:rPr>
              <a:t>ours</a:t>
            </a:r>
            <a:endParaRPr b="0" i="0" sz="903" u="none" cap="none" strike="noStrike">
              <a:solidFill>
                <a:srgbClr val="000000"/>
              </a:solidFill>
              <a:latin typeface="Calibri"/>
              <a:ea typeface="Calibri"/>
              <a:cs typeface="Calibri"/>
              <a:sym typeface="Calibri"/>
            </a:endParaRPr>
          </a:p>
        </p:txBody>
      </p:sp>
      <p:sp>
        <p:nvSpPr>
          <p:cNvPr id="343" name="Google Shape;343;p25"/>
          <p:cNvSpPr/>
          <p:nvPr/>
        </p:nvSpPr>
        <p:spPr>
          <a:xfrm>
            <a:off x="3416865" y="3221301"/>
            <a:ext cx="2341800" cy="351600"/>
          </a:xfrm>
          <a:prstGeom prst="rect">
            <a:avLst/>
          </a:prstGeom>
          <a:noFill/>
          <a:ln>
            <a:noFill/>
          </a:ln>
        </p:spPr>
        <p:txBody>
          <a:bodyPr anchorCtr="0" anchor="t" bIns="12750" lIns="12750" spcFirstLastPara="1" rIns="12750" wrap="square" tIns="12750">
            <a:noAutofit/>
          </a:bodyPr>
          <a:lstStyle/>
          <a:p>
            <a:pPr indent="0" lvl="0" marL="0" marR="0" rtl="0" algn="l">
              <a:lnSpc>
                <a:spcPct val="102353"/>
              </a:lnSpc>
              <a:spcBef>
                <a:spcPts val="0"/>
              </a:spcBef>
              <a:spcAft>
                <a:spcPts val="0"/>
              </a:spcAft>
              <a:buClr>
                <a:srgbClr val="5E7480"/>
              </a:buClr>
              <a:buSzPts val="903"/>
              <a:buFont typeface="Source Sans 3"/>
              <a:buNone/>
            </a:pPr>
            <a:r>
              <a:rPr b="0" i="0" lang="en" sz="903" u="none" cap="none" strike="noStrike">
                <a:solidFill>
                  <a:srgbClr val="5E7480"/>
                </a:solidFill>
                <a:latin typeface="Source Sans 3"/>
                <a:ea typeface="Source Sans 3"/>
                <a:cs typeface="Source Sans 3"/>
                <a:sym typeface="Source Sans 3"/>
              </a:rPr>
              <a:t>Our own audit found it. We adopted them. We do not rebuild what already works.</a:t>
            </a:r>
            <a:endParaRPr b="0" i="0" sz="903" u="none" cap="none" strike="noStrike">
              <a:solidFill>
                <a:srgbClr val="000000"/>
              </a:solidFill>
              <a:latin typeface="Calibri"/>
              <a:ea typeface="Calibri"/>
              <a:cs typeface="Calibri"/>
              <a:sym typeface="Calibri"/>
            </a:endParaRPr>
          </a:p>
        </p:txBody>
      </p:sp>
      <p:sp>
        <p:nvSpPr>
          <p:cNvPr id="344" name="Google Shape;344;p25"/>
          <p:cNvSpPr/>
          <p:nvPr/>
        </p:nvSpPr>
        <p:spPr>
          <a:xfrm>
            <a:off x="6063141" y="1624475"/>
            <a:ext cx="2598600" cy="2229600"/>
          </a:xfrm>
          <a:prstGeom prst="rect">
            <a:avLst/>
          </a:prstGeom>
          <a:noFill/>
          <a:ln cap="flat" cmpd="sng" w="9550">
            <a:solidFill>
              <a:srgbClr val="C25A1E"/>
            </a:solidFill>
            <a:prstDash val="solid"/>
            <a:round/>
            <a:headEnd len="sm" w="sm" type="none"/>
            <a:tailEnd len="sm" w="sm" type="none"/>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345" name="Google Shape;345;p25"/>
          <p:cNvSpPr/>
          <p:nvPr/>
        </p:nvSpPr>
        <p:spPr>
          <a:xfrm>
            <a:off x="6072694" y="1634028"/>
            <a:ext cx="2579400" cy="391800"/>
          </a:xfrm>
          <a:prstGeom prst="rect">
            <a:avLst/>
          </a:prstGeom>
          <a:solidFill>
            <a:srgbClr val="C25A1E"/>
          </a:solidFill>
          <a:ln>
            <a:noFill/>
          </a:ln>
        </p:spPr>
        <p:txBody>
          <a:bodyPr anchorCtr="0" anchor="ctr" bIns="45850" lIns="45850" spcFirstLastPara="1" rIns="45850" wrap="square" tIns="45850">
            <a:noAutofit/>
          </a:bodyPr>
          <a:lstStyle/>
          <a:p>
            <a:pPr indent="0" lvl="0" marL="0" rtl="0" algn="l">
              <a:spcBef>
                <a:spcPts val="0"/>
              </a:spcBef>
              <a:spcAft>
                <a:spcPts val="0"/>
              </a:spcAft>
              <a:buNone/>
            </a:pPr>
            <a:r>
              <a:t/>
            </a:r>
            <a:endParaRPr/>
          </a:p>
        </p:txBody>
      </p:sp>
      <p:sp>
        <p:nvSpPr>
          <p:cNvPr id="346" name="Google Shape;346;p25"/>
          <p:cNvSpPr/>
          <p:nvPr/>
        </p:nvSpPr>
        <p:spPr>
          <a:xfrm>
            <a:off x="6225548" y="1748668"/>
            <a:ext cx="1378200" cy="181500"/>
          </a:xfrm>
          <a:prstGeom prst="rect">
            <a:avLst/>
          </a:prstGeom>
          <a:noFill/>
          <a:ln>
            <a:noFill/>
          </a:ln>
        </p:spPr>
        <p:txBody>
          <a:bodyPr anchorCtr="0" anchor="t" bIns="12750" lIns="12750" spcFirstLastPara="1" rIns="12750" wrap="square" tIns="12750">
            <a:noAutofit/>
          </a:bodyPr>
          <a:lstStyle/>
          <a:p>
            <a:pPr indent="0" lvl="0" marL="0" marR="0" rtl="0" algn="l">
              <a:spcBef>
                <a:spcPts val="0"/>
              </a:spcBef>
              <a:spcAft>
                <a:spcPts val="0"/>
              </a:spcAft>
              <a:buClr>
                <a:srgbClr val="FFFFFF"/>
              </a:buClr>
              <a:buSzPts val="903"/>
              <a:buFont typeface="Source Sans 3"/>
              <a:buNone/>
            </a:pPr>
            <a:r>
              <a:rPr b="1" i="0" lang="en" sz="903" u="none" cap="none" strike="noStrike">
                <a:solidFill>
                  <a:srgbClr val="FFFFFF"/>
                </a:solidFill>
                <a:latin typeface="Source Sans 3"/>
                <a:ea typeface="Source Sans 3"/>
                <a:cs typeface="Source Sans 3"/>
                <a:sym typeface="Source Sans 3"/>
              </a:rPr>
              <a:t>MARINE CORROSION</a:t>
            </a:r>
            <a:endParaRPr b="0" i="0" sz="903" u="none" cap="none" strike="noStrike">
              <a:solidFill>
                <a:srgbClr val="000000"/>
              </a:solidFill>
              <a:latin typeface="Calibri"/>
              <a:ea typeface="Calibri"/>
              <a:cs typeface="Calibri"/>
              <a:sym typeface="Calibri"/>
            </a:endParaRPr>
          </a:p>
        </p:txBody>
      </p:sp>
      <p:sp>
        <p:nvSpPr>
          <p:cNvPr id="347" name="Google Shape;347;p25"/>
          <p:cNvSpPr/>
          <p:nvPr/>
        </p:nvSpPr>
        <p:spPr>
          <a:xfrm>
            <a:off x="7880179" y="1755833"/>
            <a:ext cx="681000" cy="167100"/>
          </a:xfrm>
          <a:prstGeom prst="rect">
            <a:avLst/>
          </a:prstGeom>
          <a:noFill/>
          <a:ln>
            <a:noFill/>
          </a:ln>
        </p:spPr>
        <p:txBody>
          <a:bodyPr anchorCtr="0" anchor="t" bIns="12750" lIns="12750" spcFirstLastPara="1" rIns="12750" wrap="square" tIns="12750">
            <a:noAutofit/>
          </a:bodyPr>
          <a:lstStyle/>
          <a:p>
            <a:pPr indent="0" lvl="0" marL="0" marR="0" rtl="0" algn="l">
              <a:spcBef>
                <a:spcPts val="0"/>
              </a:spcBef>
              <a:spcAft>
                <a:spcPts val="0"/>
              </a:spcAft>
              <a:buClr>
                <a:srgbClr val="F6D9C4"/>
              </a:buClr>
              <a:buSzPts val="903"/>
              <a:buFont typeface="IBM Plex Mono"/>
              <a:buNone/>
            </a:pPr>
            <a:r>
              <a:rPr b="0" i="0" lang="en" sz="903" u="none" cap="none" strike="noStrike">
                <a:solidFill>
                  <a:srgbClr val="F6D9C4"/>
                </a:solidFill>
                <a:latin typeface="IBM Plex Mono"/>
                <a:ea typeface="IBM Plex Mono"/>
                <a:cs typeface="IBM Plex Mono"/>
                <a:sym typeface="IBM Plex Mono"/>
              </a:rPr>
              <a:t>NO WINNER</a:t>
            </a:r>
            <a:endParaRPr b="0" i="0" sz="903" u="none" cap="none" strike="noStrike">
              <a:solidFill>
                <a:srgbClr val="000000"/>
              </a:solidFill>
              <a:latin typeface="Calibri"/>
              <a:ea typeface="Calibri"/>
              <a:cs typeface="Calibri"/>
              <a:sym typeface="Calibri"/>
            </a:endParaRPr>
          </a:p>
        </p:txBody>
      </p:sp>
      <p:sp>
        <p:nvSpPr>
          <p:cNvPr id="348" name="Google Shape;348;p25"/>
          <p:cNvSpPr/>
          <p:nvPr/>
        </p:nvSpPr>
        <p:spPr>
          <a:xfrm>
            <a:off x="6225548" y="2178569"/>
            <a:ext cx="2341800" cy="385800"/>
          </a:xfrm>
          <a:prstGeom prst="rect">
            <a:avLst/>
          </a:prstGeom>
          <a:noFill/>
          <a:ln>
            <a:noFill/>
          </a:ln>
        </p:spPr>
        <p:txBody>
          <a:bodyPr anchorCtr="0" anchor="t" bIns="12750" lIns="12750" spcFirstLastPara="1" rIns="12750" wrap="square" tIns="12750">
            <a:noAutofit/>
          </a:bodyPr>
          <a:lstStyle/>
          <a:p>
            <a:pPr indent="0" lvl="0" marL="0" marR="0" rtl="0" algn="l">
              <a:lnSpc>
                <a:spcPct val="83478"/>
              </a:lnSpc>
              <a:spcBef>
                <a:spcPts val="0"/>
              </a:spcBef>
              <a:spcAft>
                <a:spcPts val="0"/>
              </a:spcAft>
              <a:buClr>
                <a:srgbClr val="0B2430"/>
              </a:buClr>
              <a:buSzPts val="1204"/>
              <a:buFont typeface="Source Sans 3"/>
              <a:buNone/>
            </a:pPr>
            <a:r>
              <a:rPr b="1" i="0" lang="en" sz="1204" u="none" cap="none" strike="noStrike">
                <a:solidFill>
                  <a:srgbClr val="0B2430"/>
                </a:solidFill>
                <a:latin typeface="Source Sans 3"/>
                <a:ea typeface="Source Sans 3"/>
                <a:cs typeface="Source Sans 3"/>
                <a:sym typeface="Source Sans 3"/>
              </a:rPr>
              <a:t>Nothing won. That one is worth money.</a:t>
            </a:r>
            <a:endParaRPr b="0" i="0" sz="1204" u="none" cap="none" strike="noStrike">
              <a:solidFill>
                <a:srgbClr val="000000"/>
              </a:solidFill>
              <a:latin typeface="Calibri"/>
              <a:ea typeface="Calibri"/>
              <a:cs typeface="Calibri"/>
              <a:sym typeface="Calibri"/>
            </a:endParaRPr>
          </a:p>
        </p:txBody>
      </p:sp>
      <p:sp>
        <p:nvSpPr>
          <p:cNvPr id="349" name="Google Shape;349;p25"/>
          <p:cNvSpPr/>
          <p:nvPr/>
        </p:nvSpPr>
        <p:spPr>
          <a:xfrm>
            <a:off x="6225548" y="2631382"/>
            <a:ext cx="2341800" cy="684000"/>
          </a:xfrm>
          <a:prstGeom prst="rect">
            <a:avLst/>
          </a:prstGeom>
          <a:noFill/>
          <a:ln>
            <a:noFill/>
          </a:ln>
        </p:spPr>
        <p:txBody>
          <a:bodyPr anchorCtr="0" anchor="t" bIns="12750" lIns="12750" spcFirstLastPara="1" rIns="12750" wrap="square" tIns="12750">
            <a:noAutofit/>
          </a:bodyPr>
          <a:lstStyle/>
          <a:p>
            <a:pPr indent="0" lvl="0" marL="0" marR="0" rtl="0" algn="l">
              <a:lnSpc>
                <a:spcPct val="102353"/>
              </a:lnSpc>
              <a:spcBef>
                <a:spcPts val="0"/>
              </a:spcBef>
              <a:spcAft>
                <a:spcPts val="0"/>
              </a:spcAft>
              <a:buClr>
                <a:srgbClr val="5E7480"/>
              </a:buClr>
              <a:buSzPts val="903"/>
              <a:buFont typeface="Source Sans 3"/>
              <a:buNone/>
            </a:pPr>
            <a:r>
              <a:rPr b="0" i="0" lang="en" sz="903" u="none" cap="none" strike="noStrike">
                <a:solidFill>
                  <a:srgbClr val="5E7480"/>
                </a:solidFill>
                <a:latin typeface="Source Sans 3"/>
                <a:ea typeface="Source Sans 3"/>
                <a:cs typeface="Source Sans 3"/>
                <a:sym typeface="Source Sans 3"/>
              </a:rPr>
              <a:t>On public corrosion data no method beats the baseline, ours or anyone else's. We checked twice. The public data is too thin to carry a model and we</a:t>
            </a:r>
            <a:r>
              <a:rPr lang="en" sz="903">
                <a:solidFill>
                  <a:srgbClr val="5E7480"/>
                </a:solidFill>
                <a:latin typeface="Source Sans 3"/>
                <a:ea typeface="Source Sans 3"/>
                <a:cs typeface="Source Sans 3"/>
                <a:sym typeface="Source Sans 3"/>
              </a:rPr>
              <a:t>’ve designed </a:t>
            </a:r>
            <a:r>
              <a:rPr lang="en" sz="903">
                <a:solidFill>
                  <a:srgbClr val="5E7480"/>
                </a:solidFill>
                <a:latin typeface="Source Sans 3"/>
                <a:ea typeface="Source Sans 3"/>
                <a:cs typeface="Source Sans 3"/>
                <a:sym typeface="Source Sans 3"/>
              </a:rPr>
              <a:t>proprietary</a:t>
            </a:r>
            <a:r>
              <a:rPr lang="en" sz="903">
                <a:solidFill>
                  <a:srgbClr val="5E7480"/>
                </a:solidFill>
                <a:latin typeface="Source Sans 3"/>
                <a:ea typeface="Source Sans 3"/>
                <a:cs typeface="Source Sans 3"/>
                <a:sym typeface="Source Sans 3"/>
              </a:rPr>
              <a:t> ML.</a:t>
            </a:r>
            <a:r>
              <a:rPr b="0" i="0" lang="en" sz="903" u="none" cap="none" strike="noStrike">
                <a:solidFill>
                  <a:srgbClr val="5E7480"/>
                </a:solidFill>
                <a:latin typeface="Source Sans 3"/>
                <a:ea typeface="Source Sans 3"/>
                <a:cs typeface="Source Sans 3"/>
                <a:sym typeface="Source Sans 3"/>
              </a:rPr>
              <a:t>.</a:t>
            </a:r>
            <a:endParaRPr b="0" i="0" sz="903" u="none" cap="none" strike="noStrike">
              <a:solidFill>
                <a:srgbClr val="000000"/>
              </a:solidFill>
              <a:latin typeface="Calibri"/>
              <a:ea typeface="Calibri"/>
              <a:cs typeface="Calibri"/>
              <a:sym typeface="Calibri"/>
            </a:endParaRPr>
          </a:p>
        </p:txBody>
      </p:sp>
      <p:sp>
        <p:nvSpPr>
          <p:cNvPr id="350" name="Google Shape;350;p25"/>
          <p:cNvSpPr/>
          <p:nvPr/>
        </p:nvSpPr>
        <p:spPr>
          <a:xfrm>
            <a:off x="6225548" y="3382215"/>
            <a:ext cx="2341800" cy="328500"/>
          </a:xfrm>
          <a:prstGeom prst="rect">
            <a:avLst/>
          </a:prstGeom>
          <a:noFill/>
          <a:ln>
            <a:noFill/>
          </a:ln>
        </p:spPr>
        <p:txBody>
          <a:bodyPr anchorCtr="0" anchor="t" bIns="12750" lIns="12750" spcFirstLastPara="1" rIns="12750" wrap="square" tIns="12750">
            <a:noAutofit/>
          </a:bodyPr>
          <a:lstStyle/>
          <a:p>
            <a:pPr indent="0" lvl="0" marL="0" marR="0" rtl="0" algn="l">
              <a:lnSpc>
                <a:spcPct val="95294"/>
              </a:lnSpc>
              <a:spcBef>
                <a:spcPts val="0"/>
              </a:spcBef>
              <a:spcAft>
                <a:spcPts val="0"/>
              </a:spcAft>
              <a:buClr>
                <a:srgbClr val="C25A1E"/>
              </a:buClr>
              <a:buSzPts val="903"/>
              <a:buFont typeface="Source Sans 3"/>
              <a:buNone/>
            </a:pPr>
            <a:r>
              <a:rPr b="1" i="0" lang="en" sz="903" u="none" cap="none" strike="noStrike">
                <a:solidFill>
                  <a:srgbClr val="C25A1E"/>
                </a:solidFill>
                <a:latin typeface="Source Sans 3"/>
                <a:ea typeface="Source Sans 3"/>
                <a:cs typeface="Source Sans 3"/>
                <a:sym typeface="Source Sans 3"/>
              </a:rPr>
              <a:t>Owned panel data is the fix</a:t>
            </a:r>
            <a:r>
              <a:rPr b="1" lang="en" sz="903">
                <a:solidFill>
                  <a:srgbClr val="C25A1E"/>
                </a:solidFill>
                <a:latin typeface="Source Sans 3"/>
                <a:ea typeface="Source Sans 3"/>
                <a:cs typeface="Source Sans 3"/>
                <a:sym typeface="Source Sans 3"/>
              </a:rPr>
              <a:t>, leveraging our data moat</a:t>
            </a:r>
            <a:endParaRPr b="0" i="0" sz="903"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1F2"/>
        </a:solidFill>
      </p:bgPr>
    </p:bg>
    <p:spTree>
      <p:nvGrpSpPr>
        <p:cNvPr id="355" name="Shape 355"/>
        <p:cNvGrpSpPr/>
        <p:nvPr/>
      </p:nvGrpSpPr>
      <p:grpSpPr>
        <a:xfrm>
          <a:off x="0" y="0"/>
          <a:ext cx="0" cy="0"/>
          <a:chOff x="0" y="0"/>
          <a:chExt cx="0" cy="0"/>
        </a:xfrm>
      </p:grpSpPr>
      <p:sp>
        <p:nvSpPr>
          <p:cNvPr id="356" name="Google Shape;356;p26"/>
          <p:cNvSpPr/>
          <p:nvPr/>
        </p:nvSpPr>
        <p:spPr>
          <a:xfrm>
            <a:off x="476250" y="714375"/>
            <a:ext cx="9010800" cy="352200"/>
          </a:xfrm>
          <a:prstGeom prst="rect">
            <a:avLst/>
          </a:prstGeom>
          <a:noFill/>
          <a:ln>
            <a:noFill/>
          </a:ln>
        </p:spPr>
        <p:txBody>
          <a:bodyPr anchorCtr="0" anchor="t" bIns="12700" lIns="12700" spcFirstLastPara="1" rIns="12700" wrap="square" tIns="12700">
            <a:noAutofit/>
          </a:bodyPr>
          <a:lstStyle/>
          <a:p>
            <a:pPr indent="0" lvl="0" marL="0" marR="0" rtl="0" algn="l">
              <a:lnSpc>
                <a:spcPct val="77304"/>
              </a:lnSpc>
              <a:spcBef>
                <a:spcPts val="0"/>
              </a:spcBef>
              <a:spcAft>
                <a:spcPts val="0"/>
              </a:spcAft>
              <a:buClr>
                <a:srgbClr val="0B2430"/>
              </a:buClr>
              <a:buSzPts val="2500"/>
              <a:buFont typeface="Source Serif 4"/>
              <a:buNone/>
            </a:pPr>
            <a:r>
              <a:rPr b="1" i="0" lang="en" sz="2500" u="none" cap="none" strike="noStrike">
                <a:solidFill>
                  <a:srgbClr val="0B2430"/>
                </a:solidFill>
                <a:latin typeface="Cambria"/>
                <a:ea typeface="Cambria"/>
                <a:cs typeface="Cambria"/>
                <a:sym typeface="Cambria"/>
              </a:rPr>
              <a:t>Every </a:t>
            </a:r>
            <a:r>
              <a:rPr b="1" lang="en" sz="2500">
                <a:solidFill>
                  <a:srgbClr val="0B2430"/>
                </a:solidFill>
                <a:latin typeface="Cambria"/>
                <a:ea typeface="Cambria"/>
                <a:cs typeface="Cambria"/>
                <a:sym typeface="Cambria"/>
              </a:rPr>
              <a:t>result</a:t>
            </a:r>
            <a:r>
              <a:rPr b="1" i="0" lang="en" sz="2500" u="none" cap="none" strike="noStrike">
                <a:solidFill>
                  <a:srgbClr val="0B2430"/>
                </a:solidFill>
                <a:latin typeface="Cambria"/>
                <a:ea typeface="Cambria"/>
                <a:cs typeface="Cambria"/>
                <a:sym typeface="Cambria"/>
              </a:rPr>
              <a:t> </a:t>
            </a:r>
            <a:r>
              <a:rPr b="1" lang="en" sz="2500">
                <a:solidFill>
                  <a:srgbClr val="0B2430"/>
                </a:solidFill>
                <a:latin typeface="Cambria"/>
                <a:ea typeface="Cambria"/>
                <a:cs typeface="Cambria"/>
                <a:sym typeface="Cambria"/>
              </a:rPr>
              <a:t>is fully auditable</a:t>
            </a:r>
            <a:r>
              <a:rPr b="1" i="0" lang="en" sz="2500" u="none" cap="none" strike="noStrike">
                <a:solidFill>
                  <a:srgbClr val="0B2430"/>
                </a:solidFill>
                <a:latin typeface="Cambria"/>
                <a:ea typeface="Cambria"/>
                <a:cs typeface="Cambria"/>
                <a:sym typeface="Cambria"/>
              </a:rPr>
              <a:t>.</a:t>
            </a:r>
            <a:endParaRPr b="1" i="0" sz="2500" u="none" cap="none" strike="noStrike">
              <a:solidFill>
                <a:schemeClr val="dk1"/>
              </a:solidFill>
              <a:latin typeface="Cambria"/>
              <a:ea typeface="Cambria"/>
              <a:cs typeface="Cambria"/>
              <a:sym typeface="Cambria"/>
            </a:endParaRPr>
          </a:p>
        </p:txBody>
      </p:sp>
      <p:sp>
        <p:nvSpPr>
          <p:cNvPr id="357" name="Google Shape;357;p26"/>
          <p:cNvSpPr/>
          <p:nvPr/>
        </p:nvSpPr>
        <p:spPr>
          <a:xfrm>
            <a:off x="476250" y="1257077"/>
            <a:ext cx="4295700" cy="224700"/>
          </a:xfrm>
          <a:prstGeom prst="rect">
            <a:avLst/>
          </a:prstGeom>
          <a:noFill/>
          <a:ln>
            <a:noFill/>
          </a:ln>
        </p:spPr>
        <p:txBody>
          <a:bodyPr anchorCtr="0" anchor="t" bIns="12700" lIns="12700" spcFirstLastPara="1" rIns="12700" wrap="square" tIns="12700">
            <a:noAutofit/>
          </a:bodyPr>
          <a:lstStyle/>
          <a:p>
            <a:pPr indent="0" lvl="0" marL="0" marR="0" rtl="0" algn="l">
              <a:lnSpc>
                <a:spcPct val="83883"/>
              </a:lnSpc>
              <a:spcBef>
                <a:spcPts val="0"/>
              </a:spcBef>
              <a:spcAft>
                <a:spcPts val="0"/>
              </a:spcAft>
              <a:buClr>
                <a:srgbClr val="0B2430"/>
              </a:buClr>
              <a:buSzPts val="1400"/>
              <a:buFont typeface="Source Sans 3"/>
              <a:buNone/>
            </a:pPr>
            <a:r>
              <a:rPr b="1" i="0" lang="en" sz="1400" u="none" cap="none" strike="noStrike">
                <a:solidFill>
                  <a:srgbClr val="0B2430"/>
                </a:solidFill>
                <a:latin typeface="Source Sans 3"/>
                <a:ea typeface="Source Sans 3"/>
                <a:cs typeface="Source Sans 3"/>
                <a:sym typeface="Source Sans 3"/>
              </a:rPr>
              <a:t>We try to prove ourselves wrong.</a:t>
            </a:r>
            <a:endParaRPr b="0" i="0" sz="1400" u="none" cap="none" strike="noStrike">
              <a:solidFill>
                <a:schemeClr val="dk1"/>
              </a:solidFill>
              <a:latin typeface="Calibri"/>
              <a:ea typeface="Calibri"/>
              <a:cs typeface="Calibri"/>
              <a:sym typeface="Calibri"/>
            </a:endParaRPr>
          </a:p>
        </p:txBody>
      </p:sp>
      <p:sp>
        <p:nvSpPr>
          <p:cNvPr id="358" name="Google Shape;358;p26"/>
          <p:cNvSpPr/>
          <p:nvPr/>
        </p:nvSpPr>
        <p:spPr>
          <a:xfrm>
            <a:off x="476250" y="1558045"/>
            <a:ext cx="4022400" cy="378300"/>
          </a:xfrm>
          <a:prstGeom prst="rect">
            <a:avLst/>
          </a:prstGeom>
          <a:noFill/>
          <a:ln>
            <a:noFill/>
          </a:ln>
        </p:spPr>
        <p:txBody>
          <a:bodyPr anchorCtr="0" anchor="t" bIns="12700" lIns="12700" spcFirstLastPara="1" rIns="12700" wrap="square" tIns="12700">
            <a:noAutofit/>
          </a:bodyPr>
          <a:lstStyle/>
          <a:p>
            <a:pPr indent="0" lvl="0" marL="0" marR="0" rtl="0" algn="l">
              <a:lnSpc>
                <a:spcPct val="101892"/>
              </a:lnSpc>
              <a:spcBef>
                <a:spcPts val="0"/>
              </a:spcBef>
              <a:spcAft>
                <a:spcPts val="0"/>
              </a:spcAft>
              <a:buClr>
                <a:srgbClr val="5E7480"/>
              </a:buClr>
              <a:buSzPts val="1000"/>
              <a:buFont typeface="Source Sans 3"/>
              <a:buNone/>
            </a:pPr>
            <a:r>
              <a:rPr b="0" i="0" lang="en" sz="1000" u="none" cap="none" strike="noStrike">
                <a:solidFill>
                  <a:srgbClr val="5E7480"/>
                </a:solidFill>
                <a:latin typeface="Source Sans 3"/>
                <a:ea typeface="Source Sans 3"/>
                <a:cs typeface="Source Sans 3"/>
                <a:sym typeface="Source Sans 3"/>
              </a:rPr>
              <a:t>Software goes after our own results every day. It re-runs them on harder data, checks the maths a second way, and looks for anything that leaked.</a:t>
            </a:r>
            <a:endParaRPr b="0" i="0" sz="1000" u="none" cap="none" strike="noStrike">
              <a:solidFill>
                <a:schemeClr val="dk1"/>
              </a:solidFill>
              <a:latin typeface="Calibri"/>
              <a:ea typeface="Calibri"/>
              <a:cs typeface="Calibri"/>
              <a:sym typeface="Calibri"/>
            </a:endParaRPr>
          </a:p>
        </p:txBody>
      </p:sp>
      <p:sp>
        <p:nvSpPr>
          <p:cNvPr id="359" name="Google Shape;359;p26"/>
          <p:cNvSpPr/>
          <p:nvPr/>
        </p:nvSpPr>
        <p:spPr>
          <a:xfrm>
            <a:off x="476250" y="2140469"/>
            <a:ext cx="38280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25A1E"/>
              </a:buClr>
              <a:buSzPts val="1000"/>
              <a:buFont typeface="Source Sans 3"/>
              <a:buNone/>
            </a:pPr>
            <a:r>
              <a:rPr b="1" lang="en" sz="1000">
                <a:solidFill>
                  <a:srgbClr val="C25A1E"/>
                </a:solidFill>
                <a:latin typeface="Source Sans 3"/>
                <a:ea typeface="Source Sans 3"/>
                <a:cs typeface="Source Sans 3"/>
                <a:sym typeface="Source Sans 3"/>
              </a:rPr>
              <a:t>The system leverages the best of our modern tech stack to continuously improve</a:t>
            </a:r>
            <a:endParaRPr b="0" i="0" sz="1000" u="none" cap="none" strike="noStrike">
              <a:solidFill>
                <a:schemeClr val="dk1"/>
              </a:solidFill>
              <a:latin typeface="Calibri"/>
              <a:ea typeface="Calibri"/>
              <a:cs typeface="Calibri"/>
              <a:sym typeface="Calibri"/>
            </a:endParaRPr>
          </a:p>
        </p:txBody>
      </p:sp>
      <p:sp>
        <p:nvSpPr>
          <p:cNvPr id="360" name="Google Shape;360;p26"/>
          <p:cNvSpPr/>
          <p:nvPr/>
        </p:nvSpPr>
        <p:spPr>
          <a:xfrm>
            <a:off x="4762500" y="1257077"/>
            <a:ext cx="4295700" cy="224700"/>
          </a:xfrm>
          <a:prstGeom prst="rect">
            <a:avLst/>
          </a:prstGeom>
          <a:noFill/>
          <a:ln>
            <a:noFill/>
          </a:ln>
        </p:spPr>
        <p:txBody>
          <a:bodyPr anchorCtr="0" anchor="t" bIns="12700" lIns="12700" spcFirstLastPara="1" rIns="12700" wrap="square" tIns="12700">
            <a:noAutofit/>
          </a:bodyPr>
          <a:lstStyle/>
          <a:p>
            <a:pPr indent="0" lvl="0" marL="0" marR="0" rtl="0" algn="l">
              <a:lnSpc>
                <a:spcPct val="83883"/>
              </a:lnSpc>
              <a:spcBef>
                <a:spcPts val="0"/>
              </a:spcBef>
              <a:spcAft>
                <a:spcPts val="0"/>
              </a:spcAft>
              <a:buClr>
                <a:srgbClr val="0B2430"/>
              </a:buClr>
              <a:buSzPts val="1400"/>
              <a:buFont typeface="Source Sans 3"/>
              <a:buNone/>
            </a:pPr>
            <a:r>
              <a:rPr b="1" i="0" lang="en" sz="1400" u="none" cap="none" strike="noStrike">
                <a:solidFill>
                  <a:srgbClr val="0B2430"/>
                </a:solidFill>
                <a:latin typeface="Source Sans 3"/>
                <a:ea typeface="Source Sans 3"/>
                <a:cs typeface="Source Sans 3"/>
                <a:sym typeface="Source Sans 3"/>
              </a:rPr>
              <a:t>You can trace anything we hand you.</a:t>
            </a:r>
            <a:endParaRPr b="0" i="0" sz="1400" u="none" cap="none" strike="noStrike">
              <a:solidFill>
                <a:schemeClr val="dk1"/>
              </a:solidFill>
              <a:latin typeface="Calibri"/>
              <a:ea typeface="Calibri"/>
              <a:cs typeface="Calibri"/>
              <a:sym typeface="Calibri"/>
            </a:endParaRPr>
          </a:p>
        </p:txBody>
      </p:sp>
      <p:sp>
        <p:nvSpPr>
          <p:cNvPr id="361" name="Google Shape;361;p26"/>
          <p:cNvSpPr/>
          <p:nvPr/>
        </p:nvSpPr>
        <p:spPr>
          <a:xfrm>
            <a:off x="4762500" y="1558045"/>
            <a:ext cx="4022400" cy="557400"/>
          </a:xfrm>
          <a:prstGeom prst="rect">
            <a:avLst/>
          </a:prstGeom>
          <a:noFill/>
          <a:ln>
            <a:noFill/>
          </a:ln>
        </p:spPr>
        <p:txBody>
          <a:bodyPr anchorCtr="0" anchor="t" bIns="12700" lIns="12700" spcFirstLastPara="1" rIns="12700" wrap="square" tIns="12700">
            <a:noAutofit/>
          </a:bodyPr>
          <a:lstStyle/>
          <a:p>
            <a:pPr indent="0" lvl="0" marL="0" marR="0" rtl="0" algn="l">
              <a:lnSpc>
                <a:spcPct val="101892"/>
              </a:lnSpc>
              <a:spcBef>
                <a:spcPts val="0"/>
              </a:spcBef>
              <a:spcAft>
                <a:spcPts val="0"/>
              </a:spcAft>
              <a:buClr>
                <a:srgbClr val="5E7480"/>
              </a:buClr>
              <a:buSzPts val="1000"/>
              <a:buFont typeface="Source Sans 3"/>
              <a:buNone/>
            </a:pPr>
            <a:r>
              <a:rPr b="0" i="0" lang="en" sz="1000" u="none" cap="none" strike="noStrike">
                <a:solidFill>
                  <a:srgbClr val="5E7480"/>
                </a:solidFill>
                <a:latin typeface="Source Sans 3"/>
                <a:ea typeface="Source Sans 3"/>
                <a:cs typeface="Source Sans 3"/>
                <a:sym typeface="Source Sans 3"/>
              </a:rPr>
              <a:t>Each number carries a record of the data behind it, how it was tested, and who signed it off. </a:t>
            </a:r>
            <a:r>
              <a:rPr lang="en" sz="1000">
                <a:solidFill>
                  <a:srgbClr val="5E7480"/>
                </a:solidFill>
                <a:latin typeface="Source Sans 3"/>
                <a:ea typeface="Source Sans 3"/>
                <a:cs typeface="Source Sans 3"/>
                <a:sym typeface="Source Sans 3"/>
              </a:rPr>
              <a:t>Fully </a:t>
            </a:r>
            <a:r>
              <a:rPr lang="en" sz="1000">
                <a:solidFill>
                  <a:srgbClr val="5E7480"/>
                </a:solidFill>
                <a:latin typeface="Source Sans 3"/>
                <a:ea typeface="Source Sans 3"/>
                <a:cs typeface="Source Sans 3"/>
                <a:sym typeface="Source Sans 3"/>
              </a:rPr>
              <a:t>auditable</a:t>
            </a:r>
            <a:r>
              <a:rPr lang="en" sz="1000">
                <a:solidFill>
                  <a:srgbClr val="5E7480"/>
                </a:solidFill>
                <a:latin typeface="Source Sans 3"/>
                <a:ea typeface="Source Sans 3"/>
                <a:cs typeface="Source Sans 3"/>
                <a:sym typeface="Source Sans 3"/>
              </a:rPr>
              <a:t> and </a:t>
            </a:r>
            <a:r>
              <a:rPr lang="en" sz="1000">
                <a:solidFill>
                  <a:srgbClr val="5E7480"/>
                </a:solidFill>
                <a:latin typeface="Source Sans 3"/>
                <a:ea typeface="Source Sans 3"/>
                <a:cs typeface="Source Sans 3"/>
                <a:sym typeface="Source Sans 3"/>
              </a:rPr>
              <a:t>reproducible.</a:t>
            </a:r>
            <a:endParaRPr b="0" i="0" sz="1000" u="none" cap="none" strike="noStrike">
              <a:solidFill>
                <a:schemeClr val="dk1"/>
              </a:solidFill>
              <a:latin typeface="Calibri"/>
              <a:ea typeface="Calibri"/>
              <a:cs typeface="Calibri"/>
              <a:sym typeface="Calibri"/>
            </a:endParaRPr>
          </a:p>
        </p:txBody>
      </p:sp>
      <p:sp>
        <p:nvSpPr>
          <p:cNvPr id="362" name="Google Shape;362;p26"/>
          <p:cNvSpPr/>
          <p:nvPr/>
        </p:nvSpPr>
        <p:spPr>
          <a:xfrm>
            <a:off x="4762500" y="2191872"/>
            <a:ext cx="3645900" cy="1440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25A1E"/>
              </a:buClr>
              <a:buSzPts val="1000"/>
              <a:buFont typeface="Source Sans 3"/>
              <a:buNone/>
            </a:pPr>
            <a:r>
              <a:rPr b="1" lang="en" sz="1000">
                <a:solidFill>
                  <a:srgbClr val="C25A1E"/>
                </a:solidFill>
                <a:latin typeface="Source Sans 3"/>
                <a:ea typeface="Source Sans 3"/>
                <a:cs typeface="Source Sans 3"/>
                <a:sym typeface="Source Sans 3"/>
              </a:rPr>
              <a:t>Lack of traceability results in years of additional R&amp;D</a:t>
            </a:r>
            <a:r>
              <a:rPr b="1" i="0" lang="en" sz="1000" u="none" cap="none" strike="noStrike">
                <a:solidFill>
                  <a:srgbClr val="C25A1E"/>
                </a:solidFill>
                <a:latin typeface="Source Sans 3"/>
                <a:ea typeface="Source Sans 3"/>
                <a:cs typeface="Source Sans 3"/>
                <a:sym typeface="Source Sans 3"/>
              </a:rPr>
              <a:t>.</a:t>
            </a:r>
            <a:endParaRPr b="0" i="0" sz="1000" u="none" cap="none" strike="noStrike">
              <a:solidFill>
                <a:schemeClr val="dk1"/>
              </a:solidFill>
              <a:latin typeface="Calibri"/>
              <a:ea typeface="Calibri"/>
              <a:cs typeface="Calibri"/>
              <a:sym typeface="Calibri"/>
            </a:endParaRPr>
          </a:p>
        </p:txBody>
      </p:sp>
      <p:sp>
        <p:nvSpPr>
          <p:cNvPr id="363" name="Google Shape;363;p26"/>
          <p:cNvSpPr/>
          <p:nvPr/>
        </p:nvSpPr>
        <p:spPr>
          <a:xfrm>
            <a:off x="476250" y="2615729"/>
            <a:ext cx="8191500" cy="1524900"/>
          </a:xfrm>
          <a:prstGeom prst="rect">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4" name="Google Shape;364;p26"/>
          <p:cNvSpPr/>
          <p:nvPr/>
        </p:nvSpPr>
        <p:spPr>
          <a:xfrm>
            <a:off x="704850" y="2825279"/>
            <a:ext cx="8507700" cy="181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0"/>
              </a:buClr>
              <a:buSzPts val="900"/>
              <a:buFont typeface="Source Sans 3"/>
              <a:buNone/>
            </a:pPr>
            <a:r>
              <a:rPr b="1" lang="en" sz="900">
                <a:solidFill>
                  <a:srgbClr val="5E7480"/>
                </a:solidFill>
                <a:latin typeface="Source Sans 3"/>
                <a:ea typeface="Source Sans 3"/>
                <a:cs typeface="Source Sans 3"/>
                <a:sym typeface="Source Sans 3"/>
              </a:rPr>
              <a:t>Our machine learning is consistently tested, validated, and pressured.</a:t>
            </a:r>
            <a:endParaRPr b="0" i="0" sz="900" u="none" cap="none" strike="noStrike">
              <a:solidFill>
                <a:schemeClr val="dk1"/>
              </a:solidFill>
              <a:latin typeface="Calibri"/>
              <a:ea typeface="Calibri"/>
              <a:cs typeface="Calibri"/>
              <a:sym typeface="Calibri"/>
            </a:endParaRPr>
          </a:p>
        </p:txBody>
      </p:sp>
      <p:sp>
        <p:nvSpPr>
          <p:cNvPr id="365" name="Google Shape;365;p26"/>
          <p:cNvSpPr/>
          <p:nvPr/>
        </p:nvSpPr>
        <p:spPr>
          <a:xfrm>
            <a:off x="704850" y="3111028"/>
            <a:ext cx="5304600" cy="304800"/>
          </a:xfrm>
          <a:prstGeom prst="rect">
            <a:avLst/>
          </a:prstGeom>
          <a:solidFill>
            <a:srgbClr val="C25A1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6" name="Google Shape;366;p26"/>
          <p:cNvSpPr/>
          <p:nvPr/>
        </p:nvSpPr>
        <p:spPr>
          <a:xfrm>
            <a:off x="828675" y="3111028"/>
            <a:ext cx="5340000" cy="3240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FFFFFF"/>
              </a:buClr>
              <a:buSzPts val="900"/>
              <a:buFont typeface="Source Sans 3"/>
              <a:buNone/>
            </a:pPr>
            <a:r>
              <a:rPr b="1" i="0" lang="en" sz="900" u="none" cap="none" strike="noStrike">
                <a:solidFill>
                  <a:srgbClr val="FFFFFF"/>
                </a:solidFill>
                <a:latin typeface="Source Sans 3"/>
                <a:ea typeface="Source Sans 3"/>
                <a:cs typeface="Source Sans 3"/>
                <a:sym typeface="Source Sans 3"/>
              </a:rPr>
              <a:t>54 did not survive it</a:t>
            </a:r>
            <a:endParaRPr b="0" i="0" sz="900" u="none" cap="none" strike="noStrike">
              <a:solidFill>
                <a:schemeClr val="dk1"/>
              </a:solidFill>
              <a:latin typeface="Calibri"/>
              <a:ea typeface="Calibri"/>
              <a:cs typeface="Calibri"/>
              <a:sym typeface="Calibri"/>
            </a:endParaRPr>
          </a:p>
        </p:txBody>
      </p:sp>
      <p:sp>
        <p:nvSpPr>
          <p:cNvPr id="367" name="Google Shape;367;p26"/>
          <p:cNvSpPr/>
          <p:nvPr/>
        </p:nvSpPr>
        <p:spPr>
          <a:xfrm>
            <a:off x="6009457" y="3111028"/>
            <a:ext cx="2137800" cy="304800"/>
          </a:xfrm>
          <a:prstGeom prst="rect">
            <a:avLst/>
          </a:prstGeom>
          <a:solidFill>
            <a:srgbClr val="2E6F8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8" name="Google Shape;368;p26"/>
          <p:cNvSpPr/>
          <p:nvPr/>
        </p:nvSpPr>
        <p:spPr>
          <a:xfrm>
            <a:off x="6133282" y="3111028"/>
            <a:ext cx="2078100" cy="3240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FFFFFF"/>
              </a:buClr>
              <a:buSzPts val="900"/>
              <a:buFont typeface="Source Sans 3"/>
              <a:buNone/>
            </a:pPr>
            <a:r>
              <a:rPr b="1" i="0" lang="en" sz="900" u="none" cap="none" strike="noStrike">
                <a:solidFill>
                  <a:srgbClr val="FFFFFF"/>
                </a:solidFill>
                <a:latin typeface="Source Sans 3"/>
                <a:ea typeface="Source Sans 3"/>
                <a:cs typeface="Source Sans 3"/>
                <a:sym typeface="Source Sans 3"/>
              </a:rPr>
              <a:t>21 held</a:t>
            </a:r>
            <a:endParaRPr b="0" i="0" sz="900" u="none" cap="none" strike="noStrike">
              <a:solidFill>
                <a:schemeClr val="dk1"/>
              </a:solidFill>
              <a:latin typeface="Calibri"/>
              <a:ea typeface="Calibri"/>
              <a:cs typeface="Calibri"/>
              <a:sym typeface="Calibri"/>
            </a:endParaRPr>
          </a:p>
        </p:txBody>
      </p:sp>
      <p:sp>
        <p:nvSpPr>
          <p:cNvPr id="369" name="Google Shape;369;p26"/>
          <p:cNvSpPr/>
          <p:nvPr/>
        </p:nvSpPr>
        <p:spPr>
          <a:xfrm>
            <a:off x="8147187" y="3111028"/>
            <a:ext cx="291900" cy="304800"/>
          </a:xfrm>
          <a:prstGeom prst="rect">
            <a:avLst/>
          </a:prstGeom>
          <a:solidFill>
            <a:srgbClr val="E8A578"/>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0" name="Google Shape;370;p26"/>
          <p:cNvSpPr/>
          <p:nvPr/>
        </p:nvSpPr>
        <p:spPr>
          <a:xfrm>
            <a:off x="704850" y="3587279"/>
            <a:ext cx="441000" cy="362100"/>
          </a:xfrm>
          <a:prstGeom prst="rect">
            <a:avLst/>
          </a:prstGeom>
          <a:noFill/>
          <a:ln>
            <a:noFill/>
          </a:ln>
        </p:spPr>
        <p:txBody>
          <a:bodyPr anchorCtr="0" anchor="t" bIns="12700" lIns="12700" spcFirstLastPara="1" rIns="12700" wrap="square" tIns="12700">
            <a:noAutofit/>
          </a:bodyPr>
          <a:lstStyle/>
          <a:p>
            <a:pPr indent="0" lvl="0" marL="0" marR="0" rtl="0" algn="l">
              <a:lnSpc>
                <a:spcPct val="65455"/>
              </a:lnSpc>
              <a:spcBef>
                <a:spcPts val="0"/>
              </a:spcBef>
              <a:spcAft>
                <a:spcPts val="0"/>
              </a:spcAft>
              <a:buClr>
                <a:srgbClr val="0B2430"/>
              </a:buClr>
              <a:buSzPts val="3000"/>
              <a:buFont typeface="Source Serif 4"/>
              <a:buNone/>
            </a:pPr>
            <a:r>
              <a:rPr b="0" i="0" lang="en" sz="3000" u="none" cap="none" strike="noStrike">
                <a:solidFill>
                  <a:srgbClr val="0B2430"/>
                </a:solidFill>
                <a:latin typeface="Source Serif 4"/>
                <a:ea typeface="Source Serif 4"/>
                <a:cs typeface="Source Serif 4"/>
                <a:sym typeface="Source Serif 4"/>
              </a:rPr>
              <a:t>78</a:t>
            </a:r>
            <a:endParaRPr b="0" i="0" sz="3000" u="none" cap="none" strike="noStrike">
              <a:solidFill>
                <a:schemeClr val="dk1"/>
              </a:solidFill>
              <a:latin typeface="Calibri"/>
              <a:ea typeface="Calibri"/>
              <a:cs typeface="Calibri"/>
              <a:sym typeface="Calibri"/>
            </a:endParaRPr>
          </a:p>
        </p:txBody>
      </p:sp>
      <p:sp>
        <p:nvSpPr>
          <p:cNvPr id="371" name="Google Shape;371;p26"/>
          <p:cNvSpPr/>
          <p:nvPr/>
        </p:nvSpPr>
        <p:spPr>
          <a:xfrm>
            <a:off x="1193676" y="3782541"/>
            <a:ext cx="1099800" cy="167700"/>
          </a:xfrm>
          <a:prstGeom prst="rect">
            <a:avLst/>
          </a:prstGeom>
          <a:noFill/>
          <a:ln>
            <a:noFill/>
          </a:ln>
        </p:spPr>
        <p:txBody>
          <a:bodyPr anchorCtr="0" anchor="t" bIns="12700" lIns="12700" spcFirstLastPara="1" rIns="12700" wrap="square" tIns="12700">
            <a:noAutofit/>
          </a:bodyPr>
          <a:lstStyle/>
          <a:p>
            <a:pPr indent="0" lvl="0" marL="0" marR="0" rtl="0" algn="l">
              <a:lnSpc>
                <a:spcPct val="91765"/>
              </a:lnSpc>
              <a:spcBef>
                <a:spcPts val="0"/>
              </a:spcBef>
              <a:spcAft>
                <a:spcPts val="0"/>
              </a:spcAft>
              <a:buClr>
                <a:srgbClr val="5E7480"/>
              </a:buClr>
              <a:buSzPts val="900"/>
              <a:buFont typeface="Source Sans 3"/>
              <a:buNone/>
            </a:pPr>
            <a:r>
              <a:rPr b="0" i="0" lang="en" sz="900" u="none" cap="none" strike="noStrike">
                <a:solidFill>
                  <a:srgbClr val="5E7480"/>
                </a:solidFill>
                <a:latin typeface="Source Sans 3"/>
                <a:ea typeface="Source Sans 3"/>
                <a:cs typeface="Source Sans 3"/>
                <a:sym typeface="Source Sans 3"/>
              </a:rPr>
              <a:t>claims put to the test</a:t>
            </a:r>
            <a:endParaRPr b="0" i="0" sz="900" u="none" cap="none" strike="noStrike">
              <a:solidFill>
                <a:schemeClr val="dk1"/>
              </a:solidFill>
              <a:latin typeface="Calibri"/>
              <a:ea typeface="Calibri"/>
              <a:cs typeface="Calibri"/>
              <a:sym typeface="Calibri"/>
            </a:endParaRPr>
          </a:p>
        </p:txBody>
      </p:sp>
      <p:sp>
        <p:nvSpPr>
          <p:cNvPr id="372" name="Google Shape;372;p26"/>
          <p:cNvSpPr/>
          <p:nvPr/>
        </p:nvSpPr>
        <p:spPr>
          <a:xfrm>
            <a:off x="3359125" y="3587279"/>
            <a:ext cx="441000" cy="362100"/>
          </a:xfrm>
          <a:prstGeom prst="rect">
            <a:avLst/>
          </a:prstGeom>
          <a:noFill/>
          <a:ln>
            <a:noFill/>
          </a:ln>
        </p:spPr>
        <p:txBody>
          <a:bodyPr anchorCtr="0" anchor="t" bIns="12700" lIns="12700" spcFirstLastPara="1" rIns="12700" wrap="square" tIns="12700">
            <a:noAutofit/>
          </a:bodyPr>
          <a:lstStyle/>
          <a:p>
            <a:pPr indent="0" lvl="0" marL="0" marR="0" rtl="0" algn="l">
              <a:lnSpc>
                <a:spcPct val="65455"/>
              </a:lnSpc>
              <a:spcBef>
                <a:spcPts val="0"/>
              </a:spcBef>
              <a:spcAft>
                <a:spcPts val="0"/>
              </a:spcAft>
              <a:buClr>
                <a:srgbClr val="C25A1E"/>
              </a:buClr>
              <a:buSzPts val="3000"/>
              <a:buFont typeface="Source Serif 4"/>
              <a:buNone/>
            </a:pPr>
            <a:r>
              <a:rPr b="0" i="0" lang="en" sz="3000" u="none" cap="none" strike="noStrike">
                <a:solidFill>
                  <a:srgbClr val="C25A1E"/>
                </a:solidFill>
                <a:latin typeface="Source Serif 4"/>
                <a:ea typeface="Source Serif 4"/>
                <a:cs typeface="Source Serif 4"/>
                <a:sym typeface="Source Serif 4"/>
              </a:rPr>
              <a:t>54</a:t>
            </a:r>
            <a:endParaRPr b="0" i="0" sz="3000" u="none" cap="none" strike="noStrike">
              <a:solidFill>
                <a:schemeClr val="dk1"/>
              </a:solidFill>
              <a:latin typeface="Calibri"/>
              <a:ea typeface="Calibri"/>
              <a:cs typeface="Calibri"/>
              <a:sym typeface="Calibri"/>
            </a:endParaRPr>
          </a:p>
        </p:txBody>
      </p:sp>
      <p:sp>
        <p:nvSpPr>
          <p:cNvPr id="373" name="Google Shape;373;p26"/>
          <p:cNvSpPr/>
          <p:nvPr/>
        </p:nvSpPr>
        <p:spPr>
          <a:xfrm>
            <a:off x="3847951" y="3782541"/>
            <a:ext cx="874800" cy="167700"/>
          </a:xfrm>
          <a:prstGeom prst="rect">
            <a:avLst/>
          </a:prstGeom>
          <a:noFill/>
          <a:ln>
            <a:noFill/>
          </a:ln>
        </p:spPr>
        <p:txBody>
          <a:bodyPr anchorCtr="0" anchor="t" bIns="12700" lIns="12700" spcFirstLastPara="1" rIns="12700" wrap="square" tIns="12700">
            <a:noAutofit/>
          </a:bodyPr>
          <a:lstStyle/>
          <a:p>
            <a:pPr indent="0" lvl="0" marL="0" marR="0" rtl="0" algn="l">
              <a:lnSpc>
                <a:spcPct val="91765"/>
              </a:lnSpc>
              <a:spcBef>
                <a:spcPts val="0"/>
              </a:spcBef>
              <a:spcAft>
                <a:spcPts val="0"/>
              </a:spcAft>
              <a:buClr>
                <a:srgbClr val="5E7480"/>
              </a:buClr>
              <a:buSzPts val="900"/>
              <a:buFont typeface="Source Sans 3"/>
              <a:buNone/>
            </a:pPr>
            <a:r>
              <a:rPr b="0" i="0" lang="en" sz="900" u="none" cap="none" strike="noStrike">
                <a:solidFill>
                  <a:srgbClr val="5E7480"/>
                </a:solidFill>
                <a:latin typeface="Source Sans 3"/>
                <a:ea typeface="Source Sans 3"/>
                <a:cs typeface="Source Sans 3"/>
                <a:sym typeface="Source Sans 3"/>
              </a:rPr>
              <a:t>did not survive it</a:t>
            </a:r>
            <a:endParaRPr b="0" i="0" sz="900" u="none" cap="none" strike="noStrike">
              <a:solidFill>
                <a:schemeClr val="dk1"/>
              </a:solidFill>
              <a:latin typeface="Calibri"/>
              <a:ea typeface="Calibri"/>
              <a:cs typeface="Calibri"/>
              <a:sym typeface="Calibri"/>
            </a:endParaRPr>
          </a:p>
        </p:txBody>
      </p:sp>
      <p:sp>
        <p:nvSpPr>
          <p:cNvPr id="374" name="Google Shape;374;p26"/>
          <p:cNvSpPr/>
          <p:nvPr/>
        </p:nvSpPr>
        <p:spPr>
          <a:xfrm>
            <a:off x="6013438" y="3587279"/>
            <a:ext cx="239700" cy="362100"/>
          </a:xfrm>
          <a:prstGeom prst="rect">
            <a:avLst/>
          </a:prstGeom>
          <a:noFill/>
          <a:ln>
            <a:noFill/>
          </a:ln>
        </p:spPr>
        <p:txBody>
          <a:bodyPr anchorCtr="0" anchor="t" bIns="12700" lIns="12700" spcFirstLastPara="1" rIns="12700" wrap="square" tIns="12700">
            <a:noAutofit/>
          </a:bodyPr>
          <a:lstStyle/>
          <a:p>
            <a:pPr indent="0" lvl="0" marL="0" marR="0" rtl="0" algn="l">
              <a:lnSpc>
                <a:spcPct val="65455"/>
              </a:lnSpc>
              <a:spcBef>
                <a:spcPts val="0"/>
              </a:spcBef>
              <a:spcAft>
                <a:spcPts val="0"/>
              </a:spcAft>
              <a:buClr>
                <a:srgbClr val="E8A578"/>
              </a:buClr>
              <a:buSzPts val="3000"/>
              <a:buFont typeface="Source Serif 4"/>
              <a:buNone/>
            </a:pPr>
            <a:r>
              <a:rPr b="0" i="0" lang="en" sz="3000" u="none" cap="none" strike="noStrike">
                <a:solidFill>
                  <a:srgbClr val="E8A578"/>
                </a:solidFill>
                <a:latin typeface="Source Serif 4"/>
                <a:ea typeface="Source Serif 4"/>
                <a:cs typeface="Source Serif 4"/>
                <a:sym typeface="Source Serif 4"/>
              </a:rPr>
              <a:t>3</a:t>
            </a:r>
            <a:endParaRPr b="0" i="0" sz="3000" u="none" cap="none" strike="noStrike">
              <a:solidFill>
                <a:schemeClr val="dk1"/>
              </a:solidFill>
              <a:latin typeface="Calibri"/>
              <a:ea typeface="Calibri"/>
              <a:cs typeface="Calibri"/>
              <a:sym typeface="Calibri"/>
            </a:endParaRPr>
          </a:p>
        </p:txBody>
      </p:sp>
      <p:sp>
        <p:nvSpPr>
          <p:cNvPr id="375" name="Google Shape;375;p26"/>
          <p:cNvSpPr/>
          <p:nvPr/>
        </p:nvSpPr>
        <p:spPr>
          <a:xfrm>
            <a:off x="6300713" y="3782541"/>
            <a:ext cx="1464900" cy="167700"/>
          </a:xfrm>
          <a:prstGeom prst="rect">
            <a:avLst/>
          </a:prstGeom>
          <a:noFill/>
          <a:ln>
            <a:noFill/>
          </a:ln>
        </p:spPr>
        <p:txBody>
          <a:bodyPr anchorCtr="0" anchor="t" bIns="12700" lIns="12700" spcFirstLastPara="1" rIns="12700" wrap="square" tIns="12700">
            <a:noAutofit/>
          </a:bodyPr>
          <a:lstStyle/>
          <a:p>
            <a:pPr indent="0" lvl="0" marL="0" marR="0" rtl="0" algn="l">
              <a:lnSpc>
                <a:spcPct val="91765"/>
              </a:lnSpc>
              <a:spcBef>
                <a:spcPts val="0"/>
              </a:spcBef>
              <a:spcAft>
                <a:spcPts val="0"/>
              </a:spcAft>
              <a:buClr>
                <a:srgbClr val="5E7480"/>
              </a:buClr>
              <a:buSzPts val="900"/>
              <a:buFont typeface="Source Sans 3"/>
              <a:buNone/>
            </a:pPr>
            <a:r>
              <a:rPr b="0" i="0" lang="en" sz="900" u="none" cap="none" strike="noStrike">
                <a:solidFill>
                  <a:srgbClr val="5E7480"/>
                </a:solidFill>
                <a:latin typeface="Source Sans 3"/>
                <a:ea typeface="Source Sans 3"/>
                <a:cs typeface="Source Sans 3"/>
                <a:sym typeface="Source Sans 3"/>
              </a:rPr>
              <a:t>were fixes we had just made</a:t>
            </a:r>
            <a:endParaRPr b="0" i="0" sz="900" u="none" cap="none" strike="noStrike">
              <a:solidFill>
                <a:schemeClr val="dk1"/>
              </a:solidFill>
              <a:latin typeface="Calibri"/>
              <a:ea typeface="Calibri"/>
              <a:cs typeface="Calibri"/>
              <a:sym typeface="Calibri"/>
            </a:endParaRPr>
          </a:p>
        </p:txBody>
      </p:sp>
      <p:sp>
        <p:nvSpPr>
          <p:cNvPr id="376" name="Google Shape;376;p26"/>
          <p:cNvSpPr/>
          <p:nvPr/>
        </p:nvSpPr>
        <p:spPr>
          <a:xfrm>
            <a:off x="8554120" y="4619625"/>
            <a:ext cx="151800" cy="181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0"/>
              </a:buClr>
              <a:buSzPts val="900"/>
              <a:buFont typeface="Source Sans 3"/>
              <a:buNone/>
            </a:pPr>
            <a:r>
              <a:rPr b="0" i="0" lang="en" sz="900" u="none" cap="none" strike="noStrike">
                <a:solidFill>
                  <a:srgbClr val="5E7480"/>
                </a:solidFill>
                <a:latin typeface="Source Sans 3"/>
                <a:ea typeface="Source Sans 3"/>
                <a:cs typeface="Source Sans 3"/>
                <a:sym typeface="Source Sans 3"/>
              </a:rPr>
              <a:t>10</a:t>
            </a:r>
            <a:endParaRPr b="0" i="0" sz="900" u="none" cap="none" strike="noStrike">
              <a:solidFill>
                <a:schemeClr val="dk1"/>
              </a:solidFill>
              <a:latin typeface="Calibri"/>
              <a:ea typeface="Calibri"/>
              <a:cs typeface="Calibri"/>
              <a:sym typeface="Calibri"/>
            </a:endParaRPr>
          </a:p>
        </p:txBody>
      </p:sp>
      <p:sp>
        <p:nvSpPr>
          <p:cNvPr id="377" name="Google Shape;377;p26"/>
          <p:cNvSpPr/>
          <p:nvPr/>
        </p:nvSpPr>
        <p:spPr>
          <a:xfrm>
            <a:off x="445770" y="377190"/>
            <a:ext cx="7543800" cy="19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RELIABILITY</a:t>
            </a:r>
            <a:endParaRPr sz="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2" name="Shape 382"/>
        <p:cNvGrpSpPr/>
        <p:nvPr/>
      </p:nvGrpSpPr>
      <p:grpSpPr>
        <a:xfrm>
          <a:off x="0" y="0"/>
          <a:ext cx="0" cy="0"/>
          <a:chOff x="0" y="0"/>
          <a:chExt cx="0" cy="0"/>
        </a:xfrm>
      </p:grpSpPr>
      <p:sp>
        <p:nvSpPr>
          <p:cNvPr id="383" name="Google Shape;383;p27"/>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PHYSICAL VALIDATION</a:t>
            </a:r>
            <a:endParaRPr sz="800">
              <a:solidFill>
                <a:schemeClr val="dk1"/>
              </a:solidFill>
              <a:latin typeface="Calibri"/>
              <a:ea typeface="Calibri"/>
              <a:cs typeface="Calibri"/>
              <a:sym typeface="Calibri"/>
            </a:endParaRPr>
          </a:p>
        </p:txBody>
      </p:sp>
      <p:sp>
        <p:nvSpPr>
          <p:cNvPr id="384" name="Google Shape;384;p27"/>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600"/>
              <a:buFont typeface="Cambria"/>
              <a:buNone/>
            </a:pPr>
            <a:r>
              <a:rPr b="1" lang="en" sz="2600">
                <a:solidFill>
                  <a:srgbClr val="16333D"/>
                </a:solidFill>
                <a:latin typeface="Cambria"/>
                <a:ea typeface="Cambria"/>
                <a:cs typeface="Cambria"/>
                <a:sym typeface="Cambria"/>
              </a:rPr>
              <a:t>We partner nationally with leading labs to physically validate our materials</a:t>
            </a:r>
            <a:endParaRPr sz="2600">
              <a:solidFill>
                <a:schemeClr val="dk1"/>
              </a:solidFill>
              <a:latin typeface="Calibri"/>
              <a:ea typeface="Calibri"/>
              <a:cs typeface="Calibri"/>
              <a:sym typeface="Calibri"/>
            </a:endParaRPr>
          </a:p>
        </p:txBody>
      </p:sp>
      <p:sp>
        <p:nvSpPr>
          <p:cNvPr id="385" name="Google Shape;385;p27"/>
          <p:cNvSpPr/>
          <p:nvPr/>
        </p:nvSpPr>
        <p:spPr>
          <a:xfrm>
            <a:off x="445770" y="1762142"/>
            <a:ext cx="1563600" cy="1920300"/>
          </a:xfrm>
          <a:prstGeom prst="roundRect">
            <a:avLst>
              <a:gd fmla="val 2632"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6" name="Google Shape;386;p27"/>
          <p:cNvSpPr/>
          <p:nvPr/>
        </p:nvSpPr>
        <p:spPr>
          <a:xfrm>
            <a:off x="610362" y="1906160"/>
            <a:ext cx="1234500" cy="377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333D"/>
              </a:buClr>
              <a:buSzPts val="1100"/>
              <a:buFont typeface="Cambria"/>
              <a:buNone/>
            </a:pPr>
            <a:r>
              <a:rPr b="1" lang="en" sz="1100">
                <a:solidFill>
                  <a:srgbClr val="16333D"/>
                </a:solidFill>
                <a:latin typeface="Cambria"/>
                <a:ea typeface="Cambria"/>
                <a:cs typeface="Cambria"/>
                <a:sym typeface="Cambria"/>
              </a:rPr>
              <a:t>National Polymer</a:t>
            </a:r>
            <a:endParaRPr sz="1100">
              <a:solidFill>
                <a:schemeClr val="dk1"/>
              </a:solidFill>
              <a:latin typeface="Calibri"/>
              <a:ea typeface="Calibri"/>
              <a:cs typeface="Calibri"/>
              <a:sym typeface="Calibri"/>
            </a:endParaRPr>
          </a:p>
        </p:txBody>
      </p:sp>
      <p:sp>
        <p:nvSpPr>
          <p:cNvPr id="387" name="Google Shape;387;p27"/>
          <p:cNvSpPr/>
          <p:nvPr/>
        </p:nvSpPr>
        <p:spPr>
          <a:xfrm>
            <a:off x="610362" y="2290208"/>
            <a:ext cx="1234500" cy="164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Chagrin Falls, OH</a:t>
            </a:r>
            <a:endParaRPr sz="800">
              <a:solidFill>
                <a:schemeClr val="dk1"/>
              </a:solidFill>
              <a:latin typeface="Calibri"/>
              <a:ea typeface="Calibri"/>
              <a:cs typeface="Calibri"/>
              <a:sym typeface="Calibri"/>
            </a:endParaRPr>
          </a:p>
        </p:txBody>
      </p:sp>
      <p:sp>
        <p:nvSpPr>
          <p:cNvPr id="388" name="Google Shape;388;p27"/>
          <p:cNvSpPr/>
          <p:nvPr/>
        </p:nvSpPr>
        <p:spPr>
          <a:xfrm>
            <a:off x="610362" y="2509664"/>
            <a:ext cx="1234500" cy="10974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Custom synthesis, formulation, engineered coatings, pilot and roll-to-roll coating.</a:t>
            </a:r>
            <a:endParaRPr sz="900">
              <a:solidFill>
                <a:schemeClr val="dk1"/>
              </a:solidFill>
              <a:latin typeface="Calibri"/>
              <a:ea typeface="Calibri"/>
              <a:cs typeface="Calibri"/>
              <a:sym typeface="Calibri"/>
            </a:endParaRPr>
          </a:p>
        </p:txBody>
      </p:sp>
      <p:sp>
        <p:nvSpPr>
          <p:cNvPr id="389" name="Google Shape;389;p27"/>
          <p:cNvSpPr/>
          <p:nvPr/>
        </p:nvSpPr>
        <p:spPr>
          <a:xfrm>
            <a:off x="2108835" y="1762142"/>
            <a:ext cx="1563600" cy="1920300"/>
          </a:xfrm>
          <a:prstGeom prst="roundRect">
            <a:avLst>
              <a:gd fmla="val 2632"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0" name="Google Shape;390;p27"/>
          <p:cNvSpPr/>
          <p:nvPr/>
        </p:nvSpPr>
        <p:spPr>
          <a:xfrm>
            <a:off x="2273427" y="1906160"/>
            <a:ext cx="1234500" cy="377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333D"/>
              </a:buClr>
              <a:buSzPts val="1100"/>
              <a:buFont typeface="Cambria"/>
              <a:buNone/>
            </a:pPr>
            <a:r>
              <a:rPr b="1" lang="en" sz="1100">
                <a:solidFill>
                  <a:srgbClr val="16333D"/>
                </a:solidFill>
                <a:latin typeface="Cambria"/>
                <a:ea typeface="Cambria"/>
                <a:cs typeface="Cambria"/>
                <a:sym typeface="Cambria"/>
              </a:rPr>
              <a:t>Parimer Scientific</a:t>
            </a:r>
            <a:endParaRPr sz="1100">
              <a:solidFill>
                <a:schemeClr val="dk1"/>
              </a:solidFill>
              <a:latin typeface="Calibri"/>
              <a:ea typeface="Calibri"/>
              <a:cs typeface="Calibri"/>
              <a:sym typeface="Calibri"/>
            </a:endParaRPr>
          </a:p>
        </p:txBody>
      </p:sp>
      <p:sp>
        <p:nvSpPr>
          <p:cNvPr id="391" name="Google Shape;391;p27"/>
          <p:cNvSpPr/>
          <p:nvPr/>
        </p:nvSpPr>
        <p:spPr>
          <a:xfrm>
            <a:off x="2273427" y="2290208"/>
            <a:ext cx="1234500" cy="164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Easley, SC</a:t>
            </a:r>
            <a:endParaRPr sz="800">
              <a:solidFill>
                <a:schemeClr val="dk1"/>
              </a:solidFill>
              <a:latin typeface="Calibri"/>
              <a:ea typeface="Calibri"/>
              <a:cs typeface="Calibri"/>
              <a:sym typeface="Calibri"/>
            </a:endParaRPr>
          </a:p>
        </p:txBody>
      </p:sp>
      <p:sp>
        <p:nvSpPr>
          <p:cNvPr id="392" name="Google Shape;392;p27"/>
          <p:cNvSpPr/>
          <p:nvPr/>
        </p:nvSpPr>
        <p:spPr>
          <a:xfrm>
            <a:off x="2273427" y="2509664"/>
            <a:ext cx="1234500" cy="10974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Compound design, cGMP manufacturing, HPLC, GPC, DSC and FTIR, method development.</a:t>
            </a:r>
            <a:endParaRPr sz="900">
              <a:solidFill>
                <a:schemeClr val="dk1"/>
              </a:solidFill>
              <a:latin typeface="Calibri"/>
              <a:ea typeface="Calibri"/>
              <a:cs typeface="Calibri"/>
              <a:sym typeface="Calibri"/>
            </a:endParaRPr>
          </a:p>
        </p:txBody>
      </p:sp>
      <p:sp>
        <p:nvSpPr>
          <p:cNvPr id="393" name="Google Shape;393;p27"/>
          <p:cNvSpPr/>
          <p:nvPr/>
        </p:nvSpPr>
        <p:spPr>
          <a:xfrm>
            <a:off x="3771900" y="1762142"/>
            <a:ext cx="1563600" cy="1920300"/>
          </a:xfrm>
          <a:prstGeom prst="roundRect">
            <a:avLst>
              <a:gd fmla="val 2632"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4" name="Google Shape;394;p27"/>
          <p:cNvSpPr/>
          <p:nvPr/>
        </p:nvSpPr>
        <p:spPr>
          <a:xfrm>
            <a:off x="3936492" y="1906160"/>
            <a:ext cx="1234500" cy="377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333D"/>
              </a:buClr>
              <a:buSzPts val="1100"/>
              <a:buFont typeface="Cambria"/>
              <a:buNone/>
            </a:pPr>
            <a:r>
              <a:rPr b="1" lang="en" sz="1100">
                <a:solidFill>
                  <a:srgbClr val="16333D"/>
                </a:solidFill>
                <a:latin typeface="Cambria"/>
                <a:ea typeface="Cambria"/>
                <a:cs typeface="Cambria"/>
                <a:sym typeface="Cambria"/>
              </a:rPr>
              <a:t>UMass Lowell</a:t>
            </a:r>
            <a:endParaRPr sz="1100">
              <a:solidFill>
                <a:schemeClr val="dk1"/>
              </a:solidFill>
              <a:latin typeface="Calibri"/>
              <a:ea typeface="Calibri"/>
              <a:cs typeface="Calibri"/>
              <a:sym typeface="Calibri"/>
            </a:endParaRPr>
          </a:p>
        </p:txBody>
      </p:sp>
      <p:sp>
        <p:nvSpPr>
          <p:cNvPr id="395" name="Google Shape;395;p27"/>
          <p:cNvSpPr/>
          <p:nvPr/>
        </p:nvSpPr>
        <p:spPr>
          <a:xfrm>
            <a:off x="3936492" y="2290208"/>
            <a:ext cx="1234500" cy="164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Lowell, MA</a:t>
            </a:r>
            <a:endParaRPr sz="800">
              <a:solidFill>
                <a:schemeClr val="dk1"/>
              </a:solidFill>
              <a:latin typeface="Calibri"/>
              <a:ea typeface="Calibri"/>
              <a:cs typeface="Calibri"/>
              <a:sym typeface="Calibri"/>
            </a:endParaRPr>
          </a:p>
        </p:txBody>
      </p:sp>
      <p:sp>
        <p:nvSpPr>
          <p:cNvPr id="396" name="Google Shape;396;p27"/>
          <p:cNvSpPr/>
          <p:nvPr/>
        </p:nvSpPr>
        <p:spPr>
          <a:xfrm>
            <a:off x="3936492" y="2509664"/>
            <a:ext cx="1234500" cy="10974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Polymer characterisation with salt spray and corrosion testing. Army and Navy funded.</a:t>
            </a:r>
            <a:endParaRPr sz="900">
              <a:solidFill>
                <a:schemeClr val="dk1"/>
              </a:solidFill>
              <a:latin typeface="Calibri"/>
              <a:ea typeface="Calibri"/>
              <a:cs typeface="Calibri"/>
              <a:sym typeface="Calibri"/>
            </a:endParaRPr>
          </a:p>
        </p:txBody>
      </p:sp>
      <p:sp>
        <p:nvSpPr>
          <p:cNvPr id="397" name="Google Shape;397;p27"/>
          <p:cNvSpPr/>
          <p:nvPr/>
        </p:nvSpPr>
        <p:spPr>
          <a:xfrm>
            <a:off x="5434965" y="1762142"/>
            <a:ext cx="1563600" cy="1920300"/>
          </a:xfrm>
          <a:prstGeom prst="roundRect">
            <a:avLst>
              <a:gd fmla="val 2632"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8" name="Google Shape;398;p27"/>
          <p:cNvSpPr/>
          <p:nvPr/>
        </p:nvSpPr>
        <p:spPr>
          <a:xfrm>
            <a:off x="5599557" y="1906160"/>
            <a:ext cx="1234500" cy="377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333D"/>
              </a:buClr>
              <a:buSzPts val="1100"/>
              <a:buFont typeface="Cambria"/>
              <a:buNone/>
            </a:pPr>
            <a:r>
              <a:rPr b="1" lang="en" sz="1100">
                <a:solidFill>
                  <a:srgbClr val="16333D"/>
                </a:solidFill>
                <a:latin typeface="Cambria"/>
                <a:ea typeface="Cambria"/>
                <a:cs typeface="Cambria"/>
                <a:sym typeface="Cambria"/>
              </a:rPr>
              <a:t>MIT.nano</a:t>
            </a:r>
            <a:endParaRPr sz="1100">
              <a:solidFill>
                <a:schemeClr val="dk1"/>
              </a:solidFill>
              <a:latin typeface="Calibri"/>
              <a:ea typeface="Calibri"/>
              <a:cs typeface="Calibri"/>
              <a:sym typeface="Calibri"/>
            </a:endParaRPr>
          </a:p>
        </p:txBody>
      </p:sp>
      <p:sp>
        <p:nvSpPr>
          <p:cNvPr id="399" name="Google Shape;399;p27"/>
          <p:cNvSpPr/>
          <p:nvPr/>
        </p:nvSpPr>
        <p:spPr>
          <a:xfrm>
            <a:off x="5599557" y="2290208"/>
            <a:ext cx="1234500" cy="164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Cambridge, MA</a:t>
            </a:r>
            <a:endParaRPr sz="800">
              <a:solidFill>
                <a:schemeClr val="dk1"/>
              </a:solidFill>
              <a:latin typeface="Calibri"/>
              <a:ea typeface="Calibri"/>
              <a:cs typeface="Calibri"/>
              <a:sym typeface="Calibri"/>
            </a:endParaRPr>
          </a:p>
        </p:txBody>
      </p:sp>
      <p:sp>
        <p:nvSpPr>
          <p:cNvPr id="400" name="Google Shape;400;p27"/>
          <p:cNvSpPr/>
          <p:nvPr/>
        </p:nvSpPr>
        <p:spPr>
          <a:xfrm>
            <a:off x="5599557" y="2509664"/>
            <a:ext cx="1234500" cy="10974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45,000 sq ft of cleanroom, lithography, deposition, advanced metrology.</a:t>
            </a:r>
            <a:endParaRPr sz="900">
              <a:solidFill>
                <a:schemeClr val="dk1"/>
              </a:solidFill>
              <a:latin typeface="Calibri"/>
              <a:ea typeface="Calibri"/>
              <a:cs typeface="Calibri"/>
              <a:sym typeface="Calibri"/>
            </a:endParaRPr>
          </a:p>
        </p:txBody>
      </p:sp>
      <p:sp>
        <p:nvSpPr>
          <p:cNvPr id="401" name="Google Shape;401;p27"/>
          <p:cNvSpPr/>
          <p:nvPr/>
        </p:nvSpPr>
        <p:spPr>
          <a:xfrm>
            <a:off x="7098030" y="1762142"/>
            <a:ext cx="1563600" cy="1920300"/>
          </a:xfrm>
          <a:prstGeom prst="roundRect">
            <a:avLst>
              <a:gd fmla="val 2632"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2" name="Google Shape;402;p27"/>
          <p:cNvSpPr/>
          <p:nvPr/>
        </p:nvSpPr>
        <p:spPr>
          <a:xfrm>
            <a:off x="7262622" y="1906160"/>
            <a:ext cx="1234500" cy="377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333D"/>
              </a:buClr>
              <a:buSzPts val="1100"/>
              <a:buFont typeface="Cambria"/>
              <a:buNone/>
            </a:pPr>
            <a:r>
              <a:rPr b="1" lang="en" sz="1100">
                <a:solidFill>
                  <a:srgbClr val="16333D"/>
                </a:solidFill>
                <a:latin typeface="Cambria"/>
                <a:ea typeface="Cambria"/>
                <a:cs typeface="Cambria"/>
                <a:sym typeface="Cambria"/>
              </a:rPr>
              <a:t>Utah EMSAL</a:t>
            </a:r>
            <a:endParaRPr sz="1100">
              <a:solidFill>
                <a:schemeClr val="dk1"/>
              </a:solidFill>
              <a:latin typeface="Calibri"/>
              <a:ea typeface="Calibri"/>
              <a:cs typeface="Calibri"/>
              <a:sym typeface="Calibri"/>
            </a:endParaRPr>
          </a:p>
        </p:txBody>
      </p:sp>
      <p:sp>
        <p:nvSpPr>
          <p:cNvPr id="403" name="Google Shape;403;p27"/>
          <p:cNvSpPr/>
          <p:nvPr/>
        </p:nvSpPr>
        <p:spPr>
          <a:xfrm>
            <a:off x="7262622" y="2290208"/>
            <a:ext cx="1234500" cy="164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Salt Lake City, UT</a:t>
            </a:r>
            <a:endParaRPr sz="800">
              <a:solidFill>
                <a:schemeClr val="dk1"/>
              </a:solidFill>
              <a:latin typeface="Calibri"/>
              <a:ea typeface="Calibri"/>
              <a:cs typeface="Calibri"/>
              <a:sym typeface="Calibri"/>
            </a:endParaRPr>
          </a:p>
        </p:txBody>
      </p:sp>
      <p:sp>
        <p:nvSpPr>
          <p:cNvPr id="404" name="Google Shape;404;p27"/>
          <p:cNvSpPr/>
          <p:nvPr/>
        </p:nvSpPr>
        <p:spPr>
          <a:xfrm>
            <a:off x="7262622" y="2509664"/>
            <a:ext cx="1234500" cy="10974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SEM, TEM and FIB imaging, XRD and XPS, atomic force microscopy, micromechanical testing.</a:t>
            </a:r>
            <a:endParaRPr sz="900">
              <a:solidFill>
                <a:schemeClr val="dk1"/>
              </a:solidFill>
              <a:latin typeface="Calibri"/>
              <a:ea typeface="Calibri"/>
              <a:cs typeface="Calibri"/>
              <a:sym typeface="Calibri"/>
            </a:endParaRPr>
          </a:p>
        </p:txBody>
      </p:sp>
      <p:sp>
        <p:nvSpPr>
          <p:cNvPr id="405" name="Google Shape;405;p27"/>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406" name="Google Shape;406;p27"/>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18</a:t>
            </a:r>
            <a:endParaRPr sz="7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1" name="Shape 411"/>
        <p:cNvGrpSpPr/>
        <p:nvPr/>
      </p:nvGrpSpPr>
      <p:grpSpPr>
        <a:xfrm>
          <a:off x="0" y="0"/>
          <a:ext cx="0" cy="0"/>
          <a:chOff x="0" y="0"/>
          <a:chExt cx="0" cy="0"/>
        </a:xfrm>
      </p:grpSpPr>
      <p:sp>
        <p:nvSpPr>
          <p:cNvPr id="412" name="Google Shape;412;p28"/>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LAB IN THE LOOP</a:t>
            </a:r>
            <a:endParaRPr sz="800">
              <a:solidFill>
                <a:schemeClr val="dk1"/>
              </a:solidFill>
              <a:latin typeface="Calibri"/>
              <a:ea typeface="Calibri"/>
              <a:cs typeface="Calibri"/>
              <a:sym typeface="Calibri"/>
            </a:endParaRPr>
          </a:p>
        </p:txBody>
      </p:sp>
      <p:sp>
        <p:nvSpPr>
          <p:cNvPr id="413" name="Google Shape;413;p28"/>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600"/>
              <a:buFont typeface="Cambria"/>
              <a:buNone/>
            </a:pPr>
            <a:r>
              <a:rPr b="1" lang="en" sz="2600">
                <a:solidFill>
                  <a:srgbClr val="16333D"/>
                </a:solidFill>
                <a:latin typeface="Cambria"/>
                <a:ea typeface="Cambria"/>
                <a:cs typeface="Cambria"/>
                <a:sym typeface="Cambria"/>
              </a:rPr>
              <a:t>Every project makes the next one better.</a:t>
            </a:r>
            <a:endParaRPr sz="2600">
              <a:solidFill>
                <a:schemeClr val="dk1"/>
              </a:solidFill>
              <a:latin typeface="Calibri"/>
              <a:ea typeface="Calibri"/>
              <a:cs typeface="Calibri"/>
              <a:sym typeface="Calibri"/>
            </a:endParaRPr>
          </a:p>
        </p:txBody>
      </p:sp>
      <p:sp>
        <p:nvSpPr>
          <p:cNvPr id="414" name="Google Shape;414;p28"/>
          <p:cNvSpPr/>
          <p:nvPr/>
        </p:nvSpPr>
        <p:spPr>
          <a:xfrm>
            <a:off x="1323594" y="1920240"/>
            <a:ext cx="2221992" cy="2221992"/>
          </a:xfrm>
          <a:prstGeom prst="ellipse">
            <a:avLst/>
          </a:prstGeom>
          <a:solidFill>
            <a:srgbClr val="FFFFFF"/>
          </a:solidFill>
          <a:ln cap="flat" cmpd="sng" w="44450">
            <a:solidFill>
              <a:srgbClr val="C3D3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5" name="Google Shape;415;p28"/>
          <p:cNvSpPr/>
          <p:nvPr/>
        </p:nvSpPr>
        <p:spPr>
          <a:xfrm rot="8100000">
            <a:off x="3131029" y="2101625"/>
            <a:ext cx="178308" cy="288036"/>
          </a:xfrm>
          <a:prstGeom prst="triangle">
            <a:avLst>
              <a:gd fmla="val 50000" name="adj"/>
            </a:avLst>
          </a:prstGeom>
          <a:solidFill>
            <a:srgbClr val="2E6F84"/>
          </a:solidFill>
          <a:ln cap="flat" cmpd="sng" w="12700">
            <a:solidFill>
              <a:srgbClr val="2E6F84"/>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6" name="Google Shape;416;p28"/>
          <p:cNvSpPr/>
          <p:nvPr/>
        </p:nvSpPr>
        <p:spPr>
          <a:xfrm rot="-8100000">
            <a:off x="3131029" y="3672811"/>
            <a:ext cx="178308" cy="288036"/>
          </a:xfrm>
          <a:prstGeom prst="triangle">
            <a:avLst>
              <a:gd fmla="val 50000" name="adj"/>
            </a:avLst>
          </a:prstGeom>
          <a:solidFill>
            <a:srgbClr val="2E6F84"/>
          </a:solidFill>
          <a:ln cap="flat" cmpd="sng" w="12700">
            <a:solidFill>
              <a:srgbClr val="2E6F84"/>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7" name="Google Shape;417;p28"/>
          <p:cNvSpPr/>
          <p:nvPr/>
        </p:nvSpPr>
        <p:spPr>
          <a:xfrm rot="-2700000">
            <a:off x="1559843" y="3672811"/>
            <a:ext cx="178308" cy="288036"/>
          </a:xfrm>
          <a:prstGeom prst="triangle">
            <a:avLst>
              <a:gd fmla="val 50000" name="adj"/>
            </a:avLst>
          </a:prstGeom>
          <a:solidFill>
            <a:srgbClr val="2E6F84"/>
          </a:solidFill>
          <a:ln cap="flat" cmpd="sng" w="12700">
            <a:solidFill>
              <a:srgbClr val="2E6F84"/>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8" name="Google Shape;418;p28"/>
          <p:cNvSpPr/>
          <p:nvPr/>
        </p:nvSpPr>
        <p:spPr>
          <a:xfrm rot="2700000">
            <a:off x="1559843" y="2101625"/>
            <a:ext cx="178308" cy="288036"/>
          </a:xfrm>
          <a:prstGeom prst="triangle">
            <a:avLst>
              <a:gd fmla="val 50000" name="adj"/>
            </a:avLst>
          </a:prstGeom>
          <a:solidFill>
            <a:srgbClr val="2E6F84"/>
          </a:solidFill>
          <a:ln cap="flat" cmpd="sng" w="12700">
            <a:solidFill>
              <a:srgbClr val="2E6F84"/>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9" name="Google Shape;419;p28"/>
          <p:cNvSpPr/>
          <p:nvPr/>
        </p:nvSpPr>
        <p:spPr>
          <a:xfrm>
            <a:off x="1940814" y="2537460"/>
            <a:ext cx="987552" cy="987552"/>
          </a:xfrm>
          <a:prstGeom prst="ellipse">
            <a:avLst/>
          </a:prstGeom>
          <a:solidFill>
            <a:srgbClr val="0B2430"/>
          </a:solidFill>
          <a:ln cap="flat" cmpd="sng" w="12700">
            <a:solidFill>
              <a:srgbClr val="0B2430"/>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0" name="Google Shape;420;p28"/>
          <p:cNvSpPr/>
          <p:nvPr/>
        </p:nvSpPr>
        <p:spPr>
          <a:xfrm>
            <a:off x="1940814" y="2537460"/>
            <a:ext cx="987552" cy="987552"/>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Each turn</a:t>
            </a:r>
            <a:endParaRPr sz="800">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is cheaper</a:t>
            </a:r>
            <a:endParaRPr sz="800">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than the last</a:t>
            </a:r>
            <a:endParaRPr sz="800">
              <a:solidFill>
                <a:schemeClr val="dk1"/>
              </a:solidFill>
              <a:latin typeface="Calibri"/>
              <a:ea typeface="Calibri"/>
              <a:cs typeface="Calibri"/>
              <a:sym typeface="Calibri"/>
            </a:endParaRPr>
          </a:p>
        </p:txBody>
      </p:sp>
      <p:sp>
        <p:nvSpPr>
          <p:cNvPr id="421" name="Google Shape;421;p28"/>
          <p:cNvSpPr/>
          <p:nvPr/>
        </p:nvSpPr>
        <p:spPr>
          <a:xfrm>
            <a:off x="2023110" y="1508760"/>
            <a:ext cx="822960" cy="822960"/>
          </a:xfrm>
          <a:prstGeom prst="ellipse">
            <a:avLst/>
          </a:prstGeom>
          <a:solidFill>
            <a:srgbClr val="2E6F84"/>
          </a:solidFill>
          <a:ln cap="flat" cmpd="sng" w="50800">
            <a:solidFill>
              <a:srgbClr val="FFFFF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2" name="Google Shape;422;p28"/>
          <p:cNvSpPr/>
          <p:nvPr/>
        </p:nvSpPr>
        <p:spPr>
          <a:xfrm>
            <a:off x="2023110" y="1508760"/>
            <a:ext cx="822960" cy="822960"/>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Partner</a:t>
            </a:r>
            <a:endParaRPr sz="800">
              <a:solidFill>
                <a:schemeClr val="dk1"/>
              </a:solidFill>
              <a:latin typeface="Calibri"/>
              <a:ea typeface="Calibri"/>
              <a:cs typeface="Calibri"/>
              <a:sym typeface="Calibri"/>
            </a:endParaRPr>
          </a:p>
          <a:p>
            <a:pPr indent="0" lvl="0" marL="0" marR="0" rtl="0" algn="ctr">
              <a:lnSpc>
                <a:spcPct val="123809"/>
              </a:lnSpc>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envelope</a:t>
            </a:r>
            <a:endParaRPr sz="800">
              <a:solidFill>
                <a:schemeClr val="dk1"/>
              </a:solidFill>
              <a:latin typeface="Calibri"/>
              <a:ea typeface="Calibri"/>
              <a:cs typeface="Calibri"/>
              <a:sym typeface="Calibri"/>
            </a:endParaRPr>
          </a:p>
        </p:txBody>
      </p:sp>
      <p:sp>
        <p:nvSpPr>
          <p:cNvPr id="423" name="Google Shape;423;p28"/>
          <p:cNvSpPr/>
          <p:nvPr/>
        </p:nvSpPr>
        <p:spPr>
          <a:xfrm>
            <a:off x="3134106" y="2619756"/>
            <a:ext cx="822960" cy="822960"/>
          </a:xfrm>
          <a:prstGeom prst="ellipse">
            <a:avLst/>
          </a:prstGeom>
          <a:solidFill>
            <a:srgbClr val="2E6F84"/>
          </a:solidFill>
          <a:ln cap="flat" cmpd="sng" w="50800">
            <a:solidFill>
              <a:srgbClr val="FFFFF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4" name="Google Shape;424;p28"/>
          <p:cNvSpPr/>
          <p:nvPr/>
        </p:nvSpPr>
        <p:spPr>
          <a:xfrm>
            <a:off x="3134106" y="2619756"/>
            <a:ext cx="822960" cy="822960"/>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Design</a:t>
            </a:r>
            <a:endParaRPr sz="800">
              <a:solidFill>
                <a:schemeClr val="dk1"/>
              </a:solidFill>
              <a:latin typeface="Calibri"/>
              <a:ea typeface="Calibri"/>
              <a:cs typeface="Calibri"/>
              <a:sym typeface="Calibri"/>
            </a:endParaRPr>
          </a:p>
          <a:p>
            <a:pPr indent="0" lvl="0" marL="0" marR="0" rtl="0" algn="ctr">
              <a:lnSpc>
                <a:spcPct val="123809"/>
              </a:lnSpc>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campaign</a:t>
            </a:r>
            <a:endParaRPr sz="800">
              <a:solidFill>
                <a:schemeClr val="dk1"/>
              </a:solidFill>
              <a:latin typeface="Calibri"/>
              <a:ea typeface="Calibri"/>
              <a:cs typeface="Calibri"/>
              <a:sym typeface="Calibri"/>
            </a:endParaRPr>
          </a:p>
        </p:txBody>
      </p:sp>
      <p:sp>
        <p:nvSpPr>
          <p:cNvPr id="425" name="Google Shape;425;p28"/>
          <p:cNvSpPr/>
          <p:nvPr/>
        </p:nvSpPr>
        <p:spPr>
          <a:xfrm>
            <a:off x="2023110" y="3730752"/>
            <a:ext cx="822960" cy="822960"/>
          </a:xfrm>
          <a:prstGeom prst="ellipse">
            <a:avLst/>
          </a:prstGeom>
          <a:solidFill>
            <a:srgbClr val="C25A1E"/>
          </a:solidFill>
          <a:ln cap="flat" cmpd="sng" w="50800">
            <a:solidFill>
              <a:srgbClr val="FFFFF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6" name="Google Shape;426;p28"/>
          <p:cNvSpPr/>
          <p:nvPr/>
        </p:nvSpPr>
        <p:spPr>
          <a:xfrm>
            <a:off x="2023110" y="3730752"/>
            <a:ext cx="822960" cy="822960"/>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Lab</a:t>
            </a:r>
            <a:endParaRPr sz="800">
              <a:solidFill>
                <a:schemeClr val="dk1"/>
              </a:solidFill>
              <a:latin typeface="Calibri"/>
              <a:ea typeface="Calibri"/>
              <a:cs typeface="Calibri"/>
              <a:sym typeface="Calibri"/>
            </a:endParaRPr>
          </a:p>
          <a:p>
            <a:pPr indent="0" lvl="0" marL="0" marR="0" rtl="0" algn="ctr">
              <a:lnSpc>
                <a:spcPct val="123809"/>
              </a:lnSpc>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measurement</a:t>
            </a:r>
            <a:endParaRPr sz="800">
              <a:solidFill>
                <a:schemeClr val="dk1"/>
              </a:solidFill>
              <a:latin typeface="Calibri"/>
              <a:ea typeface="Calibri"/>
              <a:cs typeface="Calibri"/>
              <a:sym typeface="Calibri"/>
            </a:endParaRPr>
          </a:p>
        </p:txBody>
      </p:sp>
      <p:sp>
        <p:nvSpPr>
          <p:cNvPr id="427" name="Google Shape;427;p28"/>
          <p:cNvSpPr/>
          <p:nvPr/>
        </p:nvSpPr>
        <p:spPr>
          <a:xfrm>
            <a:off x="912114" y="2619756"/>
            <a:ext cx="822960" cy="822960"/>
          </a:xfrm>
          <a:prstGeom prst="ellipse">
            <a:avLst/>
          </a:prstGeom>
          <a:solidFill>
            <a:srgbClr val="2E6F84"/>
          </a:solidFill>
          <a:ln cap="flat" cmpd="sng" w="50800">
            <a:solidFill>
              <a:srgbClr val="FFFFF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8" name="Google Shape;428;p28"/>
          <p:cNvSpPr/>
          <p:nvPr/>
        </p:nvSpPr>
        <p:spPr>
          <a:xfrm>
            <a:off x="912114" y="2619756"/>
            <a:ext cx="822960" cy="822960"/>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Models</a:t>
            </a:r>
            <a:endParaRPr sz="800">
              <a:solidFill>
                <a:schemeClr val="dk1"/>
              </a:solidFill>
              <a:latin typeface="Calibri"/>
              <a:ea typeface="Calibri"/>
              <a:cs typeface="Calibri"/>
              <a:sym typeface="Calibri"/>
            </a:endParaRPr>
          </a:p>
          <a:p>
            <a:pPr indent="0" lvl="0" marL="0" marR="0" rtl="0" algn="ctr">
              <a:lnSpc>
                <a:spcPct val="123809"/>
              </a:lnSpc>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improve</a:t>
            </a:r>
            <a:endParaRPr sz="800">
              <a:solidFill>
                <a:schemeClr val="dk1"/>
              </a:solidFill>
              <a:latin typeface="Calibri"/>
              <a:ea typeface="Calibri"/>
              <a:cs typeface="Calibri"/>
              <a:sym typeface="Calibri"/>
            </a:endParaRPr>
          </a:p>
        </p:txBody>
      </p:sp>
      <p:sp>
        <p:nvSpPr>
          <p:cNvPr id="429" name="Google Shape;429;p28"/>
          <p:cNvSpPr/>
          <p:nvPr/>
        </p:nvSpPr>
        <p:spPr>
          <a:xfrm>
            <a:off x="4354830" y="1337310"/>
            <a:ext cx="4306824"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500"/>
              <a:buFont typeface="Cambria"/>
              <a:buNone/>
            </a:pPr>
            <a:r>
              <a:rPr b="1" lang="en" sz="1500">
                <a:solidFill>
                  <a:srgbClr val="16333D"/>
                </a:solidFill>
                <a:latin typeface="Cambria"/>
                <a:ea typeface="Cambria"/>
                <a:cs typeface="Cambria"/>
                <a:sym typeface="Cambria"/>
              </a:rPr>
              <a:t>Our system</a:t>
            </a:r>
            <a:r>
              <a:rPr b="1" lang="en" sz="1500">
                <a:solidFill>
                  <a:srgbClr val="16333D"/>
                </a:solidFill>
                <a:latin typeface="Cambria"/>
                <a:ea typeface="Cambria"/>
                <a:cs typeface="Cambria"/>
                <a:sym typeface="Cambria"/>
              </a:rPr>
              <a:t> compounds project after project</a:t>
            </a:r>
            <a:endParaRPr sz="1500">
              <a:solidFill>
                <a:schemeClr val="dk1"/>
              </a:solidFill>
              <a:latin typeface="Calibri"/>
              <a:ea typeface="Calibri"/>
              <a:cs typeface="Calibri"/>
              <a:sym typeface="Calibri"/>
            </a:endParaRPr>
          </a:p>
        </p:txBody>
      </p:sp>
      <p:sp>
        <p:nvSpPr>
          <p:cNvPr id="430" name="Google Shape;430;p28"/>
          <p:cNvSpPr/>
          <p:nvPr/>
        </p:nvSpPr>
        <p:spPr>
          <a:xfrm>
            <a:off x="4354830" y="1762506"/>
            <a:ext cx="274320" cy="274320"/>
          </a:xfrm>
          <a:prstGeom prst="ellipse">
            <a:avLst/>
          </a:prstGeom>
          <a:solidFill>
            <a:srgbClr val="C25A1E"/>
          </a:solidFill>
          <a:ln cap="flat" cmpd="sng" w="12700">
            <a:solidFill>
              <a:srgbClr val="C25A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1" name="Google Shape;431;p28"/>
          <p:cNvSpPr/>
          <p:nvPr/>
        </p:nvSpPr>
        <p:spPr>
          <a:xfrm>
            <a:off x="4354830" y="176250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1</a:t>
            </a:r>
            <a:endParaRPr sz="900">
              <a:solidFill>
                <a:schemeClr val="dk1"/>
              </a:solidFill>
              <a:latin typeface="Calibri"/>
              <a:ea typeface="Calibri"/>
              <a:cs typeface="Calibri"/>
              <a:sym typeface="Calibri"/>
            </a:endParaRPr>
          </a:p>
        </p:txBody>
      </p:sp>
      <p:sp>
        <p:nvSpPr>
          <p:cNvPr id="432" name="Google Shape;432;p28"/>
          <p:cNvSpPr/>
          <p:nvPr/>
        </p:nvSpPr>
        <p:spPr>
          <a:xfrm>
            <a:off x="4766310" y="1735074"/>
            <a:ext cx="3895344"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100"/>
              <a:buFont typeface="Calibri"/>
              <a:buNone/>
            </a:pPr>
            <a:r>
              <a:rPr b="1" lang="en" sz="1100">
                <a:solidFill>
                  <a:srgbClr val="16333D"/>
                </a:solidFill>
                <a:latin typeface="Calibri"/>
                <a:ea typeface="Calibri"/>
                <a:cs typeface="Calibri"/>
                <a:sym typeface="Calibri"/>
              </a:rPr>
              <a:t>The models get deeper</a:t>
            </a:r>
            <a:endParaRPr sz="1100">
              <a:solidFill>
                <a:schemeClr val="dk1"/>
              </a:solidFill>
              <a:latin typeface="Calibri"/>
              <a:ea typeface="Calibri"/>
              <a:cs typeface="Calibri"/>
              <a:sym typeface="Calibri"/>
            </a:endParaRPr>
          </a:p>
        </p:txBody>
      </p:sp>
      <p:sp>
        <p:nvSpPr>
          <p:cNvPr id="433" name="Google Shape;433;p28"/>
          <p:cNvSpPr/>
          <p:nvPr/>
        </p:nvSpPr>
        <p:spPr>
          <a:xfrm>
            <a:off x="4766301" y="1981950"/>
            <a:ext cx="3520200" cy="58290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Every measurement folds back into the module that predicted it. The corrosion model answering your second question is better than the one that answered your first.</a:t>
            </a:r>
            <a:endParaRPr sz="900">
              <a:solidFill>
                <a:schemeClr val="dk1"/>
              </a:solidFill>
              <a:latin typeface="Calibri"/>
              <a:ea typeface="Calibri"/>
              <a:cs typeface="Calibri"/>
              <a:sym typeface="Calibri"/>
            </a:endParaRPr>
          </a:p>
        </p:txBody>
      </p:sp>
      <p:sp>
        <p:nvSpPr>
          <p:cNvPr id="434" name="Google Shape;434;p28"/>
          <p:cNvSpPr/>
          <p:nvPr/>
        </p:nvSpPr>
        <p:spPr>
          <a:xfrm>
            <a:off x="4354830" y="2719106"/>
            <a:ext cx="274200" cy="274200"/>
          </a:xfrm>
          <a:prstGeom prst="ellipse">
            <a:avLst/>
          </a:prstGeom>
          <a:solidFill>
            <a:srgbClr val="C25A1E"/>
          </a:solidFill>
          <a:ln cap="flat" cmpd="sng" w="12700">
            <a:solidFill>
              <a:srgbClr val="C25A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5" name="Google Shape;435;p28"/>
          <p:cNvSpPr/>
          <p:nvPr/>
        </p:nvSpPr>
        <p:spPr>
          <a:xfrm>
            <a:off x="4354830" y="2719106"/>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2</a:t>
            </a:r>
            <a:endParaRPr sz="900">
              <a:solidFill>
                <a:schemeClr val="dk1"/>
              </a:solidFill>
              <a:latin typeface="Calibri"/>
              <a:ea typeface="Calibri"/>
              <a:cs typeface="Calibri"/>
              <a:sym typeface="Calibri"/>
            </a:endParaRPr>
          </a:p>
        </p:txBody>
      </p:sp>
      <p:sp>
        <p:nvSpPr>
          <p:cNvPr id="436" name="Google Shape;436;p28"/>
          <p:cNvSpPr/>
          <p:nvPr/>
        </p:nvSpPr>
        <p:spPr>
          <a:xfrm>
            <a:off x="4766310" y="2691674"/>
            <a:ext cx="38952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100"/>
              <a:buFont typeface="Calibri"/>
              <a:buNone/>
            </a:pPr>
            <a:r>
              <a:rPr b="1" lang="en" sz="1100">
                <a:solidFill>
                  <a:srgbClr val="16333D"/>
                </a:solidFill>
                <a:latin typeface="Calibri"/>
                <a:ea typeface="Calibri"/>
                <a:cs typeface="Calibri"/>
                <a:sym typeface="Calibri"/>
              </a:rPr>
              <a:t>The data becomes ownable</a:t>
            </a:r>
            <a:endParaRPr sz="1100">
              <a:solidFill>
                <a:schemeClr val="dk1"/>
              </a:solidFill>
              <a:latin typeface="Calibri"/>
              <a:ea typeface="Calibri"/>
              <a:cs typeface="Calibri"/>
              <a:sym typeface="Calibri"/>
            </a:endParaRPr>
          </a:p>
        </p:txBody>
      </p:sp>
      <p:sp>
        <p:nvSpPr>
          <p:cNvPr id="437" name="Google Shape;437;p28"/>
          <p:cNvSpPr/>
          <p:nvPr/>
        </p:nvSpPr>
        <p:spPr>
          <a:xfrm>
            <a:off x="4766310" y="2938562"/>
            <a:ext cx="3895200" cy="58290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Public data has a ceiling. Panels measured under one protocol do not, and they come out of work you are already funding And become part of your IP..</a:t>
            </a:r>
            <a:endParaRPr sz="900">
              <a:solidFill>
                <a:schemeClr val="dk1"/>
              </a:solidFill>
              <a:latin typeface="Calibri"/>
              <a:ea typeface="Calibri"/>
              <a:cs typeface="Calibri"/>
              <a:sym typeface="Calibri"/>
            </a:endParaRPr>
          </a:p>
        </p:txBody>
      </p:sp>
      <p:sp>
        <p:nvSpPr>
          <p:cNvPr id="438" name="Google Shape;438;p28"/>
          <p:cNvSpPr/>
          <p:nvPr/>
        </p:nvSpPr>
        <p:spPr>
          <a:xfrm>
            <a:off x="4354830" y="3463290"/>
            <a:ext cx="274320" cy="274320"/>
          </a:xfrm>
          <a:prstGeom prst="ellipse">
            <a:avLst/>
          </a:prstGeom>
          <a:solidFill>
            <a:srgbClr val="C25A1E"/>
          </a:solidFill>
          <a:ln cap="flat" cmpd="sng" w="12700">
            <a:solidFill>
              <a:srgbClr val="C25A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9" name="Google Shape;439;p28"/>
          <p:cNvSpPr/>
          <p:nvPr/>
        </p:nvSpPr>
        <p:spPr>
          <a:xfrm>
            <a:off x="4354830" y="346329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3</a:t>
            </a:r>
            <a:endParaRPr sz="900">
              <a:solidFill>
                <a:schemeClr val="dk1"/>
              </a:solidFill>
              <a:latin typeface="Calibri"/>
              <a:ea typeface="Calibri"/>
              <a:cs typeface="Calibri"/>
              <a:sym typeface="Calibri"/>
            </a:endParaRPr>
          </a:p>
        </p:txBody>
      </p:sp>
      <p:sp>
        <p:nvSpPr>
          <p:cNvPr id="440" name="Google Shape;440;p28"/>
          <p:cNvSpPr/>
          <p:nvPr/>
        </p:nvSpPr>
        <p:spPr>
          <a:xfrm>
            <a:off x="4766310" y="3435858"/>
            <a:ext cx="3895344"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100"/>
              <a:buFont typeface="Calibri"/>
              <a:buNone/>
            </a:pPr>
            <a:r>
              <a:rPr b="1" lang="en" sz="1100">
                <a:solidFill>
                  <a:srgbClr val="16333D"/>
                </a:solidFill>
                <a:latin typeface="Calibri"/>
                <a:ea typeface="Calibri"/>
                <a:cs typeface="Calibri"/>
                <a:sym typeface="Calibri"/>
              </a:rPr>
              <a:t>The constraints map to the real world</a:t>
            </a:r>
            <a:endParaRPr sz="1100">
              <a:solidFill>
                <a:schemeClr val="dk1"/>
              </a:solidFill>
              <a:latin typeface="Calibri"/>
              <a:ea typeface="Calibri"/>
              <a:cs typeface="Calibri"/>
              <a:sym typeface="Calibri"/>
            </a:endParaRPr>
          </a:p>
        </p:txBody>
      </p:sp>
      <p:sp>
        <p:nvSpPr>
          <p:cNvPr id="441" name="Google Shape;441;p28"/>
          <p:cNvSpPr/>
          <p:nvPr/>
        </p:nvSpPr>
        <p:spPr>
          <a:xfrm>
            <a:off x="4766310" y="3682746"/>
            <a:ext cx="3895344" cy="58293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What </a:t>
            </a:r>
            <a:r>
              <a:rPr lang="en" sz="900">
                <a:solidFill>
                  <a:srgbClr val="5E7480"/>
                </a:solidFill>
                <a:latin typeface="Calibri"/>
                <a:ea typeface="Calibri"/>
                <a:cs typeface="Calibri"/>
                <a:sym typeface="Calibri"/>
              </a:rPr>
              <a:t>Is manufacturable at scale</a:t>
            </a:r>
            <a:r>
              <a:rPr lang="en" sz="900">
                <a:solidFill>
                  <a:srgbClr val="5E7480"/>
                </a:solidFill>
                <a:latin typeface="Calibri"/>
                <a:ea typeface="Calibri"/>
                <a:cs typeface="Calibri"/>
                <a:sym typeface="Calibri"/>
              </a:rPr>
              <a:t> and what your suppliers can ship is the part we uniquely can simulate.</a:t>
            </a:r>
            <a:endParaRPr sz="900">
              <a:solidFill>
                <a:schemeClr val="dk1"/>
              </a:solidFill>
              <a:latin typeface="Calibri"/>
              <a:ea typeface="Calibri"/>
              <a:cs typeface="Calibri"/>
              <a:sym typeface="Calibri"/>
            </a:endParaRPr>
          </a:p>
        </p:txBody>
      </p:sp>
      <p:sp>
        <p:nvSpPr>
          <p:cNvPr id="442" name="Google Shape;442;p28"/>
          <p:cNvSpPr/>
          <p:nvPr/>
        </p:nvSpPr>
        <p:spPr>
          <a:xfrm>
            <a:off x="4354830" y="4320540"/>
            <a:ext cx="4306824" cy="425196"/>
          </a:xfrm>
          <a:prstGeom prst="roundRect">
            <a:avLst>
              <a:gd fmla="val 9677" name="adj"/>
            </a:avLst>
          </a:prstGeom>
          <a:solidFill>
            <a:srgbClr val="0B2430"/>
          </a:solidFill>
          <a:ln cap="flat" cmpd="sng" w="12700">
            <a:solidFill>
              <a:srgbClr val="0B2430"/>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3" name="Google Shape;443;p28"/>
          <p:cNvSpPr/>
          <p:nvPr/>
        </p:nvSpPr>
        <p:spPr>
          <a:xfrm>
            <a:off x="4546854" y="4320540"/>
            <a:ext cx="3922776" cy="4251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FFFFFF"/>
              </a:buClr>
              <a:buSzPts val="900"/>
              <a:buFont typeface="Calibri"/>
              <a:buNone/>
            </a:pPr>
            <a:r>
              <a:rPr lang="en" sz="900">
                <a:solidFill>
                  <a:srgbClr val="FFFFFF"/>
                </a:solidFill>
                <a:latin typeface="Calibri"/>
                <a:ea typeface="Calibri"/>
                <a:cs typeface="Calibri"/>
                <a:sym typeface="Calibri"/>
              </a:rPr>
              <a:t>Your data stays yours. Bound to your engagement, tracked with custody, out of the general model.</a:t>
            </a:r>
            <a:endParaRPr sz="900">
              <a:solidFill>
                <a:schemeClr val="dk1"/>
              </a:solidFill>
              <a:latin typeface="Calibri"/>
              <a:ea typeface="Calibri"/>
              <a:cs typeface="Calibri"/>
              <a:sym typeface="Calibri"/>
            </a:endParaRPr>
          </a:p>
        </p:txBody>
      </p:sp>
      <p:sp>
        <p:nvSpPr>
          <p:cNvPr id="444" name="Google Shape;444;p28"/>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445" name="Google Shape;445;p28"/>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19</a:t>
            </a:r>
            <a:endParaRPr sz="7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0" name="Shape 450"/>
        <p:cNvGrpSpPr/>
        <p:nvPr/>
      </p:nvGrpSpPr>
      <p:grpSpPr>
        <a:xfrm>
          <a:off x="0" y="0"/>
          <a:ext cx="0" cy="0"/>
          <a:chOff x="0" y="0"/>
          <a:chExt cx="0" cy="0"/>
        </a:xfrm>
      </p:grpSpPr>
      <p:sp>
        <p:nvSpPr>
          <p:cNvPr id="451" name="Google Shape;451;p29"/>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WORKING TOGETHER</a:t>
            </a:r>
            <a:endParaRPr sz="800">
              <a:solidFill>
                <a:schemeClr val="dk1"/>
              </a:solidFill>
              <a:latin typeface="Calibri"/>
              <a:ea typeface="Calibri"/>
              <a:cs typeface="Calibri"/>
              <a:sym typeface="Calibri"/>
            </a:endParaRPr>
          </a:p>
        </p:txBody>
      </p:sp>
      <p:sp>
        <p:nvSpPr>
          <p:cNvPr id="452" name="Google Shape;452;p29"/>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600"/>
              <a:buFont typeface="Cambria"/>
              <a:buNone/>
            </a:pPr>
            <a:r>
              <a:rPr b="1" lang="en" sz="2600">
                <a:solidFill>
                  <a:srgbClr val="16333D"/>
                </a:solidFill>
                <a:latin typeface="Cambria"/>
                <a:ea typeface="Cambria"/>
                <a:cs typeface="Cambria"/>
                <a:sym typeface="Cambria"/>
              </a:rPr>
              <a:t>How a joint development agreement runs.</a:t>
            </a:r>
            <a:endParaRPr sz="2600">
              <a:solidFill>
                <a:schemeClr val="dk1"/>
              </a:solidFill>
              <a:latin typeface="Calibri"/>
              <a:ea typeface="Calibri"/>
              <a:cs typeface="Calibri"/>
              <a:sym typeface="Calibri"/>
            </a:endParaRPr>
          </a:p>
        </p:txBody>
      </p:sp>
      <p:sp>
        <p:nvSpPr>
          <p:cNvPr id="453" name="Google Shape;453;p29"/>
          <p:cNvSpPr/>
          <p:nvPr/>
        </p:nvSpPr>
        <p:spPr>
          <a:xfrm>
            <a:off x="445770" y="1337310"/>
            <a:ext cx="8215800" cy="720000"/>
          </a:xfrm>
          <a:prstGeom prst="roundRect">
            <a:avLst>
              <a:gd fmla="val 5714"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4" name="Google Shape;454;p29"/>
          <p:cNvSpPr/>
          <p:nvPr/>
        </p:nvSpPr>
        <p:spPr>
          <a:xfrm>
            <a:off x="651510" y="1529334"/>
            <a:ext cx="342900" cy="342900"/>
          </a:xfrm>
          <a:prstGeom prst="ellipse">
            <a:avLst/>
          </a:prstGeom>
          <a:solidFill>
            <a:srgbClr val="C25A1E"/>
          </a:solidFill>
          <a:ln cap="flat" cmpd="sng" w="12700">
            <a:solidFill>
              <a:srgbClr val="C25A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5" name="Google Shape;455;p29"/>
          <p:cNvSpPr/>
          <p:nvPr/>
        </p:nvSpPr>
        <p:spPr>
          <a:xfrm>
            <a:off x="651510" y="1529334"/>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00</a:t>
            </a:r>
            <a:endParaRPr sz="1000">
              <a:solidFill>
                <a:schemeClr val="dk1"/>
              </a:solidFill>
              <a:latin typeface="Calibri"/>
              <a:ea typeface="Calibri"/>
              <a:cs typeface="Calibri"/>
              <a:sym typeface="Calibri"/>
            </a:endParaRPr>
          </a:p>
        </p:txBody>
      </p:sp>
      <p:sp>
        <p:nvSpPr>
          <p:cNvPr id="456" name="Google Shape;456;p29"/>
          <p:cNvSpPr/>
          <p:nvPr/>
        </p:nvSpPr>
        <p:spPr>
          <a:xfrm>
            <a:off x="1145286" y="1460754"/>
            <a:ext cx="17145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400"/>
              <a:buFont typeface="Cambria"/>
              <a:buNone/>
            </a:pPr>
            <a:r>
              <a:rPr b="1" lang="en" sz="1400">
                <a:solidFill>
                  <a:srgbClr val="16333D"/>
                </a:solidFill>
                <a:latin typeface="Cambria"/>
                <a:ea typeface="Cambria"/>
                <a:cs typeface="Cambria"/>
                <a:sym typeface="Cambria"/>
              </a:rPr>
              <a:t>Envelope</a:t>
            </a:r>
            <a:endParaRPr sz="1400">
              <a:solidFill>
                <a:schemeClr val="dk1"/>
              </a:solidFill>
              <a:latin typeface="Calibri"/>
              <a:ea typeface="Calibri"/>
              <a:cs typeface="Calibri"/>
              <a:sym typeface="Calibri"/>
            </a:endParaRPr>
          </a:p>
        </p:txBody>
      </p:sp>
      <p:sp>
        <p:nvSpPr>
          <p:cNvPr id="457" name="Google Shape;457;p29"/>
          <p:cNvSpPr/>
          <p:nvPr/>
        </p:nvSpPr>
        <p:spPr>
          <a:xfrm>
            <a:off x="1145286" y="1721358"/>
            <a:ext cx="1714500" cy="19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900"/>
              <a:buFont typeface="Calibri"/>
              <a:buNone/>
            </a:pPr>
            <a:r>
              <a:rPr b="1" lang="en" sz="900">
                <a:solidFill>
                  <a:srgbClr val="C25A1E"/>
                </a:solidFill>
                <a:latin typeface="Calibri"/>
                <a:ea typeface="Calibri"/>
                <a:cs typeface="Calibri"/>
                <a:sym typeface="Calibri"/>
              </a:rPr>
              <a:t>1-2</a:t>
            </a:r>
            <a:r>
              <a:rPr b="1" lang="en" sz="900">
                <a:solidFill>
                  <a:srgbClr val="C25A1E"/>
                </a:solidFill>
                <a:latin typeface="Calibri"/>
                <a:ea typeface="Calibri"/>
                <a:cs typeface="Calibri"/>
                <a:sym typeface="Calibri"/>
              </a:rPr>
              <a:t> weeks</a:t>
            </a:r>
            <a:endParaRPr sz="900">
              <a:solidFill>
                <a:schemeClr val="dk1"/>
              </a:solidFill>
              <a:latin typeface="Calibri"/>
              <a:ea typeface="Calibri"/>
              <a:cs typeface="Calibri"/>
              <a:sym typeface="Calibri"/>
            </a:endParaRPr>
          </a:p>
        </p:txBody>
      </p:sp>
      <p:sp>
        <p:nvSpPr>
          <p:cNvPr id="458" name="Google Shape;458;p29"/>
          <p:cNvSpPr/>
          <p:nvPr/>
        </p:nvSpPr>
        <p:spPr>
          <a:xfrm>
            <a:off x="3053456" y="1474475"/>
            <a:ext cx="4808100" cy="49380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5E7480"/>
              </a:buClr>
              <a:buSzPts val="1000"/>
              <a:buFont typeface="Calibri"/>
              <a:buNone/>
            </a:pPr>
            <a:r>
              <a:rPr lang="en" sz="1000">
                <a:solidFill>
                  <a:srgbClr val="5E7480"/>
                </a:solidFill>
                <a:latin typeface="Calibri"/>
                <a:ea typeface="Calibri"/>
                <a:cs typeface="Calibri"/>
                <a:sym typeface="Calibri"/>
              </a:rPr>
              <a:t>We turn your target, process limits, restricted list and cost ceiling into a written envelope that both sides sign.</a:t>
            </a:r>
            <a:endParaRPr sz="1000">
              <a:solidFill>
                <a:schemeClr val="dk1"/>
              </a:solidFill>
              <a:latin typeface="Calibri"/>
              <a:ea typeface="Calibri"/>
              <a:cs typeface="Calibri"/>
              <a:sym typeface="Calibri"/>
            </a:endParaRPr>
          </a:p>
        </p:txBody>
      </p:sp>
      <p:sp>
        <p:nvSpPr>
          <p:cNvPr id="459" name="Google Shape;459;p29"/>
          <p:cNvSpPr/>
          <p:nvPr/>
        </p:nvSpPr>
        <p:spPr>
          <a:xfrm>
            <a:off x="445770" y="2112264"/>
            <a:ext cx="8215800" cy="720000"/>
          </a:xfrm>
          <a:prstGeom prst="roundRect">
            <a:avLst>
              <a:gd fmla="val 5714"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60" name="Google Shape;460;p29"/>
          <p:cNvSpPr/>
          <p:nvPr/>
        </p:nvSpPr>
        <p:spPr>
          <a:xfrm>
            <a:off x="651510" y="2304288"/>
            <a:ext cx="342900" cy="342900"/>
          </a:xfrm>
          <a:prstGeom prst="ellipse">
            <a:avLst/>
          </a:prstGeom>
          <a:solidFill>
            <a:srgbClr val="C25A1E"/>
          </a:solidFill>
          <a:ln cap="flat" cmpd="sng" w="12700">
            <a:solidFill>
              <a:srgbClr val="C25A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61" name="Google Shape;461;p29"/>
          <p:cNvSpPr/>
          <p:nvPr/>
        </p:nvSpPr>
        <p:spPr>
          <a:xfrm>
            <a:off x="651510" y="2304288"/>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01</a:t>
            </a:r>
            <a:endParaRPr sz="1000">
              <a:solidFill>
                <a:schemeClr val="dk1"/>
              </a:solidFill>
              <a:latin typeface="Calibri"/>
              <a:ea typeface="Calibri"/>
              <a:cs typeface="Calibri"/>
              <a:sym typeface="Calibri"/>
            </a:endParaRPr>
          </a:p>
        </p:txBody>
      </p:sp>
      <p:sp>
        <p:nvSpPr>
          <p:cNvPr id="462" name="Google Shape;462;p29"/>
          <p:cNvSpPr/>
          <p:nvPr/>
        </p:nvSpPr>
        <p:spPr>
          <a:xfrm>
            <a:off x="1145286" y="2235708"/>
            <a:ext cx="17145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400"/>
              <a:buFont typeface="Cambria"/>
              <a:buNone/>
            </a:pPr>
            <a:r>
              <a:rPr b="1" lang="en" sz="1400">
                <a:solidFill>
                  <a:srgbClr val="16333D"/>
                </a:solidFill>
                <a:latin typeface="Cambria"/>
                <a:ea typeface="Cambria"/>
                <a:cs typeface="Cambria"/>
                <a:sym typeface="Cambria"/>
              </a:rPr>
              <a:t>Modelling campaign</a:t>
            </a:r>
            <a:endParaRPr sz="1400">
              <a:solidFill>
                <a:schemeClr val="dk1"/>
              </a:solidFill>
              <a:latin typeface="Calibri"/>
              <a:ea typeface="Calibri"/>
              <a:cs typeface="Calibri"/>
              <a:sym typeface="Calibri"/>
            </a:endParaRPr>
          </a:p>
        </p:txBody>
      </p:sp>
      <p:sp>
        <p:nvSpPr>
          <p:cNvPr id="463" name="Google Shape;463;p29"/>
          <p:cNvSpPr/>
          <p:nvPr/>
        </p:nvSpPr>
        <p:spPr>
          <a:xfrm>
            <a:off x="1145286" y="2496312"/>
            <a:ext cx="1714500" cy="19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900"/>
              <a:buFont typeface="Calibri"/>
              <a:buNone/>
            </a:pPr>
            <a:r>
              <a:rPr b="1" lang="en" sz="900">
                <a:solidFill>
                  <a:srgbClr val="C25A1E"/>
                </a:solidFill>
                <a:latin typeface="Calibri"/>
                <a:ea typeface="Calibri"/>
                <a:cs typeface="Calibri"/>
                <a:sym typeface="Calibri"/>
              </a:rPr>
              <a:t>1</a:t>
            </a:r>
            <a:r>
              <a:rPr b="1" lang="en" sz="900">
                <a:solidFill>
                  <a:srgbClr val="C25A1E"/>
                </a:solidFill>
                <a:latin typeface="Calibri"/>
                <a:ea typeface="Calibri"/>
                <a:cs typeface="Calibri"/>
                <a:sym typeface="Calibri"/>
              </a:rPr>
              <a:t>–2 weeks</a:t>
            </a:r>
            <a:endParaRPr sz="900">
              <a:solidFill>
                <a:schemeClr val="dk1"/>
              </a:solidFill>
              <a:latin typeface="Calibri"/>
              <a:ea typeface="Calibri"/>
              <a:cs typeface="Calibri"/>
              <a:sym typeface="Calibri"/>
            </a:endParaRPr>
          </a:p>
        </p:txBody>
      </p:sp>
      <p:sp>
        <p:nvSpPr>
          <p:cNvPr id="464" name="Google Shape;464;p29"/>
          <p:cNvSpPr/>
          <p:nvPr/>
        </p:nvSpPr>
        <p:spPr>
          <a:xfrm>
            <a:off x="3053456" y="2249425"/>
            <a:ext cx="4790400" cy="49380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5E7480"/>
              </a:buClr>
              <a:buSzPts val="1000"/>
              <a:buFont typeface="Calibri"/>
              <a:buNone/>
            </a:pPr>
            <a:r>
              <a:rPr lang="en" sz="1000">
                <a:solidFill>
                  <a:srgbClr val="5E7480"/>
                </a:solidFill>
                <a:latin typeface="Calibri"/>
                <a:ea typeface="Calibri"/>
                <a:cs typeface="Calibri"/>
                <a:sym typeface="Calibri"/>
              </a:rPr>
              <a:t>Candidates generated inside that envelope, each with a process route and a cost estimate. You get the failures too.</a:t>
            </a:r>
            <a:endParaRPr sz="1000">
              <a:solidFill>
                <a:schemeClr val="dk1"/>
              </a:solidFill>
              <a:latin typeface="Calibri"/>
              <a:ea typeface="Calibri"/>
              <a:cs typeface="Calibri"/>
              <a:sym typeface="Calibri"/>
            </a:endParaRPr>
          </a:p>
        </p:txBody>
      </p:sp>
      <p:sp>
        <p:nvSpPr>
          <p:cNvPr id="465" name="Google Shape;465;p29"/>
          <p:cNvSpPr/>
          <p:nvPr/>
        </p:nvSpPr>
        <p:spPr>
          <a:xfrm>
            <a:off x="445770" y="2887218"/>
            <a:ext cx="8215800" cy="720000"/>
          </a:xfrm>
          <a:prstGeom prst="roundRect">
            <a:avLst>
              <a:gd fmla="val 5714"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66" name="Google Shape;466;p29"/>
          <p:cNvSpPr/>
          <p:nvPr/>
        </p:nvSpPr>
        <p:spPr>
          <a:xfrm>
            <a:off x="651510" y="3079242"/>
            <a:ext cx="342900" cy="342900"/>
          </a:xfrm>
          <a:prstGeom prst="ellipse">
            <a:avLst/>
          </a:prstGeom>
          <a:solidFill>
            <a:srgbClr val="C25A1E"/>
          </a:solidFill>
          <a:ln cap="flat" cmpd="sng" w="12700">
            <a:solidFill>
              <a:srgbClr val="C25A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67" name="Google Shape;467;p29"/>
          <p:cNvSpPr/>
          <p:nvPr/>
        </p:nvSpPr>
        <p:spPr>
          <a:xfrm>
            <a:off x="651510" y="3079242"/>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02</a:t>
            </a:r>
            <a:endParaRPr sz="1000">
              <a:solidFill>
                <a:schemeClr val="dk1"/>
              </a:solidFill>
              <a:latin typeface="Calibri"/>
              <a:ea typeface="Calibri"/>
              <a:cs typeface="Calibri"/>
              <a:sym typeface="Calibri"/>
            </a:endParaRPr>
          </a:p>
        </p:txBody>
      </p:sp>
      <p:sp>
        <p:nvSpPr>
          <p:cNvPr id="468" name="Google Shape;468;p29"/>
          <p:cNvSpPr/>
          <p:nvPr/>
        </p:nvSpPr>
        <p:spPr>
          <a:xfrm>
            <a:off x="1145286" y="3010662"/>
            <a:ext cx="17145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400"/>
              <a:buFont typeface="Cambria"/>
              <a:buNone/>
            </a:pPr>
            <a:r>
              <a:rPr b="1" lang="en" sz="1400">
                <a:solidFill>
                  <a:srgbClr val="16333D"/>
                </a:solidFill>
                <a:latin typeface="Cambria"/>
                <a:ea typeface="Cambria"/>
                <a:cs typeface="Cambria"/>
                <a:sym typeface="Cambria"/>
              </a:rPr>
              <a:t>Lab validation</a:t>
            </a:r>
            <a:endParaRPr sz="1400">
              <a:solidFill>
                <a:schemeClr val="dk1"/>
              </a:solidFill>
              <a:latin typeface="Calibri"/>
              <a:ea typeface="Calibri"/>
              <a:cs typeface="Calibri"/>
              <a:sym typeface="Calibri"/>
            </a:endParaRPr>
          </a:p>
        </p:txBody>
      </p:sp>
      <p:sp>
        <p:nvSpPr>
          <p:cNvPr id="469" name="Google Shape;469;p29"/>
          <p:cNvSpPr/>
          <p:nvPr/>
        </p:nvSpPr>
        <p:spPr>
          <a:xfrm>
            <a:off x="1145286" y="3271266"/>
            <a:ext cx="1714500" cy="19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900"/>
              <a:buFont typeface="Calibri"/>
              <a:buNone/>
            </a:pPr>
            <a:r>
              <a:rPr b="1" lang="en" sz="900">
                <a:solidFill>
                  <a:srgbClr val="C25A1E"/>
                </a:solidFill>
                <a:latin typeface="Calibri"/>
                <a:ea typeface="Calibri"/>
                <a:cs typeface="Calibri"/>
                <a:sym typeface="Calibri"/>
              </a:rPr>
              <a:t>10-12+</a:t>
            </a:r>
            <a:r>
              <a:rPr b="1" lang="en" sz="900">
                <a:solidFill>
                  <a:srgbClr val="C25A1E"/>
                </a:solidFill>
                <a:latin typeface="Calibri"/>
                <a:ea typeface="Calibri"/>
                <a:cs typeface="Calibri"/>
                <a:sym typeface="Calibri"/>
              </a:rPr>
              <a:t> Weeks</a:t>
            </a:r>
            <a:endParaRPr sz="900">
              <a:solidFill>
                <a:schemeClr val="dk1"/>
              </a:solidFill>
              <a:latin typeface="Calibri"/>
              <a:ea typeface="Calibri"/>
              <a:cs typeface="Calibri"/>
              <a:sym typeface="Calibri"/>
            </a:endParaRPr>
          </a:p>
        </p:txBody>
      </p:sp>
      <p:sp>
        <p:nvSpPr>
          <p:cNvPr id="470" name="Google Shape;470;p29"/>
          <p:cNvSpPr/>
          <p:nvPr/>
        </p:nvSpPr>
        <p:spPr>
          <a:xfrm>
            <a:off x="3053460" y="3006820"/>
            <a:ext cx="5486400" cy="49380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5E7480"/>
              </a:buClr>
              <a:buSzPts val="1000"/>
              <a:buFont typeface="Calibri"/>
              <a:buNone/>
            </a:pPr>
            <a:r>
              <a:rPr lang="en" sz="1000">
                <a:solidFill>
                  <a:srgbClr val="5E7480"/>
                </a:solidFill>
                <a:latin typeface="Calibri"/>
                <a:ea typeface="Calibri"/>
                <a:cs typeface="Calibri"/>
                <a:sym typeface="Calibri"/>
              </a:rPr>
              <a:t>Synthesis, characterization, validation</a:t>
            </a:r>
            <a:r>
              <a:rPr lang="en" sz="1000">
                <a:solidFill>
                  <a:srgbClr val="5E7480"/>
                </a:solidFill>
                <a:latin typeface="Calibri"/>
                <a:ea typeface="Calibri"/>
                <a:cs typeface="Calibri"/>
                <a:sym typeface="Calibri"/>
              </a:rPr>
              <a:t> tests at our labs or yours. Thresholds agreed before the tests run.</a:t>
            </a:r>
            <a:endParaRPr sz="1000">
              <a:solidFill>
                <a:schemeClr val="dk1"/>
              </a:solidFill>
              <a:latin typeface="Calibri"/>
              <a:ea typeface="Calibri"/>
              <a:cs typeface="Calibri"/>
              <a:sym typeface="Calibri"/>
            </a:endParaRPr>
          </a:p>
        </p:txBody>
      </p:sp>
      <p:sp>
        <p:nvSpPr>
          <p:cNvPr id="471" name="Google Shape;471;p29"/>
          <p:cNvSpPr/>
          <p:nvPr/>
        </p:nvSpPr>
        <p:spPr>
          <a:xfrm>
            <a:off x="445770" y="3662172"/>
            <a:ext cx="8215800" cy="720000"/>
          </a:xfrm>
          <a:prstGeom prst="roundRect">
            <a:avLst>
              <a:gd fmla="val 5714"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72" name="Google Shape;472;p29"/>
          <p:cNvSpPr/>
          <p:nvPr/>
        </p:nvSpPr>
        <p:spPr>
          <a:xfrm>
            <a:off x="651510" y="3854196"/>
            <a:ext cx="342900" cy="342900"/>
          </a:xfrm>
          <a:prstGeom prst="ellipse">
            <a:avLst/>
          </a:prstGeom>
          <a:solidFill>
            <a:srgbClr val="C25A1E"/>
          </a:solidFill>
          <a:ln cap="flat" cmpd="sng" w="12700">
            <a:solidFill>
              <a:srgbClr val="C25A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73" name="Google Shape;473;p29"/>
          <p:cNvSpPr/>
          <p:nvPr/>
        </p:nvSpPr>
        <p:spPr>
          <a:xfrm>
            <a:off x="651510" y="3854196"/>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03</a:t>
            </a:r>
            <a:endParaRPr sz="1000">
              <a:solidFill>
                <a:schemeClr val="dk1"/>
              </a:solidFill>
              <a:latin typeface="Calibri"/>
              <a:ea typeface="Calibri"/>
              <a:cs typeface="Calibri"/>
              <a:sym typeface="Calibri"/>
            </a:endParaRPr>
          </a:p>
        </p:txBody>
      </p:sp>
      <p:sp>
        <p:nvSpPr>
          <p:cNvPr id="474" name="Google Shape;474;p29"/>
          <p:cNvSpPr/>
          <p:nvPr/>
        </p:nvSpPr>
        <p:spPr>
          <a:xfrm>
            <a:off x="1145286" y="3785616"/>
            <a:ext cx="17145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400"/>
              <a:buFont typeface="Cambria"/>
              <a:buNone/>
            </a:pPr>
            <a:r>
              <a:rPr b="1" lang="en" sz="1400">
                <a:solidFill>
                  <a:srgbClr val="16333D"/>
                </a:solidFill>
                <a:latin typeface="Cambria"/>
                <a:ea typeface="Cambria"/>
                <a:cs typeface="Cambria"/>
                <a:sym typeface="Cambria"/>
              </a:rPr>
              <a:t>Scale-up</a:t>
            </a:r>
            <a:endParaRPr sz="1400">
              <a:solidFill>
                <a:schemeClr val="dk1"/>
              </a:solidFill>
              <a:latin typeface="Calibri"/>
              <a:ea typeface="Calibri"/>
              <a:cs typeface="Calibri"/>
              <a:sym typeface="Calibri"/>
            </a:endParaRPr>
          </a:p>
        </p:txBody>
      </p:sp>
      <p:sp>
        <p:nvSpPr>
          <p:cNvPr id="475" name="Google Shape;475;p29"/>
          <p:cNvSpPr/>
          <p:nvPr/>
        </p:nvSpPr>
        <p:spPr>
          <a:xfrm>
            <a:off x="1145286" y="4046220"/>
            <a:ext cx="1714500" cy="19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900"/>
              <a:buFont typeface="Calibri"/>
              <a:buNone/>
            </a:pPr>
            <a:r>
              <a:rPr b="1" lang="en" sz="900">
                <a:solidFill>
                  <a:srgbClr val="C25A1E"/>
                </a:solidFill>
                <a:latin typeface="Calibri"/>
                <a:ea typeface="Calibri"/>
                <a:cs typeface="Calibri"/>
                <a:sym typeface="Calibri"/>
              </a:rPr>
              <a:t>Ongoing</a:t>
            </a:r>
            <a:endParaRPr sz="900">
              <a:solidFill>
                <a:schemeClr val="dk1"/>
              </a:solidFill>
              <a:latin typeface="Calibri"/>
              <a:ea typeface="Calibri"/>
              <a:cs typeface="Calibri"/>
              <a:sym typeface="Calibri"/>
            </a:endParaRPr>
          </a:p>
        </p:txBody>
      </p:sp>
      <p:sp>
        <p:nvSpPr>
          <p:cNvPr id="476" name="Google Shape;476;p29"/>
          <p:cNvSpPr/>
          <p:nvPr/>
        </p:nvSpPr>
        <p:spPr>
          <a:xfrm>
            <a:off x="3053460" y="3799332"/>
            <a:ext cx="5486400" cy="49380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5E7480"/>
              </a:buClr>
              <a:buSzPts val="1000"/>
              <a:buFont typeface="Calibri"/>
              <a:buNone/>
            </a:pPr>
            <a:r>
              <a:rPr lang="en" sz="1000">
                <a:solidFill>
                  <a:srgbClr val="5E7480"/>
                </a:solidFill>
                <a:latin typeface="Calibri"/>
                <a:ea typeface="Calibri"/>
                <a:cs typeface="Calibri"/>
                <a:sym typeface="Calibri"/>
              </a:rPr>
              <a:t>Process work, pilot batches, and the evidence package your own reviewers will ask for.</a:t>
            </a:r>
            <a:endParaRPr sz="1000">
              <a:solidFill>
                <a:schemeClr val="dk1"/>
              </a:solidFill>
              <a:latin typeface="Calibri"/>
              <a:ea typeface="Calibri"/>
              <a:cs typeface="Calibri"/>
              <a:sym typeface="Calibri"/>
            </a:endParaRPr>
          </a:p>
        </p:txBody>
      </p:sp>
      <p:sp>
        <p:nvSpPr>
          <p:cNvPr id="477" name="Google Shape;477;p29"/>
          <p:cNvSpPr/>
          <p:nvPr/>
        </p:nvSpPr>
        <p:spPr>
          <a:xfrm>
            <a:off x="445770" y="4457700"/>
            <a:ext cx="8215884" cy="2400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E6F84"/>
              </a:buClr>
              <a:buSzPts val="1000"/>
              <a:buFont typeface="Calibri"/>
              <a:buNone/>
            </a:pPr>
            <a:r>
              <a:rPr i="1" lang="en" sz="1000">
                <a:solidFill>
                  <a:srgbClr val="2E6F84"/>
                </a:solidFill>
                <a:latin typeface="Calibri"/>
                <a:ea typeface="Calibri"/>
                <a:cs typeface="Calibri"/>
                <a:sym typeface="Calibri"/>
              </a:rPr>
              <a:t>A failed gate is a stop, not a renegotiation. That gets written in before the first phase.</a:t>
            </a:r>
            <a:endParaRPr sz="1000">
              <a:solidFill>
                <a:schemeClr val="dk1"/>
              </a:solidFill>
              <a:latin typeface="Calibri"/>
              <a:ea typeface="Calibri"/>
              <a:cs typeface="Calibri"/>
              <a:sym typeface="Calibri"/>
            </a:endParaRPr>
          </a:p>
        </p:txBody>
      </p:sp>
      <p:sp>
        <p:nvSpPr>
          <p:cNvPr id="478" name="Google Shape;478;p29"/>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479" name="Google Shape;479;p29"/>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20</a:t>
            </a:r>
            <a:endParaRPr sz="7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430"/>
        </a:solidFill>
      </p:bgPr>
    </p:bg>
    <p:spTree>
      <p:nvGrpSpPr>
        <p:cNvPr id="484" name="Shape 484"/>
        <p:cNvGrpSpPr/>
        <p:nvPr/>
      </p:nvGrpSpPr>
      <p:grpSpPr>
        <a:xfrm>
          <a:off x="0" y="0"/>
          <a:ext cx="0" cy="0"/>
          <a:chOff x="0" y="0"/>
          <a:chExt cx="0" cy="0"/>
        </a:xfrm>
      </p:grpSpPr>
      <p:sp>
        <p:nvSpPr>
          <p:cNvPr id="485" name="Google Shape;485;p30"/>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A578"/>
              </a:buClr>
              <a:buSzPts val="800"/>
              <a:buFont typeface="Calibri"/>
              <a:buNone/>
            </a:pPr>
            <a:r>
              <a:rPr b="1" lang="en" sz="800">
                <a:solidFill>
                  <a:srgbClr val="E8A578"/>
                </a:solidFill>
                <a:latin typeface="Calibri"/>
                <a:ea typeface="Calibri"/>
                <a:cs typeface="Calibri"/>
                <a:sym typeface="Calibri"/>
              </a:rPr>
              <a:t>COMMERCIAL MODEL</a:t>
            </a:r>
            <a:endParaRPr sz="800">
              <a:solidFill>
                <a:schemeClr val="dk1"/>
              </a:solidFill>
              <a:latin typeface="Calibri"/>
              <a:ea typeface="Calibri"/>
              <a:cs typeface="Calibri"/>
              <a:sym typeface="Calibri"/>
            </a:endParaRPr>
          </a:p>
        </p:txBody>
      </p:sp>
      <p:sp>
        <p:nvSpPr>
          <p:cNvPr id="486" name="Google Shape;486;p30"/>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 sz="2600">
                <a:solidFill>
                  <a:srgbClr val="FFFFFF"/>
                </a:solidFill>
                <a:latin typeface="Cambria"/>
                <a:ea typeface="Cambria"/>
                <a:cs typeface="Cambria"/>
                <a:sym typeface="Cambria"/>
              </a:rPr>
              <a:t>We build deep partnerships with industry leaders</a:t>
            </a:r>
            <a:endParaRPr sz="2600">
              <a:solidFill>
                <a:schemeClr val="dk1"/>
              </a:solidFill>
              <a:latin typeface="Calibri"/>
              <a:ea typeface="Calibri"/>
              <a:cs typeface="Calibri"/>
              <a:sym typeface="Calibri"/>
            </a:endParaRPr>
          </a:p>
        </p:txBody>
      </p:sp>
      <p:sp>
        <p:nvSpPr>
          <p:cNvPr id="487" name="Google Shape;487;p30"/>
          <p:cNvSpPr/>
          <p:nvPr/>
        </p:nvSpPr>
        <p:spPr>
          <a:xfrm>
            <a:off x="445770" y="1337310"/>
            <a:ext cx="2626614" cy="1268730"/>
          </a:xfrm>
          <a:prstGeom prst="roundRect">
            <a:avLst>
              <a:gd fmla="val 3243" name="adj"/>
            </a:avLst>
          </a:prstGeom>
          <a:solidFill>
            <a:srgbClr val="143845"/>
          </a:solidFill>
          <a:ln cap="flat" cmpd="sng" w="12700">
            <a:solidFill>
              <a:srgbClr val="14384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8" name="Google Shape;488;p30"/>
          <p:cNvSpPr/>
          <p:nvPr/>
        </p:nvSpPr>
        <p:spPr>
          <a:xfrm>
            <a:off x="665226" y="1474470"/>
            <a:ext cx="2187702"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FB6BF"/>
              </a:buClr>
              <a:buSzPts val="800"/>
              <a:buFont typeface="Calibri"/>
              <a:buNone/>
            </a:pPr>
            <a:r>
              <a:rPr b="1" lang="en" sz="800">
                <a:solidFill>
                  <a:srgbClr val="9FB6BF"/>
                </a:solidFill>
                <a:latin typeface="Calibri"/>
                <a:ea typeface="Calibri"/>
                <a:cs typeface="Calibri"/>
                <a:sym typeface="Calibri"/>
              </a:rPr>
              <a:t>UPFRONT</a:t>
            </a:r>
            <a:endParaRPr sz="800">
              <a:solidFill>
                <a:schemeClr val="dk1"/>
              </a:solidFill>
              <a:latin typeface="Calibri"/>
              <a:ea typeface="Calibri"/>
              <a:cs typeface="Calibri"/>
              <a:sym typeface="Calibri"/>
            </a:endParaRPr>
          </a:p>
        </p:txBody>
      </p:sp>
      <p:sp>
        <p:nvSpPr>
          <p:cNvPr id="489" name="Google Shape;489;p30"/>
          <p:cNvSpPr/>
          <p:nvPr/>
        </p:nvSpPr>
        <p:spPr>
          <a:xfrm>
            <a:off x="665226" y="1659636"/>
            <a:ext cx="2187702"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A578"/>
              </a:buClr>
              <a:buSzPts val="2300"/>
              <a:buFont typeface="Cambria"/>
              <a:buNone/>
            </a:pPr>
            <a:r>
              <a:rPr b="1" lang="en" sz="2300">
                <a:solidFill>
                  <a:srgbClr val="E8A578"/>
                </a:solidFill>
                <a:latin typeface="Cambria"/>
                <a:ea typeface="Cambria"/>
                <a:cs typeface="Cambria"/>
                <a:sym typeface="Cambria"/>
              </a:rPr>
              <a:t>$500K–$3M</a:t>
            </a:r>
            <a:endParaRPr sz="2300">
              <a:solidFill>
                <a:schemeClr val="dk1"/>
              </a:solidFill>
              <a:latin typeface="Calibri"/>
              <a:ea typeface="Calibri"/>
              <a:cs typeface="Calibri"/>
              <a:sym typeface="Calibri"/>
            </a:endParaRPr>
          </a:p>
        </p:txBody>
      </p:sp>
      <p:sp>
        <p:nvSpPr>
          <p:cNvPr id="490" name="Google Shape;490;p30"/>
          <p:cNvSpPr/>
          <p:nvPr/>
        </p:nvSpPr>
        <p:spPr>
          <a:xfrm>
            <a:off x="665226" y="2091690"/>
            <a:ext cx="2187702" cy="41148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9FB6BF"/>
              </a:buClr>
              <a:buSzPts val="900"/>
              <a:buFont typeface="Calibri"/>
              <a:buNone/>
            </a:pPr>
            <a:r>
              <a:rPr lang="en" sz="900">
                <a:solidFill>
                  <a:srgbClr val="9FB6BF"/>
                </a:solidFill>
                <a:latin typeface="Calibri"/>
                <a:ea typeface="Calibri"/>
                <a:cs typeface="Calibri"/>
                <a:sym typeface="Calibri"/>
              </a:rPr>
              <a:t>Per project, sized in the envelope phase.</a:t>
            </a:r>
            <a:endParaRPr sz="900">
              <a:solidFill>
                <a:schemeClr val="dk1"/>
              </a:solidFill>
              <a:latin typeface="Calibri"/>
              <a:ea typeface="Calibri"/>
              <a:cs typeface="Calibri"/>
              <a:sym typeface="Calibri"/>
            </a:endParaRPr>
          </a:p>
        </p:txBody>
      </p:sp>
      <p:sp>
        <p:nvSpPr>
          <p:cNvPr id="491" name="Google Shape;491;p30"/>
          <p:cNvSpPr/>
          <p:nvPr/>
        </p:nvSpPr>
        <p:spPr>
          <a:xfrm>
            <a:off x="3305556" y="1337310"/>
            <a:ext cx="2626614" cy="1268730"/>
          </a:xfrm>
          <a:prstGeom prst="roundRect">
            <a:avLst>
              <a:gd fmla="val 3243" name="adj"/>
            </a:avLst>
          </a:prstGeom>
          <a:solidFill>
            <a:srgbClr val="143845"/>
          </a:solidFill>
          <a:ln cap="flat" cmpd="sng" w="12700">
            <a:solidFill>
              <a:srgbClr val="14384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2" name="Google Shape;492;p30"/>
          <p:cNvSpPr/>
          <p:nvPr/>
        </p:nvSpPr>
        <p:spPr>
          <a:xfrm>
            <a:off x="3525012" y="1474470"/>
            <a:ext cx="2187702"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FB6BF"/>
              </a:buClr>
              <a:buSzPts val="800"/>
              <a:buFont typeface="Calibri"/>
              <a:buNone/>
            </a:pPr>
            <a:r>
              <a:rPr b="1" lang="en" sz="800">
                <a:solidFill>
                  <a:srgbClr val="9FB6BF"/>
                </a:solidFill>
                <a:latin typeface="Calibri"/>
                <a:ea typeface="Calibri"/>
                <a:cs typeface="Calibri"/>
                <a:sym typeface="Calibri"/>
              </a:rPr>
              <a:t>MILESTONES</a:t>
            </a:r>
            <a:endParaRPr sz="800">
              <a:solidFill>
                <a:schemeClr val="dk1"/>
              </a:solidFill>
              <a:latin typeface="Calibri"/>
              <a:ea typeface="Calibri"/>
              <a:cs typeface="Calibri"/>
              <a:sym typeface="Calibri"/>
            </a:endParaRPr>
          </a:p>
        </p:txBody>
      </p:sp>
      <p:sp>
        <p:nvSpPr>
          <p:cNvPr id="493" name="Google Shape;493;p30"/>
          <p:cNvSpPr/>
          <p:nvPr/>
        </p:nvSpPr>
        <p:spPr>
          <a:xfrm>
            <a:off x="3525012" y="1659636"/>
            <a:ext cx="2187702"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A578"/>
              </a:buClr>
              <a:buSzPts val="2300"/>
              <a:buFont typeface="Cambria"/>
              <a:buNone/>
            </a:pPr>
            <a:r>
              <a:rPr b="1" lang="en" sz="2300">
                <a:solidFill>
                  <a:srgbClr val="E8A578"/>
                </a:solidFill>
                <a:latin typeface="Cambria"/>
                <a:ea typeface="Cambria"/>
                <a:cs typeface="Cambria"/>
                <a:sym typeface="Cambria"/>
              </a:rPr>
              <a:t>Gate-linked</a:t>
            </a:r>
            <a:endParaRPr sz="2300">
              <a:solidFill>
                <a:schemeClr val="dk1"/>
              </a:solidFill>
              <a:latin typeface="Calibri"/>
              <a:ea typeface="Calibri"/>
              <a:cs typeface="Calibri"/>
              <a:sym typeface="Calibri"/>
            </a:endParaRPr>
          </a:p>
        </p:txBody>
      </p:sp>
      <p:sp>
        <p:nvSpPr>
          <p:cNvPr id="494" name="Google Shape;494;p30"/>
          <p:cNvSpPr/>
          <p:nvPr/>
        </p:nvSpPr>
        <p:spPr>
          <a:xfrm>
            <a:off x="3525012" y="2091690"/>
            <a:ext cx="2187702" cy="41148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9FB6BF"/>
              </a:buClr>
              <a:buSzPts val="900"/>
              <a:buFont typeface="Calibri"/>
              <a:buNone/>
            </a:pPr>
            <a:r>
              <a:rPr lang="en" sz="900">
                <a:solidFill>
                  <a:srgbClr val="9FB6BF"/>
                </a:solidFill>
                <a:latin typeface="Calibri"/>
                <a:ea typeface="Calibri"/>
                <a:cs typeface="Calibri"/>
                <a:sym typeface="Calibri"/>
              </a:rPr>
              <a:t>Tied to gates you can check yourself.</a:t>
            </a:r>
            <a:endParaRPr sz="900">
              <a:solidFill>
                <a:schemeClr val="dk1"/>
              </a:solidFill>
              <a:latin typeface="Calibri"/>
              <a:ea typeface="Calibri"/>
              <a:cs typeface="Calibri"/>
              <a:sym typeface="Calibri"/>
            </a:endParaRPr>
          </a:p>
        </p:txBody>
      </p:sp>
      <p:sp>
        <p:nvSpPr>
          <p:cNvPr id="495" name="Google Shape;495;p30"/>
          <p:cNvSpPr/>
          <p:nvPr/>
        </p:nvSpPr>
        <p:spPr>
          <a:xfrm>
            <a:off x="6165342" y="1337310"/>
            <a:ext cx="2626614" cy="1268730"/>
          </a:xfrm>
          <a:prstGeom prst="roundRect">
            <a:avLst>
              <a:gd fmla="val 3243" name="adj"/>
            </a:avLst>
          </a:prstGeom>
          <a:solidFill>
            <a:srgbClr val="143845"/>
          </a:solidFill>
          <a:ln cap="flat" cmpd="sng" w="12700">
            <a:solidFill>
              <a:srgbClr val="14384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6" name="Google Shape;496;p30"/>
          <p:cNvSpPr/>
          <p:nvPr/>
        </p:nvSpPr>
        <p:spPr>
          <a:xfrm>
            <a:off x="6384798" y="1474470"/>
            <a:ext cx="2187702"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FB6BF"/>
              </a:buClr>
              <a:buSzPts val="800"/>
              <a:buFont typeface="Calibri"/>
              <a:buNone/>
            </a:pPr>
            <a:r>
              <a:rPr b="1" lang="en" sz="800">
                <a:solidFill>
                  <a:srgbClr val="9FB6BF"/>
                </a:solidFill>
                <a:latin typeface="Calibri"/>
                <a:ea typeface="Calibri"/>
                <a:cs typeface="Calibri"/>
                <a:sym typeface="Calibri"/>
              </a:rPr>
              <a:t>ROYALTIES</a:t>
            </a:r>
            <a:endParaRPr sz="800">
              <a:solidFill>
                <a:schemeClr val="dk1"/>
              </a:solidFill>
              <a:latin typeface="Calibri"/>
              <a:ea typeface="Calibri"/>
              <a:cs typeface="Calibri"/>
              <a:sym typeface="Calibri"/>
            </a:endParaRPr>
          </a:p>
        </p:txBody>
      </p:sp>
      <p:sp>
        <p:nvSpPr>
          <p:cNvPr id="497" name="Google Shape;497;p30"/>
          <p:cNvSpPr/>
          <p:nvPr/>
        </p:nvSpPr>
        <p:spPr>
          <a:xfrm>
            <a:off x="6384798" y="1659636"/>
            <a:ext cx="2187702"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A578"/>
              </a:buClr>
              <a:buSzPts val="2300"/>
              <a:buFont typeface="Cambria"/>
              <a:buNone/>
            </a:pPr>
            <a:r>
              <a:rPr b="1" lang="en" sz="2300">
                <a:solidFill>
                  <a:srgbClr val="E8A578"/>
                </a:solidFill>
                <a:latin typeface="Cambria"/>
                <a:ea typeface="Cambria"/>
                <a:cs typeface="Cambria"/>
                <a:sym typeface="Cambria"/>
              </a:rPr>
              <a:t>3–8%</a:t>
            </a:r>
            <a:endParaRPr sz="2300">
              <a:solidFill>
                <a:schemeClr val="dk1"/>
              </a:solidFill>
              <a:latin typeface="Calibri"/>
              <a:ea typeface="Calibri"/>
              <a:cs typeface="Calibri"/>
              <a:sym typeface="Calibri"/>
            </a:endParaRPr>
          </a:p>
        </p:txBody>
      </p:sp>
      <p:sp>
        <p:nvSpPr>
          <p:cNvPr id="498" name="Google Shape;498;p30"/>
          <p:cNvSpPr/>
          <p:nvPr/>
        </p:nvSpPr>
        <p:spPr>
          <a:xfrm>
            <a:off x="6384798" y="2091690"/>
            <a:ext cx="2187702" cy="41148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9FB6BF"/>
              </a:buClr>
              <a:buSzPts val="900"/>
              <a:buFont typeface="Calibri"/>
              <a:buNone/>
            </a:pPr>
            <a:r>
              <a:rPr lang="en" sz="900">
                <a:solidFill>
                  <a:srgbClr val="9FB6BF"/>
                </a:solidFill>
                <a:latin typeface="Calibri"/>
                <a:ea typeface="Calibri"/>
                <a:cs typeface="Calibri"/>
                <a:sym typeface="Calibri"/>
              </a:rPr>
              <a:t>On production, once a joint material ships.</a:t>
            </a:r>
            <a:endParaRPr sz="900">
              <a:solidFill>
                <a:schemeClr val="dk1"/>
              </a:solidFill>
              <a:latin typeface="Calibri"/>
              <a:ea typeface="Calibri"/>
              <a:cs typeface="Calibri"/>
              <a:sym typeface="Calibri"/>
            </a:endParaRPr>
          </a:p>
        </p:txBody>
      </p:sp>
      <p:sp>
        <p:nvSpPr>
          <p:cNvPr id="499" name="Google Shape;499;p30"/>
          <p:cNvSpPr/>
          <p:nvPr/>
        </p:nvSpPr>
        <p:spPr>
          <a:xfrm>
            <a:off x="445770" y="2811780"/>
            <a:ext cx="3991356" cy="1543050"/>
          </a:xfrm>
          <a:prstGeom prst="roundRect">
            <a:avLst>
              <a:gd fmla="val 2667" name="adj"/>
            </a:avLst>
          </a:prstGeom>
          <a:solidFill>
            <a:srgbClr val="143845"/>
          </a:solidFill>
          <a:ln cap="flat" cmpd="sng" w="12700">
            <a:solidFill>
              <a:srgbClr val="14384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0" name="Google Shape;500;p30"/>
          <p:cNvSpPr/>
          <p:nvPr/>
        </p:nvSpPr>
        <p:spPr>
          <a:xfrm>
            <a:off x="692658" y="2948940"/>
            <a:ext cx="3497580" cy="2331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mbria"/>
              <a:buNone/>
            </a:pPr>
            <a:r>
              <a:rPr b="1" lang="en" sz="1400">
                <a:solidFill>
                  <a:srgbClr val="FFFFFF"/>
                </a:solidFill>
                <a:latin typeface="Cambria"/>
                <a:ea typeface="Cambria"/>
                <a:cs typeface="Cambria"/>
                <a:sym typeface="Cambria"/>
              </a:rPr>
              <a:t>Who owns what</a:t>
            </a:r>
            <a:endParaRPr sz="1400">
              <a:solidFill>
                <a:schemeClr val="dk1"/>
              </a:solidFill>
              <a:latin typeface="Calibri"/>
              <a:ea typeface="Calibri"/>
              <a:cs typeface="Calibri"/>
              <a:sym typeface="Calibri"/>
            </a:endParaRPr>
          </a:p>
        </p:txBody>
      </p:sp>
      <p:sp>
        <p:nvSpPr>
          <p:cNvPr id="501" name="Google Shape;501;p30"/>
          <p:cNvSpPr/>
          <p:nvPr/>
        </p:nvSpPr>
        <p:spPr>
          <a:xfrm>
            <a:off x="692658" y="3236976"/>
            <a:ext cx="3497580" cy="960120"/>
          </a:xfrm>
          <a:prstGeom prst="rect">
            <a:avLst/>
          </a:prstGeom>
          <a:noFill/>
          <a:ln>
            <a:noFill/>
          </a:ln>
        </p:spPr>
        <p:txBody>
          <a:bodyPr anchorCtr="0" anchor="t" bIns="0" lIns="0" spcFirstLastPara="1" rIns="0" wrap="square" tIns="0">
            <a:noAutofit/>
          </a:bodyPr>
          <a:lstStyle/>
          <a:p>
            <a:pPr indent="-254000" lvl="0" marL="254000" marR="0" rtl="0" algn="l">
              <a:lnSpc>
                <a:spcPct val="138461"/>
              </a:lnSpc>
              <a:spcBef>
                <a:spcPts val="0"/>
              </a:spcBef>
              <a:spcAft>
                <a:spcPts val="0"/>
              </a:spcAft>
              <a:buClr>
                <a:srgbClr val="9FB6BF"/>
              </a:buClr>
              <a:buSzPts val="1000"/>
              <a:buFont typeface="Calibri"/>
              <a:buChar char="•"/>
            </a:pPr>
            <a:r>
              <a:rPr lang="en" sz="1000">
                <a:solidFill>
                  <a:srgbClr val="9FB6BF"/>
                </a:solidFill>
                <a:latin typeface="Calibri"/>
                <a:ea typeface="Calibri"/>
                <a:cs typeface="Calibri"/>
                <a:sym typeface="Calibri"/>
              </a:rPr>
              <a:t>You own what is specific to your product and process</a:t>
            </a:r>
            <a:endParaRPr sz="1000">
              <a:solidFill>
                <a:schemeClr val="dk1"/>
              </a:solidFill>
              <a:latin typeface="Calibri"/>
              <a:ea typeface="Calibri"/>
              <a:cs typeface="Calibri"/>
              <a:sym typeface="Calibri"/>
            </a:endParaRPr>
          </a:p>
          <a:p>
            <a:pPr indent="-254000" lvl="0" marL="254000" marR="0" rtl="0" algn="l">
              <a:lnSpc>
                <a:spcPct val="138461"/>
              </a:lnSpc>
              <a:spcBef>
                <a:spcPts val="500"/>
              </a:spcBef>
              <a:spcAft>
                <a:spcPts val="0"/>
              </a:spcAft>
              <a:buClr>
                <a:srgbClr val="9FB6BF"/>
              </a:buClr>
              <a:buSzPts val="1000"/>
              <a:buFont typeface="Calibri"/>
              <a:buChar char="•"/>
            </a:pPr>
            <a:r>
              <a:rPr lang="en" sz="1000">
                <a:solidFill>
                  <a:srgbClr val="9FB6BF"/>
                </a:solidFill>
                <a:latin typeface="Calibri"/>
                <a:ea typeface="Calibri"/>
                <a:cs typeface="Calibri"/>
                <a:sym typeface="Calibri"/>
              </a:rPr>
              <a:t>We own the platform and the general chemistry</a:t>
            </a:r>
            <a:endParaRPr sz="1000">
              <a:solidFill>
                <a:schemeClr val="dk1"/>
              </a:solidFill>
              <a:latin typeface="Calibri"/>
              <a:ea typeface="Calibri"/>
              <a:cs typeface="Calibri"/>
              <a:sym typeface="Calibri"/>
            </a:endParaRPr>
          </a:p>
          <a:p>
            <a:pPr indent="-254000" lvl="0" marL="254000" marR="0" rtl="0" algn="l">
              <a:lnSpc>
                <a:spcPct val="138461"/>
              </a:lnSpc>
              <a:spcBef>
                <a:spcPts val="500"/>
              </a:spcBef>
              <a:spcAft>
                <a:spcPts val="0"/>
              </a:spcAft>
              <a:buClr>
                <a:srgbClr val="9FB6BF"/>
              </a:buClr>
              <a:buSzPts val="1000"/>
              <a:buFont typeface="Calibri"/>
              <a:buChar char="•"/>
            </a:pPr>
            <a:r>
              <a:rPr lang="en" sz="1000">
                <a:solidFill>
                  <a:srgbClr val="9FB6BF"/>
                </a:solidFill>
                <a:latin typeface="Calibri"/>
                <a:ea typeface="Calibri"/>
                <a:cs typeface="Calibri"/>
                <a:sym typeface="Calibri"/>
              </a:rPr>
              <a:t>Composition-of-matter positions get settled at the start</a:t>
            </a:r>
            <a:endParaRPr sz="1000">
              <a:solidFill>
                <a:schemeClr val="dk1"/>
              </a:solidFill>
              <a:latin typeface="Calibri"/>
              <a:ea typeface="Calibri"/>
              <a:cs typeface="Calibri"/>
              <a:sym typeface="Calibri"/>
            </a:endParaRPr>
          </a:p>
        </p:txBody>
      </p:sp>
      <p:sp>
        <p:nvSpPr>
          <p:cNvPr id="502" name="Google Shape;502;p30"/>
          <p:cNvSpPr/>
          <p:nvPr/>
        </p:nvSpPr>
        <p:spPr>
          <a:xfrm>
            <a:off x="4670298" y="2811780"/>
            <a:ext cx="3991356" cy="1543050"/>
          </a:xfrm>
          <a:prstGeom prst="roundRect">
            <a:avLst>
              <a:gd fmla="val 2667" name="adj"/>
            </a:avLst>
          </a:prstGeom>
          <a:solidFill>
            <a:srgbClr val="2E6F84"/>
          </a:solidFill>
          <a:ln cap="flat" cmpd="sng" w="12700">
            <a:solidFill>
              <a:srgbClr val="2E6F84"/>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3" name="Google Shape;503;p30"/>
          <p:cNvSpPr/>
          <p:nvPr/>
        </p:nvSpPr>
        <p:spPr>
          <a:xfrm>
            <a:off x="4917186" y="2948940"/>
            <a:ext cx="3497580" cy="2331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mbria"/>
              <a:buNone/>
            </a:pPr>
            <a:r>
              <a:rPr b="1" lang="en" sz="1400">
                <a:solidFill>
                  <a:srgbClr val="FFFFFF"/>
                </a:solidFill>
                <a:latin typeface="Cambria"/>
                <a:ea typeface="Cambria"/>
                <a:cs typeface="Cambria"/>
                <a:sym typeface="Cambria"/>
              </a:rPr>
              <a:t>Why it works this way</a:t>
            </a:r>
            <a:endParaRPr sz="1400">
              <a:solidFill>
                <a:schemeClr val="dk1"/>
              </a:solidFill>
              <a:latin typeface="Calibri"/>
              <a:ea typeface="Calibri"/>
              <a:cs typeface="Calibri"/>
              <a:sym typeface="Calibri"/>
            </a:endParaRPr>
          </a:p>
        </p:txBody>
      </p:sp>
      <p:sp>
        <p:nvSpPr>
          <p:cNvPr id="504" name="Google Shape;504;p30"/>
          <p:cNvSpPr/>
          <p:nvPr/>
        </p:nvSpPr>
        <p:spPr>
          <a:xfrm>
            <a:off x="4917186" y="3236976"/>
            <a:ext cx="3497580" cy="96012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E8F0F3"/>
              </a:buClr>
              <a:buSzPts val="1000"/>
              <a:buFont typeface="Calibri"/>
              <a:buNone/>
            </a:pPr>
            <a:r>
              <a:rPr lang="en" sz="1000">
                <a:solidFill>
                  <a:srgbClr val="E8F0F3"/>
                </a:solidFill>
                <a:latin typeface="Calibri"/>
                <a:ea typeface="Calibri"/>
                <a:cs typeface="Calibri"/>
                <a:sym typeface="Calibri"/>
              </a:rPr>
              <a:t>Milestones tie our payment to evidence you can verify. Miss a preregistered gate and it is a stop, and you do not fund the next phase. We would rather carry that risk than sell you a study.</a:t>
            </a:r>
            <a:endParaRPr sz="1000">
              <a:solidFill>
                <a:schemeClr val="dk1"/>
              </a:solidFill>
              <a:latin typeface="Calibri"/>
              <a:ea typeface="Calibri"/>
              <a:cs typeface="Calibri"/>
              <a:sym typeface="Calibri"/>
            </a:endParaRPr>
          </a:p>
        </p:txBody>
      </p:sp>
      <p:sp>
        <p:nvSpPr>
          <p:cNvPr id="505" name="Google Shape;505;p30"/>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FB6BF"/>
              </a:buClr>
              <a:buSzPts val="700"/>
              <a:buFont typeface="Calibri"/>
              <a:buNone/>
            </a:pPr>
            <a:r>
              <a:rPr lang="en" sz="700">
                <a:solidFill>
                  <a:srgbClr val="9FB6BF"/>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506" name="Google Shape;506;p30"/>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9FB6BF"/>
              </a:buClr>
              <a:buSzPts val="700"/>
              <a:buFont typeface="Calibri"/>
              <a:buNone/>
            </a:pPr>
            <a:r>
              <a:rPr lang="en" sz="700">
                <a:solidFill>
                  <a:srgbClr val="9FB6BF"/>
                </a:solidFill>
                <a:latin typeface="Calibri"/>
                <a:ea typeface="Calibri"/>
                <a:cs typeface="Calibri"/>
                <a:sym typeface="Calibri"/>
              </a:rPr>
              <a:t>21</a:t>
            </a:r>
            <a:endParaRPr sz="7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1" name="Shape 511"/>
        <p:cNvGrpSpPr/>
        <p:nvPr/>
      </p:nvGrpSpPr>
      <p:grpSpPr>
        <a:xfrm>
          <a:off x="0" y="0"/>
          <a:ext cx="0" cy="0"/>
          <a:chOff x="0" y="0"/>
          <a:chExt cx="0" cy="0"/>
        </a:xfrm>
      </p:grpSpPr>
      <p:sp>
        <p:nvSpPr>
          <p:cNvPr id="512" name="Google Shape;512;p31"/>
          <p:cNvSpPr/>
          <p:nvPr/>
        </p:nvSpPr>
        <p:spPr>
          <a:xfrm>
            <a:off x="445770" y="377190"/>
            <a:ext cx="7543800" cy="19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i="0" lang="en" sz="800" u="none" cap="none" strike="noStrike">
                <a:solidFill>
                  <a:srgbClr val="C25A1E"/>
                </a:solidFill>
                <a:latin typeface="Calibri"/>
                <a:ea typeface="Calibri"/>
                <a:cs typeface="Calibri"/>
                <a:sym typeface="Calibri"/>
              </a:rPr>
              <a:t>WHY NOW</a:t>
            </a:r>
            <a:endParaRPr b="0" i="0" sz="800" u="none" cap="none" strike="noStrike">
              <a:solidFill>
                <a:schemeClr val="dk1"/>
              </a:solidFill>
              <a:latin typeface="Calibri"/>
              <a:ea typeface="Calibri"/>
              <a:cs typeface="Calibri"/>
              <a:sym typeface="Calibri"/>
            </a:endParaRPr>
          </a:p>
        </p:txBody>
      </p:sp>
      <p:sp>
        <p:nvSpPr>
          <p:cNvPr id="513" name="Google Shape;513;p31"/>
          <p:cNvSpPr/>
          <p:nvPr/>
        </p:nvSpPr>
        <p:spPr>
          <a:xfrm>
            <a:off x="445770" y="582930"/>
            <a:ext cx="7955400" cy="58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600"/>
              <a:buFont typeface="Cambria"/>
              <a:buNone/>
            </a:pPr>
            <a:r>
              <a:rPr b="1" i="0" lang="en" sz="2600" u="none" cap="none" strike="noStrike">
                <a:solidFill>
                  <a:srgbClr val="16333D"/>
                </a:solidFill>
                <a:latin typeface="Cambria"/>
                <a:ea typeface="Cambria"/>
                <a:cs typeface="Cambria"/>
                <a:sym typeface="Cambria"/>
              </a:rPr>
              <a:t>What partners are being asked to deliver.</a:t>
            </a:r>
            <a:endParaRPr b="0" i="0" sz="2600" u="none" cap="none" strike="noStrike">
              <a:solidFill>
                <a:schemeClr val="dk1"/>
              </a:solidFill>
              <a:latin typeface="Calibri"/>
              <a:ea typeface="Calibri"/>
              <a:cs typeface="Calibri"/>
              <a:sym typeface="Calibri"/>
            </a:endParaRPr>
          </a:p>
        </p:txBody>
      </p:sp>
      <p:sp>
        <p:nvSpPr>
          <p:cNvPr id="514" name="Google Shape;514;p31"/>
          <p:cNvSpPr/>
          <p:nvPr/>
        </p:nvSpPr>
        <p:spPr>
          <a:xfrm>
            <a:off x="445770" y="1337310"/>
            <a:ext cx="2626500" cy="2366100"/>
          </a:xfrm>
          <a:prstGeom prst="roundRect">
            <a:avLst>
              <a:gd fmla="val 1739" name="adj"/>
            </a:avLst>
          </a:prstGeom>
          <a:solidFill>
            <a:srgbClr val="EDF1F2"/>
          </a:solidFill>
          <a:ln cap="flat" cmpd="sng" w="12700">
            <a:solidFill>
              <a:srgbClr val="EDF1F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5" name="Google Shape;515;p31"/>
          <p:cNvSpPr/>
          <p:nvPr/>
        </p:nvSpPr>
        <p:spPr>
          <a:xfrm>
            <a:off x="665226" y="1481328"/>
            <a:ext cx="2187600" cy="17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i="0" lang="en" sz="800" u="none" cap="none" strike="noStrike">
                <a:solidFill>
                  <a:srgbClr val="C25A1E"/>
                </a:solidFill>
                <a:latin typeface="Calibri"/>
                <a:ea typeface="Calibri"/>
                <a:cs typeface="Calibri"/>
                <a:sym typeface="Calibri"/>
              </a:rPr>
              <a:t>REGULATORY</a:t>
            </a:r>
            <a:endParaRPr b="0" i="0" sz="800" u="none" cap="none" strike="noStrike">
              <a:solidFill>
                <a:schemeClr val="dk1"/>
              </a:solidFill>
              <a:latin typeface="Calibri"/>
              <a:ea typeface="Calibri"/>
              <a:cs typeface="Calibri"/>
              <a:sym typeface="Calibri"/>
            </a:endParaRPr>
          </a:p>
        </p:txBody>
      </p:sp>
      <p:sp>
        <p:nvSpPr>
          <p:cNvPr id="516" name="Google Shape;516;p31"/>
          <p:cNvSpPr/>
          <p:nvPr/>
        </p:nvSpPr>
        <p:spPr>
          <a:xfrm>
            <a:off x="665226" y="1700784"/>
            <a:ext cx="2187600" cy="685800"/>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16333D"/>
              </a:buClr>
              <a:buSzPts val="1400"/>
              <a:buFont typeface="Cambria"/>
              <a:buNone/>
            </a:pPr>
            <a:r>
              <a:rPr b="1" i="0" lang="en" sz="1400" u="none" cap="none" strike="noStrike">
                <a:solidFill>
                  <a:srgbClr val="16333D"/>
                </a:solidFill>
                <a:latin typeface="Cambria"/>
                <a:ea typeface="Cambria"/>
                <a:cs typeface="Cambria"/>
                <a:sym typeface="Cambria"/>
              </a:rPr>
              <a:t>Get this chemical out, and do not lose the property.</a:t>
            </a:r>
            <a:endParaRPr b="0" i="0" sz="1400" u="none" cap="none" strike="noStrike">
              <a:solidFill>
                <a:schemeClr val="dk1"/>
              </a:solidFill>
              <a:latin typeface="Calibri"/>
              <a:ea typeface="Calibri"/>
              <a:cs typeface="Calibri"/>
              <a:sym typeface="Calibri"/>
            </a:endParaRPr>
          </a:p>
        </p:txBody>
      </p:sp>
      <p:sp>
        <p:nvSpPr>
          <p:cNvPr id="517" name="Google Shape;517;p31"/>
          <p:cNvSpPr/>
          <p:nvPr/>
        </p:nvSpPr>
        <p:spPr>
          <a:xfrm>
            <a:off x="665226" y="2434590"/>
            <a:ext cx="2187600" cy="8574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E7480"/>
              </a:buClr>
              <a:buSzPts val="900"/>
              <a:buFont typeface="Calibri"/>
              <a:buNone/>
            </a:pPr>
            <a:r>
              <a:rPr b="0" i="0" lang="en" sz="900" u="none" cap="none" strike="noStrike">
                <a:solidFill>
                  <a:srgbClr val="5E7480"/>
                </a:solidFill>
                <a:latin typeface="Calibri"/>
                <a:ea typeface="Calibri"/>
                <a:cs typeface="Calibri"/>
                <a:sym typeface="Calibri"/>
              </a:rPr>
              <a:t>A restricted substance has to come out of a product that already passes spec. Europe's PFAS restriction lands in 2027 with about five years for coatings, and thirty-three US states are writing their own rules.</a:t>
            </a:r>
            <a:endParaRPr b="0" i="0" sz="900" u="none" cap="none" strike="noStrike">
              <a:solidFill>
                <a:schemeClr val="dk1"/>
              </a:solidFill>
              <a:latin typeface="Calibri"/>
              <a:ea typeface="Calibri"/>
              <a:cs typeface="Calibri"/>
              <a:sym typeface="Calibri"/>
            </a:endParaRPr>
          </a:p>
        </p:txBody>
      </p:sp>
      <p:sp>
        <p:nvSpPr>
          <p:cNvPr id="518" name="Google Shape;518;p31"/>
          <p:cNvSpPr/>
          <p:nvPr/>
        </p:nvSpPr>
        <p:spPr>
          <a:xfrm>
            <a:off x="665226" y="3236976"/>
            <a:ext cx="2187600" cy="10200"/>
          </a:xfrm>
          <a:prstGeom prst="rect">
            <a:avLst/>
          </a:prstGeom>
          <a:solidFill>
            <a:srgbClr val="DCE5E8"/>
          </a:solidFill>
          <a:ln cap="flat" cmpd="sng" w="12700">
            <a:solidFill>
              <a:srgbClr val="DCE5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9" name="Google Shape;519;p31"/>
          <p:cNvSpPr/>
          <p:nvPr/>
        </p:nvSpPr>
        <p:spPr>
          <a:xfrm>
            <a:off x="665226" y="3319272"/>
            <a:ext cx="2187600" cy="342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2E6F84"/>
              </a:buClr>
              <a:buSzPts val="900"/>
              <a:buFont typeface="Calibri"/>
              <a:buNone/>
            </a:pPr>
            <a:r>
              <a:rPr b="0" i="1" lang="en" sz="900" u="none" cap="none" strike="noStrike">
                <a:solidFill>
                  <a:srgbClr val="2E6F84"/>
                </a:solidFill>
                <a:latin typeface="Calibri"/>
                <a:ea typeface="Calibri"/>
                <a:cs typeface="Calibri"/>
                <a:sym typeface="Calibri"/>
              </a:rPr>
              <a:t>The replacement has to hit the same numbers on the same line.</a:t>
            </a:r>
            <a:endParaRPr b="0" i="0" sz="900" u="none" cap="none" strike="noStrike">
              <a:solidFill>
                <a:schemeClr val="dk1"/>
              </a:solidFill>
              <a:latin typeface="Calibri"/>
              <a:ea typeface="Calibri"/>
              <a:cs typeface="Calibri"/>
              <a:sym typeface="Calibri"/>
            </a:endParaRPr>
          </a:p>
        </p:txBody>
      </p:sp>
      <p:sp>
        <p:nvSpPr>
          <p:cNvPr id="520" name="Google Shape;520;p31"/>
          <p:cNvSpPr/>
          <p:nvPr/>
        </p:nvSpPr>
        <p:spPr>
          <a:xfrm>
            <a:off x="3305556" y="1337310"/>
            <a:ext cx="2626500" cy="2366100"/>
          </a:xfrm>
          <a:prstGeom prst="roundRect">
            <a:avLst>
              <a:gd fmla="val 1739" name="adj"/>
            </a:avLst>
          </a:prstGeom>
          <a:solidFill>
            <a:srgbClr val="EDF1F2"/>
          </a:solidFill>
          <a:ln cap="flat" cmpd="sng" w="12700">
            <a:solidFill>
              <a:srgbClr val="EDF1F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1" name="Google Shape;521;p31"/>
          <p:cNvSpPr/>
          <p:nvPr/>
        </p:nvSpPr>
        <p:spPr>
          <a:xfrm>
            <a:off x="3525012" y="1481328"/>
            <a:ext cx="2187600" cy="17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i="0" lang="en" sz="800" u="none" cap="none" strike="noStrike">
                <a:solidFill>
                  <a:srgbClr val="C25A1E"/>
                </a:solidFill>
                <a:latin typeface="Calibri"/>
                <a:ea typeface="Calibri"/>
                <a:cs typeface="Calibri"/>
                <a:sym typeface="Calibri"/>
              </a:rPr>
              <a:t>COST AND SUPPLY</a:t>
            </a:r>
            <a:endParaRPr b="0" i="0" sz="800" u="none" cap="none" strike="noStrike">
              <a:solidFill>
                <a:schemeClr val="dk1"/>
              </a:solidFill>
              <a:latin typeface="Calibri"/>
              <a:ea typeface="Calibri"/>
              <a:cs typeface="Calibri"/>
              <a:sym typeface="Calibri"/>
            </a:endParaRPr>
          </a:p>
        </p:txBody>
      </p:sp>
      <p:sp>
        <p:nvSpPr>
          <p:cNvPr id="522" name="Google Shape;522;p31"/>
          <p:cNvSpPr/>
          <p:nvPr/>
        </p:nvSpPr>
        <p:spPr>
          <a:xfrm>
            <a:off x="3525012" y="1700784"/>
            <a:ext cx="2187600" cy="685800"/>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16333D"/>
              </a:buClr>
              <a:buSzPts val="1400"/>
              <a:buFont typeface="Cambria"/>
              <a:buNone/>
            </a:pPr>
            <a:r>
              <a:rPr b="1" i="0" lang="en" sz="1400" u="none" cap="none" strike="noStrike">
                <a:solidFill>
                  <a:srgbClr val="16333D"/>
                </a:solidFill>
                <a:latin typeface="Cambria"/>
                <a:ea typeface="Cambria"/>
                <a:cs typeface="Cambria"/>
                <a:sym typeface="Cambria"/>
              </a:rPr>
              <a:t>Take cost and risk out without touching the plant.</a:t>
            </a:r>
            <a:endParaRPr b="0" i="0" sz="1400" u="none" cap="none" strike="noStrike">
              <a:solidFill>
                <a:schemeClr val="dk1"/>
              </a:solidFill>
              <a:latin typeface="Calibri"/>
              <a:ea typeface="Calibri"/>
              <a:cs typeface="Calibri"/>
              <a:sym typeface="Calibri"/>
            </a:endParaRPr>
          </a:p>
        </p:txBody>
      </p:sp>
      <p:sp>
        <p:nvSpPr>
          <p:cNvPr id="523" name="Google Shape;523;p31"/>
          <p:cNvSpPr/>
          <p:nvPr/>
        </p:nvSpPr>
        <p:spPr>
          <a:xfrm>
            <a:off x="3525012" y="2434590"/>
            <a:ext cx="2187600" cy="8574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E7480"/>
              </a:buClr>
              <a:buSzPts val="900"/>
              <a:buFont typeface="Calibri"/>
              <a:buNone/>
            </a:pPr>
            <a:r>
              <a:rPr b="0" i="0" lang="en" sz="900" u="none" cap="none" strike="noStrike">
                <a:solidFill>
                  <a:srgbClr val="5E7480"/>
                </a:solidFill>
                <a:latin typeface="Calibri"/>
                <a:ea typeface="Calibri"/>
                <a:cs typeface="Calibri"/>
                <a:sym typeface="Calibri"/>
              </a:rPr>
              <a:t>Cheaper inputs, a second source, less exposure to one supplier. Every swap puts a property at risk that nobody wrote down when the formulation was set.</a:t>
            </a:r>
            <a:endParaRPr b="0" i="0" sz="900" u="none" cap="none" strike="noStrike">
              <a:solidFill>
                <a:schemeClr val="dk1"/>
              </a:solidFill>
              <a:latin typeface="Calibri"/>
              <a:ea typeface="Calibri"/>
              <a:cs typeface="Calibri"/>
              <a:sym typeface="Calibri"/>
            </a:endParaRPr>
          </a:p>
        </p:txBody>
      </p:sp>
      <p:sp>
        <p:nvSpPr>
          <p:cNvPr id="524" name="Google Shape;524;p31"/>
          <p:cNvSpPr/>
          <p:nvPr/>
        </p:nvSpPr>
        <p:spPr>
          <a:xfrm>
            <a:off x="3525012" y="3236976"/>
            <a:ext cx="2187600" cy="10200"/>
          </a:xfrm>
          <a:prstGeom prst="rect">
            <a:avLst/>
          </a:prstGeom>
          <a:solidFill>
            <a:srgbClr val="DCE5E8"/>
          </a:solidFill>
          <a:ln cap="flat" cmpd="sng" w="12700">
            <a:solidFill>
              <a:srgbClr val="DCE5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5" name="Google Shape;525;p31"/>
          <p:cNvSpPr/>
          <p:nvPr/>
        </p:nvSpPr>
        <p:spPr>
          <a:xfrm>
            <a:off x="3525012" y="3319272"/>
            <a:ext cx="2187600" cy="342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2E6F84"/>
              </a:buClr>
              <a:buSzPts val="900"/>
              <a:buFont typeface="Calibri"/>
              <a:buNone/>
            </a:pPr>
            <a:r>
              <a:rPr b="0" i="1" lang="en" sz="900" u="none" cap="none" strike="noStrike">
                <a:solidFill>
                  <a:srgbClr val="2E6F84"/>
                </a:solidFill>
                <a:latin typeface="Calibri"/>
                <a:ea typeface="Calibri"/>
                <a:cs typeface="Calibri"/>
                <a:sym typeface="Calibri"/>
              </a:rPr>
              <a:t>Cheaper is easy. Cheaper and still qualified is not.</a:t>
            </a:r>
            <a:endParaRPr b="0" i="0" sz="900" u="none" cap="none" strike="noStrike">
              <a:solidFill>
                <a:schemeClr val="dk1"/>
              </a:solidFill>
              <a:latin typeface="Calibri"/>
              <a:ea typeface="Calibri"/>
              <a:cs typeface="Calibri"/>
              <a:sym typeface="Calibri"/>
            </a:endParaRPr>
          </a:p>
        </p:txBody>
      </p:sp>
      <p:sp>
        <p:nvSpPr>
          <p:cNvPr id="526" name="Google Shape;526;p31"/>
          <p:cNvSpPr/>
          <p:nvPr/>
        </p:nvSpPr>
        <p:spPr>
          <a:xfrm>
            <a:off x="6165342" y="1337310"/>
            <a:ext cx="2626500" cy="2366100"/>
          </a:xfrm>
          <a:prstGeom prst="roundRect">
            <a:avLst>
              <a:gd fmla="val 1739" name="adj"/>
            </a:avLst>
          </a:prstGeom>
          <a:solidFill>
            <a:srgbClr val="EDF1F2"/>
          </a:solidFill>
          <a:ln cap="flat" cmpd="sng" w="12700">
            <a:solidFill>
              <a:srgbClr val="EDF1F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7" name="Google Shape;527;p31"/>
          <p:cNvSpPr/>
          <p:nvPr/>
        </p:nvSpPr>
        <p:spPr>
          <a:xfrm>
            <a:off x="6384798" y="1481328"/>
            <a:ext cx="2187600" cy="17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i="0" lang="en" sz="800" u="none" cap="none" strike="noStrike">
                <a:solidFill>
                  <a:srgbClr val="C25A1E"/>
                </a:solidFill>
                <a:latin typeface="Calibri"/>
                <a:ea typeface="Calibri"/>
                <a:cs typeface="Calibri"/>
                <a:sym typeface="Calibri"/>
              </a:rPr>
              <a:t>PERFORMANCE</a:t>
            </a:r>
            <a:endParaRPr b="0" i="0" sz="800" u="none" cap="none" strike="noStrike">
              <a:solidFill>
                <a:schemeClr val="dk1"/>
              </a:solidFill>
              <a:latin typeface="Calibri"/>
              <a:ea typeface="Calibri"/>
              <a:cs typeface="Calibri"/>
              <a:sym typeface="Calibri"/>
            </a:endParaRPr>
          </a:p>
        </p:txBody>
      </p:sp>
      <p:sp>
        <p:nvSpPr>
          <p:cNvPr id="528" name="Google Shape;528;p31"/>
          <p:cNvSpPr/>
          <p:nvPr/>
        </p:nvSpPr>
        <p:spPr>
          <a:xfrm>
            <a:off x="6384798" y="1700784"/>
            <a:ext cx="2187600" cy="685800"/>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16333D"/>
              </a:buClr>
              <a:buSzPts val="1400"/>
              <a:buFont typeface="Cambria"/>
              <a:buNone/>
            </a:pPr>
            <a:r>
              <a:rPr b="1" i="0" lang="en" sz="1400" u="none" cap="none" strike="noStrike">
                <a:solidFill>
                  <a:srgbClr val="16333D"/>
                </a:solidFill>
                <a:latin typeface="Cambria"/>
                <a:ea typeface="Cambria"/>
                <a:cs typeface="Cambria"/>
                <a:sym typeface="Cambria"/>
              </a:rPr>
              <a:t>Hit a number nothing on the market hits.</a:t>
            </a:r>
            <a:endParaRPr b="0" i="0" sz="1400" u="none" cap="none" strike="noStrike">
              <a:solidFill>
                <a:schemeClr val="dk1"/>
              </a:solidFill>
              <a:latin typeface="Calibri"/>
              <a:ea typeface="Calibri"/>
              <a:cs typeface="Calibri"/>
              <a:sym typeface="Calibri"/>
            </a:endParaRPr>
          </a:p>
        </p:txBody>
      </p:sp>
      <p:sp>
        <p:nvSpPr>
          <p:cNvPr id="529" name="Google Shape;529;p31"/>
          <p:cNvSpPr/>
          <p:nvPr/>
        </p:nvSpPr>
        <p:spPr>
          <a:xfrm>
            <a:off x="6384798" y="2434590"/>
            <a:ext cx="2187600" cy="8574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E7480"/>
              </a:buClr>
              <a:buSzPts val="900"/>
              <a:buFont typeface="Calibri"/>
              <a:buNone/>
            </a:pPr>
            <a:r>
              <a:rPr b="0" i="0" lang="en" sz="900" u="none" cap="none" strike="noStrike">
                <a:solidFill>
                  <a:srgbClr val="5E7480"/>
                </a:solidFill>
                <a:latin typeface="Calibri"/>
                <a:ea typeface="Calibri"/>
                <a:cs typeface="Calibri"/>
                <a:sym typeface="Calibri"/>
              </a:rPr>
              <a:t>Longer between dry-dockings or workovers. A service condition the current product was never designed for. A property you have been buying around for years.</a:t>
            </a:r>
            <a:endParaRPr b="0" i="0" sz="900" u="none" cap="none" strike="noStrike">
              <a:solidFill>
                <a:schemeClr val="dk1"/>
              </a:solidFill>
              <a:latin typeface="Calibri"/>
              <a:ea typeface="Calibri"/>
              <a:cs typeface="Calibri"/>
              <a:sym typeface="Calibri"/>
            </a:endParaRPr>
          </a:p>
        </p:txBody>
      </p:sp>
      <p:sp>
        <p:nvSpPr>
          <p:cNvPr id="530" name="Google Shape;530;p31"/>
          <p:cNvSpPr/>
          <p:nvPr/>
        </p:nvSpPr>
        <p:spPr>
          <a:xfrm>
            <a:off x="6384798" y="3236976"/>
            <a:ext cx="2187600" cy="10200"/>
          </a:xfrm>
          <a:prstGeom prst="rect">
            <a:avLst/>
          </a:prstGeom>
          <a:solidFill>
            <a:srgbClr val="DCE5E8"/>
          </a:solidFill>
          <a:ln cap="flat" cmpd="sng" w="12700">
            <a:solidFill>
              <a:srgbClr val="DCE5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1" name="Google Shape;531;p31"/>
          <p:cNvSpPr/>
          <p:nvPr/>
        </p:nvSpPr>
        <p:spPr>
          <a:xfrm>
            <a:off x="6384798" y="3319272"/>
            <a:ext cx="2187600" cy="342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2E6F84"/>
              </a:buClr>
              <a:buSzPts val="900"/>
              <a:buFont typeface="Calibri"/>
              <a:buNone/>
            </a:pPr>
            <a:r>
              <a:rPr b="0" i="1" lang="en" sz="900" u="none" cap="none" strike="noStrike">
                <a:solidFill>
                  <a:srgbClr val="2E6F84"/>
                </a:solidFill>
                <a:latin typeface="Calibri"/>
                <a:ea typeface="Calibri"/>
                <a:cs typeface="Calibri"/>
                <a:sym typeface="Calibri"/>
              </a:rPr>
              <a:t>This is the one that pays for the programme.</a:t>
            </a:r>
            <a:endParaRPr b="0" i="0" sz="900" u="none" cap="none" strike="noStrike">
              <a:solidFill>
                <a:schemeClr val="dk1"/>
              </a:solidFill>
              <a:latin typeface="Calibri"/>
              <a:ea typeface="Calibri"/>
              <a:cs typeface="Calibri"/>
              <a:sym typeface="Calibri"/>
            </a:endParaRPr>
          </a:p>
        </p:txBody>
      </p:sp>
      <p:sp>
        <p:nvSpPr>
          <p:cNvPr id="532" name="Google Shape;532;p31"/>
          <p:cNvSpPr/>
          <p:nvPr/>
        </p:nvSpPr>
        <p:spPr>
          <a:xfrm>
            <a:off x="445770" y="3854196"/>
            <a:ext cx="8215800" cy="788700"/>
          </a:xfrm>
          <a:prstGeom prst="roundRect">
            <a:avLst>
              <a:gd fmla="val 5217" name="adj"/>
            </a:avLst>
          </a:prstGeom>
          <a:solidFill>
            <a:srgbClr val="0B2430"/>
          </a:solidFill>
          <a:ln cap="flat" cmpd="sng" w="12700">
            <a:solidFill>
              <a:srgbClr val="0B243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3" name="Google Shape;533;p31"/>
          <p:cNvSpPr/>
          <p:nvPr/>
        </p:nvSpPr>
        <p:spPr>
          <a:xfrm>
            <a:off x="754380" y="3977640"/>
            <a:ext cx="76125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Cambria"/>
              <a:buNone/>
            </a:pPr>
            <a:r>
              <a:rPr b="1" i="0" lang="en" sz="1600" u="none" cap="none" strike="noStrike">
                <a:solidFill>
                  <a:srgbClr val="FFFFFF"/>
                </a:solidFill>
                <a:latin typeface="Cambria"/>
                <a:ea typeface="Cambria"/>
                <a:cs typeface="Cambria"/>
                <a:sym typeface="Cambria"/>
              </a:rPr>
              <a:t>In all three, the blocker is the same.</a:t>
            </a:r>
            <a:endParaRPr b="0" i="0" sz="1600" u="none" cap="none" strike="noStrike">
              <a:solidFill>
                <a:schemeClr val="dk1"/>
              </a:solidFill>
              <a:latin typeface="Calibri"/>
              <a:ea typeface="Calibri"/>
              <a:cs typeface="Calibri"/>
              <a:sym typeface="Calibri"/>
            </a:endParaRPr>
          </a:p>
        </p:txBody>
      </p:sp>
      <p:sp>
        <p:nvSpPr>
          <p:cNvPr id="534" name="Google Shape;534;p31"/>
          <p:cNvSpPr/>
          <p:nvPr/>
        </p:nvSpPr>
        <p:spPr>
          <a:xfrm>
            <a:off x="754380" y="4265676"/>
            <a:ext cx="7612500" cy="30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FB6BF"/>
              </a:buClr>
              <a:buSzPts val="1000"/>
              <a:buFont typeface="Calibri"/>
              <a:buNone/>
            </a:pPr>
            <a:r>
              <a:rPr b="0" i="0" lang="en" sz="1000" u="none" cap="none" strike="noStrike">
                <a:solidFill>
                  <a:srgbClr val="9FB6BF"/>
                </a:solidFill>
                <a:latin typeface="Calibri"/>
                <a:ea typeface="Calibri"/>
                <a:cs typeface="Calibri"/>
                <a:sym typeface="Calibri"/>
              </a:rPr>
              <a:t>Nobody can fully describe the material you already use, so every change starts from zero and ends in a year of panels. The deadline is now set by regulators and fleet schedules, not by your development calendar.</a:t>
            </a:r>
            <a:endParaRPr b="0" i="0" sz="1000" u="none" cap="none" strike="noStrike">
              <a:solidFill>
                <a:schemeClr val="dk1"/>
              </a:solidFill>
              <a:latin typeface="Calibri"/>
              <a:ea typeface="Calibri"/>
              <a:cs typeface="Calibri"/>
              <a:sym typeface="Calibri"/>
            </a:endParaRPr>
          </a:p>
        </p:txBody>
      </p:sp>
      <p:sp>
        <p:nvSpPr>
          <p:cNvPr id="535" name="Google Shape;535;p31"/>
          <p:cNvSpPr/>
          <p:nvPr/>
        </p:nvSpPr>
        <p:spPr>
          <a:xfrm>
            <a:off x="445770" y="4718304"/>
            <a:ext cx="7680900" cy="164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600"/>
              <a:buFont typeface="Calibri"/>
              <a:buNone/>
            </a:pPr>
            <a:r>
              <a:rPr b="0" i="0" lang="en" sz="600" u="none" cap="none" strike="noStrike">
                <a:solidFill>
                  <a:srgbClr val="5E7480"/>
                </a:solidFill>
                <a:latin typeface="Calibri"/>
                <a:ea typeface="Calibri"/>
                <a:cs typeface="Calibri"/>
                <a:sym typeface="Calibri"/>
              </a:rPr>
              <a:t>PFAS timeline: ECHA universal restriction status 2026 · PCI Magazine PFAS update 2026.</a:t>
            </a:r>
            <a:endParaRPr b="0" i="0" sz="600" u="none" cap="none" strike="noStrike">
              <a:solidFill>
                <a:schemeClr val="dk1"/>
              </a:solidFill>
              <a:latin typeface="Calibri"/>
              <a:ea typeface="Calibri"/>
              <a:cs typeface="Calibri"/>
              <a:sym typeface="Calibri"/>
            </a:endParaRPr>
          </a:p>
        </p:txBody>
      </p:sp>
      <p:sp>
        <p:nvSpPr>
          <p:cNvPr id="536" name="Google Shape;536;p31"/>
          <p:cNvSpPr/>
          <p:nvPr/>
        </p:nvSpPr>
        <p:spPr>
          <a:xfrm>
            <a:off x="8286521" y="4718304"/>
            <a:ext cx="411600" cy="164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600"/>
              <a:buFont typeface="Calibri"/>
              <a:buNone/>
            </a:pPr>
            <a:r>
              <a:rPr b="0" i="0" lang="en" sz="600" u="none" cap="none" strike="noStrike">
                <a:solidFill>
                  <a:srgbClr val="5E7480"/>
                </a:solidFill>
                <a:latin typeface="Calibri"/>
                <a:ea typeface="Calibri"/>
                <a:cs typeface="Calibri"/>
                <a:sym typeface="Calibri"/>
              </a:rPr>
              <a:t>22</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1" name="Shape 541"/>
        <p:cNvGrpSpPr/>
        <p:nvPr/>
      </p:nvGrpSpPr>
      <p:grpSpPr>
        <a:xfrm>
          <a:off x="0" y="0"/>
          <a:ext cx="0" cy="0"/>
          <a:chOff x="0" y="0"/>
          <a:chExt cx="0" cy="0"/>
        </a:xfrm>
      </p:grpSpPr>
      <p:sp>
        <p:nvSpPr>
          <p:cNvPr id="542" name="Google Shape;542;p32"/>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TEAM</a:t>
            </a:r>
            <a:endParaRPr sz="800">
              <a:solidFill>
                <a:schemeClr val="dk1"/>
              </a:solidFill>
              <a:latin typeface="Calibri"/>
              <a:ea typeface="Calibri"/>
              <a:cs typeface="Calibri"/>
              <a:sym typeface="Calibri"/>
            </a:endParaRPr>
          </a:p>
        </p:txBody>
      </p:sp>
      <p:sp>
        <p:nvSpPr>
          <p:cNvPr id="543" name="Google Shape;543;p32"/>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600"/>
              <a:buFont typeface="Cambria"/>
              <a:buNone/>
            </a:pPr>
            <a:r>
              <a:rPr b="1" lang="en" sz="2600">
                <a:solidFill>
                  <a:srgbClr val="16333D"/>
                </a:solidFill>
                <a:latin typeface="Cambria"/>
                <a:ea typeface="Cambria"/>
                <a:cs typeface="Cambria"/>
                <a:sym typeface="Cambria"/>
              </a:rPr>
              <a:t>Multi-time founder in the </a:t>
            </a:r>
            <a:r>
              <a:rPr b="1" lang="en" sz="2600">
                <a:solidFill>
                  <a:srgbClr val="16333D"/>
                </a:solidFill>
                <a:latin typeface="Cambria"/>
                <a:ea typeface="Cambria"/>
                <a:cs typeface="Cambria"/>
                <a:sym typeface="Cambria"/>
              </a:rPr>
              <a:t>AI discovery space.</a:t>
            </a:r>
            <a:endParaRPr sz="2600">
              <a:solidFill>
                <a:schemeClr val="dk1"/>
              </a:solidFill>
              <a:latin typeface="Calibri"/>
              <a:ea typeface="Calibri"/>
              <a:cs typeface="Calibri"/>
              <a:sym typeface="Calibri"/>
            </a:endParaRPr>
          </a:p>
        </p:txBody>
      </p:sp>
      <p:sp>
        <p:nvSpPr>
          <p:cNvPr id="544" name="Google Shape;544;p32"/>
          <p:cNvSpPr/>
          <p:nvPr/>
        </p:nvSpPr>
        <p:spPr>
          <a:xfrm>
            <a:off x="445770" y="1337310"/>
            <a:ext cx="1968246" cy="2125980"/>
          </a:xfrm>
          <a:prstGeom prst="roundRect">
            <a:avLst>
              <a:gd fmla="val 2091"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5" name="Google Shape;545;p32"/>
          <p:cNvSpPr/>
          <p:nvPr/>
        </p:nvSpPr>
        <p:spPr>
          <a:xfrm>
            <a:off x="637794" y="1988820"/>
            <a:ext cx="1584198" cy="2331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400"/>
              <a:buFont typeface="Cambria"/>
              <a:buNone/>
            </a:pPr>
            <a:r>
              <a:rPr b="1" lang="en" sz="1400">
                <a:solidFill>
                  <a:srgbClr val="16333D"/>
                </a:solidFill>
                <a:latin typeface="Cambria"/>
                <a:ea typeface="Cambria"/>
                <a:cs typeface="Cambria"/>
                <a:sym typeface="Cambria"/>
              </a:rPr>
              <a:t>Jeff Riley</a:t>
            </a:r>
            <a:endParaRPr sz="1400">
              <a:solidFill>
                <a:schemeClr val="dk1"/>
              </a:solidFill>
              <a:latin typeface="Calibri"/>
              <a:ea typeface="Calibri"/>
              <a:cs typeface="Calibri"/>
              <a:sym typeface="Calibri"/>
            </a:endParaRPr>
          </a:p>
        </p:txBody>
      </p:sp>
      <p:sp>
        <p:nvSpPr>
          <p:cNvPr id="546" name="Google Shape;546;p32"/>
          <p:cNvSpPr/>
          <p:nvPr/>
        </p:nvSpPr>
        <p:spPr>
          <a:xfrm>
            <a:off x="637794" y="2235708"/>
            <a:ext cx="1584198"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CHIEF EXECUTIVE</a:t>
            </a:r>
            <a:endParaRPr sz="800">
              <a:solidFill>
                <a:schemeClr val="dk1"/>
              </a:solidFill>
              <a:latin typeface="Calibri"/>
              <a:ea typeface="Calibri"/>
              <a:cs typeface="Calibri"/>
              <a:sym typeface="Calibri"/>
            </a:endParaRPr>
          </a:p>
        </p:txBody>
      </p:sp>
      <p:sp>
        <p:nvSpPr>
          <p:cNvPr id="547" name="Google Shape;547;p32"/>
          <p:cNvSpPr/>
          <p:nvPr/>
        </p:nvSpPr>
        <p:spPr>
          <a:xfrm>
            <a:off x="637794" y="2455164"/>
            <a:ext cx="1584198" cy="89154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Serial founder, multiple exits. Built one of the first AI drug-discovery platforms to reach clinical trials. Former M&amp;A lead at Pfizer and GSK.</a:t>
            </a:r>
            <a:endParaRPr sz="900">
              <a:solidFill>
                <a:schemeClr val="dk1"/>
              </a:solidFill>
              <a:latin typeface="Calibri"/>
              <a:ea typeface="Calibri"/>
              <a:cs typeface="Calibri"/>
              <a:sym typeface="Calibri"/>
            </a:endParaRPr>
          </a:p>
        </p:txBody>
      </p:sp>
      <p:sp>
        <p:nvSpPr>
          <p:cNvPr id="548" name="Google Shape;548;p32"/>
          <p:cNvSpPr/>
          <p:nvPr/>
        </p:nvSpPr>
        <p:spPr>
          <a:xfrm>
            <a:off x="2578608" y="1337310"/>
            <a:ext cx="1968246" cy="2125980"/>
          </a:xfrm>
          <a:prstGeom prst="roundRect">
            <a:avLst>
              <a:gd fmla="val 2091"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9" name="Google Shape;549;p32"/>
          <p:cNvSpPr/>
          <p:nvPr/>
        </p:nvSpPr>
        <p:spPr>
          <a:xfrm>
            <a:off x="2770632" y="1988820"/>
            <a:ext cx="1584198" cy="2331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400"/>
              <a:buFont typeface="Cambria"/>
              <a:buNone/>
            </a:pPr>
            <a:r>
              <a:rPr b="1" lang="en" sz="1400">
                <a:solidFill>
                  <a:srgbClr val="16333D"/>
                </a:solidFill>
                <a:latin typeface="Cambria"/>
                <a:ea typeface="Cambria"/>
                <a:cs typeface="Cambria"/>
                <a:sym typeface="Cambria"/>
              </a:rPr>
              <a:t>Jepson Taylor</a:t>
            </a:r>
            <a:endParaRPr sz="1400">
              <a:solidFill>
                <a:schemeClr val="dk1"/>
              </a:solidFill>
              <a:latin typeface="Calibri"/>
              <a:ea typeface="Calibri"/>
              <a:cs typeface="Calibri"/>
              <a:sym typeface="Calibri"/>
            </a:endParaRPr>
          </a:p>
        </p:txBody>
      </p:sp>
      <p:sp>
        <p:nvSpPr>
          <p:cNvPr id="550" name="Google Shape;550;p32"/>
          <p:cNvSpPr/>
          <p:nvPr/>
        </p:nvSpPr>
        <p:spPr>
          <a:xfrm>
            <a:off x="2770632" y="2235708"/>
            <a:ext cx="1584198"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CHIEF TECHNOLOGY</a:t>
            </a:r>
            <a:endParaRPr sz="800">
              <a:solidFill>
                <a:schemeClr val="dk1"/>
              </a:solidFill>
              <a:latin typeface="Calibri"/>
              <a:ea typeface="Calibri"/>
              <a:cs typeface="Calibri"/>
              <a:sym typeface="Calibri"/>
            </a:endParaRPr>
          </a:p>
        </p:txBody>
      </p:sp>
      <p:sp>
        <p:nvSpPr>
          <p:cNvPr id="551" name="Google Shape;551;p32"/>
          <p:cNvSpPr/>
          <p:nvPr/>
        </p:nvSpPr>
        <p:spPr>
          <a:xfrm>
            <a:off x="2770632" y="2455164"/>
            <a:ext cx="1584198" cy="89154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Built and sold generative AI platforms into DataRobot. Former head of AI at a Sequoia-backed company.</a:t>
            </a:r>
            <a:endParaRPr sz="900">
              <a:solidFill>
                <a:schemeClr val="dk1"/>
              </a:solidFill>
              <a:latin typeface="Calibri"/>
              <a:ea typeface="Calibri"/>
              <a:cs typeface="Calibri"/>
              <a:sym typeface="Calibri"/>
            </a:endParaRPr>
          </a:p>
        </p:txBody>
      </p:sp>
      <p:sp>
        <p:nvSpPr>
          <p:cNvPr id="552" name="Google Shape;552;p32"/>
          <p:cNvSpPr/>
          <p:nvPr/>
        </p:nvSpPr>
        <p:spPr>
          <a:xfrm>
            <a:off x="4711446" y="1337310"/>
            <a:ext cx="1968246" cy="2125980"/>
          </a:xfrm>
          <a:prstGeom prst="roundRect">
            <a:avLst>
              <a:gd fmla="val 2091"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3" name="Google Shape;553;p32"/>
          <p:cNvSpPr/>
          <p:nvPr/>
        </p:nvSpPr>
        <p:spPr>
          <a:xfrm>
            <a:off x="4903470" y="1988820"/>
            <a:ext cx="1584198" cy="2331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400"/>
              <a:buFont typeface="Cambria"/>
              <a:buNone/>
            </a:pPr>
            <a:r>
              <a:rPr b="1" lang="en" sz="1400">
                <a:solidFill>
                  <a:srgbClr val="16333D"/>
                </a:solidFill>
                <a:latin typeface="Cambria"/>
                <a:ea typeface="Cambria"/>
                <a:cs typeface="Cambria"/>
                <a:sym typeface="Cambria"/>
              </a:rPr>
              <a:t>Alex Boches</a:t>
            </a:r>
            <a:endParaRPr sz="1400">
              <a:solidFill>
                <a:schemeClr val="dk1"/>
              </a:solidFill>
              <a:latin typeface="Calibri"/>
              <a:ea typeface="Calibri"/>
              <a:cs typeface="Calibri"/>
              <a:sym typeface="Calibri"/>
            </a:endParaRPr>
          </a:p>
        </p:txBody>
      </p:sp>
      <p:sp>
        <p:nvSpPr>
          <p:cNvPr id="554" name="Google Shape;554;p32"/>
          <p:cNvSpPr/>
          <p:nvPr/>
        </p:nvSpPr>
        <p:spPr>
          <a:xfrm>
            <a:off x="4903470" y="2235708"/>
            <a:ext cx="1584198"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CHIEF PRODUCT</a:t>
            </a:r>
            <a:endParaRPr sz="800">
              <a:solidFill>
                <a:schemeClr val="dk1"/>
              </a:solidFill>
              <a:latin typeface="Calibri"/>
              <a:ea typeface="Calibri"/>
              <a:cs typeface="Calibri"/>
              <a:sym typeface="Calibri"/>
            </a:endParaRPr>
          </a:p>
        </p:txBody>
      </p:sp>
      <p:sp>
        <p:nvSpPr>
          <p:cNvPr id="555" name="Google Shape;555;p32"/>
          <p:cNvSpPr/>
          <p:nvPr/>
        </p:nvSpPr>
        <p:spPr>
          <a:xfrm>
            <a:off x="4903470" y="2455164"/>
            <a:ext cx="1584198" cy="89154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Multi-time deep-tech founder. Built a Nature-published machine learning platform for biology. Chemist by training.</a:t>
            </a:r>
            <a:endParaRPr sz="900">
              <a:solidFill>
                <a:schemeClr val="dk1"/>
              </a:solidFill>
              <a:latin typeface="Calibri"/>
              <a:ea typeface="Calibri"/>
              <a:cs typeface="Calibri"/>
              <a:sym typeface="Calibri"/>
            </a:endParaRPr>
          </a:p>
        </p:txBody>
      </p:sp>
      <p:sp>
        <p:nvSpPr>
          <p:cNvPr id="556" name="Google Shape;556;p32"/>
          <p:cNvSpPr/>
          <p:nvPr/>
        </p:nvSpPr>
        <p:spPr>
          <a:xfrm>
            <a:off x="6844284" y="1337310"/>
            <a:ext cx="1968246" cy="2125980"/>
          </a:xfrm>
          <a:prstGeom prst="roundRect">
            <a:avLst>
              <a:gd fmla="val 2091"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7" name="Google Shape;557;p32"/>
          <p:cNvSpPr/>
          <p:nvPr/>
        </p:nvSpPr>
        <p:spPr>
          <a:xfrm>
            <a:off x="7036308" y="1988820"/>
            <a:ext cx="1584198" cy="2331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400"/>
              <a:buFont typeface="Cambria"/>
              <a:buNone/>
            </a:pPr>
            <a:r>
              <a:rPr b="1" lang="en" sz="1400">
                <a:solidFill>
                  <a:srgbClr val="16333D"/>
                </a:solidFill>
                <a:latin typeface="Cambria"/>
                <a:ea typeface="Cambria"/>
                <a:cs typeface="Cambria"/>
                <a:sym typeface="Cambria"/>
              </a:rPr>
              <a:t>Wes Spence</a:t>
            </a:r>
            <a:endParaRPr sz="1400">
              <a:solidFill>
                <a:schemeClr val="dk1"/>
              </a:solidFill>
              <a:latin typeface="Calibri"/>
              <a:ea typeface="Calibri"/>
              <a:cs typeface="Calibri"/>
              <a:sym typeface="Calibri"/>
            </a:endParaRPr>
          </a:p>
        </p:txBody>
      </p:sp>
      <p:sp>
        <p:nvSpPr>
          <p:cNvPr id="558" name="Google Shape;558;p32"/>
          <p:cNvSpPr/>
          <p:nvPr/>
        </p:nvSpPr>
        <p:spPr>
          <a:xfrm>
            <a:off x="7036308" y="2235708"/>
            <a:ext cx="1584198"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COMMERCIAL</a:t>
            </a:r>
            <a:endParaRPr sz="800">
              <a:solidFill>
                <a:schemeClr val="dk1"/>
              </a:solidFill>
              <a:latin typeface="Calibri"/>
              <a:ea typeface="Calibri"/>
              <a:cs typeface="Calibri"/>
              <a:sym typeface="Calibri"/>
            </a:endParaRPr>
          </a:p>
        </p:txBody>
      </p:sp>
      <p:sp>
        <p:nvSpPr>
          <p:cNvPr id="559" name="Google Shape;559;p32"/>
          <p:cNvSpPr/>
          <p:nvPr/>
        </p:nvSpPr>
        <p:spPr>
          <a:xfrm>
            <a:off x="7036308" y="2455164"/>
            <a:ext cx="1584198" cy="89154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Twenty-five years as a Navy SEAL, then ten years in the energy sector.</a:t>
            </a:r>
            <a:endParaRPr sz="900">
              <a:solidFill>
                <a:schemeClr val="dk1"/>
              </a:solidFill>
              <a:latin typeface="Calibri"/>
              <a:ea typeface="Calibri"/>
              <a:cs typeface="Calibri"/>
              <a:sym typeface="Calibri"/>
            </a:endParaRPr>
          </a:p>
        </p:txBody>
      </p:sp>
      <p:sp>
        <p:nvSpPr>
          <p:cNvPr id="560" name="Google Shape;560;p32"/>
          <p:cNvSpPr/>
          <p:nvPr/>
        </p:nvSpPr>
        <p:spPr>
          <a:xfrm>
            <a:off x="445770" y="3621024"/>
            <a:ext cx="8215884" cy="788670"/>
          </a:xfrm>
          <a:prstGeom prst="roundRect">
            <a:avLst>
              <a:gd fmla="val 5217" name="adj"/>
            </a:avLst>
          </a:prstGeom>
          <a:solidFill>
            <a:srgbClr val="0B2430"/>
          </a:solidFill>
          <a:ln cap="flat" cmpd="sng" w="12700">
            <a:solidFill>
              <a:srgbClr val="0B2430"/>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1" name="Google Shape;561;p32"/>
          <p:cNvSpPr/>
          <p:nvPr/>
        </p:nvSpPr>
        <p:spPr>
          <a:xfrm>
            <a:off x="720090" y="3737610"/>
            <a:ext cx="137160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A578"/>
              </a:buClr>
              <a:buSzPts val="1000"/>
              <a:buFont typeface="Calibri"/>
              <a:buNone/>
            </a:pPr>
            <a:r>
              <a:rPr b="1" lang="en" sz="1000">
                <a:solidFill>
                  <a:srgbClr val="E8A578"/>
                </a:solidFill>
                <a:latin typeface="Calibri"/>
                <a:ea typeface="Calibri"/>
                <a:cs typeface="Calibri"/>
                <a:sym typeface="Calibri"/>
              </a:rPr>
              <a:t>Behind them</a:t>
            </a:r>
            <a:endParaRPr sz="1000">
              <a:solidFill>
                <a:schemeClr val="dk1"/>
              </a:solidFill>
              <a:latin typeface="Calibri"/>
              <a:ea typeface="Calibri"/>
              <a:cs typeface="Calibri"/>
              <a:sym typeface="Calibri"/>
            </a:endParaRPr>
          </a:p>
        </p:txBody>
      </p:sp>
      <p:sp>
        <p:nvSpPr>
          <p:cNvPr id="562" name="Google Shape;562;p32"/>
          <p:cNvSpPr/>
          <p:nvPr/>
        </p:nvSpPr>
        <p:spPr>
          <a:xfrm>
            <a:off x="2160270" y="3717036"/>
            <a:ext cx="6309360" cy="58293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9FB6BF"/>
              </a:buClr>
              <a:buSzPts val="900"/>
              <a:buFont typeface="Calibri"/>
              <a:buNone/>
            </a:pPr>
            <a:r>
              <a:rPr lang="en" sz="900">
                <a:solidFill>
                  <a:srgbClr val="9FB6BF"/>
                </a:solidFill>
                <a:latin typeface="Calibri"/>
                <a:ea typeface="Calibri"/>
                <a:cs typeface="Calibri"/>
                <a:sym typeface="Calibri"/>
              </a:rPr>
              <a:t>Advisors from Rohm &amp; Haas and Dow corporate venturing, the founders of National Polymer and Parimer Scientific, and patent counsel. A bench of PhDs across materials science, chemistry and machine learning.</a:t>
            </a:r>
            <a:endParaRPr sz="900">
              <a:solidFill>
                <a:schemeClr val="dk1"/>
              </a:solidFill>
              <a:latin typeface="Calibri"/>
              <a:ea typeface="Calibri"/>
              <a:cs typeface="Calibri"/>
              <a:sym typeface="Calibri"/>
            </a:endParaRPr>
          </a:p>
        </p:txBody>
      </p:sp>
      <p:sp>
        <p:nvSpPr>
          <p:cNvPr id="563" name="Google Shape;563;p32"/>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564" name="Google Shape;564;p32"/>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23</a:t>
            </a:r>
            <a:endParaRPr sz="700">
              <a:solidFill>
                <a:schemeClr val="dk1"/>
              </a:solidFill>
              <a:latin typeface="Calibri"/>
              <a:ea typeface="Calibri"/>
              <a:cs typeface="Calibri"/>
              <a:sym typeface="Calibri"/>
            </a:endParaRPr>
          </a:p>
        </p:txBody>
      </p:sp>
      <p:pic>
        <p:nvPicPr>
          <p:cNvPr id="565" name="Google Shape;565;p32"/>
          <p:cNvPicPr preferRelativeResize="0"/>
          <p:nvPr/>
        </p:nvPicPr>
        <p:blipFill rotWithShape="1">
          <a:blip r:embed="rId3">
            <a:alphaModFix/>
          </a:blip>
          <a:srcRect b="7218" l="0" r="0" t="0"/>
          <a:stretch/>
        </p:blipFill>
        <p:spPr>
          <a:xfrm>
            <a:off x="637801" y="1415900"/>
            <a:ext cx="487200" cy="513600"/>
          </a:xfrm>
          <a:prstGeom prst="roundRect">
            <a:avLst>
              <a:gd fmla="val 41171" name="adj"/>
            </a:avLst>
          </a:prstGeom>
          <a:noFill/>
          <a:ln>
            <a:noFill/>
          </a:ln>
        </p:spPr>
      </p:pic>
      <p:pic>
        <p:nvPicPr>
          <p:cNvPr id="566" name="Google Shape;566;p32"/>
          <p:cNvPicPr preferRelativeResize="0"/>
          <p:nvPr/>
        </p:nvPicPr>
        <p:blipFill rotWithShape="1">
          <a:blip r:embed="rId4">
            <a:alphaModFix/>
          </a:blip>
          <a:srcRect b="1643" l="5279" r="3238" t="0"/>
          <a:stretch/>
        </p:blipFill>
        <p:spPr>
          <a:xfrm>
            <a:off x="2770632" y="1415900"/>
            <a:ext cx="477600" cy="513300"/>
          </a:xfrm>
          <a:prstGeom prst="roundRect">
            <a:avLst>
              <a:gd fmla="val 34947" name="adj"/>
            </a:avLst>
          </a:prstGeom>
          <a:noFill/>
          <a:ln>
            <a:noFill/>
          </a:ln>
        </p:spPr>
      </p:pic>
      <p:pic>
        <p:nvPicPr>
          <p:cNvPr id="567" name="Google Shape;567;p32" title="image0 (1).jpeg"/>
          <p:cNvPicPr preferRelativeResize="0"/>
          <p:nvPr/>
        </p:nvPicPr>
        <p:blipFill rotWithShape="1">
          <a:blip r:embed="rId5">
            <a:alphaModFix/>
          </a:blip>
          <a:srcRect b="9323" l="0" r="0" t="9323"/>
          <a:stretch/>
        </p:blipFill>
        <p:spPr>
          <a:xfrm>
            <a:off x="7036304" y="1415900"/>
            <a:ext cx="467100" cy="507300"/>
          </a:xfrm>
          <a:prstGeom prst="roundRect">
            <a:avLst>
              <a:gd fmla="val 33972" name="adj"/>
            </a:avLst>
          </a:prstGeom>
          <a:noFill/>
          <a:ln>
            <a:noFill/>
          </a:ln>
        </p:spPr>
      </p:pic>
      <p:sp>
        <p:nvSpPr>
          <p:cNvPr id="568" name="Google Shape;568;p32"/>
          <p:cNvSpPr/>
          <p:nvPr/>
        </p:nvSpPr>
        <p:spPr>
          <a:xfrm>
            <a:off x="4903474" y="1415900"/>
            <a:ext cx="523875" cy="508000"/>
          </a:xfrm>
          <a:custGeom>
            <a:rect b="b" l="l" r="r" t="t"/>
            <a:pathLst>
              <a:path extrusionOk="0" h="6350000" w="6350000">
                <a:moveTo>
                  <a:pt x="3810000" y="6350000"/>
                </a:moveTo>
                <a:lnTo>
                  <a:pt x="2540000" y="6350000"/>
                </a:lnTo>
                <a:cubicBezTo>
                  <a:pt x="1136650" y="6350000"/>
                  <a:pt x="0" y="5213350"/>
                  <a:pt x="0" y="3810000"/>
                </a:cubicBezTo>
                <a:lnTo>
                  <a:pt x="0" y="2540000"/>
                </a:lnTo>
                <a:cubicBezTo>
                  <a:pt x="0" y="1136650"/>
                  <a:pt x="1136650" y="0"/>
                  <a:pt x="2540000" y="0"/>
                </a:cubicBezTo>
                <a:lnTo>
                  <a:pt x="3810000" y="0"/>
                </a:lnTo>
                <a:cubicBezTo>
                  <a:pt x="5213350" y="0"/>
                  <a:pt x="6350000" y="1136650"/>
                  <a:pt x="6350000" y="2540000"/>
                </a:cubicBezTo>
                <a:lnTo>
                  <a:pt x="6350000" y="3810000"/>
                </a:lnTo>
                <a:cubicBezTo>
                  <a:pt x="6350000" y="5213350"/>
                  <a:pt x="5213350" y="6350000"/>
                  <a:pt x="3810000" y="6350000"/>
                </a:cubicBezTo>
                <a:close/>
              </a:path>
            </a:pathLst>
          </a:custGeom>
          <a:blipFill rotWithShape="1">
            <a:blip r:embed="rId6">
              <a:alphaModFix/>
            </a:blip>
            <a:stretch>
              <a:fillRect b="0" l="0" r="0" t="0"/>
            </a:stretch>
          </a:blipFill>
          <a:ln>
            <a:noFill/>
          </a:ln>
        </p:spPr>
        <p:txBody>
          <a:bodyPr anchorCtr="0" anchor="ctr" bIns="53050" lIns="53050" spcFirstLastPara="1" rIns="53050" wrap="square" tIns="53050">
            <a:noAutofit/>
          </a:bodyPr>
          <a:lstStyle/>
          <a:p>
            <a:pPr indent="0" lvl="0" marL="0" marR="0" rtl="0" algn="l">
              <a:lnSpc>
                <a:spcPct val="100000"/>
              </a:lnSpc>
              <a:spcBef>
                <a:spcPts val="0"/>
              </a:spcBef>
              <a:spcAft>
                <a:spcPts val="0"/>
              </a:spcAft>
              <a:buClr>
                <a:srgbClr val="000000"/>
              </a:buClr>
              <a:buSzPts val="1657"/>
              <a:buFont typeface="Arial"/>
              <a:buNone/>
            </a:pPr>
            <a:r>
              <a:t/>
            </a:r>
            <a:endParaRPr b="0" i="0" sz="1657"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430"/>
        </a:solidFill>
      </p:bgPr>
    </p:bg>
    <p:spTree>
      <p:nvGrpSpPr>
        <p:cNvPr id="573" name="Shape 573"/>
        <p:cNvGrpSpPr/>
        <p:nvPr/>
      </p:nvGrpSpPr>
      <p:grpSpPr>
        <a:xfrm>
          <a:off x="0" y="0"/>
          <a:ext cx="0" cy="0"/>
          <a:chOff x="0" y="0"/>
          <a:chExt cx="0" cy="0"/>
        </a:xfrm>
      </p:grpSpPr>
      <p:sp>
        <p:nvSpPr>
          <p:cNvPr id="574" name="Google Shape;574;p33"/>
          <p:cNvSpPr/>
          <p:nvPr/>
        </p:nvSpPr>
        <p:spPr>
          <a:xfrm>
            <a:off x="445770" y="1845000"/>
            <a:ext cx="6172200" cy="58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lang="en" sz="3200">
                <a:solidFill>
                  <a:srgbClr val="FFFFFF"/>
                </a:solidFill>
                <a:latin typeface="Cambria"/>
                <a:ea typeface="Cambria"/>
                <a:cs typeface="Cambria"/>
                <a:sym typeface="Cambria"/>
              </a:rPr>
              <a:t>Thank you!</a:t>
            </a:r>
            <a:endParaRPr sz="3200">
              <a:solidFill>
                <a:schemeClr val="dk1"/>
              </a:solidFill>
              <a:latin typeface="Calibri"/>
              <a:ea typeface="Calibri"/>
              <a:cs typeface="Calibri"/>
              <a:sym typeface="Calibri"/>
            </a:endParaRPr>
          </a:p>
        </p:txBody>
      </p:sp>
      <p:sp>
        <p:nvSpPr>
          <p:cNvPr id="575" name="Google Shape;575;p33"/>
          <p:cNvSpPr/>
          <p:nvPr/>
        </p:nvSpPr>
        <p:spPr>
          <a:xfrm>
            <a:off x="445770" y="4080510"/>
            <a:ext cx="8215884" cy="10287"/>
          </a:xfrm>
          <a:prstGeom prst="rect">
            <a:avLst/>
          </a:prstGeom>
          <a:solidFill>
            <a:srgbClr val="1D4A59"/>
          </a:solidFill>
          <a:ln cap="flat" cmpd="sng" w="12700">
            <a:solidFill>
              <a:srgbClr val="1D4A59"/>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6" name="Google Shape;576;p33"/>
          <p:cNvSpPr/>
          <p:nvPr/>
        </p:nvSpPr>
        <p:spPr>
          <a:xfrm>
            <a:off x="445770" y="4217670"/>
            <a:ext cx="37719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lang="en" sz="1100">
                <a:solidFill>
                  <a:srgbClr val="FFFFFF"/>
                </a:solidFill>
                <a:latin typeface="Calibri"/>
                <a:ea typeface="Calibri"/>
                <a:cs typeface="Calibri"/>
                <a:sym typeface="Calibri"/>
              </a:rPr>
              <a:t>Jeff Riley  ·  jeff@amphoralabs.io</a:t>
            </a:r>
            <a:endParaRPr sz="1100">
              <a:solidFill>
                <a:schemeClr val="dk1"/>
              </a:solidFill>
              <a:latin typeface="Calibri"/>
              <a:ea typeface="Calibri"/>
              <a:cs typeface="Calibri"/>
              <a:sym typeface="Calibri"/>
            </a:endParaRPr>
          </a:p>
        </p:txBody>
      </p:sp>
      <p:sp>
        <p:nvSpPr>
          <p:cNvPr id="577" name="Google Shape;577;p33"/>
          <p:cNvSpPr/>
          <p:nvPr/>
        </p:nvSpPr>
        <p:spPr>
          <a:xfrm>
            <a:off x="4354830" y="4217670"/>
            <a:ext cx="37719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lang="en" sz="1100">
                <a:solidFill>
                  <a:srgbClr val="FFFFFF"/>
                </a:solidFill>
                <a:latin typeface="Calibri"/>
                <a:ea typeface="Calibri"/>
                <a:cs typeface="Calibri"/>
                <a:sym typeface="Calibri"/>
              </a:rPr>
              <a:t>Alex Boches  ·  alex@amphoralabs.io</a:t>
            </a:r>
            <a:endParaRPr sz="1100">
              <a:solidFill>
                <a:schemeClr val="dk1"/>
              </a:solidFill>
              <a:latin typeface="Calibri"/>
              <a:ea typeface="Calibri"/>
              <a:cs typeface="Calibri"/>
              <a:sym typeface="Calibri"/>
            </a:endParaRPr>
          </a:p>
        </p:txBody>
      </p:sp>
      <p:sp>
        <p:nvSpPr>
          <p:cNvPr id="578" name="Google Shape;578;p33"/>
          <p:cNvSpPr/>
          <p:nvPr/>
        </p:nvSpPr>
        <p:spPr>
          <a:xfrm>
            <a:off x="445770" y="4457700"/>
            <a:ext cx="377190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FB6BF"/>
              </a:buClr>
              <a:buSzPts val="900"/>
              <a:buFont typeface="Calibri"/>
              <a:buNone/>
            </a:pPr>
            <a:r>
              <a:rPr lang="en" sz="900">
                <a:solidFill>
                  <a:srgbClr val="9FB6BF"/>
                </a:solidFill>
                <a:latin typeface="Calibri"/>
                <a:ea typeface="Calibri"/>
                <a:cs typeface="Calibri"/>
                <a:sym typeface="Calibri"/>
              </a:rPr>
              <a:t>amphoralabs.io</a:t>
            </a:r>
            <a:endParaRPr sz="9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430"/>
        </a:solidFill>
      </p:bgPr>
    </p:bg>
    <p:spTree>
      <p:nvGrpSpPr>
        <p:cNvPr id="583" name="Shape 583"/>
        <p:cNvGrpSpPr/>
        <p:nvPr/>
      </p:nvGrpSpPr>
      <p:grpSpPr>
        <a:xfrm>
          <a:off x="0" y="0"/>
          <a:ext cx="0" cy="0"/>
          <a:chOff x="0" y="0"/>
          <a:chExt cx="0" cy="0"/>
        </a:xfrm>
      </p:grpSpPr>
      <p:sp>
        <p:nvSpPr>
          <p:cNvPr id="584" name="Google Shape;584;p34"/>
          <p:cNvSpPr/>
          <p:nvPr/>
        </p:nvSpPr>
        <p:spPr>
          <a:xfrm>
            <a:off x="445770" y="1748790"/>
            <a:ext cx="41148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A578"/>
              </a:buClr>
              <a:buSzPts val="900"/>
              <a:buFont typeface="Calibri"/>
              <a:buNone/>
            </a:pPr>
            <a:r>
              <a:rPr b="1" lang="en" sz="900">
                <a:solidFill>
                  <a:srgbClr val="E8A578"/>
                </a:solidFill>
                <a:latin typeface="Calibri"/>
                <a:ea typeface="Calibri"/>
                <a:cs typeface="Calibri"/>
                <a:sym typeface="Calibri"/>
              </a:rPr>
              <a:t>CASE STUDY 01</a:t>
            </a:r>
            <a:endParaRPr sz="900">
              <a:solidFill>
                <a:schemeClr val="dk1"/>
              </a:solidFill>
              <a:latin typeface="Calibri"/>
              <a:ea typeface="Calibri"/>
              <a:cs typeface="Calibri"/>
              <a:sym typeface="Calibri"/>
            </a:endParaRPr>
          </a:p>
        </p:txBody>
      </p:sp>
      <p:sp>
        <p:nvSpPr>
          <p:cNvPr id="585" name="Google Shape;585;p34"/>
          <p:cNvSpPr/>
          <p:nvPr/>
        </p:nvSpPr>
        <p:spPr>
          <a:xfrm>
            <a:off x="445770" y="2023110"/>
            <a:ext cx="617220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300"/>
              <a:buFont typeface="Cambria"/>
              <a:buNone/>
            </a:pPr>
            <a:r>
              <a:rPr b="1" lang="en" sz="3300">
                <a:solidFill>
                  <a:srgbClr val="FFFFFF"/>
                </a:solidFill>
                <a:latin typeface="Cambria"/>
                <a:ea typeface="Cambria"/>
                <a:cs typeface="Cambria"/>
                <a:sym typeface="Cambria"/>
              </a:rPr>
              <a:t>Maritime coatings</a:t>
            </a:r>
            <a:endParaRPr sz="3300">
              <a:solidFill>
                <a:schemeClr val="dk1"/>
              </a:solidFill>
              <a:latin typeface="Calibri"/>
              <a:ea typeface="Calibri"/>
              <a:cs typeface="Calibri"/>
              <a:sym typeface="Calibri"/>
            </a:endParaRPr>
          </a:p>
        </p:txBody>
      </p:sp>
      <p:sp>
        <p:nvSpPr>
          <p:cNvPr id="586" name="Google Shape;586;p34"/>
          <p:cNvSpPr/>
          <p:nvPr/>
        </p:nvSpPr>
        <p:spPr>
          <a:xfrm>
            <a:off x="445770" y="2674620"/>
            <a:ext cx="6172200"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FA9B8"/>
              </a:buClr>
              <a:buSzPts val="1300"/>
              <a:buFont typeface="Calibri"/>
              <a:buNone/>
            </a:pPr>
            <a:r>
              <a:rPr lang="en" sz="1300">
                <a:solidFill>
                  <a:srgbClr val="7FA9B8"/>
                </a:solidFill>
                <a:latin typeface="Calibri"/>
                <a:ea typeface="Calibri"/>
                <a:cs typeface="Calibri"/>
                <a:sym typeface="Calibri"/>
              </a:rPr>
              <a:t>Anti-corrosive and anti-fouling hull systems, with Huntington Ingalls Industries</a:t>
            </a:r>
            <a:endParaRPr sz="1300">
              <a:solidFill>
                <a:schemeClr val="dk1"/>
              </a:solidFill>
              <a:latin typeface="Calibri"/>
              <a:ea typeface="Calibri"/>
              <a:cs typeface="Calibri"/>
              <a:sym typeface="Calibri"/>
            </a:endParaRPr>
          </a:p>
        </p:txBody>
      </p:sp>
      <p:sp>
        <p:nvSpPr>
          <p:cNvPr id="587" name="Google Shape;587;p34"/>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FB6BF"/>
              </a:buClr>
              <a:buSzPts val="700"/>
              <a:buFont typeface="Calibri"/>
              <a:buNone/>
            </a:pPr>
            <a:r>
              <a:rPr lang="en" sz="700">
                <a:solidFill>
                  <a:srgbClr val="9FB6BF"/>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588" name="Google Shape;588;p34"/>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9FB6BF"/>
              </a:buClr>
              <a:buSzPts val="700"/>
              <a:buFont typeface="Calibri"/>
              <a:buNone/>
            </a:pPr>
            <a:r>
              <a:rPr lang="en" sz="700">
                <a:solidFill>
                  <a:srgbClr val="9FB6BF"/>
                </a:solidFill>
                <a:latin typeface="Calibri"/>
                <a:ea typeface="Calibri"/>
                <a:cs typeface="Calibri"/>
                <a:sym typeface="Calibri"/>
              </a:rPr>
              <a:t>11</a:t>
            </a:r>
            <a:endParaRPr sz="7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3" name="Shape 593"/>
        <p:cNvGrpSpPr/>
        <p:nvPr/>
      </p:nvGrpSpPr>
      <p:grpSpPr>
        <a:xfrm>
          <a:off x="0" y="0"/>
          <a:ext cx="0" cy="0"/>
          <a:chOff x="0" y="0"/>
          <a:chExt cx="0" cy="0"/>
        </a:xfrm>
      </p:grpSpPr>
      <p:sp>
        <p:nvSpPr>
          <p:cNvPr id="594" name="Google Shape;594;p35"/>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CASE STUDY 01 · MARITIME</a:t>
            </a:r>
            <a:endParaRPr sz="800">
              <a:solidFill>
                <a:schemeClr val="dk1"/>
              </a:solidFill>
              <a:latin typeface="Calibri"/>
              <a:ea typeface="Calibri"/>
              <a:cs typeface="Calibri"/>
              <a:sym typeface="Calibri"/>
            </a:endParaRPr>
          </a:p>
        </p:txBody>
      </p:sp>
      <p:sp>
        <p:nvSpPr>
          <p:cNvPr id="595" name="Google Shape;595;p35"/>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600"/>
              <a:buFont typeface="Cambria"/>
              <a:buNone/>
            </a:pPr>
            <a:r>
              <a:rPr b="1" lang="en" sz="2600">
                <a:solidFill>
                  <a:srgbClr val="16333D"/>
                </a:solidFill>
                <a:latin typeface="Cambria"/>
                <a:ea typeface="Cambria"/>
                <a:cs typeface="Cambria"/>
                <a:sym typeface="Cambria"/>
              </a:rPr>
              <a:t>A hull primer nobody could fully describe.</a:t>
            </a:r>
            <a:endParaRPr sz="2600">
              <a:solidFill>
                <a:schemeClr val="dk1"/>
              </a:solidFill>
              <a:latin typeface="Calibri"/>
              <a:ea typeface="Calibri"/>
              <a:cs typeface="Calibri"/>
              <a:sym typeface="Calibri"/>
            </a:endParaRPr>
          </a:p>
        </p:txBody>
      </p:sp>
      <p:sp>
        <p:nvSpPr>
          <p:cNvPr id="596" name="Google Shape;596;p35"/>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597" name="Google Shape;597;p35"/>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12</a:t>
            </a:r>
            <a:endParaRPr sz="700">
              <a:solidFill>
                <a:schemeClr val="dk1"/>
              </a:solidFill>
              <a:latin typeface="Calibri"/>
              <a:ea typeface="Calibri"/>
              <a:cs typeface="Calibri"/>
              <a:sym typeface="Calibri"/>
            </a:endParaRPr>
          </a:p>
        </p:txBody>
      </p:sp>
      <p:sp>
        <p:nvSpPr>
          <p:cNvPr id="598" name="Google Shape;598;p35"/>
          <p:cNvSpPr/>
          <p:nvPr/>
        </p:nvSpPr>
        <p:spPr>
          <a:xfrm>
            <a:off x="445775" y="1426932"/>
            <a:ext cx="76200" cy="76200"/>
          </a:xfrm>
          <a:prstGeom prst="ellipse">
            <a:avLst/>
          </a:prstGeom>
          <a:solidFill>
            <a:srgbClr val="2E6F8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99" name="Google Shape;599;p35"/>
          <p:cNvSpPr/>
          <p:nvPr/>
        </p:nvSpPr>
        <p:spPr>
          <a:xfrm>
            <a:off x="588705" y="1497062"/>
            <a:ext cx="931200" cy="181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E6F84"/>
              </a:buClr>
              <a:buSzPts val="900"/>
              <a:buFont typeface="Source Sans 3"/>
              <a:buNone/>
            </a:pPr>
            <a:r>
              <a:rPr b="1" i="0" lang="en" sz="900" u="none" cap="none" strike="noStrike">
                <a:solidFill>
                  <a:srgbClr val="2E6F84"/>
                </a:solidFill>
                <a:latin typeface="Source Sans 3"/>
                <a:ea typeface="Source Sans 3"/>
                <a:cs typeface="Source Sans 3"/>
                <a:sym typeface="Source Sans 3"/>
              </a:rPr>
              <a:t>THE PARTNER</a:t>
            </a:r>
            <a:endParaRPr b="0" i="0" sz="900" u="none" cap="none" strike="noStrike">
              <a:solidFill>
                <a:srgbClr val="000000"/>
              </a:solidFill>
              <a:latin typeface="Calibri"/>
              <a:ea typeface="Calibri"/>
              <a:cs typeface="Calibri"/>
              <a:sym typeface="Calibri"/>
            </a:endParaRPr>
          </a:p>
        </p:txBody>
      </p:sp>
      <p:sp>
        <p:nvSpPr>
          <p:cNvPr id="600" name="Google Shape;600;p35"/>
          <p:cNvSpPr/>
          <p:nvPr/>
        </p:nvSpPr>
        <p:spPr>
          <a:xfrm>
            <a:off x="445775" y="1735278"/>
            <a:ext cx="1977600" cy="1013700"/>
          </a:xfrm>
          <a:prstGeom prst="rect">
            <a:avLst/>
          </a:prstGeom>
          <a:noFill/>
          <a:ln>
            <a:noFill/>
          </a:ln>
        </p:spPr>
        <p:txBody>
          <a:bodyPr anchorCtr="0" anchor="t" bIns="12700" lIns="12700" spcFirstLastPara="1" rIns="12700" wrap="square" tIns="12700">
            <a:noAutofit/>
          </a:bodyPr>
          <a:lstStyle/>
          <a:p>
            <a:pPr indent="0" lvl="0" marL="0" marR="0" rtl="0" algn="l">
              <a:lnSpc>
                <a:spcPct val="102353"/>
              </a:lnSpc>
              <a:spcBef>
                <a:spcPts val="0"/>
              </a:spcBef>
              <a:spcAft>
                <a:spcPts val="0"/>
              </a:spcAft>
              <a:buClr>
                <a:srgbClr val="16333D"/>
              </a:buClr>
              <a:buSzPts val="900"/>
              <a:buFont typeface="Source Sans 3"/>
              <a:buNone/>
            </a:pPr>
            <a:r>
              <a:rPr b="0" i="0" lang="en" sz="900" u="none" cap="none" strike="noStrike">
                <a:solidFill>
                  <a:srgbClr val="16333D"/>
                </a:solidFill>
                <a:latin typeface="Source Sans 3"/>
                <a:ea typeface="Source Sans 3"/>
                <a:cs typeface="Source Sans 3"/>
                <a:sym typeface="Source Sans 3"/>
              </a:rPr>
              <a:t>Huntington Ingalls Industries, the largest builder of U.S. Navy ships. Memorandum of understanding signed, programme running with their Mission Technologies advanced materials group.</a:t>
            </a:r>
            <a:endParaRPr b="0" i="0" sz="900" u="none" cap="none" strike="noStrike">
              <a:solidFill>
                <a:srgbClr val="000000"/>
              </a:solidFill>
              <a:latin typeface="Calibri"/>
              <a:ea typeface="Calibri"/>
              <a:cs typeface="Calibri"/>
              <a:sym typeface="Calibri"/>
            </a:endParaRPr>
          </a:p>
        </p:txBody>
      </p:sp>
      <p:sp>
        <p:nvSpPr>
          <p:cNvPr id="601" name="Google Shape;601;p35"/>
          <p:cNvSpPr/>
          <p:nvPr/>
        </p:nvSpPr>
        <p:spPr>
          <a:xfrm>
            <a:off x="2537314" y="1426932"/>
            <a:ext cx="76200" cy="76200"/>
          </a:xfrm>
          <a:prstGeom prst="ellipse">
            <a:avLst/>
          </a:prstGeom>
          <a:solidFill>
            <a:srgbClr val="2E6F84"/>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02" name="Google Shape;602;p35"/>
          <p:cNvSpPr/>
          <p:nvPr/>
        </p:nvSpPr>
        <p:spPr>
          <a:xfrm>
            <a:off x="2680244" y="1497062"/>
            <a:ext cx="959100" cy="181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E6F84"/>
              </a:buClr>
              <a:buSzPts val="900"/>
              <a:buFont typeface="Source Sans 3"/>
              <a:buNone/>
            </a:pPr>
            <a:r>
              <a:rPr b="1" i="0" lang="en" sz="900" u="none" cap="none" strike="noStrike">
                <a:solidFill>
                  <a:srgbClr val="2E6F84"/>
                </a:solidFill>
                <a:latin typeface="Source Sans 3"/>
                <a:ea typeface="Source Sans 3"/>
                <a:cs typeface="Source Sans 3"/>
                <a:sym typeface="Source Sans 3"/>
              </a:rPr>
              <a:t>THE PROBLEM</a:t>
            </a:r>
            <a:endParaRPr b="0" i="0" sz="900" u="none" cap="none" strike="noStrike">
              <a:solidFill>
                <a:srgbClr val="000000"/>
              </a:solidFill>
              <a:latin typeface="Calibri"/>
              <a:ea typeface="Calibri"/>
              <a:cs typeface="Calibri"/>
              <a:sym typeface="Calibri"/>
            </a:endParaRPr>
          </a:p>
        </p:txBody>
      </p:sp>
      <p:sp>
        <p:nvSpPr>
          <p:cNvPr id="603" name="Google Shape;603;p35"/>
          <p:cNvSpPr/>
          <p:nvPr/>
        </p:nvSpPr>
        <p:spPr>
          <a:xfrm>
            <a:off x="2537314" y="1735278"/>
            <a:ext cx="1977600" cy="1179600"/>
          </a:xfrm>
          <a:prstGeom prst="rect">
            <a:avLst/>
          </a:prstGeom>
          <a:noFill/>
          <a:ln>
            <a:noFill/>
          </a:ln>
        </p:spPr>
        <p:txBody>
          <a:bodyPr anchorCtr="0" anchor="t" bIns="12700" lIns="12700" spcFirstLastPara="1" rIns="12700" wrap="square" tIns="12700">
            <a:noAutofit/>
          </a:bodyPr>
          <a:lstStyle/>
          <a:p>
            <a:pPr indent="0" lvl="0" marL="0" marR="0" rtl="0" algn="l">
              <a:lnSpc>
                <a:spcPct val="102353"/>
              </a:lnSpc>
              <a:spcBef>
                <a:spcPts val="0"/>
              </a:spcBef>
              <a:spcAft>
                <a:spcPts val="0"/>
              </a:spcAft>
              <a:buClr>
                <a:srgbClr val="16333D"/>
              </a:buClr>
              <a:buSzPts val="900"/>
              <a:buFont typeface="Source Sans 3"/>
              <a:buNone/>
            </a:pPr>
            <a:r>
              <a:rPr b="0" i="0" lang="en" sz="900" u="none" cap="none" strike="noStrike">
                <a:solidFill>
                  <a:srgbClr val="16333D"/>
                </a:solidFill>
                <a:latin typeface="Source Sans 3"/>
                <a:ea typeface="Source Sans 3"/>
                <a:cs typeface="Source Sans 3"/>
                <a:sym typeface="Source Sans 3"/>
              </a:rPr>
              <a:t>A two-part epoxy-polyamide hull primer for immersion service on marine steel, bought for years without knowing the full composition. They needed to know what is in it, whether restricted substances are present, and whether it can be improved and sourced at home.</a:t>
            </a:r>
            <a:endParaRPr b="0" i="0" sz="900" u="none" cap="none" strike="noStrike">
              <a:solidFill>
                <a:srgbClr val="000000"/>
              </a:solidFill>
              <a:latin typeface="Calibri"/>
              <a:ea typeface="Calibri"/>
              <a:cs typeface="Calibri"/>
              <a:sym typeface="Calibri"/>
            </a:endParaRPr>
          </a:p>
        </p:txBody>
      </p:sp>
      <p:sp>
        <p:nvSpPr>
          <p:cNvPr id="604" name="Google Shape;604;p35"/>
          <p:cNvSpPr/>
          <p:nvPr/>
        </p:nvSpPr>
        <p:spPr>
          <a:xfrm>
            <a:off x="4628853" y="1426932"/>
            <a:ext cx="76200" cy="76200"/>
          </a:xfrm>
          <a:prstGeom prst="ellipse">
            <a:avLst/>
          </a:prstGeom>
          <a:solidFill>
            <a:srgbClr val="C25A1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05" name="Google Shape;605;p35"/>
          <p:cNvSpPr/>
          <p:nvPr/>
        </p:nvSpPr>
        <p:spPr>
          <a:xfrm>
            <a:off x="4771783" y="1497062"/>
            <a:ext cx="904800" cy="181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25A1E"/>
              </a:buClr>
              <a:buSzPts val="900"/>
              <a:buFont typeface="Source Sans 3"/>
              <a:buNone/>
            </a:pPr>
            <a:r>
              <a:rPr b="1" i="0" lang="en" sz="900" u="none" cap="none" strike="noStrike">
                <a:solidFill>
                  <a:srgbClr val="C25A1E"/>
                </a:solidFill>
                <a:latin typeface="Source Sans 3"/>
                <a:ea typeface="Source Sans 3"/>
                <a:cs typeface="Source Sans 3"/>
                <a:sym typeface="Source Sans 3"/>
              </a:rPr>
              <a:t>WHAT WE DID</a:t>
            </a:r>
            <a:endParaRPr b="0" i="0" sz="900" u="none" cap="none" strike="noStrike">
              <a:solidFill>
                <a:srgbClr val="000000"/>
              </a:solidFill>
              <a:latin typeface="Calibri"/>
              <a:ea typeface="Calibri"/>
              <a:cs typeface="Calibri"/>
              <a:sym typeface="Calibri"/>
            </a:endParaRPr>
          </a:p>
        </p:txBody>
      </p:sp>
      <p:sp>
        <p:nvSpPr>
          <p:cNvPr id="606" name="Google Shape;606;p35"/>
          <p:cNvSpPr/>
          <p:nvPr/>
        </p:nvSpPr>
        <p:spPr>
          <a:xfrm>
            <a:off x="4628853" y="1735278"/>
            <a:ext cx="1977600" cy="1013700"/>
          </a:xfrm>
          <a:prstGeom prst="rect">
            <a:avLst/>
          </a:prstGeom>
          <a:noFill/>
          <a:ln>
            <a:noFill/>
          </a:ln>
        </p:spPr>
        <p:txBody>
          <a:bodyPr anchorCtr="0" anchor="t" bIns="12700" lIns="12700" spcFirstLastPara="1" rIns="12700" wrap="square" tIns="12700">
            <a:noAutofit/>
          </a:bodyPr>
          <a:lstStyle/>
          <a:p>
            <a:pPr indent="0" lvl="0" marL="0" marR="0" rtl="0" algn="l">
              <a:lnSpc>
                <a:spcPct val="102353"/>
              </a:lnSpc>
              <a:spcBef>
                <a:spcPts val="0"/>
              </a:spcBef>
              <a:spcAft>
                <a:spcPts val="0"/>
              </a:spcAft>
              <a:buClr>
                <a:srgbClr val="16333D"/>
              </a:buClr>
              <a:buSzPts val="900"/>
              <a:buFont typeface="Source Sans 3"/>
              <a:buNone/>
            </a:pPr>
            <a:r>
              <a:rPr b="0" i="0" lang="en" sz="900" u="none" cap="none" strike="noStrike">
                <a:solidFill>
                  <a:srgbClr val="16333D"/>
                </a:solidFill>
                <a:latin typeface="Source Sans 3"/>
                <a:ea typeface="Source Sans 3"/>
                <a:cs typeface="Source Sans 3"/>
                <a:sym typeface="Source Sans 3"/>
              </a:rPr>
              <a:t>Ran their written technical envelope through the platform as a production job. Returned a design and manufacturing package, plus a scoped response to their fifteen technical questions that they could circulate as-is.</a:t>
            </a:r>
            <a:endParaRPr b="0" i="0" sz="900" u="none" cap="none" strike="noStrike">
              <a:solidFill>
                <a:srgbClr val="000000"/>
              </a:solidFill>
              <a:latin typeface="Calibri"/>
              <a:ea typeface="Calibri"/>
              <a:cs typeface="Calibri"/>
              <a:sym typeface="Calibri"/>
            </a:endParaRPr>
          </a:p>
        </p:txBody>
      </p:sp>
      <p:sp>
        <p:nvSpPr>
          <p:cNvPr id="607" name="Google Shape;607;p35"/>
          <p:cNvSpPr/>
          <p:nvPr/>
        </p:nvSpPr>
        <p:spPr>
          <a:xfrm>
            <a:off x="6720392" y="1426932"/>
            <a:ext cx="76200" cy="76200"/>
          </a:xfrm>
          <a:prstGeom prst="ellipse">
            <a:avLst/>
          </a:prstGeom>
          <a:solidFill>
            <a:srgbClr val="9FB6B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08" name="Google Shape;608;p35"/>
          <p:cNvSpPr/>
          <p:nvPr/>
        </p:nvSpPr>
        <p:spPr>
          <a:xfrm>
            <a:off x="6863322" y="1497062"/>
            <a:ext cx="1447500" cy="181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0"/>
              </a:buClr>
              <a:buSzPts val="900"/>
              <a:buFont typeface="Source Sans 3"/>
              <a:buNone/>
            </a:pPr>
            <a:r>
              <a:rPr b="1" i="0" lang="en" sz="900" u="none" cap="none" strike="noStrike">
                <a:solidFill>
                  <a:srgbClr val="5E7480"/>
                </a:solidFill>
                <a:latin typeface="Source Sans 3"/>
                <a:ea typeface="Source Sans 3"/>
                <a:cs typeface="Source Sans 3"/>
                <a:sym typeface="Source Sans 3"/>
              </a:rPr>
              <a:t>WHAT HAPPENS NEXT</a:t>
            </a:r>
            <a:endParaRPr b="0" i="0" sz="900" u="none" cap="none" strike="noStrike">
              <a:solidFill>
                <a:srgbClr val="000000"/>
              </a:solidFill>
              <a:latin typeface="Calibri"/>
              <a:ea typeface="Calibri"/>
              <a:cs typeface="Calibri"/>
              <a:sym typeface="Calibri"/>
            </a:endParaRPr>
          </a:p>
        </p:txBody>
      </p:sp>
      <p:sp>
        <p:nvSpPr>
          <p:cNvPr id="609" name="Google Shape;609;p35"/>
          <p:cNvSpPr/>
          <p:nvPr/>
        </p:nvSpPr>
        <p:spPr>
          <a:xfrm>
            <a:off x="6720392" y="1735278"/>
            <a:ext cx="1977600" cy="516300"/>
          </a:xfrm>
          <a:prstGeom prst="rect">
            <a:avLst/>
          </a:prstGeom>
          <a:noFill/>
          <a:ln>
            <a:noFill/>
          </a:ln>
        </p:spPr>
        <p:txBody>
          <a:bodyPr anchorCtr="0" anchor="t" bIns="12700" lIns="12700" spcFirstLastPara="1" rIns="12700" wrap="square" tIns="12700">
            <a:noAutofit/>
          </a:bodyPr>
          <a:lstStyle/>
          <a:p>
            <a:pPr indent="0" lvl="0" marL="0" marR="0" rtl="0" algn="l">
              <a:lnSpc>
                <a:spcPct val="102353"/>
              </a:lnSpc>
              <a:spcBef>
                <a:spcPts val="0"/>
              </a:spcBef>
              <a:spcAft>
                <a:spcPts val="0"/>
              </a:spcAft>
              <a:buClr>
                <a:srgbClr val="16333D"/>
              </a:buClr>
              <a:buSzPts val="900"/>
              <a:buFont typeface="Source Sans 3"/>
              <a:buNone/>
            </a:pPr>
            <a:r>
              <a:rPr b="0" i="0" lang="en" sz="900" u="none" cap="none" strike="noStrike">
                <a:solidFill>
                  <a:srgbClr val="16333D"/>
                </a:solidFill>
                <a:latin typeface="Source Sans 3"/>
                <a:ea typeface="Source Sans 3"/>
                <a:cs typeface="Source Sans 3"/>
                <a:sym typeface="Source Sans 3"/>
              </a:rPr>
              <a:t>Lab iteration, then diagnostics against the Navy specification with their own test authority.</a:t>
            </a:r>
            <a:endParaRPr b="0" i="0" sz="900" u="none" cap="none" strike="noStrike">
              <a:solidFill>
                <a:srgbClr val="000000"/>
              </a:solidFill>
              <a:latin typeface="Calibri"/>
              <a:ea typeface="Calibri"/>
              <a:cs typeface="Calibri"/>
              <a:sym typeface="Calibri"/>
            </a:endParaRPr>
          </a:p>
        </p:txBody>
      </p:sp>
      <p:sp>
        <p:nvSpPr>
          <p:cNvPr id="610" name="Google Shape;610;p35"/>
          <p:cNvSpPr/>
          <p:nvPr/>
        </p:nvSpPr>
        <p:spPr>
          <a:xfrm>
            <a:off x="445775" y="3124449"/>
            <a:ext cx="8194500" cy="674700"/>
          </a:xfrm>
          <a:prstGeom prst="rect">
            <a:avLst/>
          </a:prstGeom>
          <a:solidFill>
            <a:srgbClr val="EDF1F2"/>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11" name="Google Shape;611;p35"/>
          <p:cNvSpPr/>
          <p:nvPr/>
        </p:nvSpPr>
        <p:spPr>
          <a:xfrm>
            <a:off x="655405" y="3373608"/>
            <a:ext cx="15723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6333D"/>
              </a:buClr>
              <a:buSzPts val="975"/>
              <a:buFont typeface="Source Sans 3"/>
              <a:buNone/>
            </a:pPr>
            <a:r>
              <a:rPr b="1" i="0" lang="en" sz="975" u="none" cap="none" strike="noStrike">
                <a:solidFill>
                  <a:srgbClr val="16333D"/>
                </a:solidFill>
                <a:latin typeface="Source Sans 3"/>
                <a:ea typeface="Source Sans 3"/>
                <a:cs typeface="Source Sans 3"/>
                <a:sym typeface="Source Sans 3"/>
              </a:rPr>
              <a:t>Scope, stated plainly</a:t>
            </a:r>
            <a:endParaRPr b="0" i="0" sz="975" u="none" cap="none" strike="noStrike">
              <a:solidFill>
                <a:srgbClr val="000000"/>
              </a:solidFill>
              <a:latin typeface="Calibri"/>
              <a:ea typeface="Calibri"/>
              <a:cs typeface="Calibri"/>
              <a:sym typeface="Calibri"/>
            </a:endParaRPr>
          </a:p>
        </p:txBody>
      </p:sp>
      <p:sp>
        <p:nvSpPr>
          <p:cNvPr id="612" name="Google Shape;612;p35"/>
          <p:cNvSpPr/>
          <p:nvPr/>
        </p:nvSpPr>
        <p:spPr>
          <a:xfrm>
            <a:off x="2313391" y="3295964"/>
            <a:ext cx="6300900" cy="350700"/>
          </a:xfrm>
          <a:prstGeom prst="rect">
            <a:avLst/>
          </a:prstGeom>
          <a:noFill/>
          <a:ln>
            <a:noFill/>
          </a:ln>
        </p:spPr>
        <p:txBody>
          <a:bodyPr anchorCtr="0" anchor="t" bIns="12700" lIns="12700" spcFirstLastPara="1" rIns="12700" wrap="square" tIns="12700">
            <a:noAutofit/>
          </a:bodyPr>
          <a:lstStyle/>
          <a:p>
            <a:pPr indent="0" lvl="0" marL="0" marR="0" rtl="0" algn="l">
              <a:lnSpc>
                <a:spcPct val="102353"/>
              </a:lnSpc>
              <a:spcBef>
                <a:spcPts val="0"/>
              </a:spcBef>
              <a:spcAft>
                <a:spcPts val="0"/>
              </a:spcAft>
              <a:buClr>
                <a:srgbClr val="5E7480"/>
              </a:buClr>
              <a:buSzPts val="900"/>
              <a:buFont typeface="Source Sans 3"/>
              <a:buNone/>
            </a:pPr>
            <a:r>
              <a:rPr b="0" i="0" lang="en" sz="900" u="none" cap="none" strike="noStrike">
                <a:solidFill>
                  <a:srgbClr val="5E7480"/>
                </a:solidFill>
                <a:latin typeface="Source Sans 3"/>
                <a:ea typeface="Source Sans 3"/>
                <a:cs typeface="Source Sans 3"/>
                <a:sym typeface="Source Sans 3"/>
              </a:rPr>
              <a:t>Huntington Ingalls scoped this as a feasibility and process review. Raw material identities, formulation ratios and reverse engineering were out of scope by their instruction. We worked inside that.</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1F2"/>
        </a:solidFill>
      </p:bgPr>
    </p:bg>
    <p:spTree>
      <p:nvGrpSpPr>
        <p:cNvPr id="617" name="Shape 617"/>
        <p:cNvGrpSpPr/>
        <p:nvPr/>
      </p:nvGrpSpPr>
      <p:grpSpPr>
        <a:xfrm>
          <a:off x="0" y="0"/>
          <a:ext cx="0" cy="0"/>
          <a:chOff x="0" y="0"/>
          <a:chExt cx="0" cy="0"/>
        </a:xfrm>
      </p:grpSpPr>
      <p:sp>
        <p:nvSpPr>
          <p:cNvPr id="618" name="Google Shape;618;p36"/>
          <p:cNvSpPr/>
          <p:nvPr/>
        </p:nvSpPr>
        <p:spPr>
          <a:xfrm>
            <a:off x="476250" y="457200"/>
            <a:ext cx="9010800" cy="181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25A1E"/>
              </a:buClr>
              <a:buSzPts val="900"/>
              <a:buFont typeface="Source Sans 3"/>
              <a:buNone/>
            </a:pPr>
            <a:r>
              <a:rPr b="1" i="0" lang="en" sz="900" u="none" cap="none" strike="noStrike">
                <a:solidFill>
                  <a:srgbClr val="C25A1E"/>
                </a:solidFill>
                <a:latin typeface="Source Sans 3"/>
                <a:ea typeface="Source Sans 3"/>
                <a:cs typeface="Source Sans 3"/>
                <a:sym typeface="Source Sans 3"/>
              </a:rPr>
              <a:t>CASE STUDY 01 · MARITIME</a:t>
            </a:r>
            <a:endParaRPr b="0" i="0" sz="900" u="none" cap="none" strike="noStrike">
              <a:solidFill>
                <a:schemeClr val="dk1"/>
              </a:solidFill>
              <a:latin typeface="Calibri"/>
              <a:ea typeface="Calibri"/>
              <a:cs typeface="Calibri"/>
              <a:sym typeface="Calibri"/>
            </a:endParaRPr>
          </a:p>
        </p:txBody>
      </p:sp>
      <p:sp>
        <p:nvSpPr>
          <p:cNvPr id="619" name="Google Shape;619;p36"/>
          <p:cNvSpPr/>
          <p:nvPr/>
        </p:nvSpPr>
        <p:spPr>
          <a:xfrm>
            <a:off x="476250" y="714375"/>
            <a:ext cx="9010800" cy="352200"/>
          </a:xfrm>
          <a:prstGeom prst="rect">
            <a:avLst/>
          </a:prstGeom>
          <a:noFill/>
          <a:ln>
            <a:noFill/>
          </a:ln>
        </p:spPr>
        <p:txBody>
          <a:bodyPr anchorCtr="0" anchor="t" bIns="12700" lIns="12700" spcFirstLastPara="1" rIns="12700" wrap="square" tIns="12700">
            <a:noAutofit/>
          </a:bodyPr>
          <a:lstStyle/>
          <a:p>
            <a:pPr indent="0" lvl="0" marL="0" marR="0" rtl="0" algn="l">
              <a:lnSpc>
                <a:spcPct val="77304"/>
              </a:lnSpc>
              <a:spcBef>
                <a:spcPts val="0"/>
              </a:spcBef>
              <a:spcAft>
                <a:spcPts val="0"/>
              </a:spcAft>
              <a:buClr>
                <a:srgbClr val="0B2430"/>
              </a:buClr>
              <a:buSzPts val="2500"/>
              <a:buFont typeface="Source Serif 4"/>
              <a:buNone/>
            </a:pPr>
            <a:r>
              <a:rPr b="1" i="0" lang="en" sz="2500" u="none" cap="none" strike="noStrike">
                <a:solidFill>
                  <a:srgbClr val="0B2430"/>
                </a:solidFill>
                <a:latin typeface="Cambria"/>
                <a:ea typeface="Cambria"/>
                <a:cs typeface="Cambria"/>
                <a:sym typeface="Cambria"/>
              </a:rPr>
              <a:t>The primer is one answer. The template is the asset.</a:t>
            </a:r>
            <a:endParaRPr b="1" i="0" sz="2500" u="none" cap="none" strike="noStrike">
              <a:solidFill>
                <a:schemeClr val="dk1"/>
              </a:solidFill>
              <a:latin typeface="Cambria"/>
              <a:ea typeface="Cambria"/>
              <a:cs typeface="Cambria"/>
              <a:sym typeface="Cambria"/>
            </a:endParaRPr>
          </a:p>
        </p:txBody>
      </p:sp>
      <p:sp>
        <p:nvSpPr>
          <p:cNvPr id="620" name="Google Shape;620;p36"/>
          <p:cNvSpPr/>
          <p:nvPr/>
        </p:nvSpPr>
        <p:spPr>
          <a:xfrm>
            <a:off x="476250" y="1257077"/>
            <a:ext cx="2590800" cy="1751700"/>
          </a:xfrm>
          <a:prstGeom prst="rect">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1" name="Google Shape;621;p36"/>
          <p:cNvSpPr/>
          <p:nvPr/>
        </p:nvSpPr>
        <p:spPr>
          <a:xfrm>
            <a:off x="647700" y="1447577"/>
            <a:ext cx="2472900" cy="166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E6F84"/>
              </a:buClr>
              <a:buSzPts val="900"/>
              <a:buFont typeface="IBM Plex Mono"/>
              <a:buNone/>
            </a:pPr>
            <a:r>
              <a:rPr b="0" i="0" lang="en" sz="900" u="none" cap="none" strike="noStrike">
                <a:solidFill>
                  <a:srgbClr val="2E6F84"/>
                </a:solidFill>
                <a:latin typeface="IBM Plex Mono"/>
                <a:ea typeface="IBM Plex Mono"/>
                <a:cs typeface="IBM Plex Mono"/>
                <a:sym typeface="IBM Plex Mono"/>
              </a:rPr>
              <a:t>01</a:t>
            </a:r>
            <a:endParaRPr b="0" i="0" sz="900" u="none" cap="none" strike="noStrike">
              <a:solidFill>
                <a:schemeClr val="dk1"/>
              </a:solidFill>
              <a:latin typeface="Calibri"/>
              <a:ea typeface="Calibri"/>
              <a:cs typeface="Calibri"/>
              <a:sym typeface="Calibri"/>
            </a:endParaRPr>
          </a:p>
        </p:txBody>
      </p:sp>
      <p:sp>
        <p:nvSpPr>
          <p:cNvPr id="622" name="Google Shape;622;p36"/>
          <p:cNvSpPr/>
          <p:nvPr/>
        </p:nvSpPr>
        <p:spPr>
          <a:xfrm>
            <a:off x="647700" y="1680940"/>
            <a:ext cx="2472900" cy="213300"/>
          </a:xfrm>
          <a:prstGeom prst="rect">
            <a:avLst/>
          </a:prstGeom>
          <a:noFill/>
          <a:ln>
            <a:noFill/>
          </a:ln>
        </p:spPr>
        <p:txBody>
          <a:bodyPr anchorCtr="0" anchor="t" bIns="12700" lIns="12700" spcFirstLastPara="1" rIns="12700" wrap="square" tIns="12700">
            <a:noAutofit/>
          </a:bodyPr>
          <a:lstStyle/>
          <a:p>
            <a:pPr indent="0" lvl="0" marL="0" marR="0" rtl="0" algn="l">
              <a:lnSpc>
                <a:spcPct val="84124"/>
              </a:lnSpc>
              <a:spcBef>
                <a:spcPts val="0"/>
              </a:spcBef>
              <a:spcAft>
                <a:spcPts val="0"/>
              </a:spcAft>
              <a:buClr>
                <a:srgbClr val="0B2430"/>
              </a:buClr>
              <a:buSzPts val="1300"/>
              <a:buFont typeface="Source Sans 3"/>
              <a:buNone/>
            </a:pPr>
            <a:r>
              <a:rPr b="1" i="0" lang="en" sz="1300" u="none" cap="none" strike="noStrike">
                <a:solidFill>
                  <a:srgbClr val="0B2430"/>
                </a:solidFill>
                <a:latin typeface="Source Sans 3"/>
                <a:ea typeface="Source Sans 3"/>
                <a:cs typeface="Source Sans 3"/>
                <a:sym typeface="Source Sans 3"/>
              </a:rPr>
              <a:t>Retune, don't restart</a:t>
            </a:r>
            <a:endParaRPr b="0" i="0" sz="1300" u="none" cap="none" strike="noStrike">
              <a:solidFill>
                <a:schemeClr val="dk1"/>
              </a:solidFill>
              <a:latin typeface="Calibri"/>
              <a:ea typeface="Calibri"/>
              <a:cs typeface="Calibri"/>
              <a:sym typeface="Calibri"/>
            </a:endParaRPr>
          </a:p>
        </p:txBody>
      </p:sp>
      <p:sp>
        <p:nvSpPr>
          <p:cNvPr id="623" name="Google Shape;623;p36"/>
          <p:cNvSpPr/>
          <p:nvPr/>
        </p:nvSpPr>
        <p:spPr>
          <a:xfrm>
            <a:off x="647700" y="1960960"/>
            <a:ext cx="2315400" cy="516300"/>
          </a:xfrm>
          <a:prstGeom prst="rect">
            <a:avLst/>
          </a:prstGeom>
          <a:noFill/>
          <a:ln>
            <a:noFill/>
          </a:ln>
        </p:spPr>
        <p:txBody>
          <a:bodyPr anchorCtr="0" anchor="t" bIns="12700" lIns="12700" spcFirstLastPara="1" rIns="12700" wrap="square" tIns="12700">
            <a:noAutofit/>
          </a:bodyPr>
          <a:lstStyle/>
          <a:p>
            <a:pPr indent="0" lvl="0" marL="0" marR="0" rtl="0" algn="l">
              <a:lnSpc>
                <a:spcPct val="102353"/>
              </a:lnSpc>
              <a:spcBef>
                <a:spcPts val="0"/>
              </a:spcBef>
              <a:spcAft>
                <a:spcPts val="0"/>
              </a:spcAft>
              <a:buClr>
                <a:srgbClr val="5E7480"/>
              </a:buClr>
              <a:buSzPts val="900"/>
              <a:buFont typeface="Source Sans 3"/>
              <a:buNone/>
            </a:pPr>
            <a:r>
              <a:rPr b="0" i="0" lang="en" sz="900" u="none" cap="none" strike="noStrike">
                <a:solidFill>
                  <a:srgbClr val="5E7480"/>
                </a:solidFill>
                <a:latin typeface="Source Sans 3"/>
                <a:ea typeface="Source Sans 3"/>
                <a:cs typeface="Source Sans 3"/>
                <a:sym typeface="Source Sans 3"/>
              </a:rPr>
              <a:t>Once corrosion, adhesion, cure and sourcing are modelled for a naval hull primer, tuning to another buyer is days of work.</a:t>
            </a:r>
            <a:endParaRPr b="0" i="0" sz="900" u="none" cap="none" strike="noStrike">
              <a:solidFill>
                <a:schemeClr val="dk1"/>
              </a:solidFill>
              <a:latin typeface="Calibri"/>
              <a:ea typeface="Calibri"/>
              <a:cs typeface="Calibri"/>
              <a:sym typeface="Calibri"/>
            </a:endParaRPr>
          </a:p>
        </p:txBody>
      </p:sp>
      <p:sp>
        <p:nvSpPr>
          <p:cNvPr id="624" name="Google Shape;624;p36"/>
          <p:cNvSpPr/>
          <p:nvPr/>
        </p:nvSpPr>
        <p:spPr>
          <a:xfrm>
            <a:off x="3276600" y="1257077"/>
            <a:ext cx="2590800" cy="1751700"/>
          </a:xfrm>
          <a:prstGeom prst="rect">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5" name="Google Shape;625;p36"/>
          <p:cNvSpPr/>
          <p:nvPr/>
        </p:nvSpPr>
        <p:spPr>
          <a:xfrm>
            <a:off x="3448050" y="1447577"/>
            <a:ext cx="2472900" cy="166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E6F84"/>
              </a:buClr>
              <a:buSzPts val="900"/>
              <a:buFont typeface="IBM Plex Mono"/>
              <a:buNone/>
            </a:pPr>
            <a:r>
              <a:rPr b="0" i="0" lang="en" sz="900" u="none" cap="none" strike="noStrike">
                <a:solidFill>
                  <a:srgbClr val="2E6F84"/>
                </a:solidFill>
                <a:latin typeface="IBM Plex Mono"/>
                <a:ea typeface="IBM Plex Mono"/>
                <a:cs typeface="IBM Plex Mono"/>
                <a:sym typeface="IBM Plex Mono"/>
              </a:rPr>
              <a:t>02</a:t>
            </a:r>
            <a:endParaRPr b="0" i="0" sz="900" u="none" cap="none" strike="noStrike">
              <a:solidFill>
                <a:schemeClr val="dk1"/>
              </a:solidFill>
              <a:latin typeface="Calibri"/>
              <a:ea typeface="Calibri"/>
              <a:cs typeface="Calibri"/>
              <a:sym typeface="Calibri"/>
            </a:endParaRPr>
          </a:p>
        </p:txBody>
      </p:sp>
      <p:sp>
        <p:nvSpPr>
          <p:cNvPr id="626" name="Google Shape;626;p36"/>
          <p:cNvSpPr/>
          <p:nvPr/>
        </p:nvSpPr>
        <p:spPr>
          <a:xfrm>
            <a:off x="3448050" y="1680940"/>
            <a:ext cx="2315400" cy="407700"/>
          </a:xfrm>
          <a:prstGeom prst="rect">
            <a:avLst/>
          </a:prstGeom>
          <a:noFill/>
          <a:ln>
            <a:noFill/>
          </a:ln>
        </p:spPr>
        <p:txBody>
          <a:bodyPr anchorCtr="0" anchor="t" bIns="12700" lIns="12700" spcFirstLastPara="1" rIns="12700" wrap="square" tIns="12700">
            <a:noAutofit/>
          </a:bodyPr>
          <a:lstStyle/>
          <a:p>
            <a:pPr indent="0" lvl="0" marL="0" marR="0" rtl="0" algn="l">
              <a:lnSpc>
                <a:spcPct val="84124"/>
              </a:lnSpc>
              <a:spcBef>
                <a:spcPts val="0"/>
              </a:spcBef>
              <a:spcAft>
                <a:spcPts val="0"/>
              </a:spcAft>
              <a:buClr>
                <a:srgbClr val="0B2430"/>
              </a:buClr>
              <a:buSzPts val="1300"/>
              <a:buFont typeface="Source Sans 3"/>
              <a:buNone/>
            </a:pPr>
            <a:r>
              <a:rPr b="1" i="0" lang="en" sz="1300" u="none" cap="none" strike="noStrike">
                <a:solidFill>
                  <a:srgbClr val="0B2430"/>
                </a:solidFill>
                <a:latin typeface="Source Sans 3"/>
                <a:ea typeface="Source Sans 3"/>
                <a:cs typeface="Source Sans 3"/>
                <a:sym typeface="Source Sans 3"/>
              </a:rPr>
              <a:t>Different water, different answer</a:t>
            </a:r>
            <a:endParaRPr b="0" i="0" sz="1300" u="none" cap="none" strike="noStrike">
              <a:solidFill>
                <a:schemeClr val="dk1"/>
              </a:solidFill>
              <a:latin typeface="Calibri"/>
              <a:ea typeface="Calibri"/>
              <a:cs typeface="Calibri"/>
              <a:sym typeface="Calibri"/>
            </a:endParaRPr>
          </a:p>
        </p:txBody>
      </p:sp>
      <p:sp>
        <p:nvSpPr>
          <p:cNvPr id="627" name="Google Shape;627;p36"/>
          <p:cNvSpPr/>
          <p:nvPr/>
        </p:nvSpPr>
        <p:spPr>
          <a:xfrm>
            <a:off x="3448050" y="2155255"/>
            <a:ext cx="2315400" cy="681900"/>
          </a:xfrm>
          <a:prstGeom prst="rect">
            <a:avLst/>
          </a:prstGeom>
          <a:noFill/>
          <a:ln>
            <a:noFill/>
          </a:ln>
        </p:spPr>
        <p:txBody>
          <a:bodyPr anchorCtr="0" anchor="t" bIns="12700" lIns="12700" spcFirstLastPara="1" rIns="12700" wrap="square" tIns="12700">
            <a:noAutofit/>
          </a:bodyPr>
          <a:lstStyle/>
          <a:p>
            <a:pPr indent="0" lvl="0" marL="0" marR="0" rtl="0" algn="l">
              <a:lnSpc>
                <a:spcPct val="102353"/>
              </a:lnSpc>
              <a:spcBef>
                <a:spcPts val="0"/>
              </a:spcBef>
              <a:spcAft>
                <a:spcPts val="0"/>
              </a:spcAft>
              <a:buClr>
                <a:srgbClr val="5E7480"/>
              </a:buClr>
              <a:buSzPts val="900"/>
              <a:buFont typeface="Source Sans 3"/>
              <a:buNone/>
            </a:pPr>
            <a:r>
              <a:rPr b="0" i="0" lang="en" sz="900" u="none" cap="none" strike="noStrike">
                <a:solidFill>
                  <a:srgbClr val="5E7480"/>
                </a:solidFill>
                <a:latin typeface="Source Sans 3"/>
                <a:ea typeface="Source Sans 3"/>
                <a:cs typeface="Source Sans 3"/>
                <a:sym typeface="Source Sans 3"/>
              </a:rPr>
              <a:t>A Gulf tanker, a Great Lakes vessel and a naval hull have different service lives and different acceptable chemistry. Same modules, different envelope.</a:t>
            </a:r>
            <a:endParaRPr b="0" i="0" sz="900" u="none" cap="none" strike="noStrike">
              <a:solidFill>
                <a:schemeClr val="dk1"/>
              </a:solidFill>
              <a:latin typeface="Calibri"/>
              <a:ea typeface="Calibri"/>
              <a:cs typeface="Calibri"/>
              <a:sym typeface="Calibri"/>
            </a:endParaRPr>
          </a:p>
        </p:txBody>
      </p:sp>
      <p:sp>
        <p:nvSpPr>
          <p:cNvPr id="628" name="Google Shape;628;p36"/>
          <p:cNvSpPr/>
          <p:nvPr/>
        </p:nvSpPr>
        <p:spPr>
          <a:xfrm>
            <a:off x="6076950" y="1257077"/>
            <a:ext cx="2590800" cy="1751700"/>
          </a:xfrm>
          <a:prstGeom prst="rect">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9" name="Google Shape;629;p36"/>
          <p:cNvSpPr/>
          <p:nvPr/>
        </p:nvSpPr>
        <p:spPr>
          <a:xfrm>
            <a:off x="6248400" y="1447577"/>
            <a:ext cx="2472900" cy="166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25A1E"/>
              </a:buClr>
              <a:buSzPts val="900"/>
              <a:buFont typeface="IBM Plex Mono"/>
              <a:buNone/>
            </a:pPr>
            <a:r>
              <a:rPr b="0" i="0" lang="en" sz="900" u="none" cap="none" strike="noStrike">
                <a:solidFill>
                  <a:srgbClr val="C25A1E"/>
                </a:solidFill>
                <a:latin typeface="IBM Plex Mono"/>
                <a:ea typeface="IBM Plex Mono"/>
                <a:cs typeface="IBM Plex Mono"/>
                <a:sym typeface="IBM Plex Mono"/>
              </a:rPr>
              <a:t>03</a:t>
            </a:r>
            <a:endParaRPr b="0" i="0" sz="900" u="none" cap="none" strike="noStrike">
              <a:solidFill>
                <a:schemeClr val="dk1"/>
              </a:solidFill>
              <a:latin typeface="Calibri"/>
              <a:ea typeface="Calibri"/>
              <a:cs typeface="Calibri"/>
              <a:sym typeface="Calibri"/>
            </a:endParaRPr>
          </a:p>
        </p:txBody>
      </p:sp>
      <p:sp>
        <p:nvSpPr>
          <p:cNvPr id="630" name="Google Shape;630;p36"/>
          <p:cNvSpPr/>
          <p:nvPr/>
        </p:nvSpPr>
        <p:spPr>
          <a:xfrm>
            <a:off x="6248400" y="1680940"/>
            <a:ext cx="2472900" cy="213300"/>
          </a:xfrm>
          <a:prstGeom prst="rect">
            <a:avLst/>
          </a:prstGeom>
          <a:noFill/>
          <a:ln>
            <a:noFill/>
          </a:ln>
        </p:spPr>
        <p:txBody>
          <a:bodyPr anchorCtr="0" anchor="t" bIns="12700" lIns="12700" spcFirstLastPara="1" rIns="12700" wrap="square" tIns="12700">
            <a:noAutofit/>
          </a:bodyPr>
          <a:lstStyle/>
          <a:p>
            <a:pPr indent="0" lvl="0" marL="0" marR="0" rtl="0" algn="l">
              <a:lnSpc>
                <a:spcPct val="84124"/>
              </a:lnSpc>
              <a:spcBef>
                <a:spcPts val="0"/>
              </a:spcBef>
              <a:spcAft>
                <a:spcPts val="0"/>
              </a:spcAft>
              <a:buClr>
                <a:srgbClr val="0B2430"/>
              </a:buClr>
              <a:buSzPts val="1300"/>
              <a:buFont typeface="Source Sans 3"/>
              <a:buNone/>
            </a:pPr>
            <a:r>
              <a:rPr b="1" i="0" lang="en" sz="1300" u="none" cap="none" strike="noStrike">
                <a:solidFill>
                  <a:srgbClr val="0B2430"/>
                </a:solidFill>
                <a:latin typeface="Source Sans 3"/>
                <a:ea typeface="Source Sans 3"/>
                <a:cs typeface="Source Sans 3"/>
                <a:sym typeface="Source Sans 3"/>
              </a:rPr>
              <a:t>Fouling is the other half</a:t>
            </a:r>
            <a:endParaRPr b="0" i="0" sz="1300" u="none" cap="none" strike="noStrike">
              <a:solidFill>
                <a:schemeClr val="dk1"/>
              </a:solidFill>
              <a:latin typeface="Calibri"/>
              <a:ea typeface="Calibri"/>
              <a:cs typeface="Calibri"/>
              <a:sym typeface="Calibri"/>
            </a:endParaRPr>
          </a:p>
        </p:txBody>
      </p:sp>
      <p:sp>
        <p:nvSpPr>
          <p:cNvPr id="631" name="Google Shape;631;p36"/>
          <p:cNvSpPr/>
          <p:nvPr/>
        </p:nvSpPr>
        <p:spPr>
          <a:xfrm>
            <a:off x="6248400" y="1960960"/>
            <a:ext cx="2315400" cy="350700"/>
          </a:xfrm>
          <a:prstGeom prst="rect">
            <a:avLst/>
          </a:prstGeom>
          <a:noFill/>
          <a:ln>
            <a:noFill/>
          </a:ln>
        </p:spPr>
        <p:txBody>
          <a:bodyPr anchorCtr="0" anchor="t" bIns="12700" lIns="12700" spcFirstLastPara="1" rIns="12700" wrap="square" tIns="12700">
            <a:noAutofit/>
          </a:bodyPr>
          <a:lstStyle/>
          <a:p>
            <a:pPr indent="0" lvl="0" marL="0" marR="0" rtl="0" algn="l">
              <a:lnSpc>
                <a:spcPct val="102353"/>
              </a:lnSpc>
              <a:spcBef>
                <a:spcPts val="0"/>
              </a:spcBef>
              <a:spcAft>
                <a:spcPts val="0"/>
              </a:spcAft>
              <a:buClr>
                <a:srgbClr val="5E7480"/>
              </a:buClr>
              <a:buSzPts val="900"/>
              <a:buFont typeface="Source Sans 3"/>
              <a:buNone/>
            </a:pPr>
            <a:r>
              <a:rPr b="0" i="0" lang="en" sz="900" u="none" cap="none" strike="noStrike">
                <a:solidFill>
                  <a:srgbClr val="5E7480"/>
                </a:solidFill>
                <a:latin typeface="Source Sans 3"/>
                <a:ea typeface="Source Sans 3"/>
                <a:cs typeface="Source Sans 3"/>
                <a:sym typeface="Source Sans 3"/>
              </a:rPr>
              <a:t>A fouled hull costs speed and fuel every voyage. Same surface problem, goal reversed.</a:t>
            </a:r>
            <a:endParaRPr b="0" i="0" sz="900" u="none" cap="none" strike="noStrike">
              <a:solidFill>
                <a:schemeClr val="dk1"/>
              </a:solidFill>
              <a:latin typeface="Calibri"/>
              <a:ea typeface="Calibri"/>
              <a:cs typeface="Calibri"/>
              <a:sym typeface="Calibri"/>
            </a:endParaRPr>
          </a:p>
        </p:txBody>
      </p:sp>
      <p:sp>
        <p:nvSpPr>
          <p:cNvPr id="632" name="Google Shape;632;p36"/>
          <p:cNvSpPr/>
          <p:nvPr/>
        </p:nvSpPr>
        <p:spPr>
          <a:xfrm>
            <a:off x="476250" y="3218185"/>
            <a:ext cx="3962400" cy="19200"/>
          </a:xfrm>
          <a:prstGeom prst="rect">
            <a:avLst/>
          </a:prstGeom>
          <a:solidFill>
            <a:srgbClr val="14384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33" name="Google Shape;633;p36"/>
          <p:cNvSpPr/>
          <p:nvPr/>
        </p:nvSpPr>
        <p:spPr>
          <a:xfrm>
            <a:off x="476250" y="3351535"/>
            <a:ext cx="43587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6333D"/>
              </a:buClr>
              <a:buSzPts val="1000"/>
              <a:buFont typeface="Source Sans 3"/>
              <a:buNone/>
            </a:pPr>
            <a:r>
              <a:rPr b="1" i="0" lang="en" sz="1000" u="none" cap="none" strike="noStrike">
                <a:solidFill>
                  <a:srgbClr val="16333D"/>
                </a:solidFill>
                <a:latin typeface="Source Sans 3"/>
                <a:ea typeface="Source Sans 3"/>
                <a:cs typeface="Source Sans 3"/>
                <a:sym typeface="Source Sans 3"/>
              </a:rPr>
              <a:t>Why this matters commercially</a:t>
            </a:r>
            <a:endParaRPr b="0" i="0" sz="1000" u="none" cap="none" strike="noStrike">
              <a:solidFill>
                <a:schemeClr val="dk1"/>
              </a:solidFill>
              <a:latin typeface="Calibri"/>
              <a:ea typeface="Calibri"/>
              <a:cs typeface="Calibri"/>
              <a:sym typeface="Calibri"/>
            </a:endParaRPr>
          </a:p>
        </p:txBody>
      </p:sp>
      <p:sp>
        <p:nvSpPr>
          <p:cNvPr id="634" name="Google Shape;634;p36"/>
          <p:cNvSpPr/>
          <p:nvPr/>
        </p:nvSpPr>
        <p:spPr>
          <a:xfrm>
            <a:off x="476250" y="3584898"/>
            <a:ext cx="4081200" cy="350700"/>
          </a:xfrm>
          <a:prstGeom prst="rect">
            <a:avLst/>
          </a:prstGeom>
          <a:noFill/>
          <a:ln>
            <a:noFill/>
          </a:ln>
        </p:spPr>
        <p:txBody>
          <a:bodyPr anchorCtr="0" anchor="t" bIns="12700" lIns="12700" spcFirstLastPara="1" rIns="12700" wrap="square" tIns="12700">
            <a:noAutofit/>
          </a:bodyPr>
          <a:lstStyle/>
          <a:p>
            <a:pPr indent="0" lvl="0" marL="0" marR="0" rtl="0" algn="l">
              <a:lnSpc>
                <a:spcPct val="102353"/>
              </a:lnSpc>
              <a:spcBef>
                <a:spcPts val="0"/>
              </a:spcBef>
              <a:spcAft>
                <a:spcPts val="0"/>
              </a:spcAft>
              <a:buClr>
                <a:srgbClr val="5E7480"/>
              </a:buClr>
              <a:buSzPts val="900"/>
              <a:buFont typeface="Source Sans 3"/>
              <a:buNone/>
            </a:pPr>
            <a:r>
              <a:rPr b="0" i="0" lang="en" sz="900" u="none" cap="none" strike="noStrike">
                <a:solidFill>
                  <a:srgbClr val="5E7480"/>
                </a:solidFill>
                <a:latin typeface="Source Sans 3"/>
                <a:ea typeface="Source Sans 3"/>
                <a:cs typeface="Source Sans 3"/>
                <a:sym typeface="Source Sans 3"/>
              </a:rPr>
              <a:t>The expensive part of a coatings programme is the corrosion, adhesion and cure understanding. That is reusable. The formulation is not.</a:t>
            </a:r>
            <a:endParaRPr b="0" i="0" sz="900" u="none" cap="none" strike="noStrike">
              <a:solidFill>
                <a:schemeClr val="dk1"/>
              </a:solidFill>
              <a:latin typeface="Calibri"/>
              <a:ea typeface="Calibri"/>
              <a:cs typeface="Calibri"/>
              <a:sym typeface="Calibri"/>
            </a:endParaRPr>
          </a:p>
        </p:txBody>
      </p:sp>
      <p:sp>
        <p:nvSpPr>
          <p:cNvPr id="635" name="Google Shape;635;p36"/>
          <p:cNvSpPr/>
          <p:nvPr/>
        </p:nvSpPr>
        <p:spPr>
          <a:xfrm>
            <a:off x="4705350" y="3218185"/>
            <a:ext cx="3962400" cy="19200"/>
          </a:xfrm>
          <a:prstGeom prst="rect">
            <a:avLst/>
          </a:prstGeom>
          <a:solidFill>
            <a:srgbClr val="C25A1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36" name="Google Shape;636;p36"/>
          <p:cNvSpPr/>
          <p:nvPr/>
        </p:nvSpPr>
        <p:spPr>
          <a:xfrm>
            <a:off x="4705350" y="3351535"/>
            <a:ext cx="43587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25A1E"/>
              </a:buClr>
              <a:buSzPts val="1000"/>
              <a:buFont typeface="Source Sans 3"/>
              <a:buNone/>
            </a:pPr>
            <a:r>
              <a:rPr b="1" i="0" lang="en" sz="1000" u="none" cap="none" strike="noStrike">
                <a:solidFill>
                  <a:srgbClr val="C25A1E"/>
                </a:solidFill>
                <a:latin typeface="Source Sans 3"/>
                <a:ea typeface="Source Sans 3"/>
                <a:cs typeface="Source Sans 3"/>
                <a:sym typeface="Source Sans 3"/>
              </a:rPr>
              <a:t>What we need from you</a:t>
            </a:r>
            <a:endParaRPr b="0" i="0" sz="1000" u="none" cap="none" strike="noStrike">
              <a:solidFill>
                <a:schemeClr val="dk1"/>
              </a:solidFill>
              <a:latin typeface="Calibri"/>
              <a:ea typeface="Calibri"/>
              <a:cs typeface="Calibri"/>
              <a:sym typeface="Calibri"/>
            </a:endParaRPr>
          </a:p>
        </p:txBody>
      </p:sp>
      <p:sp>
        <p:nvSpPr>
          <p:cNvPr id="637" name="Google Shape;637;p36"/>
          <p:cNvSpPr/>
          <p:nvPr/>
        </p:nvSpPr>
        <p:spPr>
          <a:xfrm>
            <a:off x="4705350" y="3584898"/>
            <a:ext cx="4081200" cy="516300"/>
          </a:xfrm>
          <a:prstGeom prst="rect">
            <a:avLst/>
          </a:prstGeom>
          <a:noFill/>
          <a:ln>
            <a:noFill/>
          </a:ln>
        </p:spPr>
        <p:txBody>
          <a:bodyPr anchorCtr="0" anchor="t" bIns="12700" lIns="12700" spcFirstLastPara="1" rIns="12700" wrap="square" tIns="12700">
            <a:noAutofit/>
          </a:bodyPr>
          <a:lstStyle/>
          <a:p>
            <a:pPr indent="0" lvl="0" marL="0" marR="0" rtl="0" algn="l">
              <a:lnSpc>
                <a:spcPct val="102353"/>
              </a:lnSpc>
              <a:spcBef>
                <a:spcPts val="0"/>
              </a:spcBef>
              <a:spcAft>
                <a:spcPts val="0"/>
              </a:spcAft>
              <a:buClr>
                <a:srgbClr val="5E7480"/>
              </a:buClr>
              <a:buSzPts val="900"/>
              <a:buFont typeface="Source Sans 3"/>
              <a:buNone/>
            </a:pPr>
            <a:r>
              <a:rPr b="0" i="0" lang="en" sz="900" u="none" cap="none" strike="noStrike">
                <a:solidFill>
                  <a:srgbClr val="5E7480"/>
                </a:solidFill>
                <a:latin typeface="Source Sans 3"/>
                <a:ea typeface="Source Sans 3"/>
                <a:cs typeface="Source Sans 3"/>
                <a:sym typeface="Source Sans 3"/>
              </a:rPr>
              <a:t>Water chemistry, temperature range, dry-docking interval, the specification you have to pass, and what your yard can apply. We come back inside the same module stack.</a:t>
            </a:r>
            <a:endParaRPr b="0" i="0" sz="900" u="none" cap="none" strike="noStrike">
              <a:solidFill>
                <a:schemeClr val="dk1"/>
              </a:solidFill>
              <a:latin typeface="Calibri"/>
              <a:ea typeface="Calibri"/>
              <a:cs typeface="Calibri"/>
              <a:sym typeface="Calibri"/>
            </a:endParaRPr>
          </a:p>
        </p:txBody>
      </p:sp>
      <p:sp>
        <p:nvSpPr>
          <p:cNvPr id="638" name="Google Shape;638;p36"/>
          <p:cNvSpPr/>
          <p:nvPr/>
        </p:nvSpPr>
        <p:spPr>
          <a:xfrm>
            <a:off x="8554120" y="4619625"/>
            <a:ext cx="151800" cy="181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0"/>
              </a:buClr>
              <a:buSzPts val="900"/>
              <a:buFont typeface="Source Sans 3"/>
              <a:buNone/>
            </a:pPr>
            <a:r>
              <a:rPr b="0" i="0" lang="en" sz="900" u="none" cap="none" strike="noStrike">
                <a:solidFill>
                  <a:srgbClr val="5E7480"/>
                </a:solidFill>
                <a:latin typeface="Source Sans 3"/>
                <a:ea typeface="Source Sans 3"/>
                <a:cs typeface="Source Sans 3"/>
                <a:sym typeface="Source Sans 3"/>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430"/>
        </a:solidFill>
      </p:bgPr>
    </p:bg>
    <p:spTree>
      <p:nvGrpSpPr>
        <p:cNvPr id="643" name="Shape 643"/>
        <p:cNvGrpSpPr/>
        <p:nvPr/>
      </p:nvGrpSpPr>
      <p:grpSpPr>
        <a:xfrm>
          <a:off x="0" y="0"/>
          <a:ext cx="0" cy="0"/>
          <a:chOff x="0" y="0"/>
          <a:chExt cx="0" cy="0"/>
        </a:xfrm>
      </p:grpSpPr>
      <p:sp>
        <p:nvSpPr>
          <p:cNvPr id="644" name="Google Shape;644;p37"/>
          <p:cNvSpPr/>
          <p:nvPr/>
        </p:nvSpPr>
        <p:spPr>
          <a:xfrm>
            <a:off x="445770" y="1748790"/>
            <a:ext cx="41148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A578"/>
              </a:buClr>
              <a:buSzPts val="900"/>
              <a:buFont typeface="Calibri"/>
              <a:buNone/>
            </a:pPr>
            <a:r>
              <a:rPr b="1" lang="en" sz="900">
                <a:solidFill>
                  <a:srgbClr val="E8A578"/>
                </a:solidFill>
                <a:latin typeface="Calibri"/>
                <a:ea typeface="Calibri"/>
                <a:cs typeface="Calibri"/>
                <a:sym typeface="Calibri"/>
              </a:rPr>
              <a:t>CASE STUDY 02</a:t>
            </a:r>
            <a:endParaRPr sz="900">
              <a:solidFill>
                <a:schemeClr val="dk1"/>
              </a:solidFill>
              <a:latin typeface="Calibri"/>
              <a:ea typeface="Calibri"/>
              <a:cs typeface="Calibri"/>
              <a:sym typeface="Calibri"/>
            </a:endParaRPr>
          </a:p>
        </p:txBody>
      </p:sp>
      <p:sp>
        <p:nvSpPr>
          <p:cNvPr id="645" name="Google Shape;645;p37"/>
          <p:cNvSpPr/>
          <p:nvPr/>
        </p:nvSpPr>
        <p:spPr>
          <a:xfrm>
            <a:off x="445770" y="2023110"/>
            <a:ext cx="699516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 sz="3000">
                <a:solidFill>
                  <a:srgbClr val="FFFFFF"/>
                </a:solidFill>
                <a:latin typeface="Cambria"/>
                <a:ea typeface="Cambria"/>
                <a:cs typeface="Cambria"/>
                <a:sym typeface="Cambria"/>
              </a:rPr>
              <a:t>Oil and gas: fluids and membranes</a:t>
            </a:r>
            <a:endParaRPr sz="3000">
              <a:solidFill>
                <a:schemeClr val="dk1"/>
              </a:solidFill>
              <a:latin typeface="Calibri"/>
              <a:ea typeface="Calibri"/>
              <a:cs typeface="Calibri"/>
              <a:sym typeface="Calibri"/>
            </a:endParaRPr>
          </a:p>
        </p:txBody>
      </p:sp>
      <p:sp>
        <p:nvSpPr>
          <p:cNvPr id="646" name="Google Shape;646;p37"/>
          <p:cNvSpPr/>
          <p:nvPr/>
        </p:nvSpPr>
        <p:spPr>
          <a:xfrm>
            <a:off x="445770" y="2708910"/>
            <a:ext cx="6858000"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FA9B8"/>
              </a:buClr>
              <a:buSzPts val="1200"/>
              <a:buFont typeface="Calibri"/>
              <a:buNone/>
            </a:pPr>
            <a:r>
              <a:rPr lang="en" sz="1200">
                <a:solidFill>
                  <a:srgbClr val="7FA9B8"/>
                </a:solidFill>
                <a:latin typeface="Calibri"/>
                <a:ea typeface="Calibri"/>
                <a:cs typeface="Calibri"/>
                <a:sym typeface="Calibri"/>
              </a:rPr>
              <a:t>Corrosion and fouling in production systems, and two-dimensional polymers for lithium extraction</a:t>
            </a:r>
            <a:endParaRPr sz="1200">
              <a:solidFill>
                <a:schemeClr val="dk1"/>
              </a:solidFill>
              <a:latin typeface="Calibri"/>
              <a:ea typeface="Calibri"/>
              <a:cs typeface="Calibri"/>
              <a:sym typeface="Calibri"/>
            </a:endParaRPr>
          </a:p>
        </p:txBody>
      </p:sp>
      <p:sp>
        <p:nvSpPr>
          <p:cNvPr id="647" name="Google Shape;647;p37"/>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FB6BF"/>
              </a:buClr>
              <a:buSzPts val="700"/>
              <a:buFont typeface="Calibri"/>
              <a:buNone/>
            </a:pPr>
            <a:r>
              <a:rPr lang="en" sz="700">
                <a:solidFill>
                  <a:srgbClr val="9FB6BF"/>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648" name="Google Shape;648;p37"/>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9FB6BF"/>
              </a:buClr>
              <a:buSzPts val="700"/>
              <a:buFont typeface="Calibri"/>
              <a:buNone/>
            </a:pPr>
            <a:r>
              <a:rPr lang="en" sz="700">
                <a:solidFill>
                  <a:srgbClr val="9FB6BF"/>
                </a:solidFill>
                <a:latin typeface="Calibri"/>
                <a:ea typeface="Calibri"/>
                <a:cs typeface="Calibri"/>
                <a:sym typeface="Calibri"/>
              </a:rPr>
              <a:t>14</a:t>
            </a:r>
            <a:endParaRPr sz="7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3" name="Shape 653"/>
        <p:cNvGrpSpPr/>
        <p:nvPr/>
      </p:nvGrpSpPr>
      <p:grpSpPr>
        <a:xfrm>
          <a:off x="0" y="0"/>
          <a:ext cx="0" cy="0"/>
          <a:chOff x="0" y="0"/>
          <a:chExt cx="0" cy="0"/>
        </a:xfrm>
      </p:grpSpPr>
      <p:sp>
        <p:nvSpPr>
          <p:cNvPr id="654" name="Google Shape;654;p38"/>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CASE STUDY 02 · OIL AND GAS</a:t>
            </a:r>
            <a:endParaRPr sz="800">
              <a:solidFill>
                <a:schemeClr val="dk1"/>
              </a:solidFill>
              <a:latin typeface="Calibri"/>
              <a:ea typeface="Calibri"/>
              <a:cs typeface="Calibri"/>
              <a:sym typeface="Calibri"/>
            </a:endParaRPr>
          </a:p>
        </p:txBody>
      </p:sp>
      <p:sp>
        <p:nvSpPr>
          <p:cNvPr id="655" name="Google Shape;655;p38"/>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600"/>
              <a:buFont typeface="Cambria"/>
              <a:buNone/>
            </a:pPr>
            <a:r>
              <a:rPr b="1" lang="en" sz="2600">
                <a:solidFill>
                  <a:srgbClr val="16333D"/>
                </a:solidFill>
                <a:latin typeface="Cambria"/>
                <a:ea typeface="Cambria"/>
                <a:cs typeface="Cambria"/>
                <a:sym typeface="Cambria"/>
              </a:rPr>
              <a:t>Same surface chemistry, two different jobs.</a:t>
            </a:r>
            <a:endParaRPr sz="2600">
              <a:solidFill>
                <a:schemeClr val="dk1"/>
              </a:solidFill>
              <a:latin typeface="Calibri"/>
              <a:ea typeface="Calibri"/>
              <a:cs typeface="Calibri"/>
              <a:sym typeface="Calibri"/>
            </a:endParaRPr>
          </a:p>
        </p:txBody>
      </p:sp>
      <p:sp>
        <p:nvSpPr>
          <p:cNvPr id="656" name="Google Shape;656;p38"/>
          <p:cNvSpPr/>
          <p:nvPr/>
        </p:nvSpPr>
        <p:spPr>
          <a:xfrm>
            <a:off x="445770" y="3830342"/>
            <a:ext cx="8215800" cy="685800"/>
          </a:xfrm>
          <a:prstGeom prst="roundRect">
            <a:avLst>
              <a:gd fmla="val 6000"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7" name="Google Shape;657;p38"/>
          <p:cNvSpPr/>
          <p:nvPr/>
        </p:nvSpPr>
        <p:spPr>
          <a:xfrm>
            <a:off x="678942" y="3965500"/>
            <a:ext cx="3086100" cy="4116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16333D"/>
              </a:buClr>
              <a:buSzPts val="1000"/>
              <a:buFont typeface="Calibri"/>
              <a:buNone/>
            </a:pPr>
            <a:r>
              <a:rPr b="1" lang="en" sz="1000">
                <a:solidFill>
                  <a:srgbClr val="16333D"/>
                </a:solidFill>
                <a:latin typeface="Calibri"/>
                <a:ea typeface="Calibri"/>
                <a:cs typeface="Calibri"/>
                <a:sym typeface="Calibri"/>
              </a:rPr>
              <a:t>Manufacturability is the whole problem in membranes.</a:t>
            </a:r>
            <a:endParaRPr sz="1000">
              <a:solidFill>
                <a:schemeClr val="dk1"/>
              </a:solidFill>
              <a:latin typeface="Calibri"/>
              <a:ea typeface="Calibri"/>
              <a:cs typeface="Calibri"/>
              <a:sym typeface="Calibri"/>
            </a:endParaRPr>
          </a:p>
        </p:txBody>
      </p:sp>
      <p:sp>
        <p:nvSpPr>
          <p:cNvPr id="658" name="Google Shape;658;p38"/>
          <p:cNvSpPr/>
          <p:nvPr/>
        </p:nvSpPr>
        <p:spPr>
          <a:xfrm>
            <a:off x="3874770" y="3919496"/>
            <a:ext cx="4663500" cy="51450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A membrane that works on a lab coupon and cannot be cast at roll scale is worth nothing. Casting, defect density and cost per square metre are design constraints for us, not surprises for a process engineer later.</a:t>
            </a:r>
            <a:endParaRPr sz="900">
              <a:solidFill>
                <a:schemeClr val="dk1"/>
              </a:solidFill>
              <a:latin typeface="Calibri"/>
              <a:ea typeface="Calibri"/>
              <a:cs typeface="Calibri"/>
              <a:sym typeface="Calibri"/>
            </a:endParaRPr>
          </a:p>
        </p:txBody>
      </p:sp>
      <p:sp>
        <p:nvSpPr>
          <p:cNvPr id="659" name="Google Shape;659;p38"/>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660" name="Google Shape;660;p38"/>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15</a:t>
            </a:r>
            <a:endParaRPr sz="700">
              <a:solidFill>
                <a:schemeClr val="dk1"/>
              </a:solidFill>
              <a:latin typeface="Calibri"/>
              <a:ea typeface="Calibri"/>
              <a:cs typeface="Calibri"/>
              <a:sym typeface="Calibri"/>
            </a:endParaRPr>
          </a:p>
        </p:txBody>
      </p:sp>
      <p:sp>
        <p:nvSpPr>
          <p:cNvPr id="661" name="Google Shape;661;p38"/>
          <p:cNvSpPr/>
          <p:nvPr/>
        </p:nvSpPr>
        <p:spPr>
          <a:xfrm>
            <a:off x="463964" y="1458999"/>
            <a:ext cx="254700" cy="254700"/>
          </a:xfrm>
          <a:prstGeom prst="ellipse">
            <a:avLst/>
          </a:prstGeom>
          <a:solidFill>
            <a:srgbClr val="2E6F84"/>
          </a:solid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62" name="Google Shape;662;p38"/>
          <p:cNvSpPr/>
          <p:nvPr/>
        </p:nvSpPr>
        <p:spPr>
          <a:xfrm>
            <a:off x="445775" y="1458999"/>
            <a:ext cx="291000" cy="272700"/>
          </a:xfrm>
          <a:prstGeom prst="rect">
            <a:avLst/>
          </a:prstGeom>
          <a:noFill/>
          <a:ln>
            <a:noFill/>
          </a:ln>
        </p:spPr>
        <p:txBody>
          <a:bodyPr anchorCtr="0" anchor="ctr" bIns="12125" lIns="12125" spcFirstLastPara="1" rIns="12125" wrap="square" tIns="12125">
            <a:noAutofit/>
          </a:bodyPr>
          <a:lstStyle/>
          <a:p>
            <a:pPr indent="0" lvl="0" marL="0" marR="0" rtl="0" algn="ctr">
              <a:spcBef>
                <a:spcPts val="0"/>
              </a:spcBef>
              <a:spcAft>
                <a:spcPts val="0"/>
              </a:spcAft>
              <a:buClr>
                <a:srgbClr val="FFFFFF"/>
              </a:buClr>
              <a:buSzPts val="1146"/>
              <a:buFont typeface="Source Serif 4"/>
              <a:buNone/>
            </a:pPr>
            <a:r>
              <a:rPr b="0" i="0" lang="en" sz="1146" u="none" cap="none" strike="noStrike">
                <a:solidFill>
                  <a:srgbClr val="FFFFFF"/>
                </a:solidFill>
                <a:latin typeface="Source Serif 4"/>
                <a:ea typeface="Source Serif 4"/>
                <a:cs typeface="Source Serif 4"/>
                <a:sym typeface="Source Serif 4"/>
              </a:rPr>
              <a:t>A</a:t>
            </a:r>
            <a:endParaRPr b="0" i="0" sz="1146" u="none" cap="none" strike="noStrike">
              <a:solidFill>
                <a:srgbClr val="000000"/>
              </a:solidFill>
              <a:latin typeface="Calibri"/>
              <a:ea typeface="Calibri"/>
              <a:cs typeface="Calibri"/>
              <a:sym typeface="Calibri"/>
            </a:endParaRPr>
          </a:p>
        </p:txBody>
      </p:sp>
      <p:sp>
        <p:nvSpPr>
          <p:cNvPr id="663" name="Google Shape;663;p38"/>
          <p:cNvSpPr/>
          <p:nvPr/>
        </p:nvSpPr>
        <p:spPr>
          <a:xfrm>
            <a:off x="809550" y="1456725"/>
            <a:ext cx="1626600" cy="277500"/>
          </a:xfrm>
          <a:prstGeom prst="rect">
            <a:avLst/>
          </a:prstGeom>
          <a:noFill/>
          <a:ln>
            <a:noFill/>
          </a:ln>
        </p:spPr>
        <p:txBody>
          <a:bodyPr anchorCtr="0" anchor="t" bIns="12125" lIns="12125" spcFirstLastPara="1" rIns="12125" wrap="square" tIns="12125">
            <a:noAutofit/>
          </a:bodyPr>
          <a:lstStyle/>
          <a:p>
            <a:pPr indent="0" lvl="0" marL="0" marR="0" rtl="0" algn="l">
              <a:spcBef>
                <a:spcPts val="0"/>
              </a:spcBef>
              <a:spcAft>
                <a:spcPts val="0"/>
              </a:spcAft>
              <a:buClr>
                <a:srgbClr val="0B2430"/>
              </a:buClr>
              <a:buSzPts val="1432"/>
              <a:buFont typeface="Source Sans 3"/>
              <a:buNone/>
            </a:pPr>
            <a:r>
              <a:rPr b="1" i="0" lang="en" sz="1432" u="none" cap="none" strike="noStrike">
                <a:solidFill>
                  <a:srgbClr val="0B2430"/>
                </a:solidFill>
                <a:latin typeface="Source Sans 3"/>
                <a:ea typeface="Source Sans 3"/>
                <a:cs typeface="Source Sans 3"/>
                <a:sym typeface="Source Sans 3"/>
              </a:rPr>
              <a:t>Keep the pipe alive</a:t>
            </a:r>
            <a:endParaRPr b="0" i="0" sz="1432" u="none" cap="none" strike="noStrike">
              <a:solidFill>
                <a:srgbClr val="000000"/>
              </a:solidFill>
              <a:latin typeface="Calibri"/>
              <a:ea typeface="Calibri"/>
              <a:cs typeface="Calibri"/>
              <a:sym typeface="Calibri"/>
            </a:endParaRPr>
          </a:p>
        </p:txBody>
      </p:sp>
      <p:sp>
        <p:nvSpPr>
          <p:cNvPr id="664" name="Google Shape;664;p38"/>
          <p:cNvSpPr/>
          <p:nvPr/>
        </p:nvSpPr>
        <p:spPr>
          <a:xfrm>
            <a:off x="463964" y="1815954"/>
            <a:ext cx="756600" cy="282000"/>
          </a:xfrm>
          <a:prstGeom prst="rect">
            <a:avLst/>
          </a:prstGeom>
          <a:solidFill>
            <a:srgbClr val="EDF1F2"/>
          </a:solid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65" name="Google Shape;665;p38"/>
          <p:cNvSpPr/>
          <p:nvPr/>
        </p:nvSpPr>
        <p:spPr>
          <a:xfrm>
            <a:off x="564002" y="1879615"/>
            <a:ext cx="592800" cy="172800"/>
          </a:xfrm>
          <a:prstGeom prst="rect">
            <a:avLst/>
          </a:prstGeom>
          <a:noFill/>
          <a:ln>
            <a:noFill/>
          </a:ln>
        </p:spPr>
        <p:txBody>
          <a:bodyPr anchorCtr="0" anchor="t" bIns="12125" lIns="12125" spcFirstLastPara="1" rIns="12125" wrap="square" tIns="12125">
            <a:noAutofit/>
          </a:bodyPr>
          <a:lstStyle/>
          <a:p>
            <a:pPr indent="0" lvl="0" marL="0" marR="0" rtl="0" algn="l">
              <a:spcBef>
                <a:spcPts val="0"/>
              </a:spcBef>
              <a:spcAft>
                <a:spcPts val="0"/>
              </a:spcAft>
              <a:buClr>
                <a:srgbClr val="16333D"/>
              </a:buClr>
              <a:buSzPts val="859"/>
              <a:buFont typeface="Source Sans 3"/>
              <a:buNone/>
            </a:pPr>
            <a:r>
              <a:rPr b="0" i="0" lang="en" sz="859" u="none" cap="none" strike="noStrike">
                <a:solidFill>
                  <a:srgbClr val="16333D"/>
                </a:solidFill>
                <a:latin typeface="Source Sans 3"/>
                <a:ea typeface="Source Sans 3"/>
                <a:cs typeface="Source Sans 3"/>
                <a:sym typeface="Source Sans 3"/>
              </a:rPr>
              <a:t>Sour service</a:t>
            </a:r>
            <a:endParaRPr b="0" i="0" sz="859" u="none" cap="none" strike="noStrike">
              <a:solidFill>
                <a:srgbClr val="000000"/>
              </a:solidFill>
              <a:latin typeface="Calibri"/>
              <a:ea typeface="Calibri"/>
              <a:cs typeface="Calibri"/>
              <a:sym typeface="Calibri"/>
            </a:endParaRPr>
          </a:p>
        </p:txBody>
      </p:sp>
      <p:sp>
        <p:nvSpPr>
          <p:cNvPr id="666" name="Google Shape;666;p38"/>
          <p:cNvSpPr/>
          <p:nvPr/>
        </p:nvSpPr>
        <p:spPr>
          <a:xfrm>
            <a:off x="1284057" y="1815954"/>
            <a:ext cx="810000" cy="282000"/>
          </a:xfrm>
          <a:prstGeom prst="rect">
            <a:avLst/>
          </a:prstGeom>
          <a:solidFill>
            <a:srgbClr val="EDF1F2"/>
          </a:solid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67" name="Google Shape;667;p38"/>
          <p:cNvSpPr/>
          <p:nvPr/>
        </p:nvSpPr>
        <p:spPr>
          <a:xfrm>
            <a:off x="1384095" y="1879615"/>
            <a:ext cx="646200" cy="172800"/>
          </a:xfrm>
          <a:prstGeom prst="rect">
            <a:avLst/>
          </a:prstGeom>
          <a:noFill/>
          <a:ln>
            <a:noFill/>
          </a:ln>
        </p:spPr>
        <p:txBody>
          <a:bodyPr anchorCtr="0" anchor="t" bIns="12125" lIns="12125" spcFirstLastPara="1" rIns="12125" wrap="square" tIns="12125">
            <a:noAutofit/>
          </a:bodyPr>
          <a:lstStyle/>
          <a:p>
            <a:pPr indent="0" lvl="0" marL="0" marR="0" rtl="0" algn="l">
              <a:spcBef>
                <a:spcPts val="0"/>
              </a:spcBef>
              <a:spcAft>
                <a:spcPts val="0"/>
              </a:spcAft>
              <a:buClr>
                <a:srgbClr val="16333D"/>
              </a:buClr>
              <a:buSzPts val="859"/>
              <a:buFont typeface="Source Sans 3"/>
              <a:buNone/>
            </a:pPr>
            <a:r>
              <a:rPr b="0" i="0" lang="en" sz="859" u="none" cap="none" strike="noStrike">
                <a:solidFill>
                  <a:srgbClr val="16333D"/>
                </a:solidFill>
                <a:latin typeface="Source Sans 3"/>
                <a:ea typeface="Source Sans 3"/>
                <a:cs typeface="Source Sans 3"/>
                <a:sym typeface="Source Sans 3"/>
              </a:rPr>
              <a:t>High chloride</a:t>
            </a:r>
            <a:endParaRPr b="0" i="0" sz="859" u="none" cap="none" strike="noStrike">
              <a:solidFill>
                <a:srgbClr val="000000"/>
              </a:solidFill>
              <a:latin typeface="Calibri"/>
              <a:ea typeface="Calibri"/>
              <a:cs typeface="Calibri"/>
              <a:sym typeface="Calibri"/>
            </a:endParaRPr>
          </a:p>
        </p:txBody>
      </p:sp>
      <p:sp>
        <p:nvSpPr>
          <p:cNvPr id="668" name="Google Shape;668;p38"/>
          <p:cNvSpPr/>
          <p:nvPr/>
        </p:nvSpPr>
        <p:spPr>
          <a:xfrm>
            <a:off x="2157614" y="1815954"/>
            <a:ext cx="1128600" cy="282000"/>
          </a:xfrm>
          <a:prstGeom prst="rect">
            <a:avLst/>
          </a:prstGeom>
          <a:solidFill>
            <a:srgbClr val="EDF1F2"/>
          </a:solid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69" name="Google Shape;669;p38"/>
          <p:cNvSpPr/>
          <p:nvPr/>
        </p:nvSpPr>
        <p:spPr>
          <a:xfrm>
            <a:off x="2257652" y="1879615"/>
            <a:ext cx="964800" cy="172800"/>
          </a:xfrm>
          <a:prstGeom prst="rect">
            <a:avLst/>
          </a:prstGeom>
          <a:noFill/>
          <a:ln>
            <a:noFill/>
          </a:ln>
        </p:spPr>
        <p:txBody>
          <a:bodyPr anchorCtr="0" anchor="t" bIns="12125" lIns="12125" spcFirstLastPara="1" rIns="12125" wrap="square" tIns="12125">
            <a:noAutofit/>
          </a:bodyPr>
          <a:lstStyle/>
          <a:p>
            <a:pPr indent="0" lvl="0" marL="0" marR="0" rtl="0" algn="l">
              <a:spcBef>
                <a:spcPts val="0"/>
              </a:spcBef>
              <a:spcAft>
                <a:spcPts val="0"/>
              </a:spcAft>
              <a:buClr>
                <a:srgbClr val="16333D"/>
              </a:buClr>
              <a:buSzPts val="859"/>
              <a:buFont typeface="Source Sans 3"/>
              <a:buNone/>
            </a:pPr>
            <a:r>
              <a:rPr b="0" i="0" lang="en" sz="859" u="none" cap="none" strike="noStrike">
                <a:solidFill>
                  <a:srgbClr val="16333D"/>
                </a:solidFill>
                <a:latin typeface="Source Sans 3"/>
                <a:ea typeface="Source Sans 3"/>
                <a:cs typeface="Source Sans 3"/>
                <a:sym typeface="Source Sans 3"/>
              </a:rPr>
              <a:t>Temperature cycling</a:t>
            </a:r>
            <a:endParaRPr b="0" i="0" sz="859" u="none" cap="none" strike="noStrike">
              <a:solidFill>
                <a:srgbClr val="000000"/>
              </a:solidFill>
              <a:latin typeface="Calibri"/>
              <a:ea typeface="Calibri"/>
              <a:cs typeface="Calibri"/>
              <a:sym typeface="Calibri"/>
            </a:endParaRPr>
          </a:p>
        </p:txBody>
      </p:sp>
      <p:sp>
        <p:nvSpPr>
          <p:cNvPr id="670" name="Google Shape;670;p38"/>
          <p:cNvSpPr/>
          <p:nvPr/>
        </p:nvSpPr>
        <p:spPr>
          <a:xfrm>
            <a:off x="463964" y="2161541"/>
            <a:ext cx="993300" cy="282000"/>
          </a:xfrm>
          <a:prstGeom prst="rect">
            <a:avLst/>
          </a:prstGeom>
          <a:solidFill>
            <a:srgbClr val="EDF1F2"/>
          </a:solid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71" name="Google Shape;671;p38"/>
          <p:cNvSpPr/>
          <p:nvPr/>
        </p:nvSpPr>
        <p:spPr>
          <a:xfrm>
            <a:off x="564002" y="2225201"/>
            <a:ext cx="829500" cy="172800"/>
          </a:xfrm>
          <a:prstGeom prst="rect">
            <a:avLst/>
          </a:prstGeom>
          <a:noFill/>
          <a:ln>
            <a:noFill/>
          </a:ln>
        </p:spPr>
        <p:txBody>
          <a:bodyPr anchorCtr="0" anchor="t" bIns="12125" lIns="12125" spcFirstLastPara="1" rIns="12125" wrap="square" tIns="12125">
            <a:noAutofit/>
          </a:bodyPr>
          <a:lstStyle/>
          <a:p>
            <a:pPr indent="0" lvl="0" marL="0" marR="0" rtl="0" algn="l">
              <a:spcBef>
                <a:spcPts val="0"/>
              </a:spcBef>
              <a:spcAft>
                <a:spcPts val="0"/>
              </a:spcAft>
              <a:buClr>
                <a:srgbClr val="16333D"/>
              </a:buClr>
              <a:buSzPts val="859"/>
              <a:buFont typeface="Source Sans 3"/>
              <a:buNone/>
            </a:pPr>
            <a:r>
              <a:rPr b="0" i="0" lang="en" sz="859" u="none" cap="none" strike="noStrike">
                <a:solidFill>
                  <a:srgbClr val="16333D"/>
                </a:solidFill>
                <a:latin typeface="Source Sans 3"/>
                <a:ea typeface="Source Sans 3"/>
                <a:cs typeface="Source Sans 3"/>
                <a:sym typeface="Source Sans 3"/>
              </a:rPr>
              <a:t>Supply at volume</a:t>
            </a:r>
            <a:endParaRPr b="0" i="0" sz="859" u="none" cap="none" strike="noStrike">
              <a:solidFill>
                <a:srgbClr val="000000"/>
              </a:solidFill>
              <a:latin typeface="Calibri"/>
              <a:ea typeface="Calibri"/>
              <a:cs typeface="Calibri"/>
              <a:sym typeface="Calibri"/>
            </a:endParaRPr>
          </a:p>
        </p:txBody>
      </p:sp>
      <p:sp>
        <p:nvSpPr>
          <p:cNvPr id="672" name="Google Shape;672;p38"/>
          <p:cNvSpPr/>
          <p:nvPr/>
        </p:nvSpPr>
        <p:spPr>
          <a:xfrm>
            <a:off x="463964" y="2543505"/>
            <a:ext cx="3878100" cy="361200"/>
          </a:xfrm>
          <a:prstGeom prst="rect">
            <a:avLst/>
          </a:prstGeom>
          <a:noFill/>
          <a:ln>
            <a:noFill/>
          </a:ln>
        </p:spPr>
        <p:txBody>
          <a:bodyPr anchorCtr="0" anchor="t" bIns="12125" lIns="12125" spcFirstLastPara="1" rIns="12125" wrap="square" tIns="12125">
            <a:noAutofit/>
          </a:bodyPr>
          <a:lstStyle/>
          <a:p>
            <a:pPr indent="0" lvl="0" marL="0" marR="0" rtl="0" algn="l">
              <a:lnSpc>
                <a:spcPct val="101892"/>
              </a:lnSpc>
              <a:spcBef>
                <a:spcPts val="0"/>
              </a:spcBef>
              <a:spcAft>
                <a:spcPts val="0"/>
              </a:spcAft>
              <a:buClr>
                <a:srgbClr val="5E7480"/>
              </a:buClr>
              <a:buSzPts val="931"/>
              <a:buFont typeface="Source Sans 3"/>
              <a:buNone/>
            </a:pPr>
            <a:r>
              <a:rPr b="0" i="0" lang="en" sz="931" u="none" cap="none" strike="noStrike">
                <a:solidFill>
                  <a:srgbClr val="5E7480"/>
                </a:solidFill>
                <a:latin typeface="Source Sans 3"/>
                <a:ea typeface="Source Sans 3"/>
                <a:cs typeface="Source Sans 3"/>
                <a:sym typeface="Source Sans 3"/>
              </a:rPr>
              <a:t>Corrosion and fouling in production systems run on the same modules as the marine work, with a different envelope.</a:t>
            </a:r>
            <a:endParaRPr b="0" i="0" sz="931" u="none" cap="none" strike="noStrike">
              <a:solidFill>
                <a:srgbClr val="000000"/>
              </a:solidFill>
              <a:latin typeface="Calibri"/>
              <a:ea typeface="Calibri"/>
              <a:cs typeface="Calibri"/>
              <a:sym typeface="Calibri"/>
            </a:endParaRPr>
          </a:p>
        </p:txBody>
      </p:sp>
      <p:sp>
        <p:nvSpPr>
          <p:cNvPr id="673" name="Google Shape;673;p38"/>
          <p:cNvSpPr/>
          <p:nvPr/>
        </p:nvSpPr>
        <p:spPr>
          <a:xfrm>
            <a:off x="463964" y="2986359"/>
            <a:ext cx="3878100" cy="312900"/>
          </a:xfrm>
          <a:prstGeom prst="rect">
            <a:avLst/>
          </a:prstGeom>
          <a:noFill/>
          <a:ln>
            <a:noFill/>
          </a:ln>
        </p:spPr>
        <p:txBody>
          <a:bodyPr anchorCtr="0" anchor="t" bIns="12125" lIns="12125" spcFirstLastPara="1" rIns="12125" wrap="square" tIns="12125">
            <a:noAutofit/>
          </a:bodyPr>
          <a:lstStyle/>
          <a:p>
            <a:pPr indent="0" lvl="0" marL="0" marR="0" rtl="0" algn="l">
              <a:lnSpc>
                <a:spcPct val="95294"/>
              </a:lnSpc>
              <a:spcBef>
                <a:spcPts val="0"/>
              </a:spcBef>
              <a:spcAft>
                <a:spcPts val="0"/>
              </a:spcAft>
              <a:buClr>
                <a:srgbClr val="16333D"/>
              </a:buClr>
              <a:buSzPts val="859"/>
              <a:buFont typeface="Source Sans 3"/>
              <a:buNone/>
            </a:pPr>
            <a:r>
              <a:rPr b="1" i="0" lang="en" sz="859" u="none" cap="none" strike="noStrike">
                <a:solidFill>
                  <a:srgbClr val="16333D"/>
                </a:solidFill>
                <a:latin typeface="Source Sans 3"/>
                <a:ea typeface="Source Sans 3"/>
                <a:cs typeface="Source Sans 3"/>
                <a:sym typeface="Source Sans 3"/>
              </a:rPr>
              <a:t>The output is a shortlist with a process route and a sourcing note on each candidate.</a:t>
            </a:r>
            <a:endParaRPr b="0" i="0" sz="859" u="none" cap="none" strike="noStrike">
              <a:solidFill>
                <a:srgbClr val="000000"/>
              </a:solidFill>
              <a:latin typeface="Calibri"/>
              <a:ea typeface="Calibri"/>
              <a:cs typeface="Calibri"/>
              <a:sym typeface="Calibri"/>
            </a:endParaRPr>
          </a:p>
        </p:txBody>
      </p:sp>
      <p:sp>
        <p:nvSpPr>
          <p:cNvPr id="674" name="Google Shape;674;p38"/>
          <p:cNvSpPr/>
          <p:nvPr/>
        </p:nvSpPr>
        <p:spPr>
          <a:xfrm>
            <a:off x="4520056" y="1458999"/>
            <a:ext cx="254700" cy="254700"/>
          </a:xfrm>
          <a:prstGeom prst="ellipse">
            <a:avLst/>
          </a:prstGeom>
          <a:solidFill>
            <a:srgbClr val="C25A1E"/>
          </a:solid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75" name="Google Shape;675;p38"/>
          <p:cNvSpPr/>
          <p:nvPr/>
        </p:nvSpPr>
        <p:spPr>
          <a:xfrm>
            <a:off x="4501867" y="1458999"/>
            <a:ext cx="291000" cy="272700"/>
          </a:xfrm>
          <a:prstGeom prst="rect">
            <a:avLst/>
          </a:prstGeom>
          <a:noFill/>
          <a:ln>
            <a:noFill/>
          </a:ln>
        </p:spPr>
        <p:txBody>
          <a:bodyPr anchorCtr="0" anchor="ctr" bIns="12125" lIns="12125" spcFirstLastPara="1" rIns="12125" wrap="square" tIns="12125">
            <a:noAutofit/>
          </a:bodyPr>
          <a:lstStyle/>
          <a:p>
            <a:pPr indent="0" lvl="0" marL="0" marR="0" rtl="0" algn="ctr">
              <a:spcBef>
                <a:spcPts val="0"/>
              </a:spcBef>
              <a:spcAft>
                <a:spcPts val="0"/>
              </a:spcAft>
              <a:buClr>
                <a:srgbClr val="FFFFFF"/>
              </a:buClr>
              <a:buSzPts val="1146"/>
              <a:buFont typeface="Source Serif 4"/>
              <a:buNone/>
            </a:pPr>
            <a:r>
              <a:rPr b="0" i="0" lang="en" sz="1146" u="none" cap="none" strike="noStrike">
                <a:solidFill>
                  <a:srgbClr val="FFFFFF"/>
                </a:solidFill>
                <a:latin typeface="Source Serif 4"/>
                <a:ea typeface="Source Serif 4"/>
                <a:cs typeface="Source Serif 4"/>
                <a:sym typeface="Source Serif 4"/>
              </a:rPr>
              <a:t>B</a:t>
            </a:r>
            <a:endParaRPr b="0" i="0" sz="1146" u="none" cap="none" strike="noStrike">
              <a:solidFill>
                <a:srgbClr val="000000"/>
              </a:solidFill>
              <a:latin typeface="Calibri"/>
              <a:ea typeface="Calibri"/>
              <a:cs typeface="Calibri"/>
              <a:sym typeface="Calibri"/>
            </a:endParaRPr>
          </a:p>
        </p:txBody>
      </p:sp>
      <p:sp>
        <p:nvSpPr>
          <p:cNvPr id="676" name="Google Shape;676;p38"/>
          <p:cNvSpPr/>
          <p:nvPr/>
        </p:nvSpPr>
        <p:spPr>
          <a:xfrm>
            <a:off x="4865642" y="1456725"/>
            <a:ext cx="2052300" cy="277500"/>
          </a:xfrm>
          <a:prstGeom prst="rect">
            <a:avLst/>
          </a:prstGeom>
          <a:noFill/>
          <a:ln>
            <a:noFill/>
          </a:ln>
        </p:spPr>
        <p:txBody>
          <a:bodyPr anchorCtr="0" anchor="t" bIns="12125" lIns="12125" spcFirstLastPara="1" rIns="12125" wrap="square" tIns="12125">
            <a:noAutofit/>
          </a:bodyPr>
          <a:lstStyle/>
          <a:p>
            <a:pPr indent="0" lvl="0" marL="0" marR="0" rtl="0" algn="l">
              <a:spcBef>
                <a:spcPts val="0"/>
              </a:spcBef>
              <a:spcAft>
                <a:spcPts val="0"/>
              </a:spcAft>
              <a:buClr>
                <a:srgbClr val="0B2430"/>
              </a:buClr>
              <a:buSzPts val="1432"/>
              <a:buFont typeface="Source Sans 3"/>
              <a:buNone/>
            </a:pPr>
            <a:r>
              <a:rPr b="1" i="0" lang="en" sz="1432" u="none" cap="none" strike="noStrike">
                <a:solidFill>
                  <a:srgbClr val="0B2430"/>
                </a:solidFill>
                <a:latin typeface="Source Sans 3"/>
                <a:ea typeface="Source Sans 3"/>
                <a:cs typeface="Source Sans 3"/>
                <a:sym typeface="Source Sans 3"/>
              </a:rPr>
              <a:t>Pull one ion out of brine</a:t>
            </a:r>
            <a:endParaRPr b="0" i="0" sz="1432" u="none" cap="none" strike="noStrike">
              <a:solidFill>
                <a:srgbClr val="000000"/>
              </a:solidFill>
              <a:latin typeface="Calibri"/>
              <a:ea typeface="Calibri"/>
              <a:cs typeface="Calibri"/>
              <a:sym typeface="Calibri"/>
            </a:endParaRPr>
          </a:p>
        </p:txBody>
      </p:sp>
      <p:sp>
        <p:nvSpPr>
          <p:cNvPr id="677" name="Google Shape;677;p38"/>
          <p:cNvSpPr/>
          <p:nvPr/>
        </p:nvSpPr>
        <p:spPr>
          <a:xfrm>
            <a:off x="4520056" y="1815954"/>
            <a:ext cx="3765000" cy="691200"/>
          </a:xfrm>
          <a:prstGeom prst="rect">
            <a:avLst/>
          </a:prstGeom>
          <a:solidFill>
            <a:srgbClr val="EDF1F2"/>
          </a:solid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78" name="Google Shape;678;p38"/>
          <p:cNvSpPr/>
          <p:nvPr/>
        </p:nvSpPr>
        <p:spPr>
          <a:xfrm>
            <a:off x="4665566" y="2043314"/>
            <a:ext cx="90900" cy="90900"/>
          </a:xfrm>
          <a:prstGeom prst="ellipse">
            <a:avLst/>
          </a:prstGeom>
          <a:solidFill>
            <a:srgbClr val="9FB6BF"/>
          </a:solid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79" name="Google Shape;679;p38"/>
          <p:cNvSpPr/>
          <p:nvPr/>
        </p:nvSpPr>
        <p:spPr>
          <a:xfrm>
            <a:off x="4811076" y="2043314"/>
            <a:ext cx="90900" cy="90900"/>
          </a:xfrm>
          <a:prstGeom prst="ellipse">
            <a:avLst/>
          </a:prstGeom>
          <a:solidFill>
            <a:srgbClr val="C25A1E"/>
          </a:solid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80" name="Google Shape;680;p38"/>
          <p:cNvSpPr/>
          <p:nvPr/>
        </p:nvSpPr>
        <p:spPr>
          <a:xfrm>
            <a:off x="4956586" y="2043314"/>
            <a:ext cx="90900" cy="90900"/>
          </a:xfrm>
          <a:prstGeom prst="ellipse">
            <a:avLst/>
          </a:prstGeom>
          <a:solidFill>
            <a:srgbClr val="9FB6BF"/>
          </a:solid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81" name="Google Shape;681;p38"/>
          <p:cNvSpPr/>
          <p:nvPr/>
        </p:nvSpPr>
        <p:spPr>
          <a:xfrm>
            <a:off x="4665566" y="2188824"/>
            <a:ext cx="90900" cy="90900"/>
          </a:xfrm>
          <a:prstGeom prst="ellipse">
            <a:avLst/>
          </a:prstGeom>
          <a:solidFill>
            <a:srgbClr val="C25A1E"/>
          </a:solid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82" name="Google Shape;682;p38"/>
          <p:cNvSpPr/>
          <p:nvPr/>
        </p:nvSpPr>
        <p:spPr>
          <a:xfrm>
            <a:off x="4811076" y="2188824"/>
            <a:ext cx="90900" cy="90900"/>
          </a:xfrm>
          <a:prstGeom prst="ellipse">
            <a:avLst/>
          </a:prstGeom>
          <a:solidFill>
            <a:srgbClr val="9FB6BF"/>
          </a:solid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83" name="Google Shape;683;p38"/>
          <p:cNvSpPr/>
          <p:nvPr/>
        </p:nvSpPr>
        <p:spPr>
          <a:xfrm>
            <a:off x="4956586" y="2188824"/>
            <a:ext cx="90900" cy="90900"/>
          </a:xfrm>
          <a:prstGeom prst="ellipse">
            <a:avLst/>
          </a:prstGeom>
          <a:solidFill>
            <a:srgbClr val="9FB6BF"/>
          </a:solid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84" name="Google Shape;684;p38"/>
          <p:cNvSpPr/>
          <p:nvPr/>
        </p:nvSpPr>
        <p:spPr>
          <a:xfrm>
            <a:off x="5156663" y="2071733"/>
            <a:ext cx="163800" cy="197700"/>
          </a:xfrm>
          <a:prstGeom prst="rect">
            <a:avLst/>
          </a:prstGeom>
          <a:noFill/>
          <a:ln>
            <a:noFill/>
          </a:ln>
        </p:spPr>
        <p:txBody>
          <a:bodyPr anchorCtr="0" anchor="t" bIns="12125" lIns="12125" spcFirstLastPara="1" rIns="12125" wrap="square" tIns="12125">
            <a:noAutofit/>
          </a:bodyPr>
          <a:lstStyle/>
          <a:p>
            <a:pPr indent="0" lvl="0" marL="0" marR="0" rtl="0" algn="l">
              <a:spcBef>
                <a:spcPts val="0"/>
              </a:spcBef>
              <a:spcAft>
                <a:spcPts val="0"/>
              </a:spcAft>
              <a:buClr>
                <a:srgbClr val="5E7480"/>
              </a:buClr>
              <a:buSzPts val="1003"/>
              <a:buFont typeface="Source Sans 3"/>
              <a:buNone/>
            </a:pPr>
            <a:r>
              <a:rPr b="0" i="0" lang="en" sz="1003" u="none" cap="none" strike="noStrike">
                <a:solidFill>
                  <a:srgbClr val="5E7480"/>
                </a:solidFill>
                <a:latin typeface="Source Sans 3"/>
                <a:ea typeface="Source Sans 3"/>
                <a:cs typeface="Source Sans 3"/>
                <a:sym typeface="Source Sans 3"/>
              </a:rPr>
              <a:t>→</a:t>
            </a:r>
            <a:endParaRPr b="0" i="0" sz="1003" u="none" cap="none" strike="noStrike">
              <a:solidFill>
                <a:srgbClr val="000000"/>
              </a:solidFill>
              <a:latin typeface="Calibri"/>
              <a:ea typeface="Calibri"/>
              <a:cs typeface="Calibri"/>
              <a:sym typeface="Calibri"/>
            </a:endParaRPr>
          </a:p>
        </p:txBody>
      </p:sp>
      <p:sp>
        <p:nvSpPr>
          <p:cNvPr id="685" name="Google Shape;685;p38"/>
          <p:cNvSpPr/>
          <p:nvPr/>
        </p:nvSpPr>
        <p:spPr>
          <a:xfrm>
            <a:off x="5393116" y="1943275"/>
            <a:ext cx="29100" cy="436500"/>
          </a:xfrm>
          <a:prstGeom prst="rect">
            <a:avLst/>
          </a:prstGeom>
          <a:blipFill rotWithShape="1">
            <a:blip r:embed="rId3">
              <a:alphaModFix/>
            </a:blip>
            <a:tile algn="tl" flip="none" tx="0" sx="99998" ty="0" sy="99998"/>
          </a:blip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86" name="Google Shape;686;p38"/>
          <p:cNvSpPr/>
          <p:nvPr/>
        </p:nvSpPr>
        <p:spPr>
          <a:xfrm>
            <a:off x="5531486" y="2071733"/>
            <a:ext cx="163800" cy="197700"/>
          </a:xfrm>
          <a:prstGeom prst="rect">
            <a:avLst/>
          </a:prstGeom>
          <a:noFill/>
          <a:ln>
            <a:noFill/>
          </a:ln>
        </p:spPr>
        <p:txBody>
          <a:bodyPr anchorCtr="0" anchor="t" bIns="12125" lIns="12125" spcFirstLastPara="1" rIns="12125" wrap="square" tIns="12125">
            <a:noAutofit/>
          </a:bodyPr>
          <a:lstStyle/>
          <a:p>
            <a:pPr indent="0" lvl="0" marL="0" marR="0" rtl="0" algn="l">
              <a:spcBef>
                <a:spcPts val="0"/>
              </a:spcBef>
              <a:spcAft>
                <a:spcPts val="0"/>
              </a:spcAft>
              <a:buClr>
                <a:srgbClr val="5E7480"/>
              </a:buClr>
              <a:buSzPts val="1003"/>
              <a:buFont typeface="Source Sans 3"/>
              <a:buNone/>
            </a:pPr>
            <a:r>
              <a:rPr b="0" i="0" lang="en" sz="1003" u="none" cap="none" strike="noStrike">
                <a:solidFill>
                  <a:srgbClr val="5E7480"/>
                </a:solidFill>
                <a:latin typeface="Source Sans 3"/>
                <a:ea typeface="Source Sans 3"/>
                <a:cs typeface="Source Sans 3"/>
                <a:sym typeface="Source Sans 3"/>
              </a:rPr>
              <a:t>→</a:t>
            </a:r>
            <a:endParaRPr b="0" i="0" sz="1003" u="none" cap="none" strike="noStrike">
              <a:solidFill>
                <a:srgbClr val="000000"/>
              </a:solidFill>
              <a:latin typeface="Calibri"/>
              <a:ea typeface="Calibri"/>
              <a:cs typeface="Calibri"/>
              <a:sym typeface="Calibri"/>
            </a:endParaRPr>
          </a:p>
        </p:txBody>
      </p:sp>
      <p:sp>
        <p:nvSpPr>
          <p:cNvPr id="687" name="Google Shape;687;p38"/>
          <p:cNvSpPr/>
          <p:nvPr/>
        </p:nvSpPr>
        <p:spPr>
          <a:xfrm>
            <a:off x="5767940" y="2116069"/>
            <a:ext cx="90900" cy="90900"/>
          </a:xfrm>
          <a:prstGeom prst="ellipse">
            <a:avLst/>
          </a:prstGeom>
          <a:solidFill>
            <a:srgbClr val="C25A1E"/>
          </a:solid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88" name="Google Shape;688;p38"/>
          <p:cNvSpPr/>
          <p:nvPr/>
        </p:nvSpPr>
        <p:spPr>
          <a:xfrm>
            <a:off x="5913450" y="2116069"/>
            <a:ext cx="90900" cy="90900"/>
          </a:xfrm>
          <a:prstGeom prst="ellipse">
            <a:avLst/>
          </a:prstGeom>
          <a:solidFill>
            <a:srgbClr val="C25A1E"/>
          </a:solidFill>
          <a:ln>
            <a:noFill/>
          </a:ln>
        </p:spPr>
        <p:txBody>
          <a:bodyPr anchorCtr="0" anchor="ctr" bIns="43650" lIns="43650" spcFirstLastPara="1" rIns="43650" wrap="square" tIns="43650">
            <a:noAutofit/>
          </a:bodyPr>
          <a:lstStyle/>
          <a:p>
            <a:pPr indent="0" lvl="0" marL="0" rtl="0" algn="l">
              <a:spcBef>
                <a:spcPts val="0"/>
              </a:spcBef>
              <a:spcAft>
                <a:spcPts val="0"/>
              </a:spcAft>
              <a:buNone/>
            </a:pPr>
            <a:r>
              <a:t/>
            </a:r>
            <a:endParaRPr/>
          </a:p>
        </p:txBody>
      </p:sp>
      <p:sp>
        <p:nvSpPr>
          <p:cNvPr id="689" name="Google Shape;689;p38"/>
          <p:cNvSpPr/>
          <p:nvPr/>
        </p:nvSpPr>
        <p:spPr>
          <a:xfrm>
            <a:off x="6149904" y="1948746"/>
            <a:ext cx="2049600" cy="443700"/>
          </a:xfrm>
          <a:prstGeom prst="rect">
            <a:avLst/>
          </a:prstGeom>
          <a:noFill/>
          <a:ln>
            <a:noFill/>
          </a:ln>
        </p:spPr>
        <p:txBody>
          <a:bodyPr anchorCtr="0" anchor="t" bIns="12125" lIns="12125" spcFirstLastPara="1" rIns="12125" wrap="square" tIns="12125">
            <a:noAutofit/>
          </a:bodyPr>
          <a:lstStyle/>
          <a:p>
            <a:pPr indent="0" lvl="0" marL="0" marR="0" rtl="0" algn="l">
              <a:lnSpc>
                <a:spcPct val="91765"/>
              </a:lnSpc>
              <a:spcBef>
                <a:spcPts val="0"/>
              </a:spcBef>
              <a:spcAft>
                <a:spcPts val="0"/>
              </a:spcAft>
              <a:buClr>
                <a:srgbClr val="5E7480"/>
              </a:buClr>
              <a:buSzPts val="859"/>
              <a:buFont typeface="Source Sans 3"/>
              <a:buNone/>
            </a:pPr>
            <a:r>
              <a:rPr b="0" i="0" lang="en" sz="859" u="none" cap="none" strike="noStrike">
                <a:solidFill>
                  <a:srgbClr val="5E7480"/>
                </a:solidFill>
                <a:latin typeface="Source Sans 3"/>
                <a:ea typeface="Source Sans 3"/>
                <a:cs typeface="Source Sans 3"/>
                <a:sym typeface="Source Sans 3"/>
              </a:rPr>
              <a:t>Engineered pore size and pore chemistry let lithium through and hold the rest of the brine back.</a:t>
            </a:r>
            <a:endParaRPr b="0" i="0" sz="859" u="none" cap="none" strike="noStrike">
              <a:solidFill>
                <a:srgbClr val="000000"/>
              </a:solidFill>
              <a:latin typeface="Calibri"/>
              <a:ea typeface="Calibri"/>
              <a:cs typeface="Calibri"/>
              <a:sym typeface="Calibri"/>
            </a:endParaRPr>
          </a:p>
        </p:txBody>
      </p:sp>
      <p:sp>
        <p:nvSpPr>
          <p:cNvPr id="690" name="Google Shape;690;p38"/>
          <p:cNvSpPr/>
          <p:nvPr/>
        </p:nvSpPr>
        <p:spPr>
          <a:xfrm>
            <a:off x="4520056" y="2607166"/>
            <a:ext cx="3878100" cy="361200"/>
          </a:xfrm>
          <a:prstGeom prst="rect">
            <a:avLst/>
          </a:prstGeom>
          <a:noFill/>
          <a:ln>
            <a:noFill/>
          </a:ln>
        </p:spPr>
        <p:txBody>
          <a:bodyPr anchorCtr="0" anchor="t" bIns="12125" lIns="12125" spcFirstLastPara="1" rIns="12125" wrap="square" tIns="12125">
            <a:noAutofit/>
          </a:bodyPr>
          <a:lstStyle/>
          <a:p>
            <a:pPr indent="0" lvl="0" marL="0" marR="0" rtl="0" algn="l">
              <a:lnSpc>
                <a:spcPct val="101892"/>
              </a:lnSpc>
              <a:spcBef>
                <a:spcPts val="0"/>
              </a:spcBef>
              <a:spcAft>
                <a:spcPts val="0"/>
              </a:spcAft>
              <a:buClr>
                <a:srgbClr val="5E7480"/>
              </a:buClr>
              <a:buSzPts val="931"/>
              <a:buFont typeface="Source Sans 3"/>
              <a:buNone/>
            </a:pPr>
            <a:r>
              <a:rPr b="0" i="0" lang="en" sz="931" u="none" cap="none" strike="noStrike">
                <a:solidFill>
                  <a:srgbClr val="5E7480"/>
                </a:solidFill>
                <a:latin typeface="Source Sans 3"/>
                <a:ea typeface="Source Sans 3"/>
                <a:cs typeface="Source Sans 3"/>
                <a:sym typeface="Source Sans 3"/>
              </a:rPr>
              <a:t>Two-dimensional polymers bond into sheets rather than chains, so pore size and chemistry can be engineered directly.</a:t>
            </a:r>
            <a:endParaRPr b="0" i="0" sz="931" u="none" cap="none" strike="noStrike">
              <a:solidFill>
                <a:srgbClr val="000000"/>
              </a:solidFill>
              <a:latin typeface="Calibri"/>
              <a:ea typeface="Calibri"/>
              <a:cs typeface="Calibri"/>
              <a:sym typeface="Calibri"/>
            </a:endParaRPr>
          </a:p>
        </p:txBody>
      </p:sp>
      <p:sp>
        <p:nvSpPr>
          <p:cNvPr id="691" name="Google Shape;691;p38"/>
          <p:cNvSpPr/>
          <p:nvPr/>
        </p:nvSpPr>
        <p:spPr>
          <a:xfrm>
            <a:off x="4520056" y="3050019"/>
            <a:ext cx="4141500" cy="165600"/>
          </a:xfrm>
          <a:prstGeom prst="rect">
            <a:avLst/>
          </a:prstGeom>
          <a:noFill/>
          <a:ln>
            <a:noFill/>
          </a:ln>
        </p:spPr>
        <p:txBody>
          <a:bodyPr anchorCtr="0" anchor="t" bIns="12125" lIns="12125" spcFirstLastPara="1" rIns="12125" wrap="square" tIns="12125">
            <a:noAutofit/>
          </a:bodyPr>
          <a:lstStyle/>
          <a:p>
            <a:pPr indent="0" lvl="0" marL="0" marR="0" rtl="0" algn="l">
              <a:lnSpc>
                <a:spcPct val="95294"/>
              </a:lnSpc>
              <a:spcBef>
                <a:spcPts val="0"/>
              </a:spcBef>
              <a:spcAft>
                <a:spcPts val="0"/>
              </a:spcAft>
              <a:buClr>
                <a:srgbClr val="16333D"/>
              </a:buClr>
              <a:buSzPts val="859"/>
              <a:buFont typeface="Source Sans 3"/>
              <a:buNone/>
            </a:pPr>
            <a:r>
              <a:rPr b="1" i="0" lang="en" sz="859" u="none" cap="none" strike="noStrike">
                <a:solidFill>
                  <a:srgbClr val="16333D"/>
                </a:solidFill>
                <a:latin typeface="Source Sans 3"/>
                <a:ea typeface="Source Sans 3"/>
                <a:cs typeface="Source Sans 3"/>
                <a:sym typeface="Source Sans 3"/>
              </a:rPr>
              <a:t>We are engaged with the internal lead on a major operator's lithium business.</a:t>
            </a:r>
            <a:endParaRPr b="0" i="0" sz="859" u="none" cap="none" strike="noStrike">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430"/>
        </a:solidFill>
      </p:bgPr>
    </p:bg>
    <p:spTree>
      <p:nvGrpSpPr>
        <p:cNvPr id="696" name="Shape 696"/>
        <p:cNvGrpSpPr/>
        <p:nvPr/>
      </p:nvGrpSpPr>
      <p:grpSpPr>
        <a:xfrm>
          <a:off x="0" y="0"/>
          <a:ext cx="0" cy="0"/>
          <a:chOff x="0" y="0"/>
          <a:chExt cx="0" cy="0"/>
        </a:xfrm>
      </p:grpSpPr>
      <p:sp>
        <p:nvSpPr>
          <p:cNvPr id="697" name="Google Shape;697;p39"/>
          <p:cNvSpPr/>
          <p:nvPr/>
        </p:nvSpPr>
        <p:spPr>
          <a:xfrm>
            <a:off x="445770" y="1748790"/>
            <a:ext cx="41148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A578"/>
              </a:buClr>
              <a:buSzPts val="900"/>
              <a:buFont typeface="Calibri"/>
              <a:buNone/>
            </a:pPr>
            <a:r>
              <a:rPr b="1" lang="en" sz="900">
                <a:solidFill>
                  <a:srgbClr val="E8A578"/>
                </a:solidFill>
                <a:latin typeface="Calibri"/>
                <a:ea typeface="Calibri"/>
                <a:cs typeface="Calibri"/>
                <a:sym typeface="Calibri"/>
              </a:rPr>
              <a:t>CASE STUDY 03</a:t>
            </a:r>
            <a:endParaRPr sz="900">
              <a:solidFill>
                <a:schemeClr val="dk1"/>
              </a:solidFill>
              <a:latin typeface="Calibri"/>
              <a:ea typeface="Calibri"/>
              <a:cs typeface="Calibri"/>
              <a:sym typeface="Calibri"/>
            </a:endParaRPr>
          </a:p>
        </p:txBody>
      </p:sp>
      <p:sp>
        <p:nvSpPr>
          <p:cNvPr id="698" name="Google Shape;698;p39"/>
          <p:cNvSpPr/>
          <p:nvPr/>
        </p:nvSpPr>
        <p:spPr>
          <a:xfrm>
            <a:off x="445770" y="2023110"/>
            <a:ext cx="685800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lang="en" sz="3200">
                <a:solidFill>
                  <a:srgbClr val="FFFFFF"/>
                </a:solidFill>
                <a:latin typeface="Cambria"/>
                <a:ea typeface="Cambria"/>
                <a:cs typeface="Cambria"/>
                <a:sym typeface="Cambria"/>
              </a:rPr>
              <a:t>Oil and gas: infrastructure</a:t>
            </a:r>
            <a:endParaRPr sz="3200">
              <a:solidFill>
                <a:schemeClr val="dk1"/>
              </a:solidFill>
              <a:latin typeface="Calibri"/>
              <a:ea typeface="Calibri"/>
              <a:cs typeface="Calibri"/>
              <a:sym typeface="Calibri"/>
            </a:endParaRPr>
          </a:p>
        </p:txBody>
      </p:sp>
      <p:sp>
        <p:nvSpPr>
          <p:cNvPr id="699" name="Google Shape;699;p39"/>
          <p:cNvSpPr/>
          <p:nvPr/>
        </p:nvSpPr>
        <p:spPr>
          <a:xfrm>
            <a:off x="445770" y="2708910"/>
            <a:ext cx="6858000" cy="308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FA9B8"/>
              </a:buClr>
              <a:buSzPts val="1200"/>
              <a:buFont typeface="Calibri"/>
              <a:buNone/>
            </a:pPr>
            <a:r>
              <a:rPr lang="en" sz="1200">
                <a:solidFill>
                  <a:srgbClr val="7FA9B8"/>
                </a:solidFill>
                <a:latin typeface="Calibri"/>
                <a:ea typeface="Calibri"/>
                <a:cs typeface="Calibri"/>
                <a:sym typeface="Calibri"/>
              </a:rPr>
              <a:t>Reinforced cement systems built to a hundred-year requirement for well abandonment</a:t>
            </a:r>
            <a:endParaRPr sz="1200">
              <a:solidFill>
                <a:schemeClr val="dk1"/>
              </a:solidFill>
              <a:latin typeface="Calibri"/>
              <a:ea typeface="Calibri"/>
              <a:cs typeface="Calibri"/>
              <a:sym typeface="Calibri"/>
            </a:endParaRPr>
          </a:p>
        </p:txBody>
      </p:sp>
      <p:sp>
        <p:nvSpPr>
          <p:cNvPr id="700" name="Google Shape;700;p39"/>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FB6BF"/>
              </a:buClr>
              <a:buSzPts val="700"/>
              <a:buFont typeface="Calibri"/>
              <a:buNone/>
            </a:pPr>
            <a:r>
              <a:rPr lang="en" sz="700">
                <a:solidFill>
                  <a:srgbClr val="9FB6BF"/>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701" name="Google Shape;701;p39"/>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9FB6BF"/>
              </a:buClr>
              <a:buSzPts val="700"/>
              <a:buFont typeface="Calibri"/>
              <a:buNone/>
            </a:pPr>
            <a:r>
              <a:rPr lang="en" sz="700">
                <a:solidFill>
                  <a:srgbClr val="9FB6BF"/>
                </a:solidFill>
                <a:latin typeface="Calibri"/>
                <a:ea typeface="Calibri"/>
                <a:cs typeface="Calibri"/>
                <a:sym typeface="Calibri"/>
              </a:rPr>
              <a:t>16</a:t>
            </a:r>
            <a:endParaRPr sz="7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6" name="Shape 706"/>
        <p:cNvGrpSpPr/>
        <p:nvPr/>
      </p:nvGrpSpPr>
      <p:grpSpPr>
        <a:xfrm>
          <a:off x="0" y="0"/>
          <a:ext cx="0" cy="0"/>
          <a:chOff x="0" y="0"/>
          <a:chExt cx="0" cy="0"/>
        </a:xfrm>
      </p:grpSpPr>
      <p:sp>
        <p:nvSpPr>
          <p:cNvPr id="707" name="Google Shape;707;p40"/>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CASE STUDY 03 · OIL AND GAS INFRASTRUCTURE</a:t>
            </a:r>
            <a:endParaRPr sz="800">
              <a:solidFill>
                <a:schemeClr val="dk1"/>
              </a:solidFill>
              <a:latin typeface="Calibri"/>
              <a:ea typeface="Calibri"/>
              <a:cs typeface="Calibri"/>
              <a:sym typeface="Calibri"/>
            </a:endParaRPr>
          </a:p>
        </p:txBody>
      </p:sp>
      <p:sp>
        <p:nvSpPr>
          <p:cNvPr id="708" name="Google Shape;708;p40"/>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600"/>
              <a:buFont typeface="Cambria"/>
              <a:buNone/>
            </a:pPr>
            <a:r>
              <a:rPr b="1" lang="en" sz="2600">
                <a:solidFill>
                  <a:srgbClr val="16333D"/>
                </a:solidFill>
                <a:latin typeface="Cambria"/>
                <a:ea typeface="Cambria"/>
                <a:cs typeface="Cambria"/>
                <a:sym typeface="Cambria"/>
              </a:rPr>
              <a:t>Cement that has to hold for a hundred years.</a:t>
            </a:r>
            <a:endParaRPr sz="2600">
              <a:solidFill>
                <a:schemeClr val="dk1"/>
              </a:solidFill>
              <a:latin typeface="Calibri"/>
              <a:ea typeface="Calibri"/>
              <a:cs typeface="Calibri"/>
              <a:sym typeface="Calibri"/>
            </a:endParaRPr>
          </a:p>
        </p:txBody>
      </p:sp>
      <p:sp>
        <p:nvSpPr>
          <p:cNvPr id="709" name="Google Shape;709;p40"/>
          <p:cNvSpPr/>
          <p:nvPr/>
        </p:nvSpPr>
        <p:spPr>
          <a:xfrm>
            <a:off x="445770" y="1303020"/>
            <a:ext cx="8215884" cy="48006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16333D"/>
              </a:buClr>
              <a:buSzPts val="1100"/>
              <a:buFont typeface="Calibri"/>
              <a:buNone/>
            </a:pPr>
            <a:r>
              <a:rPr lang="en" sz="1100">
                <a:solidFill>
                  <a:srgbClr val="16333D"/>
                </a:solidFill>
                <a:latin typeface="Calibri"/>
                <a:ea typeface="Calibri"/>
                <a:cs typeface="Calibri"/>
                <a:sym typeface="Calibri"/>
              </a:rPr>
              <a:t>Regulators expect a hundred-year seal on abandoned wells and on cement that survives steam injection. Nobody can run a hundred-year test, so the case is built from mechanism, accelerated data and argument.</a:t>
            </a:r>
            <a:endParaRPr sz="1100">
              <a:solidFill>
                <a:schemeClr val="dk1"/>
              </a:solidFill>
              <a:latin typeface="Calibri"/>
              <a:ea typeface="Calibri"/>
              <a:cs typeface="Calibri"/>
              <a:sym typeface="Calibri"/>
            </a:endParaRPr>
          </a:p>
        </p:txBody>
      </p:sp>
      <p:sp>
        <p:nvSpPr>
          <p:cNvPr id="710" name="Google Shape;710;p40"/>
          <p:cNvSpPr/>
          <p:nvPr/>
        </p:nvSpPr>
        <p:spPr>
          <a:xfrm>
            <a:off x="445770" y="3566160"/>
            <a:ext cx="8215884" cy="960120"/>
          </a:xfrm>
          <a:prstGeom prst="roundRect">
            <a:avLst>
              <a:gd fmla="val 4286"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1" name="Google Shape;711;p40"/>
          <p:cNvSpPr/>
          <p:nvPr/>
        </p:nvSpPr>
        <p:spPr>
          <a:xfrm>
            <a:off x="692658" y="3717036"/>
            <a:ext cx="2263140" cy="48006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16333D"/>
              </a:buClr>
              <a:buSzPts val="1300"/>
              <a:buFont typeface="Cambria"/>
              <a:buNone/>
            </a:pPr>
            <a:r>
              <a:rPr b="1" lang="en" sz="1300">
                <a:solidFill>
                  <a:srgbClr val="16333D"/>
                </a:solidFill>
                <a:latin typeface="Cambria"/>
                <a:ea typeface="Cambria"/>
                <a:cs typeface="Cambria"/>
                <a:sym typeface="Cambria"/>
              </a:rPr>
              <a:t>How we handled the claim</a:t>
            </a:r>
            <a:endParaRPr sz="1300">
              <a:solidFill>
                <a:schemeClr val="dk1"/>
              </a:solidFill>
              <a:latin typeface="Calibri"/>
              <a:ea typeface="Calibri"/>
              <a:cs typeface="Calibri"/>
              <a:sym typeface="Calibri"/>
            </a:endParaRPr>
          </a:p>
        </p:txBody>
      </p:sp>
      <p:sp>
        <p:nvSpPr>
          <p:cNvPr id="712" name="Google Shape;712;p40"/>
          <p:cNvSpPr/>
          <p:nvPr/>
        </p:nvSpPr>
        <p:spPr>
          <a:xfrm>
            <a:off x="3120390" y="3703320"/>
            <a:ext cx="5417820" cy="72009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5E7480"/>
              </a:buClr>
              <a:buSzPts val="1000"/>
              <a:buFont typeface="Calibri"/>
              <a:buNone/>
            </a:pPr>
            <a:r>
              <a:rPr lang="en" sz="1000">
                <a:solidFill>
                  <a:srgbClr val="5E7480"/>
                </a:solidFill>
                <a:latin typeface="Calibri"/>
                <a:ea typeface="Calibri"/>
                <a:cs typeface="Calibri"/>
                <a:sym typeface="Calibri"/>
              </a:rPr>
              <a:t>We sent the paper to an outside cement expert before anyone commercial saw it. He said the approach is sound and the paper needed work. We are using his comments as the standard for the next one. For a hundred-year claim, the review is the product.</a:t>
            </a:r>
            <a:endParaRPr sz="1000">
              <a:solidFill>
                <a:schemeClr val="dk1"/>
              </a:solidFill>
              <a:latin typeface="Calibri"/>
              <a:ea typeface="Calibri"/>
              <a:cs typeface="Calibri"/>
              <a:sym typeface="Calibri"/>
            </a:endParaRPr>
          </a:p>
        </p:txBody>
      </p:sp>
      <p:sp>
        <p:nvSpPr>
          <p:cNvPr id="713" name="Google Shape;713;p40"/>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714" name="Google Shape;714;p40"/>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17</a:t>
            </a:r>
            <a:endParaRPr sz="700">
              <a:solidFill>
                <a:schemeClr val="dk1"/>
              </a:solidFill>
              <a:latin typeface="Calibri"/>
              <a:ea typeface="Calibri"/>
              <a:cs typeface="Calibri"/>
              <a:sym typeface="Calibri"/>
            </a:endParaRPr>
          </a:p>
        </p:txBody>
      </p:sp>
      <p:sp>
        <p:nvSpPr>
          <p:cNvPr id="715" name="Google Shape;715;p40"/>
          <p:cNvSpPr/>
          <p:nvPr/>
        </p:nvSpPr>
        <p:spPr>
          <a:xfrm>
            <a:off x="445775" y="1970900"/>
            <a:ext cx="2595000" cy="1376100"/>
          </a:xfrm>
          <a:prstGeom prst="rect">
            <a:avLst/>
          </a:prstGeom>
          <a:solidFill>
            <a:srgbClr val="FFFFFF"/>
          </a:solidFill>
          <a:ln>
            <a:noFill/>
          </a:ln>
        </p:spPr>
        <p:txBody>
          <a:bodyPr anchorCtr="0" anchor="ctr" bIns="45550" lIns="45550" spcFirstLastPara="1" rIns="45550" wrap="square" tIns="45550">
            <a:noAutofit/>
          </a:bodyPr>
          <a:lstStyle/>
          <a:p>
            <a:pPr indent="0" lvl="0" marL="0" rtl="0" algn="l">
              <a:spcBef>
                <a:spcPts val="0"/>
              </a:spcBef>
              <a:spcAft>
                <a:spcPts val="0"/>
              </a:spcAft>
              <a:buNone/>
            </a:pPr>
            <a:r>
              <a:t/>
            </a:r>
            <a:endParaRPr/>
          </a:p>
        </p:txBody>
      </p:sp>
      <p:sp>
        <p:nvSpPr>
          <p:cNvPr id="716" name="Google Shape;716;p40"/>
          <p:cNvSpPr/>
          <p:nvPr/>
        </p:nvSpPr>
        <p:spPr>
          <a:xfrm>
            <a:off x="445775" y="1970900"/>
            <a:ext cx="28500" cy="1376100"/>
          </a:xfrm>
          <a:prstGeom prst="rect">
            <a:avLst/>
          </a:prstGeom>
          <a:solidFill>
            <a:srgbClr val="9FB6BF"/>
          </a:solidFill>
          <a:ln>
            <a:noFill/>
          </a:ln>
        </p:spPr>
        <p:txBody>
          <a:bodyPr anchorCtr="0" anchor="ctr" bIns="45550" lIns="45550" spcFirstLastPara="1" rIns="45550" wrap="square" tIns="45550">
            <a:noAutofit/>
          </a:bodyPr>
          <a:lstStyle/>
          <a:p>
            <a:pPr indent="0" lvl="0" marL="0" rtl="0" algn="l">
              <a:spcBef>
                <a:spcPts val="0"/>
              </a:spcBef>
              <a:spcAft>
                <a:spcPts val="0"/>
              </a:spcAft>
              <a:buNone/>
            </a:pPr>
            <a:r>
              <a:t/>
            </a:r>
            <a:endParaRPr/>
          </a:p>
        </p:txBody>
      </p:sp>
      <p:sp>
        <p:nvSpPr>
          <p:cNvPr id="717" name="Google Shape;717;p40"/>
          <p:cNvSpPr/>
          <p:nvPr/>
        </p:nvSpPr>
        <p:spPr>
          <a:xfrm>
            <a:off x="645139" y="2141784"/>
            <a:ext cx="2447100" cy="230400"/>
          </a:xfrm>
          <a:prstGeom prst="rect">
            <a:avLst/>
          </a:prstGeom>
          <a:noFill/>
          <a:ln>
            <a:noFill/>
          </a:ln>
        </p:spPr>
        <p:txBody>
          <a:bodyPr anchorCtr="0" anchor="t" bIns="12675" lIns="12675" spcFirstLastPara="1" rIns="12675" wrap="square" tIns="12675">
            <a:noAutofit/>
          </a:bodyPr>
          <a:lstStyle/>
          <a:p>
            <a:pPr indent="0" lvl="0" marL="0" marR="0" rtl="0" algn="l">
              <a:spcBef>
                <a:spcPts val="0"/>
              </a:spcBef>
              <a:spcAft>
                <a:spcPts val="0"/>
              </a:spcAft>
              <a:buClr>
                <a:srgbClr val="16333D"/>
              </a:buClr>
              <a:buSzPts val="1271"/>
              <a:buFont typeface="IBM Plex Mono"/>
              <a:buNone/>
            </a:pPr>
            <a:r>
              <a:rPr b="0" i="0" lang="en" sz="1271" u="none" cap="none" strike="noStrike">
                <a:solidFill>
                  <a:srgbClr val="16333D"/>
                </a:solidFill>
                <a:latin typeface="IBM Plex Mono"/>
                <a:ea typeface="IBM Plex Mono"/>
                <a:cs typeface="IBM Plex Mono"/>
                <a:sym typeface="IBM Plex Mono"/>
              </a:rPr>
              <a:t>XL-100</a:t>
            </a:r>
            <a:endParaRPr b="0" i="0" sz="1271" u="none" cap="none" strike="noStrike">
              <a:solidFill>
                <a:srgbClr val="000000"/>
              </a:solidFill>
              <a:latin typeface="Calibri"/>
              <a:ea typeface="Calibri"/>
              <a:cs typeface="Calibri"/>
              <a:sym typeface="Calibri"/>
            </a:endParaRPr>
          </a:p>
        </p:txBody>
      </p:sp>
      <p:sp>
        <p:nvSpPr>
          <p:cNvPr id="718" name="Google Shape;718;p40"/>
          <p:cNvSpPr/>
          <p:nvPr/>
        </p:nvSpPr>
        <p:spPr>
          <a:xfrm>
            <a:off x="645139" y="2428963"/>
            <a:ext cx="2447100" cy="194700"/>
          </a:xfrm>
          <a:prstGeom prst="rect">
            <a:avLst/>
          </a:prstGeom>
          <a:noFill/>
          <a:ln>
            <a:noFill/>
          </a:ln>
        </p:spPr>
        <p:txBody>
          <a:bodyPr anchorCtr="0" anchor="t" bIns="12675" lIns="12675" spcFirstLastPara="1" rIns="12675" wrap="square" tIns="12675">
            <a:noAutofit/>
          </a:bodyPr>
          <a:lstStyle/>
          <a:p>
            <a:pPr indent="0" lvl="0" marL="0" marR="0" rtl="0" algn="l">
              <a:spcBef>
                <a:spcPts val="0"/>
              </a:spcBef>
              <a:spcAft>
                <a:spcPts val="0"/>
              </a:spcAft>
              <a:buClr>
                <a:srgbClr val="2E6F84"/>
              </a:buClr>
              <a:buSzPts val="972"/>
              <a:buFont typeface="Source Sans 3"/>
              <a:buNone/>
            </a:pPr>
            <a:r>
              <a:rPr b="1" i="0" lang="en" sz="972" u="none" cap="none" strike="noStrike">
                <a:solidFill>
                  <a:srgbClr val="2E6F84"/>
                </a:solidFill>
                <a:latin typeface="Source Sans 3"/>
                <a:ea typeface="Source Sans 3"/>
                <a:cs typeface="Source Sans 3"/>
                <a:sym typeface="Source Sans 3"/>
              </a:rPr>
              <a:t>Steam service</a:t>
            </a:r>
            <a:endParaRPr b="0" i="0" sz="972" u="none" cap="none" strike="noStrike">
              <a:solidFill>
                <a:srgbClr val="000000"/>
              </a:solidFill>
              <a:latin typeface="Calibri"/>
              <a:ea typeface="Calibri"/>
              <a:cs typeface="Calibri"/>
              <a:sym typeface="Calibri"/>
            </a:endParaRPr>
          </a:p>
        </p:txBody>
      </p:sp>
      <p:sp>
        <p:nvSpPr>
          <p:cNvPr id="719" name="Google Shape;719;p40"/>
          <p:cNvSpPr/>
          <p:nvPr/>
        </p:nvSpPr>
        <p:spPr>
          <a:xfrm>
            <a:off x="645139" y="2680542"/>
            <a:ext cx="2291400" cy="514500"/>
          </a:xfrm>
          <a:prstGeom prst="rect">
            <a:avLst/>
          </a:prstGeom>
          <a:noFill/>
          <a:ln>
            <a:noFill/>
          </a:ln>
        </p:spPr>
        <p:txBody>
          <a:bodyPr anchorCtr="0" anchor="t" bIns="12675" lIns="12675" spcFirstLastPara="1" rIns="12675" wrap="square" tIns="12675">
            <a:noAutofit/>
          </a:bodyPr>
          <a:lstStyle/>
          <a:p>
            <a:pPr indent="0" lvl="0" marL="0" marR="0" rtl="0" algn="l">
              <a:lnSpc>
                <a:spcPct val="102353"/>
              </a:lnSpc>
              <a:spcBef>
                <a:spcPts val="0"/>
              </a:spcBef>
              <a:spcAft>
                <a:spcPts val="0"/>
              </a:spcAft>
              <a:buClr>
                <a:srgbClr val="5E7480"/>
              </a:buClr>
              <a:buSzPts val="897"/>
              <a:buFont typeface="Source Sans 3"/>
              <a:buNone/>
            </a:pPr>
            <a:r>
              <a:rPr b="0" i="0" lang="en" sz="897" u="none" cap="none" strike="noStrike">
                <a:solidFill>
                  <a:srgbClr val="5E7480"/>
                </a:solidFill>
                <a:latin typeface="Source Sans 3"/>
                <a:ea typeface="Source Sans 3"/>
                <a:cs typeface="Source Sans 3"/>
                <a:sym typeface="Source Sans 3"/>
              </a:rPr>
              <a:t>Xonotlite-targeting, lightened with glass microspheres. For sheath service at sustained high temperature.</a:t>
            </a:r>
            <a:endParaRPr b="0" i="0" sz="897" u="none" cap="none" strike="noStrike">
              <a:solidFill>
                <a:srgbClr val="000000"/>
              </a:solidFill>
              <a:latin typeface="Calibri"/>
              <a:ea typeface="Calibri"/>
              <a:cs typeface="Calibri"/>
              <a:sym typeface="Calibri"/>
            </a:endParaRPr>
          </a:p>
        </p:txBody>
      </p:sp>
      <p:sp>
        <p:nvSpPr>
          <p:cNvPr id="720" name="Google Shape;720;p40"/>
          <p:cNvSpPr/>
          <p:nvPr/>
        </p:nvSpPr>
        <p:spPr>
          <a:xfrm>
            <a:off x="3230533" y="1970900"/>
            <a:ext cx="2595000" cy="1376100"/>
          </a:xfrm>
          <a:prstGeom prst="rect">
            <a:avLst/>
          </a:prstGeom>
          <a:solidFill>
            <a:srgbClr val="FFFFFF"/>
          </a:solidFill>
          <a:ln>
            <a:noFill/>
          </a:ln>
        </p:spPr>
        <p:txBody>
          <a:bodyPr anchorCtr="0" anchor="ctr" bIns="45550" lIns="45550" spcFirstLastPara="1" rIns="45550" wrap="square" tIns="45550">
            <a:noAutofit/>
          </a:bodyPr>
          <a:lstStyle/>
          <a:p>
            <a:pPr indent="0" lvl="0" marL="0" rtl="0" algn="l">
              <a:spcBef>
                <a:spcPts val="0"/>
              </a:spcBef>
              <a:spcAft>
                <a:spcPts val="0"/>
              </a:spcAft>
              <a:buNone/>
            </a:pPr>
            <a:r>
              <a:t/>
            </a:r>
            <a:endParaRPr/>
          </a:p>
        </p:txBody>
      </p:sp>
      <p:sp>
        <p:nvSpPr>
          <p:cNvPr id="721" name="Google Shape;721;p40"/>
          <p:cNvSpPr/>
          <p:nvPr/>
        </p:nvSpPr>
        <p:spPr>
          <a:xfrm>
            <a:off x="3230533" y="1970900"/>
            <a:ext cx="28500" cy="1376100"/>
          </a:xfrm>
          <a:prstGeom prst="rect">
            <a:avLst/>
          </a:prstGeom>
          <a:solidFill>
            <a:srgbClr val="9FB6BF"/>
          </a:solidFill>
          <a:ln>
            <a:noFill/>
          </a:ln>
        </p:spPr>
        <p:txBody>
          <a:bodyPr anchorCtr="0" anchor="ctr" bIns="45550" lIns="45550" spcFirstLastPara="1" rIns="45550" wrap="square" tIns="45550">
            <a:noAutofit/>
          </a:bodyPr>
          <a:lstStyle/>
          <a:p>
            <a:pPr indent="0" lvl="0" marL="0" rtl="0" algn="l">
              <a:spcBef>
                <a:spcPts val="0"/>
              </a:spcBef>
              <a:spcAft>
                <a:spcPts val="0"/>
              </a:spcAft>
              <a:buNone/>
            </a:pPr>
            <a:r>
              <a:t/>
            </a:r>
            <a:endParaRPr/>
          </a:p>
        </p:txBody>
      </p:sp>
      <p:sp>
        <p:nvSpPr>
          <p:cNvPr id="722" name="Google Shape;722;p40"/>
          <p:cNvSpPr/>
          <p:nvPr/>
        </p:nvSpPr>
        <p:spPr>
          <a:xfrm>
            <a:off x="3429897" y="2141784"/>
            <a:ext cx="2447100" cy="230400"/>
          </a:xfrm>
          <a:prstGeom prst="rect">
            <a:avLst/>
          </a:prstGeom>
          <a:noFill/>
          <a:ln>
            <a:noFill/>
          </a:ln>
        </p:spPr>
        <p:txBody>
          <a:bodyPr anchorCtr="0" anchor="t" bIns="12675" lIns="12675" spcFirstLastPara="1" rIns="12675" wrap="square" tIns="12675">
            <a:noAutofit/>
          </a:bodyPr>
          <a:lstStyle/>
          <a:p>
            <a:pPr indent="0" lvl="0" marL="0" marR="0" rtl="0" algn="l">
              <a:spcBef>
                <a:spcPts val="0"/>
              </a:spcBef>
              <a:spcAft>
                <a:spcPts val="0"/>
              </a:spcAft>
              <a:buClr>
                <a:srgbClr val="16333D"/>
              </a:buClr>
              <a:buSzPts val="1271"/>
              <a:buFont typeface="IBM Plex Mono"/>
              <a:buNone/>
            </a:pPr>
            <a:r>
              <a:rPr b="0" i="0" lang="en" sz="1271" u="none" cap="none" strike="noStrike">
                <a:solidFill>
                  <a:srgbClr val="16333D"/>
                </a:solidFill>
                <a:latin typeface="IBM Plex Mono"/>
                <a:ea typeface="IBM Plex Mono"/>
                <a:cs typeface="IBM Plex Mono"/>
                <a:sym typeface="IBM Plex Mono"/>
              </a:rPr>
              <a:t>RCH-200</a:t>
            </a:r>
            <a:endParaRPr b="0" i="0" sz="1271" u="none" cap="none" strike="noStrike">
              <a:solidFill>
                <a:srgbClr val="000000"/>
              </a:solidFill>
              <a:latin typeface="Calibri"/>
              <a:ea typeface="Calibri"/>
              <a:cs typeface="Calibri"/>
              <a:sym typeface="Calibri"/>
            </a:endParaRPr>
          </a:p>
        </p:txBody>
      </p:sp>
      <p:sp>
        <p:nvSpPr>
          <p:cNvPr id="723" name="Google Shape;723;p40"/>
          <p:cNvSpPr/>
          <p:nvPr/>
        </p:nvSpPr>
        <p:spPr>
          <a:xfrm>
            <a:off x="3429897" y="2428963"/>
            <a:ext cx="2447100" cy="194700"/>
          </a:xfrm>
          <a:prstGeom prst="rect">
            <a:avLst/>
          </a:prstGeom>
          <a:noFill/>
          <a:ln>
            <a:noFill/>
          </a:ln>
        </p:spPr>
        <p:txBody>
          <a:bodyPr anchorCtr="0" anchor="t" bIns="12675" lIns="12675" spcFirstLastPara="1" rIns="12675" wrap="square" tIns="12675">
            <a:noAutofit/>
          </a:bodyPr>
          <a:lstStyle/>
          <a:p>
            <a:pPr indent="0" lvl="0" marL="0" marR="0" rtl="0" algn="l">
              <a:spcBef>
                <a:spcPts val="0"/>
              </a:spcBef>
              <a:spcAft>
                <a:spcPts val="0"/>
              </a:spcAft>
              <a:buClr>
                <a:srgbClr val="2E6F84"/>
              </a:buClr>
              <a:buSzPts val="972"/>
              <a:buFont typeface="Source Sans 3"/>
              <a:buNone/>
            </a:pPr>
            <a:r>
              <a:rPr b="1" i="0" lang="en" sz="972" u="none" cap="none" strike="noStrike">
                <a:solidFill>
                  <a:srgbClr val="2E6F84"/>
                </a:solidFill>
                <a:latin typeface="Source Sans 3"/>
                <a:ea typeface="Source Sans 3"/>
                <a:cs typeface="Source Sans 3"/>
                <a:sym typeface="Source Sans 3"/>
              </a:rPr>
              <a:t>Self-healing</a:t>
            </a:r>
            <a:endParaRPr b="0" i="0" sz="972" u="none" cap="none" strike="noStrike">
              <a:solidFill>
                <a:srgbClr val="000000"/>
              </a:solidFill>
              <a:latin typeface="Calibri"/>
              <a:ea typeface="Calibri"/>
              <a:cs typeface="Calibri"/>
              <a:sym typeface="Calibri"/>
            </a:endParaRPr>
          </a:p>
        </p:txBody>
      </p:sp>
      <p:sp>
        <p:nvSpPr>
          <p:cNvPr id="724" name="Google Shape;724;p40"/>
          <p:cNvSpPr/>
          <p:nvPr/>
        </p:nvSpPr>
        <p:spPr>
          <a:xfrm>
            <a:off x="3429897" y="2680542"/>
            <a:ext cx="2291400" cy="349500"/>
          </a:xfrm>
          <a:prstGeom prst="rect">
            <a:avLst/>
          </a:prstGeom>
          <a:noFill/>
          <a:ln>
            <a:noFill/>
          </a:ln>
        </p:spPr>
        <p:txBody>
          <a:bodyPr anchorCtr="0" anchor="t" bIns="12675" lIns="12675" spcFirstLastPara="1" rIns="12675" wrap="square" tIns="12675">
            <a:noAutofit/>
          </a:bodyPr>
          <a:lstStyle/>
          <a:p>
            <a:pPr indent="0" lvl="0" marL="0" marR="0" rtl="0" algn="l">
              <a:lnSpc>
                <a:spcPct val="102353"/>
              </a:lnSpc>
              <a:spcBef>
                <a:spcPts val="0"/>
              </a:spcBef>
              <a:spcAft>
                <a:spcPts val="0"/>
              </a:spcAft>
              <a:buClr>
                <a:srgbClr val="5E7480"/>
              </a:buClr>
              <a:buSzPts val="897"/>
              <a:buFont typeface="Source Sans 3"/>
              <a:buNone/>
            </a:pPr>
            <a:r>
              <a:rPr b="0" i="0" lang="en" sz="897" u="none" cap="none" strike="noStrike">
                <a:solidFill>
                  <a:srgbClr val="5E7480"/>
                </a:solidFill>
                <a:latin typeface="Source Sans 3"/>
                <a:ea typeface="Source Sans 3"/>
                <a:cs typeface="Source Sans 3"/>
                <a:sym typeface="Source Sans 3"/>
              </a:rPr>
              <a:t>For severe thermal cycling and squeeze work, where the seal has to recover after it cracks.</a:t>
            </a:r>
            <a:endParaRPr b="0" i="0" sz="897" u="none" cap="none" strike="noStrike">
              <a:solidFill>
                <a:srgbClr val="000000"/>
              </a:solidFill>
              <a:latin typeface="Calibri"/>
              <a:ea typeface="Calibri"/>
              <a:cs typeface="Calibri"/>
              <a:sym typeface="Calibri"/>
            </a:endParaRPr>
          </a:p>
        </p:txBody>
      </p:sp>
      <p:sp>
        <p:nvSpPr>
          <p:cNvPr id="725" name="Google Shape;725;p40"/>
          <p:cNvSpPr/>
          <p:nvPr/>
        </p:nvSpPr>
        <p:spPr>
          <a:xfrm>
            <a:off x="6015290" y="1970900"/>
            <a:ext cx="2595000" cy="1376100"/>
          </a:xfrm>
          <a:prstGeom prst="rect">
            <a:avLst/>
          </a:prstGeom>
          <a:solidFill>
            <a:srgbClr val="FFFFFF"/>
          </a:solidFill>
          <a:ln>
            <a:noFill/>
          </a:ln>
        </p:spPr>
        <p:txBody>
          <a:bodyPr anchorCtr="0" anchor="ctr" bIns="45550" lIns="45550" spcFirstLastPara="1" rIns="45550" wrap="square" tIns="45550">
            <a:noAutofit/>
          </a:bodyPr>
          <a:lstStyle/>
          <a:p>
            <a:pPr indent="0" lvl="0" marL="0" rtl="0" algn="l">
              <a:spcBef>
                <a:spcPts val="0"/>
              </a:spcBef>
              <a:spcAft>
                <a:spcPts val="0"/>
              </a:spcAft>
              <a:buNone/>
            </a:pPr>
            <a:r>
              <a:t/>
            </a:r>
            <a:endParaRPr/>
          </a:p>
        </p:txBody>
      </p:sp>
      <p:sp>
        <p:nvSpPr>
          <p:cNvPr id="726" name="Google Shape;726;p40"/>
          <p:cNvSpPr/>
          <p:nvPr/>
        </p:nvSpPr>
        <p:spPr>
          <a:xfrm>
            <a:off x="6015290" y="1970900"/>
            <a:ext cx="28500" cy="1376100"/>
          </a:xfrm>
          <a:prstGeom prst="rect">
            <a:avLst/>
          </a:prstGeom>
          <a:solidFill>
            <a:srgbClr val="C25A1E"/>
          </a:solidFill>
          <a:ln>
            <a:noFill/>
          </a:ln>
        </p:spPr>
        <p:txBody>
          <a:bodyPr anchorCtr="0" anchor="ctr" bIns="45550" lIns="45550" spcFirstLastPara="1" rIns="45550" wrap="square" tIns="45550">
            <a:noAutofit/>
          </a:bodyPr>
          <a:lstStyle/>
          <a:p>
            <a:pPr indent="0" lvl="0" marL="0" rtl="0" algn="l">
              <a:spcBef>
                <a:spcPts val="0"/>
              </a:spcBef>
              <a:spcAft>
                <a:spcPts val="0"/>
              </a:spcAft>
              <a:buNone/>
            </a:pPr>
            <a:r>
              <a:t/>
            </a:r>
            <a:endParaRPr/>
          </a:p>
        </p:txBody>
      </p:sp>
      <p:sp>
        <p:nvSpPr>
          <p:cNvPr id="727" name="Google Shape;727;p40"/>
          <p:cNvSpPr/>
          <p:nvPr/>
        </p:nvSpPr>
        <p:spPr>
          <a:xfrm>
            <a:off x="6214654" y="2141784"/>
            <a:ext cx="2447100" cy="230400"/>
          </a:xfrm>
          <a:prstGeom prst="rect">
            <a:avLst/>
          </a:prstGeom>
          <a:noFill/>
          <a:ln>
            <a:noFill/>
          </a:ln>
        </p:spPr>
        <p:txBody>
          <a:bodyPr anchorCtr="0" anchor="t" bIns="12675" lIns="12675" spcFirstLastPara="1" rIns="12675" wrap="square" tIns="12675">
            <a:noAutofit/>
          </a:bodyPr>
          <a:lstStyle/>
          <a:p>
            <a:pPr indent="0" lvl="0" marL="0" marR="0" rtl="0" algn="l">
              <a:spcBef>
                <a:spcPts val="0"/>
              </a:spcBef>
              <a:spcAft>
                <a:spcPts val="0"/>
              </a:spcAft>
              <a:buClr>
                <a:srgbClr val="16333D"/>
              </a:buClr>
              <a:buSzPts val="1271"/>
              <a:buFont typeface="IBM Plex Mono"/>
              <a:buNone/>
            </a:pPr>
            <a:r>
              <a:rPr b="0" i="0" lang="en" sz="1271" u="none" cap="none" strike="noStrike">
                <a:solidFill>
                  <a:srgbClr val="16333D"/>
                </a:solidFill>
                <a:latin typeface="IBM Plex Mono"/>
                <a:ea typeface="IBM Plex Mono"/>
                <a:cs typeface="IBM Plex Mono"/>
                <a:sym typeface="IBM Plex Mono"/>
              </a:rPr>
              <a:t>CAP-L-300</a:t>
            </a:r>
            <a:endParaRPr b="0" i="0" sz="1271" u="none" cap="none" strike="noStrike">
              <a:solidFill>
                <a:srgbClr val="000000"/>
              </a:solidFill>
              <a:latin typeface="Calibri"/>
              <a:ea typeface="Calibri"/>
              <a:cs typeface="Calibri"/>
              <a:sym typeface="Calibri"/>
            </a:endParaRPr>
          </a:p>
        </p:txBody>
      </p:sp>
      <p:sp>
        <p:nvSpPr>
          <p:cNvPr id="728" name="Google Shape;728;p40"/>
          <p:cNvSpPr/>
          <p:nvPr/>
        </p:nvSpPr>
        <p:spPr>
          <a:xfrm>
            <a:off x="6214654" y="2428963"/>
            <a:ext cx="2447100" cy="194700"/>
          </a:xfrm>
          <a:prstGeom prst="rect">
            <a:avLst/>
          </a:prstGeom>
          <a:noFill/>
          <a:ln>
            <a:noFill/>
          </a:ln>
        </p:spPr>
        <p:txBody>
          <a:bodyPr anchorCtr="0" anchor="t" bIns="12675" lIns="12675" spcFirstLastPara="1" rIns="12675" wrap="square" tIns="12675">
            <a:noAutofit/>
          </a:bodyPr>
          <a:lstStyle/>
          <a:p>
            <a:pPr indent="0" lvl="0" marL="0" marR="0" rtl="0" algn="l">
              <a:spcBef>
                <a:spcPts val="0"/>
              </a:spcBef>
              <a:spcAft>
                <a:spcPts val="0"/>
              </a:spcAft>
              <a:buClr>
                <a:srgbClr val="C25A1E"/>
              </a:buClr>
              <a:buSzPts val="972"/>
              <a:buFont typeface="Source Sans 3"/>
              <a:buNone/>
            </a:pPr>
            <a:r>
              <a:rPr b="1" i="0" lang="en" sz="972" u="none" cap="none" strike="noStrike">
                <a:solidFill>
                  <a:srgbClr val="C25A1E"/>
                </a:solidFill>
                <a:latin typeface="Source Sans 3"/>
                <a:ea typeface="Source Sans 3"/>
                <a:cs typeface="Source Sans 3"/>
                <a:sym typeface="Source Sans 3"/>
              </a:rPr>
              <a:t>Abandonment plugs · recommended</a:t>
            </a:r>
            <a:endParaRPr b="0" i="0" sz="972" u="none" cap="none" strike="noStrike">
              <a:solidFill>
                <a:srgbClr val="000000"/>
              </a:solidFill>
              <a:latin typeface="Calibri"/>
              <a:ea typeface="Calibri"/>
              <a:cs typeface="Calibri"/>
              <a:sym typeface="Calibri"/>
            </a:endParaRPr>
          </a:p>
        </p:txBody>
      </p:sp>
      <p:sp>
        <p:nvSpPr>
          <p:cNvPr id="729" name="Google Shape;729;p40"/>
          <p:cNvSpPr/>
          <p:nvPr/>
        </p:nvSpPr>
        <p:spPr>
          <a:xfrm>
            <a:off x="6214654" y="2680542"/>
            <a:ext cx="2291400" cy="349500"/>
          </a:xfrm>
          <a:prstGeom prst="rect">
            <a:avLst/>
          </a:prstGeom>
          <a:noFill/>
          <a:ln>
            <a:noFill/>
          </a:ln>
        </p:spPr>
        <p:txBody>
          <a:bodyPr anchorCtr="0" anchor="t" bIns="12675" lIns="12675" spcFirstLastPara="1" rIns="12675" wrap="square" tIns="12675">
            <a:noAutofit/>
          </a:bodyPr>
          <a:lstStyle/>
          <a:p>
            <a:pPr indent="0" lvl="0" marL="0" marR="0" rtl="0" algn="l">
              <a:lnSpc>
                <a:spcPct val="102353"/>
              </a:lnSpc>
              <a:spcBef>
                <a:spcPts val="0"/>
              </a:spcBef>
              <a:spcAft>
                <a:spcPts val="0"/>
              </a:spcAft>
              <a:buClr>
                <a:srgbClr val="5E7480"/>
              </a:buClr>
              <a:buSzPts val="897"/>
              <a:buFont typeface="Source Sans 3"/>
              <a:buNone/>
            </a:pPr>
            <a:r>
              <a:rPr b="0" i="0" lang="en" sz="897" u="none" cap="none" strike="noStrike">
                <a:solidFill>
                  <a:srgbClr val="5E7480"/>
                </a:solidFill>
                <a:latin typeface="Source Sans 3"/>
                <a:ea typeface="Source Sans 3"/>
                <a:cs typeface="Source Sans 3"/>
                <a:sym typeface="Source Sans 3"/>
              </a:rPr>
              <a:t>Calcium-aluminate-phosphate. Our recommended candidate for permanent plugs.</a:t>
            </a:r>
            <a:endParaRPr b="0" i="0" sz="897" u="none" cap="none" strike="noStrike">
              <a:solidFill>
                <a:srgbClr val="000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B2430"/>
        </a:solidFill>
      </p:bgPr>
    </p:bg>
    <p:spTree>
      <p:nvGrpSpPr>
        <p:cNvPr id="734" name="Shape 734"/>
        <p:cNvGrpSpPr/>
        <p:nvPr/>
      </p:nvGrpSpPr>
      <p:grpSpPr>
        <a:xfrm>
          <a:off x="0" y="0"/>
          <a:ext cx="0" cy="0"/>
          <a:chOff x="0" y="0"/>
          <a:chExt cx="0" cy="0"/>
        </a:xfrm>
      </p:grpSpPr>
      <p:sp>
        <p:nvSpPr>
          <p:cNvPr id="735" name="Google Shape;735;p41"/>
          <p:cNvSpPr/>
          <p:nvPr/>
        </p:nvSpPr>
        <p:spPr>
          <a:xfrm>
            <a:off x="445770" y="2057400"/>
            <a:ext cx="54864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A578"/>
              </a:buClr>
              <a:buSzPts val="1000"/>
              <a:buFont typeface="Calibri"/>
              <a:buNone/>
            </a:pPr>
            <a:r>
              <a:rPr b="1" lang="en" sz="1000">
                <a:solidFill>
                  <a:srgbClr val="E8A578"/>
                </a:solidFill>
                <a:latin typeface="Calibri"/>
                <a:ea typeface="Calibri"/>
                <a:cs typeface="Calibri"/>
                <a:sym typeface="Calibri"/>
              </a:rPr>
              <a:t>APPENDIX</a:t>
            </a:r>
            <a:endParaRPr sz="1000">
              <a:solidFill>
                <a:schemeClr val="dk1"/>
              </a:solidFill>
              <a:latin typeface="Calibri"/>
              <a:ea typeface="Calibri"/>
              <a:cs typeface="Calibri"/>
              <a:sym typeface="Calibri"/>
            </a:endParaRPr>
          </a:p>
        </p:txBody>
      </p:sp>
      <p:sp>
        <p:nvSpPr>
          <p:cNvPr id="736" name="Google Shape;736;p41"/>
          <p:cNvSpPr/>
          <p:nvPr/>
        </p:nvSpPr>
        <p:spPr>
          <a:xfrm>
            <a:off x="445770" y="2366010"/>
            <a:ext cx="685800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 sz="3000">
                <a:solidFill>
                  <a:srgbClr val="FFFFFF"/>
                </a:solidFill>
                <a:latin typeface="Cambria"/>
                <a:ea typeface="Cambria"/>
                <a:cs typeface="Cambria"/>
                <a:sym typeface="Cambria"/>
              </a:rPr>
              <a:t>For the chemists in the room</a:t>
            </a:r>
            <a:endParaRPr sz="3000">
              <a:solidFill>
                <a:schemeClr val="dk1"/>
              </a:solidFill>
              <a:latin typeface="Calibri"/>
              <a:ea typeface="Calibri"/>
              <a:cs typeface="Calibri"/>
              <a:sym typeface="Calibri"/>
            </a:endParaRPr>
          </a:p>
        </p:txBody>
      </p:sp>
      <p:sp>
        <p:nvSpPr>
          <p:cNvPr id="737" name="Google Shape;737;p41"/>
          <p:cNvSpPr/>
          <p:nvPr/>
        </p:nvSpPr>
        <p:spPr>
          <a:xfrm>
            <a:off x="445770" y="3051810"/>
            <a:ext cx="7200900" cy="411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FA9B8"/>
              </a:buClr>
              <a:buSzPts val="1100"/>
              <a:buFont typeface="Calibri"/>
              <a:buNone/>
            </a:pPr>
            <a:r>
              <a:rPr lang="en" sz="1100">
                <a:solidFill>
                  <a:srgbClr val="7FA9B8"/>
                </a:solidFill>
                <a:latin typeface="Calibri"/>
                <a:ea typeface="Calibri"/>
                <a:cs typeface="Calibri"/>
                <a:sym typeface="Calibri"/>
              </a:rPr>
              <a:t>Benchmark detail with test methods and sample sizes. How we grade our own evidence. Data and rights.</a:t>
            </a:r>
            <a:endParaRPr sz="1100">
              <a:solidFill>
                <a:schemeClr val="dk1"/>
              </a:solidFill>
              <a:latin typeface="Calibri"/>
              <a:ea typeface="Calibri"/>
              <a:cs typeface="Calibri"/>
              <a:sym typeface="Calibri"/>
            </a:endParaRPr>
          </a:p>
        </p:txBody>
      </p:sp>
      <p:sp>
        <p:nvSpPr>
          <p:cNvPr id="738" name="Google Shape;738;p41"/>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FB6BF"/>
              </a:buClr>
              <a:buSzPts val="700"/>
              <a:buFont typeface="Calibri"/>
              <a:buNone/>
            </a:pPr>
            <a:r>
              <a:rPr lang="en" sz="700">
                <a:solidFill>
                  <a:srgbClr val="9FB6BF"/>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739" name="Google Shape;739;p41"/>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9FB6BF"/>
              </a:buClr>
              <a:buSzPts val="700"/>
              <a:buFont typeface="Calibri"/>
              <a:buNone/>
            </a:pPr>
            <a:r>
              <a:rPr lang="en" sz="700">
                <a:solidFill>
                  <a:srgbClr val="9FB6BF"/>
                </a:solidFill>
                <a:latin typeface="Calibri"/>
                <a:ea typeface="Calibri"/>
                <a:cs typeface="Calibri"/>
                <a:sym typeface="Calibri"/>
              </a:rPr>
              <a:t>26</a:t>
            </a:r>
            <a:endParaRPr sz="7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744" name="Shape 744"/>
        <p:cNvGrpSpPr/>
        <p:nvPr/>
      </p:nvGrpSpPr>
      <p:grpSpPr>
        <a:xfrm>
          <a:off x="0" y="0"/>
          <a:ext cx="0" cy="0"/>
          <a:chOff x="0" y="0"/>
          <a:chExt cx="0" cy="0"/>
        </a:xfrm>
      </p:grpSpPr>
      <p:sp>
        <p:nvSpPr>
          <p:cNvPr id="745" name="Google Shape;745;p42"/>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APPENDIX A</a:t>
            </a:r>
            <a:endParaRPr sz="800">
              <a:solidFill>
                <a:schemeClr val="dk1"/>
              </a:solidFill>
              <a:latin typeface="Calibri"/>
              <a:ea typeface="Calibri"/>
              <a:cs typeface="Calibri"/>
              <a:sym typeface="Calibri"/>
            </a:endParaRPr>
          </a:p>
        </p:txBody>
      </p:sp>
      <p:sp>
        <p:nvSpPr>
          <p:cNvPr id="746" name="Google Shape;746;p42"/>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300"/>
              <a:buFont typeface="Cambria"/>
              <a:buNone/>
            </a:pPr>
            <a:r>
              <a:rPr b="1" lang="en" sz="2300">
                <a:solidFill>
                  <a:srgbClr val="16333D"/>
                </a:solidFill>
                <a:latin typeface="Cambria"/>
                <a:ea typeface="Cambria"/>
                <a:cs typeface="Cambria"/>
                <a:sym typeface="Cambria"/>
              </a:rPr>
              <a:t>Benchmark detail.</a:t>
            </a:r>
            <a:endParaRPr sz="2300">
              <a:solidFill>
                <a:schemeClr val="dk1"/>
              </a:solidFill>
              <a:latin typeface="Calibri"/>
              <a:ea typeface="Calibri"/>
              <a:cs typeface="Calibri"/>
              <a:sym typeface="Calibri"/>
            </a:endParaRPr>
          </a:p>
        </p:txBody>
      </p:sp>
      <p:graphicFrame>
        <p:nvGraphicFramePr>
          <p:cNvPr id="747" name="Google Shape;747;p42"/>
          <p:cNvGraphicFramePr/>
          <p:nvPr/>
        </p:nvGraphicFramePr>
        <p:xfrm>
          <a:off x="445770" y="1165860"/>
          <a:ext cx="3000000" cy="3000000"/>
        </p:xfrm>
        <a:graphic>
          <a:graphicData uri="http://schemas.openxmlformats.org/drawingml/2006/table">
            <a:tbl>
              <a:tblPr>
                <a:noFill/>
                <a:tableStyleId>{51D070C2-8BC2-47F4-A555-C5E1C00899C6}</a:tableStyleId>
              </a:tblPr>
              <a:tblGrid>
                <a:gridCol w="1543050"/>
                <a:gridCol w="1131550"/>
                <a:gridCol w="1851650"/>
                <a:gridCol w="1028700"/>
                <a:gridCol w="788650"/>
                <a:gridCol w="1872225"/>
              </a:tblGrid>
              <a:tr h="301725">
                <a:tc>
                  <a:txBody>
                    <a:bodyPr/>
                    <a:lstStyle/>
                    <a:p>
                      <a:pPr indent="0" lvl="0" marL="0" marR="0" rtl="0" algn="l">
                        <a:spcBef>
                          <a:spcPts val="0"/>
                        </a:spcBef>
                        <a:spcAft>
                          <a:spcPts val="0"/>
                        </a:spcAft>
                        <a:buClr>
                          <a:srgbClr val="FFFFFF"/>
                        </a:buClr>
                        <a:buSzPts val="800"/>
                        <a:buFont typeface="Calibri"/>
                        <a:buNone/>
                      </a:pPr>
                      <a:r>
                        <a:rPr b="1" lang="en" sz="800" u="none" cap="none" strike="noStrike">
                          <a:solidFill>
                            <a:srgbClr val="FFFFFF"/>
                          </a:solidFill>
                          <a:latin typeface="Calibri"/>
                          <a:ea typeface="Calibri"/>
                          <a:cs typeface="Calibri"/>
                          <a:sym typeface="Calibri"/>
                        </a:rPr>
                        <a:t>Property</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0B2430"/>
                    </a:solidFill>
                  </a:tcPr>
                </a:tc>
                <a:tc>
                  <a:txBody>
                    <a:bodyPr/>
                    <a:lstStyle/>
                    <a:p>
                      <a:pPr indent="0" lvl="0" marL="0" marR="0" rtl="0" algn="l">
                        <a:spcBef>
                          <a:spcPts val="0"/>
                        </a:spcBef>
                        <a:spcAft>
                          <a:spcPts val="0"/>
                        </a:spcAft>
                        <a:buClr>
                          <a:srgbClr val="FFFFFF"/>
                        </a:buClr>
                        <a:buSzPts val="800"/>
                        <a:buFont typeface="Calibri"/>
                        <a:buNone/>
                      </a:pPr>
                      <a:r>
                        <a:rPr b="1" lang="en" sz="800" u="none" cap="none" strike="noStrike">
                          <a:solidFill>
                            <a:srgbClr val="FFFFFF"/>
                          </a:solidFill>
                          <a:latin typeface="Calibri"/>
                          <a:ea typeface="Calibri"/>
                          <a:cs typeface="Calibri"/>
                          <a:sym typeface="Calibri"/>
                        </a:rPr>
                        <a:t>Ours</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0B2430"/>
                    </a:solidFill>
                  </a:tcPr>
                </a:tc>
                <a:tc>
                  <a:txBody>
                    <a:bodyPr/>
                    <a:lstStyle/>
                    <a:p>
                      <a:pPr indent="0" lvl="0" marL="0" marR="0" rtl="0" algn="l">
                        <a:spcBef>
                          <a:spcPts val="0"/>
                        </a:spcBef>
                        <a:spcAft>
                          <a:spcPts val="0"/>
                        </a:spcAft>
                        <a:buClr>
                          <a:srgbClr val="FFFFFF"/>
                        </a:buClr>
                        <a:buSzPts val="800"/>
                        <a:buFont typeface="Calibri"/>
                        <a:buNone/>
                      </a:pPr>
                      <a:r>
                        <a:rPr b="1" lang="en" sz="800" u="none" cap="none" strike="noStrike">
                          <a:solidFill>
                            <a:srgbClr val="FFFFFF"/>
                          </a:solidFill>
                          <a:latin typeface="Calibri"/>
                          <a:ea typeface="Calibri"/>
                          <a:cs typeface="Calibri"/>
                          <a:sym typeface="Calibri"/>
                        </a:rPr>
                        <a:t>Published baseline</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0B2430"/>
                    </a:solidFill>
                  </a:tcPr>
                </a:tc>
                <a:tc>
                  <a:txBody>
                    <a:bodyPr/>
                    <a:lstStyle/>
                    <a:p>
                      <a:pPr indent="0" lvl="0" marL="0" marR="0" rtl="0" algn="l">
                        <a:spcBef>
                          <a:spcPts val="0"/>
                        </a:spcBef>
                        <a:spcAft>
                          <a:spcPts val="0"/>
                        </a:spcAft>
                        <a:buClr>
                          <a:srgbClr val="FFFFFF"/>
                        </a:buClr>
                        <a:buSzPts val="800"/>
                        <a:buFont typeface="Calibri"/>
                        <a:buNone/>
                      </a:pPr>
                      <a:r>
                        <a:rPr b="1" lang="en" sz="800" u="none" cap="none" strike="noStrike">
                          <a:solidFill>
                            <a:srgbClr val="FFFFFF"/>
                          </a:solidFill>
                          <a:latin typeface="Calibri"/>
                          <a:ea typeface="Calibri"/>
                          <a:cs typeface="Calibri"/>
                          <a:sym typeface="Calibri"/>
                        </a:rPr>
                        <a:t>Baseline</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0B2430"/>
                    </a:solidFill>
                  </a:tcPr>
                </a:tc>
                <a:tc>
                  <a:txBody>
                    <a:bodyPr/>
                    <a:lstStyle/>
                    <a:p>
                      <a:pPr indent="0" lvl="0" marL="0" marR="0" rtl="0" algn="l">
                        <a:spcBef>
                          <a:spcPts val="0"/>
                        </a:spcBef>
                        <a:spcAft>
                          <a:spcPts val="0"/>
                        </a:spcAft>
                        <a:buClr>
                          <a:srgbClr val="FFFFFF"/>
                        </a:buClr>
                        <a:buSzPts val="800"/>
                        <a:buFont typeface="Calibri"/>
                        <a:buNone/>
                      </a:pPr>
                      <a:r>
                        <a:rPr b="1" lang="en" sz="800" u="none" cap="none" strike="noStrike">
                          <a:solidFill>
                            <a:srgbClr val="FFFFFF"/>
                          </a:solidFill>
                          <a:latin typeface="Calibri"/>
                          <a:ea typeface="Calibri"/>
                          <a:cs typeface="Calibri"/>
                          <a:sym typeface="Calibri"/>
                        </a:rPr>
                        <a:t>Change</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0B2430"/>
                    </a:solidFill>
                  </a:tcPr>
                </a:tc>
                <a:tc>
                  <a:txBody>
                    <a:bodyPr/>
                    <a:lstStyle/>
                    <a:p>
                      <a:pPr indent="0" lvl="0" marL="0" marR="0" rtl="0" algn="l">
                        <a:spcBef>
                          <a:spcPts val="0"/>
                        </a:spcBef>
                        <a:spcAft>
                          <a:spcPts val="0"/>
                        </a:spcAft>
                        <a:buClr>
                          <a:srgbClr val="FFFFFF"/>
                        </a:buClr>
                        <a:buSzPts val="800"/>
                        <a:buFont typeface="Calibri"/>
                        <a:buNone/>
                      </a:pPr>
                      <a:r>
                        <a:rPr b="1" lang="en" sz="800" u="none" cap="none" strike="noStrike">
                          <a:solidFill>
                            <a:srgbClr val="FFFFFF"/>
                          </a:solidFill>
                          <a:latin typeface="Calibri"/>
                          <a:ea typeface="Calibri"/>
                          <a:cs typeface="Calibri"/>
                          <a:sym typeface="Calibri"/>
                        </a:rPr>
                        <a:t>Test method and sample size</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0B2430"/>
                    </a:solidFill>
                  </a:tcPr>
                </a:tc>
              </a:tr>
              <a:tr h="301725">
                <a:tc>
                  <a:txBody>
                    <a:bodyPr/>
                    <a:lstStyle/>
                    <a:p>
                      <a:pPr indent="0" lvl="0" marL="0" marR="0" rtl="0" algn="l">
                        <a:spcBef>
                          <a:spcPts val="0"/>
                        </a:spcBef>
                        <a:spcAft>
                          <a:spcPts val="0"/>
                        </a:spcAft>
                        <a:buClr>
                          <a:srgbClr val="16333D"/>
                        </a:buClr>
                        <a:buSzPts val="800"/>
                        <a:buFont typeface="Calibri"/>
                        <a:buNone/>
                      </a:pPr>
                      <a:r>
                        <a:rPr b="1" lang="en" sz="800" u="none" cap="none" strike="noStrike">
                          <a:solidFill>
                            <a:srgbClr val="16333D"/>
                          </a:solidFill>
                          <a:latin typeface="Calibri"/>
                          <a:ea typeface="Calibri"/>
                          <a:cs typeface="Calibri"/>
                          <a:sym typeface="Calibri"/>
                        </a:rPr>
                        <a:t>Hansen parameter</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MAE 0.656</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Hildebrand–Scott 1950, single δ</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1.730</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C25A1E"/>
                        </a:buClr>
                        <a:buSzPts val="800"/>
                        <a:buFont typeface="Calibri"/>
                        <a:buNone/>
                      </a:pPr>
                      <a:r>
                        <a:rPr b="1" lang="en" sz="800" u="none" cap="none" strike="noStrike">
                          <a:solidFill>
                            <a:srgbClr val="C25A1E"/>
                          </a:solidFill>
                          <a:latin typeface="Calibri"/>
                          <a:ea typeface="Calibri"/>
                          <a:cs typeface="Calibri"/>
                          <a:sym typeface="Calibri"/>
                        </a:rPr>
                        <a:t>−62.1%</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A-priori, zero fitted parameters, n = 8 published pairs</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r>
              <a:tr h="301725">
                <a:tc>
                  <a:txBody>
                    <a:bodyPr/>
                    <a:lstStyle/>
                    <a:p>
                      <a:pPr indent="0" lvl="0" marL="0" marR="0" rtl="0" algn="l">
                        <a:spcBef>
                          <a:spcPts val="0"/>
                        </a:spcBef>
                        <a:spcAft>
                          <a:spcPts val="0"/>
                        </a:spcAft>
                        <a:buClr>
                          <a:srgbClr val="16333D"/>
                        </a:buClr>
                        <a:buSzPts val="800"/>
                        <a:buFont typeface="Calibri"/>
                        <a:buNone/>
                      </a:pPr>
                      <a:r>
                        <a:rPr b="1" lang="en" sz="800" u="none" cap="none" strike="noStrike">
                          <a:solidFill>
                            <a:srgbClr val="16333D"/>
                          </a:solidFill>
                          <a:latin typeface="Calibri"/>
                          <a:ea typeface="Calibri"/>
                          <a:cs typeface="Calibri"/>
                          <a:sym typeface="Calibri"/>
                        </a:rPr>
                        <a:t>Density</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MAE 0.0566 g/cm³</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Van Krevelen 1990 ch.4, zero parameters</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0.1327</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C25A1E"/>
                        </a:buClr>
                        <a:buSzPts val="800"/>
                        <a:buFont typeface="Calibri"/>
                        <a:buNone/>
                      </a:pPr>
                      <a:r>
                        <a:rPr b="1" lang="en" sz="800" u="none" cap="none" strike="noStrike">
                          <a:solidFill>
                            <a:srgbClr val="C25A1E"/>
                          </a:solidFill>
                          <a:latin typeface="Calibri"/>
                          <a:ea typeface="Calibri"/>
                          <a:cs typeface="Calibri"/>
                          <a:sym typeface="Calibri"/>
                        </a:rPr>
                        <a:t>−57.3%</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Random 60/20/20, not group-safe, n = 1,077</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r>
              <a:tr h="301725">
                <a:tc>
                  <a:txBody>
                    <a:bodyPr/>
                    <a:lstStyle/>
                    <a:p>
                      <a:pPr indent="0" lvl="0" marL="0" marR="0" rtl="0" algn="l">
                        <a:spcBef>
                          <a:spcPts val="0"/>
                        </a:spcBef>
                        <a:spcAft>
                          <a:spcPts val="0"/>
                        </a:spcAft>
                        <a:buClr>
                          <a:srgbClr val="16333D"/>
                        </a:buClr>
                        <a:buSzPts val="800"/>
                        <a:buFont typeface="Calibri"/>
                        <a:buNone/>
                      </a:pPr>
                      <a:r>
                        <a:rPr b="1" lang="en" sz="800" u="none" cap="none" strike="noStrike">
                          <a:solidFill>
                            <a:srgbClr val="16333D"/>
                          </a:solidFill>
                          <a:latin typeface="Calibri"/>
                          <a:ea typeface="Calibri"/>
                          <a:cs typeface="Calibri"/>
                          <a:sym typeface="Calibri"/>
                        </a:rPr>
                        <a:t>Glass transition Tg</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MAE 51.24 K</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Van Krevelen ridge</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70.42</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C25A1E"/>
                        </a:buClr>
                        <a:buSzPts val="800"/>
                        <a:buFont typeface="Calibri"/>
                        <a:buNone/>
                      </a:pPr>
                      <a:r>
                        <a:rPr b="1" lang="en" sz="800" u="none" cap="none" strike="noStrike">
                          <a:solidFill>
                            <a:srgbClr val="C25A1E"/>
                          </a:solidFill>
                          <a:latin typeface="Calibri"/>
                          <a:ea typeface="Calibri"/>
                          <a:cs typeface="Calibri"/>
                          <a:sym typeface="Calibri"/>
                        </a:rPr>
                        <a:t>−27.2%</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Leave-one-scaffold-out, 212 folds, n = 441</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r>
              <a:tr h="301725">
                <a:tc>
                  <a:txBody>
                    <a:bodyPr/>
                    <a:lstStyle/>
                    <a:p>
                      <a:pPr indent="0" lvl="0" marL="0" marR="0" rtl="0" algn="l">
                        <a:spcBef>
                          <a:spcPts val="0"/>
                        </a:spcBef>
                        <a:spcAft>
                          <a:spcPts val="0"/>
                        </a:spcAft>
                        <a:buClr>
                          <a:srgbClr val="16333D"/>
                        </a:buClr>
                        <a:buSzPts val="800"/>
                        <a:buFont typeface="Calibri"/>
                        <a:buNone/>
                      </a:pPr>
                      <a:r>
                        <a:rPr b="1" lang="en" sz="800" u="none" cap="none" strike="noStrike">
                          <a:solidFill>
                            <a:srgbClr val="16333D"/>
                          </a:solidFill>
                          <a:latin typeface="Calibri"/>
                          <a:ea typeface="Calibri"/>
                          <a:cs typeface="Calibri"/>
                          <a:sym typeface="Calibri"/>
                        </a:rPr>
                        <a:t>Solubility</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RMSE 0.877 log</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Best naive solvent-mean</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1.169</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C25A1E"/>
                        </a:buClr>
                        <a:buSzPts val="800"/>
                        <a:buFont typeface="Calibri"/>
                        <a:buNone/>
                      </a:pPr>
                      <a:r>
                        <a:rPr b="1" lang="en" sz="800" u="none" cap="none" strike="noStrike">
                          <a:solidFill>
                            <a:srgbClr val="C25A1E"/>
                          </a:solidFill>
                          <a:latin typeface="Calibri"/>
                          <a:ea typeface="Calibri"/>
                          <a:cs typeface="Calibri"/>
                          <a:sym typeface="Calibri"/>
                        </a:rPr>
                        <a:t>−25.0%</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Leave-solute-out, 1,372 solute groups, n = 94,532</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r>
              <a:tr h="301725">
                <a:tc>
                  <a:txBody>
                    <a:bodyPr/>
                    <a:lstStyle/>
                    <a:p>
                      <a:pPr indent="0" lvl="0" marL="0" marR="0" rtl="0" algn="l">
                        <a:spcBef>
                          <a:spcPts val="0"/>
                        </a:spcBef>
                        <a:spcAft>
                          <a:spcPts val="0"/>
                        </a:spcAft>
                        <a:buClr>
                          <a:srgbClr val="16333D"/>
                        </a:buClr>
                        <a:buSzPts val="800"/>
                        <a:buFont typeface="Calibri"/>
                        <a:buNone/>
                      </a:pPr>
                      <a:r>
                        <a:rPr b="1" lang="en" sz="800" u="none" cap="none" strike="noStrike">
                          <a:solidFill>
                            <a:srgbClr val="16333D"/>
                          </a:solidFill>
                          <a:latin typeface="Calibri"/>
                          <a:ea typeface="Calibri"/>
                          <a:cs typeface="Calibri"/>
                          <a:sym typeface="Calibri"/>
                        </a:rPr>
                        <a:t>Refractive index</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MAE 0.0304</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Lorentz–Lorenz on real density</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0.0377</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C25A1E"/>
                        </a:buClr>
                        <a:buSzPts val="800"/>
                        <a:buFont typeface="Calibri"/>
                        <a:buNone/>
                      </a:pPr>
                      <a:r>
                        <a:rPr b="1" lang="en" sz="800" u="none" cap="none" strike="noStrike">
                          <a:solidFill>
                            <a:srgbClr val="C25A1E"/>
                          </a:solidFill>
                          <a:latin typeface="Calibri"/>
                          <a:ea typeface="Calibri"/>
                          <a:cs typeface="Calibri"/>
                          <a:sym typeface="Calibri"/>
                        </a:rPr>
                        <a:t>−19.3%</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Source-stratified 60/20/20, n = 1,223</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r>
              <a:tr h="301725">
                <a:tc>
                  <a:txBody>
                    <a:bodyPr/>
                    <a:lstStyle/>
                    <a:p>
                      <a:pPr indent="0" lvl="0" marL="0" marR="0" rtl="0" algn="l">
                        <a:spcBef>
                          <a:spcPts val="0"/>
                        </a:spcBef>
                        <a:spcAft>
                          <a:spcPts val="0"/>
                        </a:spcAft>
                        <a:buClr>
                          <a:srgbClr val="16333D"/>
                        </a:buClr>
                        <a:buSzPts val="800"/>
                        <a:buFont typeface="Calibri"/>
                        <a:buNone/>
                      </a:pPr>
                      <a:r>
                        <a:rPr b="1" lang="en" sz="800" u="none" cap="none" strike="noStrike">
                          <a:solidFill>
                            <a:srgbClr val="16333D"/>
                          </a:solidFill>
                          <a:latin typeface="Calibri"/>
                          <a:ea typeface="Calibri"/>
                          <a:cs typeface="Calibri"/>
                          <a:sym typeface="Calibri"/>
                        </a:rPr>
                        <a:t>Melt viscosity</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R² 0.4536</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Fox–Flory–Whitten + Arrhenius</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0.5972</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E7480"/>
                        </a:buClr>
                        <a:buSzPts val="800"/>
                        <a:buFont typeface="Calibri"/>
                        <a:buNone/>
                      </a:pPr>
                      <a:r>
                        <a:rPr b="1" lang="en" sz="800" u="none" cap="none" strike="noStrike">
                          <a:solidFill>
                            <a:srgbClr val="5E7480"/>
                          </a:solidFill>
                          <a:latin typeface="Calibri"/>
                          <a:ea typeface="Calibri"/>
                          <a:cs typeface="Calibri"/>
                          <a:sym typeface="Calibri"/>
                        </a:rPr>
                        <a:t>physics wins</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Polymer-safe by SMILES, only n = 13 test chemistries</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FFFFFF"/>
                    </a:solidFill>
                  </a:tcPr>
                </a:tc>
              </a:tr>
              <a:tr h="301725">
                <a:tc>
                  <a:txBody>
                    <a:bodyPr/>
                    <a:lstStyle/>
                    <a:p>
                      <a:pPr indent="0" lvl="0" marL="0" marR="0" rtl="0" algn="l">
                        <a:spcBef>
                          <a:spcPts val="0"/>
                        </a:spcBef>
                        <a:spcAft>
                          <a:spcPts val="0"/>
                        </a:spcAft>
                        <a:buClr>
                          <a:srgbClr val="16333D"/>
                        </a:buClr>
                        <a:buSzPts val="800"/>
                        <a:buFont typeface="Calibri"/>
                        <a:buNone/>
                      </a:pPr>
                      <a:r>
                        <a:rPr b="1" lang="en" sz="800" u="none" cap="none" strike="noStrike">
                          <a:solidFill>
                            <a:srgbClr val="16333D"/>
                          </a:solidFill>
                          <a:latin typeface="Calibri"/>
                          <a:ea typeface="Calibri"/>
                          <a:cs typeface="Calibri"/>
                          <a:sym typeface="Calibri"/>
                        </a:rPr>
                        <a:t>Cure kinetics Eₐ</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57.261 kJ/mol</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Kissinger 1957 on open DSC data</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57.3</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5E7480"/>
                        </a:buClr>
                        <a:buSzPts val="800"/>
                        <a:buFont typeface="Calibri"/>
                        <a:buNone/>
                      </a:pPr>
                      <a:r>
                        <a:rPr b="1" lang="en" sz="800" u="none" cap="none" strike="noStrike">
                          <a:solidFill>
                            <a:srgbClr val="5E7480"/>
                          </a:solidFill>
                          <a:latin typeface="Calibri"/>
                          <a:ea typeface="Calibri"/>
                          <a:cs typeface="Calibri"/>
                          <a:sym typeface="Calibri"/>
                        </a:rPr>
                        <a:t>error 0.039</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c>
                  <a:txBody>
                    <a:bodyPr/>
                    <a:lstStyle/>
                    <a:p>
                      <a:pPr indent="0" lvl="0" marL="0" marR="0" rtl="0" algn="l">
                        <a:spcBef>
                          <a:spcPts val="0"/>
                        </a:spcBef>
                        <a:spcAft>
                          <a:spcPts val="0"/>
                        </a:spcAft>
                        <a:buClr>
                          <a:srgbClr val="16333D"/>
                        </a:buClr>
                        <a:buSzPts val="800"/>
                        <a:buFont typeface="Calibri"/>
                        <a:buNone/>
                      </a:pPr>
                      <a:r>
                        <a:rPr lang="en" sz="800" u="none" cap="none" strike="noStrike">
                          <a:solidFill>
                            <a:srgbClr val="16333D"/>
                          </a:solidFill>
                          <a:latin typeface="Calibri"/>
                          <a:ea typeface="Calibri"/>
                          <a:cs typeface="Calibri"/>
                          <a:sym typeface="Calibri"/>
                        </a:rPr>
                        <a:t>Three systems, three published sources, cross-lab</a:t>
                      </a:r>
                      <a:endParaRPr sz="800" u="none" cap="none" strike="noStrike">
                        <a:latin typeface="Calibri"/>
                        <a:ea typeface="Calibri"/>
                        <a:cs typeface="Calibri"/>
                        <a:sym typeface="Calibri"/>
                      </a:endParaRPr>
                    </a:p>
                  </a:txBody>
                  <a:tcPr marT="38100" marB="38100" marR="57150" marL="57150" anchor="ctr">
                    <a:lnL cap="flat" cmpd="sng" w="9525">
                      <a:solidFill>
                        <a:srgbClr val="DCE5E8"/>
                      </a:solidFill>
                      <a:prstDash val="solid"/>
                      <a:round/>
                      <a:headEnd len="sm" w="sm" type="none"/>
                      <a:tailEnd len="sm" w="sm" type="none"/>
                    </a:lnL>
                    <a:lnR cap="flat" cmpd="sng" w="9525">
                      <a:solidFill>
                        <a:srgbClr val="DCE5E8"/>
                      </a:solidFill>
                      <a:prstDash val="solid"/>
                      <a:round/>
                      <a:headEnd len="sm" w="sm" type="none"/>
                      <a:tailEnd len="sm" w="sm" type="none"/>
                    </a:lnR>
                    <a:lnT cap="flat" cmpd="sng" w="9525">
                      <a:solidFill>
                        <a:srgbClr val="DCE5E8"/>
                      </a:solidFill>
                      <a:prstDash val="solid"/>
                      <a:round/>
                      <a:headEnd len="sm" w="sm" type="none"/>
                      <a:tailEnd len="sm" w="sm" type="none"/>
                    </a:lnT>
                    <a:lnB cap="flat" cmpd="sng" w="9525">
                      <a:solidFill>
                        <a:srgbClr val="DCE5E8"/>
                      </a:solidFill>
                      <a:prstDash val="solid"/>
                      <a:round/>
                      <a:headEnd len="sm" w="sm" type="none"/>
                      <a:tailEnd len="sm" w="sm" type="none"/>
                    </a:lnB>
                    <a:solidFill>
                      <a:srgbClr val="EDF1F2"/>
                    </a:solidFill>
                  </a:tcPr>
                </a:tc>
              </a:tr>
            </a:tbl>
          </a:graphicData>
        </a:graphic>
      </p:graphicFrame>
      <p:sp>
        <p:nvSpPr>
          <p:cNvPr id="748" name="Google Shape;748;p42"/>
          <p:cNvSpPr/>
          <p:nvPr/>
        </p:nvSpPr>
        <p:spPr>
          <a:xfrm>
            <a:off x="445770" y="3840480"/>
            <a:ext cx="8215884" cy="617220"/>
          </a:xfrm>
          <a:prstGeom prst="rect">
            <a:avLst/>
          </a:prstGeom>
          <a:noFill/>
          <a:ln>
            <a:noFill/>
          </a:ln>
        </p:spPr>
        <p:txBody>
          <a:bodyPr anchorCtr="0" anchor="t" bIns="0" lIns="0" spcFirstLastPara="1" rIns="0" wrap="square" tIns="0">
            <a:noAutofit/>
          </a:bodyPr>
          <a:lstStyle/>
          <a:p>
            <a:pPr indent="0" lvl="0" marL="0" marR="0" rtl="0" algn="l">
              <a:lnSpc>
                <a:spcPct val="139130"/>
              </a:lnSpc>
              <a:spcBef>
                <a:spcPts val="0"/>
              </a:spcBef>
              <a:spcAft>
                <a:spcPts val="0"/>
              </a:spcAft>
              <a:buClr>
                <a:srgbClr val="5E7480"/>
              </a:buClr>
              <a:buSzPts val="900"/>
              <a:buFont typeface="Calibri"/>
              <a:buNone/>
            </a:pPr>
            <a:r>
              <a:rPr i="1" lang="en" sz="900">
                <a:solidFill>
                  <a:srgbClr val="5E7480"/>
                </a:solidFill>
                <a:latin typeface="Calibri"/>
                <a:ea typeface="Calibri"/>
                <a:cs typeface="Calibri"/>
                <a:sym typeface="Calibri"/>
              </a:rPr>
              <a:t>The last two rows are where the published method won, and where the platform therefore uses the published method. A table containing only wins tells you nothing about how a system behaves when it is wrong. Properties with no defensible published baseline at all, including dielectric behaviour, coating-barrier efficacy and thermal conductivity, are absent by construction.</a:t>
            </a:r>
            <a:endParaRPr sz="900">
              <a:solidFill>
                <a:schemeClr val="dk1"/>
              </a:solidFill>
              <a:latin typeface="Calibri"/>
              <a:ea typeface="Calibri"/>
              <a:cs typeface="Calibri"/>
              <a:sym typeface="Calibri"/>
            </a:endParaRPr>
          </a:p>
        </p:txBody>
      </p:sp>
      <p:sp>
        <p:nvSpPr>
          <p:cNvPr id="749" name="Google Shape;749;p42"/>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750" name="Google Shape;750;p42"/>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27</a:t>
            </a:r>
            <a:endParaRPr sz="7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755" name="Shape 755"/>
        <p:cNvGrpSpPr/>
        <p:nvPr/>
      </p:nvGrpSpPr>
      <p:grpSpPr>
        <a:xfrm>
          <a:off x="0" y="0"/>
          <a:ext cx="0" cy="0"/>
          <a:chOff x="0" y="0"/>
          <a:chExt cx="0" cy="0"/>
        </a:xfrm>
      </p:grpSpPr>
      <p:sp>
        <p:nvSpPr>
          <p:cNvPr id="756" name="Google Shape;756;p43"/>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APPENDIX B</a:t>
            </a:r>
            <a:endParaRPr sz="800">
              <a:solidFill>
                <a:schemeClr val="dk1"/>
              </a:solidFill>
              <a:latin typeface="Calibri"/>
              <a:ea typeface="Calibri"/>
              <a:cs typeface="Calibri"/>
              <a:sym typeface="Calibri"/>
            </a:endParaRPr>
          </a:p>
        </p:txBody>
      </p:sp>
      <p:sp>
        <p:nvSpPr>
          <p:cNvPr id="757" name="Google Shape;757;p43"/>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300"/>
              <a:buFont typeface="Cambria"/>
              <a:buNone/>
            </a:pPr>
            <a:r>
              <a:rPr b="1" lang="en" sz="2300">
                <a:solidFill>
                  <a:srgbClr val="16333D"/>
                </a:solidFill>
                <a:latin typeface="Cambria"/>
                <a:ea typeface="Cambria"/>
                <a:cs typeface="Cambria"/>
                <a:sym typeface="Cambria"/>
              </a:rPr>
              <a:t>How we grade our own evidence.</a:t>
            </a:r>
            <a:endParaRPr sz="2300">
              <a:solidFill>
                <a:schemeClr val="dk1"/>
              </a:solidFill>
              <a:latin typeface="Calibri"/>
              <a:ea typeface="Calibri"/>
              <a:cs typeface="Calibri"/>
              <a:sym typeface="Calibri"/>
            </a:endParaRPr>
          </a:p>
        </p:txBody>
      </p:sp>
      <p:sp>
        <p:nvSpPr>
          <p:cNvPr id="758" name="Google Shape;758;p43"/>
          <p:cNvSpPr/>
          <p:nvPr/>
        </p:nvSpPr>
        <p:spPr>
          <a:xfrm>
            <a:off x="445770" y="1200150"/>
            <a:ext cx="1968246" cy="1988820"/>
          </a:xfrm>
          <a:prstGeom prst="roundRect">
            <a:avLst>
              <a:gd fmla="val 2091" name="adj"/>
            </a:avLst>
          </a:prstGeom>
          <a:solidFill>
            <a:srgbClr val="0B2430"/>
          </a:solidFill>
          <a:ln cap="flat" cmpd="sng" w="12700">
            <a:solidFill>
              <a:srgbClr val="0B2430"/>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59" name="Google Shape;759;p43"/>
          <p:cNvSpPr/>
          <p:nvPr/>
        </p:nvSpPr>
        <p:spPr>
          <a:xfrm>
            <a:off x="637794" y="1357884"/>
            <a:ext cx="1584198"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lang="en" sz="1300">
                <a:solidFill>
                  <a:srgbClr val="FFFFFF"/>
                </a:solidFill>
                <a:latin typeface="Cambria"/>
                <a:ea typeface="Cambria"/>
                <a:cs typeface="Cambria"/>
                <a:sym typeface="Cambria"/>
              </a:rPr>
              <a:t>Pre-Phase 0</a:t>
            </a:r>
            <a:endParaRPr sz="1300">
              <a:solidFill>
                <a:schemeClr val="dk1"/>
              </a:solidFill>
              <a:latin typeface="Calibri"/>
              <a:ea typeface="Calibri"/>
              <a:cs typeface="Calibri"/>
              <a:sym typeface="Calibri"/>
            </a:endParaRPr>
          </a:p>
        </p:txBody>
      </p:sp>
      <p:sp>
        <p:nvSpPr>
          <p:cNvPr id="760" name="Google Shape;760;p43"/>
          <p:cNvSpPr/>
          <p:nvPr/>
        </p:nvSpPr>
        <p:spPr>
          <a:xfrm>
            <a:off x="637794" y="1618488"/>
            <a:ext cx="1584198"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A578"/>
              </a:buClr>
              <a:buSzPts val="800"/>
              <a:buFont typeface="Calibri"/>
              <a:buNone/>
            </a:pPr>
            <a:r>
              <a:rPr b="1" lang="en" sz="800">
                <a:solidFill>
                  <a:srgbClr val="E8A578"/>
                </a:solidFill>
                <a:latin typeface="Calibri"/>
                <a:ea typeface="Calibri"/>
                <a:cs typeface="Calibri"/>
                <a:sym typeface="Calibri"/>
              </a:rPr>
              <a:t>NOT YET AUTHORISED</a:t>
            </a:r>
            <a:endParaRPr sz="800">
              <a:solidFill>
                <a:schemeClr val="dk1"/>
              </a:solidFill>
              <a:latin typeface="Calibri"/>
              <a:ea typeface="Calibri"/>
              <a:cs typeface="Calibri"/>
              <a:sym typeface="Calibri"/>
            </a:endParaRPr>
          </a:p>
        </p:txBody>
      </p:sp>
      <p:sp>
        <p:nvSpPr>
          <p:cNvPr id="761" name="Google Shape;761;p43"/>
          <p:cNvSpPr/>
          <p:nvPr/>
        </p:nvSpPr>
        <p:spPr>
          <a:xfrm>
            <a:off x="637794" y="1851660"/>
            <a:ext cx="1584198" cy="116586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9FB6BF"/>
              </a:buClr>
              <a:buSzPts val="900"/>
              <a:buFont typeface="Calibri"/>
              <a:buNone/>
            </a:pPr>
            <a:r>
              <a:rPr lang="en" sz="900">
                <a:solidFill>
                  <a:srgbClr val="9FB6BF"/>
                </a:solidFill>
                <a:latin typeface="Calibri"/>
                <a:ea typeface="Calibri"/>
                <a:cs typeface="Calibri"/>
                <a:sym typeface="Calibri"/>
              </a:rPr>
              <a:t>Code may exist, but the required evaluation, review, rights or benchmark gates are incomplete. Most of the portfolio sits here.</a:t>
            </a:r>
            <a:endParaRPr sz="900">
              <a:solidFill>
                <a:schemeClr val="dk1"/>
              </a:solidFill>
              <a:latin typeface="Calibri"/>
              <a:ea typeface="Calibri"/>
              <a:cs typeface="Calibri"/>
              <a:sym typeface="Calibri"/>
            </a:endParaRPr>
          </a:p>
        </p:txBody>
      </p:sp>
      <p:sp>
        <p:nvSpPr>
          <p:cNvPr id="762" name="Google Shape;762;p43"/>
          <p:cNvSpPr/>
          <p:nvPr/>
        </p:nvSpPr>
        <p:spPr>
          <a:xfrm>
            <a:off x="2578608" y="1200150"/>
            <a:ext cx="1968246" cy="1988820"/>
          </a:xfrm>
          <a:prstGeom prst="roundRect">
            <a:avLst>
              <a:gd fmla="val 2091" name="adj"/>
            </a:avLst>
          </a:prstGeom>
          <a:solidFill>
            <a:srgbClr val="0B2430"/>
          </a:solidFill>
          <a:ln cap="flat" cmpd="sng" w="12700">
            <a:solidFill>
              <a:srgbClr val="0B2430"/>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63" name="Google Shape;763;p43"/>
          <p:cNvSpPr/>
          <p:nvPr/>
        </p:nvSpPr>
        <p:spPr>
          <a:xfrm>
            <a:off x="2770632" y="1357884"/>
            <a:ext cx="1584198"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lang="en" sz="1300">
                <a:solidFill>
                  <a:srgbClr val="FFFFFF"/>
                </a:solidFill>
                <a:latin typeface="Cambria"/>
                <a:ea typeface="Cambria"/>
                <a:cs typeface="Cambria"/>
                <a:sym typeface="Cambria"/>
              </a:rPr>
              <a:t>Phase 0</a:t>
            </a:r>
            <a:endParaRPr sz="1300">
              <a:solidFill>
                <a:schemeClr val="dk1"/>
              </a:solidFill>
              <a:latin typeface="Calibri"/>
              <a:ea typeface="Calibri"/>
              <a:cs typeface="Calibri"/>
              <a:sym typeface="Calibri"/>
            </a:endParaRPr>
          </a:p>
        </p:txBody>
      </p:sp>
      <p:sp>
        <p:nvSpPr>
          <p:cNvPr id="764" name="Google Shape;764;p43"/>
          <p:cNvSpPr/>
          <p:nvPr/>
        </p:nvSpPr>
        <p:spPr>
          <a:xfrm>
            <a:off x="2770632" y="1618488"/>
            <a:ext cx="1584198"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A578"/>
              </a:buClr>
              <a:buSzPts val="800"/>
              <a:buFont typeface="Calibri"/>
              <a:buNone/>
            </a:pPr>
            <a:r>
              <a:rPr b="1" lang="en" sz="800">
                <a:solidFill>
                  <a:srgbClr val="E8A578"/>
                </a:solidFill>
                <a:latin typeface="Calibri"/>
                <a:ea typeface="Calibri"/>
                <a:cs typeface="Calibri"/>
                <a:sym typeface="Calibri"/>
              </a:rPr>
              <a:t>USEFUL CONTROL</a:t>
            </a:r>
            <a:endParaRPr sz="800">
              <a:solidFill>
                <a:schemeClr val="dk1"/>
              </a:solidFill>
              <a:latin typeface="Calibri"/>
              <a:ea typeface="Calibri"/>
              <a:cs typeface="Calibri"/>
              <a:sym typeface="Calibri"/>
            </a:endParaRPr>
          </a:p>
        </p:txBody>
      </p:sp>
      <p:sp>
        <p:nvSpPr>
          <p:cNvPr id="765" name="Google Shape;765;p43"/>
          <p:cNvSpPr/>
          <p:nvPr/>
        </p:nvSpPr>
        <p:spPr>
          <a:xfrm>
            <a:off x="2770632" y="1851660"/>
            <a:ext cx="1584198" cy="116586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9FB6BF"/>
              </a:buClr>
              <a:buSzPts val="900"/>
              <a:buFont typeface="Calibri"/>
              <a:buNone/>
            </a:pPr>
            <a:r>
              <a:rPr lang="en" sz="900">
                <a:solidFill>
                  <a:srgbClr val="9FB6BF"/>
                </a:solidFill>
                <a:latin typeface="Calibri"/>
                <a:ea typeface="Calibri"/>
                <a:cs typeface="Calibri"/>
                <a:sym typeface="Calibri"/>
              </a:rPr>
              <a:t>A signed check or enforcement capability inside a narrow domain. Nine modules currently reach this.</a:t>
            </a:r>
            <a:endParaRPr sz="900">
              <a:solidFill>
                <a:schemeClr val="dk1"/>
              </a:solidFill>
              <a:latin typeface="Calibri"/>
              <a:ea typeface="Calibri"/>
              <a:cs typeface="Calibri"/>
              <a:sym typeface="Calibri"/>
            </a:endParaRPr>
          </a:p>
        </p:txBody>
      </p:sp>
      <p:sp>
        <p:nvSpPr>
          <p:cNvPr id="766" name="Google Shape;766;p43"/>
          <p:cNvSpPr/>
          <p:nvPr/>
        </p:nvSpPr>
        <p:spPr>
          <a:xfrm>
            <a:off x="4711446" y="1200150"/>
            <a:ext cx="1968246" cy="1988820"/>
          </a:xfrm>
          <a:prstGeom prst="roundRect">
            <a:avLst>
              <a:gd fmla="val 2091"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67" name="Google Shape;767;p43"/>
          <p:cNvSpPr/>
          <p:nvPr/>
        </p:nvSpPr>
        <p:spPr>
          <a:xfrm>
            <a:off x="4903470" y="1357884"/>
            <a:ext cx="1584198"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300"/>
              <a:buFont typeface="Cambria"/>
              <a:buNone/>
            </a:pPr>
            <a:r>
              <a:rPr b="1" lang="en" sz="1300">
                <a:solidFill>
                  <a:srgbClr val="16333D"/>
                </a:solidFill>
                <a:latin typeface="Cambria"/>
                <a:ea typeface="Cambria"/>
                <a:cs typeface="Cambria"/>
                <a:sym typeface="Cambria"/>
              </a:rPr>
              <a:t>Phase 1</a:t>
            </a:r>
            <a:endParaRPr sz="1300">
              <a:solidFill>
                <a:schemeClr val="dk1"/>
              </a:solidFill>
              <a:latin typeface="Calibri"/>
              <a:ea typeface="Calibri"/>
              <a:cs typeface="Calibri"/>
              <a:sym typeface="Calibri"/>
            </a:endParaRPr>
          </a:p>
        </p:txBody>
      </p:sp>
      <p:sp>
        <p:nvSpPr>
          <p:cNvPr id="768" name="Google Shape;768;p43"/>
          <p:cNvSpPr/>
          <p:nvPr/>
        </p:nvSpPr>
        <p:spPr>
          <a:xfrm>
            <a:off x="4903470" y="1618488"/>
            <a:ext cx="1584198"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INDEPENDENT EVIDENCE</a:t>
            </a:r>
            <a:endParaRPr sz="800">
              <a:solidFill>
                <a:schemeClr val="dk1"/>
              </a:solidFill>
              <a:latin typeface="Calibri"/>
              <a:ea typeface="Calibri"/>
              <a:cs typeface="Calibri"/>
              <a:sym typeface="Calibri"/>
            </a:endParaRPr>
          </a:p>
        </p:txBody>
      </p:sp>
      <p:sp>
        <p:nvSpPr>
          <p:cNvPr id="769" name="Google Shape;769;p43"/>
          <p:cNvSpPr/>
          <p:nvPr/>
        </p:nvSpPr>
        <p:spPr>
          <a:xfrm>
            <a:off x="4903470" y="1851660"/>
            <a:ext cx="1584198" cy="116586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A locked external benchmark passes under independent evaluation and review. Current count: zero.</a:t>
            </a:r>
            <a:endParaRPr sz="900">
              <a:solidFill>
                <a:schemeClr val="dk1"/>
              </a:solidFill>
              <a:latin typeface="Calibri"/>
              <a:ea typeface="Calibri"/>
              <a:cs typeface="Calibri"/>
              <a:sym typeface="Calibri"/>
            </a:endParaRPr>
          </a:p>
        </p:txBody>
      </p:sp>
      <p:sp>
        <p:nvSpPr>
          <p:cNvPr id="770" name="Google Shape;770;p43"/>
          <p:cNvSpPr/>
          <p:nvPr/>
        </p:nvSpPr>
        <p:spPr>
          <a:xfrm>
            <a:off x="6844284" y="1200150"/>
            <a:ext cx="1968246" cy="1988820"/>
          </a:xfrm>
          <a:prstGeom prst="roundRect">
            <a:avLst>
              <a:gd fmla="val 2091"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71" name="Google Shape;771;p43"/>
          <p:cNvSpPr/>
          <p:nvPr/>
        </p:nvSpPr>
        <p:spPr>
          <a:xfrm>
            <a:off x="7036308" y="1357884"/>
            <a:ext cx="1584198"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300"/>
              <a:buFont typeface="Cambria"/>
              <a:buNone/>
            </a:pPr>
            <a:r>
              <a:rPr b="1" lang="en" sz="1300">
                <a:solidFill>
                  <a:srgbClr val="16333D"/>
                </a:solidFill>
                <a:latin typeface="Cambria"/>
                <a:ea typeface="Cambria"/>
                <a:cs typeface="Cambria"/>
                <a:sym typeface="Cambria"/>
              </a:rPr>
              <a:t>Phase 2</a:t>
            </a:r>
            <a:endParaRPr sz="1300">
              <a:solidFill>
                <a:schemeClr val="dk1"/>
              </a:solidFill>
              <a:latin typeface="Calibri"/>
              <a:ea typeface="Calibri"/>
              <a:cs typeface="Calibri"/>
              <a:sym typeface="Calibri"/>
            </a:endParaRPr>
          </a:p>
        </p:txBody>
      </p:sp>
      <p:sp>
        <p:nvSpPr>
          <p:cNvPr id="772" name="Google Shape;772;p43"/>
          <p:cNvSpPr/>
          <p:nvPr/>
        </p:nvSpPr>
        <p:spPr>
          <a:xfrm>
            <a:off x="7036308" y="1618488"/>
            <a:ext cx="1584198"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PRODUCT EVIDENCE</a:t>
            </a:r>
            <a:endParaRPr sz="800">
              <a:solidFill>
                <a:schemeClr val="dk1"/>
              </a:solidFill>
              <a:latin typeface="Calibri"/>
              <a:ea typeface="Calibri"/>
              <a:cs typeface="Calibri"/>
              <a:sym typeface="Calibri"/>
            </a:endParaRPr>
          </a:p>
        </p:txBody>
      </p:sp>
      <p:sp>
        <p:nvSpPr>
          <p:cNvPr id="773" name="Google Shape;773;p43"/>
          <p:cNvSpPr/>
          <p:nvPr/>
        </p:nvSpPr>
        <p:spPr>
          <a:xfrm>
            <a:off x="7036308" y="1851660"/>
            <a:ext cx="1584198" cy="116586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Prospective, product-relevant validation beyond a bounded research claim. Current count: zero.</a:t>
            </a:r>
            <a:endParaRPr sz="900">
              <a:solidFill>
                <a:schemeClr val="dk1"/>
              </a:solidFill>
              <a:latin typeface="Calibri"/>
              <a:ea typeface="Calibri"/>
              <a:cs typeface="Calibri"/>
              <a:sym typeface="Calibri"/>
            </a:endParaRPr>
          </a:p>
        </p:txBody>
      </p:sp>
      <p:sp>
        <p:nvSpPr>
          <p:cNvPr id="774" name="Google Shape;774;p43"/>
          <p:cNvSpPr/>
          <p:nvPr/>
        </p:nvSpPr>
        <p:spPr>
          <a:xfrm>
            <a:off x="445770" y="3360420"/>
            <a:ext cx="411480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1500"/>
              <a:buFont typeface="Cambria"/>
              <a:buNone/>
            </a:pPr>
            <a:r>
              <a:rPr b="1" lang="en" sz="1500">
                <a:solidFill>
                  <a:srgbClr val="16333D"/>
                </a:solidFill>
                <a:latin typeface="Cambria"/>
                <a:ea typeface="Cambria"/>
                <a:cs typeface="Cambria"/>
                <a:sym typeface="Cambria"/>
              </a:rPr>
              <a:t>Two rules we hold ourselves to</a:t>
            </a:r>
            <a:endParaRPr sz="1500">
              <a:solidFill>
                <a:schemeClr val="dk1"/>
              </a:solidFill>
              <a:latin typeface="Calibri"/>
              <a:ea typeface="Calibri"/>
              <a:cs typeface="Calibri"/>
              <a:sym typeface="Calibri"/>
            </a:endParaRPr>
          </a:p>
        </p:txBody>
      </p:sp>
      <p:sp>
        <p:nvSpPr>
          <p:cNvPr id="775" name="Google Shape;775;p43"/>
          <p:cNvSpPr/>
          <p:nvPr/>
        </p:nvSpPr>
        <p:spPr>
          <a:xfrm>
            <a:off x="445770" y="3669030"/>
            <a:ext cx="8215884" cy="685800"/>
          </a:xfrm>
          <a:prstGeom prst="rect">
            <a:avLst/>
          </a:prstGeom>
          <a:noFill/>
          <a:ln>
            <a:noFill/>
          </a:ln>
        </p:spPr>
        <p:txBody>
          <a:bodyPr anchorCtr="0" anchor="t" bIns="0" lIns="0" spcFirstLastPara="1" rIns="0" wrap="square" tIns="0">
            <a:noAutofit/>
          </a:bodyPr>
          <a:lstStyle/>
          <a:p>
            <a:pPr indent="-254000" lvl="0" marL="254000" marR="0" rtl="0" algn="l">
              <a:lnSpc>
                <a:spcPct val="140740"/>
              </a:lnSpc>
              <a:spcBef>
                <a:spcPts val="0"/>
              </a:spcBef>
              <a:spcAft>
                <a:spcPts val="0"/>
              </a:spcAft>
              <a:buClr>
                <a:srgbClr val="5E7480"/>
              </a:buClr>
              <a:buSzPts val="1000"/>
              <a:buFont typeface="Calibri"/>
              <a:buChar char="•"/>
            </a:pPr>
            <a:r>
              <a:rPr lang="en" sz="1000">
                <a:solidFill>
                  <a:srgbClr val="5E7480"/>
                </a:solidFill>
                <a:latin typeface="Calibri"/>
                <a:ea typeface="Calibri"/>
                <a:cs typeface="Calibri"/>
                <a:sym typeface="Calibri"/>
              </a:rPr>
              <a:t>A signed check is not scientific validation, and neither one authorises a product.</a:t>
            </a:r>
            <a:endParaRPr sz="1000">
              <a:solidFill>
                <a:schemeClr val="dk1"/>
              </a:solidFill>
              <a:latin typeface="Calibri"/>
              <a:ea typeface="Calibri"/>
              <a:cs typeface="Calibri"/>
              <a:sym typeface="Calibri"/>
            </a:endParaRPr>
          </a:p>
          <a:p>
            <a:pPr indent="-254000" lvl="0" marL="254000" marR="0" rtl="0" algn="l">
              <a:lnSpc>
                <a:spcPct val="140740"/>
              </a:lnSpc>
              <a:spcBef>
                <a:spcPts val="600"/>
              </a:spcBef>
              <a:spcAft>
                <a:spcPts val="0"/>
              </a:spcAft>
              <a:buClr>
                <a:srgbClr val="5E7480"/>
              </a:buClr>
              <a:buSzPts val="1000"/>
              <a:buFont typeface="Calibri"/>
              <a:buChar char="•"/>
            </a:pPr>
            <a:r>
              <a:rPr lang="en" sz="1000">
                <a:solidFill>
                  <a:srgbClr val="5E7480"/>
                </a:solidFill>
                <a:latin typeface="Calibri"/>
                <a:ea typeface="Calibri"/>
                <a:cs typeface="Calibri"/>
                <a:sym typeface="Calibri"/>
              </a:rPr>
              <a:t>Phase movement needs two distinct outside signers. The evaluator and the reviewer cannot be the same person, and neither can be us.</a:t>
            </a:r>
            <a:endParaRPr sz="1000">
              <a:solidFill>
                <a:schemeClr val="dk1"/>
              </a:solidFill>
              <a:latin typeface="Calibri"/>
              <a:ea typeface="Calibri"/>
              <a:cs typeface="Calibri"/>
              <a:sym typeface="Calibri"/>
            </a:endParaRPr>
          </a:p>
        </p:txBody>
      </p:sp>
      <p:sp>
        <p:nvSpPr>
          <p:cNvPr id="776" name="Google Shape;776;p43"/>
          <p:cNvSpPr/>
          <p:nvPr/>
        </p:nvSpPr>
        <p:spPr>
          <a:xfrm>
            <a:off x="445770" y="4828032"/>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Amphora Labs  ·  Commercial introduction  ·  August 2026</a:t>
            </a:r>
            <a:endParaRPr sz="700">
              <a:solidFill>
                <a:schemeClr val="dk1"/>
              </a:solidFill>
              <a:latin typeface="Calibri"/>
              <a:ea typeface="Calibri"/>
              <a:cs typeface="Calibri"/>
              <a:sym typeface="Calibri"/>
            </a:endParaRPr>
          </a:p>
        </p:txBody>
      </p:sp>
      <p:sp>
        <p:nvSpPr>
          <p:cNvPr id="777" name="Google Shape;777;p43"/>
          <p:cNvSpPr/>
          <p:nvPr/>
        </p:nvSpPr>
        <p:spPr>
          <a:xfrm>
            <a:off x="8286521" y="4828032"/>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28</a:t>
            </a:r>
            <a:endParaRPr sz="7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782" name="Shape 782"/>
        <p:cNvGrpSpPr/>
        <p:nvPr/>
      </p:nvGrpSpPr>
      <p:grpSpPr>
        <a:xfrm>
          <a:off x="0" y="0"/>
          <a:ext cx="0" cy="0"/>
          <a:chOff x="0" y="0"/>
          <a:chExt cx="0" cy="0"/>
        </a:xfrm>
      </p:grpSpPr>
      <p:sp>
        <p:nvSpPr>
          <p:cNvPr id="783" name="Google Shape;783;p44"/>
          <p:cNvSpPr/>
          <p:nvPr/>
        </p:nvSpPr>
        <p:spPr>
          <a:xfrm>
            <a:off x="445770" y="377190"/>
            <a:ext cx="7543800"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25A1E"/>
              </a:buClr>
              <a:buSzPts val="800"/>
              <a:buFont typeface="Calibri"/>
              <a:buNone/>
            </a:pPr>
            <a:r>
              <a:rPr b="1" lang="en" sz="800">
                <a:solidFill>
                  <a:srgbClr val="C25A1E"/>
                </a:solidFill>
                <a:latin typeface="Calibri"/>
                <a:ea typeface="Calibri"/>
                <a:cs typeface="Calibri"/>
                <a:sym typeface="Calibri"/>
              </a:rPr>
              <a:t>APPENDIX C</a:t>
            </a:r>
            <a:endParaRPr sz="800">
              <a:solidFill>
                <a:schemeClr val="dk1"/>
              </a:solidFill>
              <a:latin typeface="Calibri"/>
              <a:ea typeface="Calibri"/>
              <a:cs typeface="Calibri"/>
              <a:sym typeface="Calibri"/>
            </a:endParaRPr>
          </a:p>
        </p:txBody>
      </p:sp>
      <p:sp>
        <p:nvSpPr>
          <p:cNvPr id="784" name="Google Shape;784;p44"/>
          <p:cNvSpPr/>
          <p:nvPr/>
        </p:nvSpPr>
        <p:spPr>
          <a:xfrm>
            <a:off x="445770" y="582930"/>
            <a:ext cx="7955280" cy="5829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333D"/>
              </a:buClr>
              <a:buSzPts val="2300"/>
              <a:buFont typeface="Cambria"/>
              <a:buNone/>
            </a:pPr>
            <a:r>
              <a:rPr b="1" lang="en" sz="2300">
                <a:solidFill>
                  <a:srgbClr val="16333D"/>
                </a:solidFill>
                <a:latin typeface="Cambria"/>
                <a:ea typeface="Cambria"/>
                <a:cs typeface="Cambria"/>
                <a:sym typeface="Cambria"/>
              </a:rPr>
              <a:t>Data and rights.</a:t>
            </a:r>
            <a:endParaRPr sz="2300">
              <a:solidFill>
                <a:schemeClr val="dk1"/>
              </a:solidFill>
              <a:latin typeface="Calibri"/>
              <a:ea typeface="Calibri"/>
              <a:cs typeface="Calibri"/>
              <a:sym typeface="Calibri"/>
            </a:endParaRPr>
          </a:p>
        </p:txBody>
      </p:sp>
      <p:sp>
        <p:nvSpPr>
          <p:cNvPr id="785" name="Google Shape;785;p44"/>
          <p:cNvSpPr/>
          <p:nvPr/>
        </p:nvSpPr>
        <p:spPr>
          <a:xfrm>
            <a:off x="445770" y="1165860"/>
            <a:ext cx="3991356" cy="1508760"/>
          </a:xfrm>
          <a:prstGeom prst="roundRect">
            <a:avLst>
              <a:gd fmla="val 2727"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86" name="Google Shape;786;p44"/>
          <p:cNvSpPr/>
          <p:nvPr/>
        </p:nvSpPr>
        <p:spPr>
          <a:xfrm>
            <a:off x="678942" y="1316736"/>
            <a:ext cx="3497580" cy="42519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333D"/>
              </a:buClr>
              <a:buSzPts val="1200"/>
              <a:buFont typeface="Cambria"/>
              <a:buNone/>
            </a:pPr>
            <a:r>
              <a:rPr b="1" lang="en" sz="1200">
                <a:solidFill>
                  <a:srgbClr val="16333D"/>
                </a:solidFill>
                <a:latin typeface="Cambria"/>
                <a:ea typeface="Cambria"/>
                <a:cs typeface="Cambria"/>
                <a:sym typeface="Cambria"/>
              </a:rPr>
              <a:t>What the models are trained and benchmarked on</a:t>
            </a:r>
            <a:endParaRPr sz="1200">
              <a:solidFill>
                <a:schemeClr val="dk1"/>
              </a:solidFill>
              <a:latin typeface="Calibri"/>
              <a:ea typeface="Calibri"/>
              <a:cs typeface="Calibri"/>
              <a:sym typeface="Calibri"/>
            </a:endParaRPr>
          </a:p>
        </p:txBody>
      </p:sp>
      <p:sp>
        <p:nvSpPr>
          <p:cNvPr id="787" name="Google Shape;787;p44"/>
          <p:cNvSpPr/>
          <p:nvPr/>
        </p:nvSpPr>
        <p:spPr>
          <a:xfrm>
            <a:off x="678942" y="1755648"/>
            <a:ext cx="3497580" cy="82296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Public sources with recorded licences: polymer property and structure databases, solubility and density corpora, reaction datasets, corrosion datasets and public process-control data. Every source is normalised, hashed and assigned to a named module before any model may use it.</a:t>
            </a:r>
            <a:endParaRPr sz="900">
              <a:solidFill>
                <a:schemeClr val="dk1"/>
              </a:solidFill>
              <a:latin typeface="Calibri"/>
              <a:ea typeface="Calibri"/>
              <a:cs typeface="Calibri"/>
              <a:sym typeface="Calibri"/>
            </a:endParaRPr>
          </a:p>
        </p:txBody>
      </p:sp>
      <p:sp>
        <p:nvSpPr>
          <p:cNvPr id="788" name="Google Shape;788;p44"/>
          <p:cNvSpPr/>
          <p:nvPr/>
        </p:nvSpPr>
        <p:spPr>
          <a:xfrm>
            <a:off x="4670298" y="1165860"/>
            <a:ext cx="3991356" cy="1508760"/>
          </a:xfrm>
          <a:prstGeom prst="roundRect">
            <a:avLst>
              <a:gd fmla="val 2727"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89" name="Google Shape;789;p44"/>
          <p:cNvSpPr/>
          <p:nvPr/>
        </p:nvSpPr>
        <p:spPr>
          <a:xfrm>
            <a:off x="4903470" y="1316736"/>
            <a:ext cx="3497580" cy="42519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333D"/>
              </a:buClr>
              <a:buSzPts val="1200"/>
              <a:buFont typeface="Cambria"/>
              <a:buNone/>
            </a:pPr>
            <a:r>
              <a:rPr b="1" lang="en" sz="1200">
                <a:solidFill>
                  <a:srgbClr val="16333D"/>
                </a:solidFill>
                <a:latin typeface="Cambria"/>
                <a:ea typeface="Cambria"/>
                <a:cs typeface="Cambria"/>
                <a:sym typeface="Cambria"/>
              </a:rPr>
              <a:t>Rights quarantine</a:t>
            </a:r>
            <a:endParaRPr sz="1200">
              <a:solidFill>
                <a:schemeClr val="dk1"/>
              </a:solidFill>
              <a:latin typeface="Calibri"/>
              <a:ea typeface="Calibri"/>
              <a:cs typeface="Calibri"/>
              <a:sym typeface="Calibri"/>
            </a:endParaRPr>
          </a:p>
        </p:txBody>
      </p:sp>
      <p:sp>
        <p:nvSpPr>
          <p:cNvPr id="790" name="Google Shape;790;p44"/>
          <p:cNvSpPr/>
          <p:nvPr/>
        </p:nvSpPr>
        <p:spPr>
          <a:xfrm>
            <a:off x="4903470" y="1755648"/>
            <a:ext cx="3497580" cy="82296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Material with unresolved licensing is held out of ranking and promotion evidence entirely. Having a file locally is not permission to use it, and we enforce that in code rather than in policy.</a:t>
            </a:r>
            <a:endParaRPr sz="900">
              <a:solidFill>
                <a:schemeClr val="dk1"/>
              </a:solidFill>
              <a:latin typeface="Calibri"/>
              <a:ea typeface="Calibri"/>
              <a:cs typeface="Calibri"/>
              <a:sym typeface="Calibri"/>
            </a:endParaRPr>
          </a:p>
        </p:txBody>
      </p:sp>
      <p:sp>
        <p:nvSpPr>
          <p:cNvPr id="791" name="Google Shape;791;p44"/>
          <p:cNvSpPr/>
          <p:nvPr/>
        </p:nvSpPr>
        <p:spPr>
          <a:xfrm>
            <a:off x="445770" y="2846070"/>
            <a:ext cx="3991356" cy="1508760"/>
          </a:xfrm>
          <a:prstGeom prst="roundRect">
            <a:avLst>
              <a:gd fmla="val 2727" name="adj"/>
            </a:avLst>
          </a:prstGeom>
          <a:solidFill>
            <a:srgbClr val="0B2430"/>
          </a:solidFill>
          <a:ln cap="flat" cmpd="sng" w="12700">
            <a:solidFill>
              <a:srgbClr val="0B2430"/>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92" name="Google Shape;792;p44"/>
          <p:cNvSpPr/>
          <p:nvPr/>
        </p:nvSpPr>
        <p:spPr>
          <a:xfrm>
            <a:off x="678942" y="2996946"/>
            <a:ext cx="3497580" cy="42519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200"/>
              <a:buFont typeface="Cambria"/>
              <a:buNone/>
            </a:pPr>
            <a:r>
              <a:rPr b="1" lang="en" sz="1200">
                <a:solidFill>
                  <a:srgbClr val="FFFFFF"/>
                </a:solidFill>
                <a:latin typeface="Cambria"/>
                <a:ea typeface="Cambria"/>
                <a:cs typeface="Cambria"/>
                <a:sym typeface="Cambria"/>
              </a:rPr>
              <a:t>Your data</a:t>
            </a:r>
            <a:endParaRPr sz="1200">
              <a:solidFill>
                <a:schemeClr val="dk1"/>
              </a:solidFill>
              <a:latin typeface="Calibri"/>
              <a:ea typeface="Calibri"/>
              <a:cs typeface="Calibri"/>
              <a:sym typeface="Calibri"/>
            </a:endParaRPr>
          </a:p>
        </p:txBody>
      </p:sp>
      <p:sp>
        <p:nvSpPr>
          <p:cNvPr id="793" name="Google Shape;793;p44"/>
          <p:cNvSpPr/>
          <p:nvPr/>
        </p:nvSpPr>
        <p:spPr>
          <a:xfrm>
            <a:off x="678942" y="3435858"/>
            <a:ext cx="3497580" cy="82296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9FB6BF"/>
              </a:buClr>
              <a:buSzPts val="900"/>
              <a:buFont typeface="Calibri"/>
              <a:buNone/>
            </a:pPr>
            <a:r>
              <a:rPr lang="en" sz="900">
                <a:solidFill>
                  <a:srgbClr val="9FB6BF"/>
                </a:solidFill>
                <a:latin typeface="Calibri"/>
                <a:ea typeface="Calibri"/>
                <a:cs typeface="Calibri"/>
                <a:sym typeface="Calibri"/>
              </a:rPr>
              <a:t>Constraint data you provide, including equipment, tolerances, supplier terms and qualification history, is bound to your engagement, tracked with custody, and does not enter the general model. That is a contract term.</a:t>
            </a:r>
            <a:endParaRPr sz="900">
              <a:solidFill>
                <a:schemeClr val="dk1"/>
              </a:solidFill>
              <a:latin typeface="Calibri"/>
              <a:ea typeface="Calibri"/>
              <a:cs typeface="Calibri"/>
              <a:sym typeface="Calibri"/>
            </a:endParaRPr>
          </a:p>
        </p:txBody>
      </p:sp>
      <p:sp>
        <p:nvSpPr>
          <p:cNvPr id="794" name="Google Shape;794;p44"/>
          <p:cNvSpPr/>
          <p:nvPr/>
        </p:nvSpPr>
        <p:spPr>
          <a:xfrm>
            <a:off x="4670298" y="2846070"/>
            <a:ext cx="3991356" cy="1508760"/>
          </a:xfrm>
          <a:prstGeom prst="roundRect">
            <a:avLst>
              <a:gd fmla="val 2727" name="adj"/>
            </a:avLst>
          </a:prstGeom>
          <a:solidFill>
            <a:srgbClr val="EDF1F2"/>
          </a:solidFill>
          <a:ln cap="flat" cmpd="sng" w="12700">
            <a:solidFill>
              <a:srgbClr val="EDF1F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95" name="Google Shape;795;p44"/>
          <p:cNvSpPr/>
          <p:nvPr/>
        </p:nvSpPr>
        <p:spPr>
          <a:xfrm>
            <a:off x="4903470" y="2996946"/>
            <a:ext cx="3497580" cy="42519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333D"/>
              </a:buClr>
              <a:buSzPts val="1200"/>
              <a:buFont typeface="Cambria"/>
              <a:buNone/>
            </a:pPr>
            <a:r>
              <a:rPr b="1" lang="en" sz="1200">
                <a:solidFill>
                  <a:srgbClr val="16333D"/>
                </a:solidFill>
                <a:latin typeface="Cambria"/>
                <a:ea typeface="Cambria"/>
                <a:cs typeface="Cambria"/>
                <a:sym typeface="Cambria"/>
              </a:rPr>
              <a:t>Freedom to operate</a:t>
            </a:r>
            <a:endParaRPr sz="1200">
              <a:solidFill>
                <a:schemeClr val="dk1"/>
              </a:solidFill>
              <a:latin typeface="Calibri"/>
              <a:ea typeface="Calibri"/>
              <a:cs typeface="Calibri"/>
              <a:sym typeface="Calibri"/>
            </a:endParaRPr>
          </a:p>
        </p:txBody>
      </p:sp>
      <p:sp>
        <p:nvSpPr>
          <p:cNvPr id="796" name="Google Shape;796;p44"/>
          <p:cNvSpPr/>
          <p:nvPr/>
        </p:nvSpPr>
        <p:spPr>
          <a:xfrm>
            <a:off x="4903470" y="3435858"/>
            <a:ext cx="3497580" cy="82296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5E7480"/>
              </a:buClr>
              <a:buSzPts val="900"/>
              <a:buFont typeface="Calibri"/>
              <a:buNone/>
            </a:pPr>
            <a:r>
              <a:rPr lang="en" sz="900">
                <a:solidFill>
                  <a:srgbClr val="5E7480"/>
                </a:solidFill>
                <a:latin typeface="Calibri"/>
                <a:ea typeface="Calibri"/>
                <a:cs typeface="Calibri"/>
                <a:sym typeface="Calibri"/>
              </a:rPr>
              <a:t>The system flags patent and claim-category risk for review. It does not produce a legal opinion and is not permitted to. That call belongs to counsel.</a:t>
            </a:r>
            <a:endParaRPr sz="900">
              <a:solidFill>
                <a:schemeClr val="dk1"/>
              </a:solidFill>
              <a:latin typeface="Calibri"/>
              <a:ea typeface="Calibri"/>
              <a:cs typeface="Calibri"/>
              <a:sym typeface="Calibri"/>
            </a:endParaRPr>
          </a:p>
        </p:txBody>
      </p:sp>
      <p:sp>
        <p:nvSpPr>
          <p:cNvPr id="797" name="Google Shape;797;p44"/>
          <p:cNvSpPr/>
          <p:nvPr/>
        </p:nvSpPr>
        <p:spPr>
          <a:xfrm>
            <a:off x="445770" y="4629150"/>
            <a:ext cx="6172200" cy="1783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Amphora Labs  ·  Commercial introduction  ·  August 2026  ·  amphoralabs.io</a:t>
            </a:r>
            <a:endParaRPr sz="700">
              <a:solidFill>
                <a:schemeClr val="dk1"/>
              </a:solidFill>
              <a:latin typeface="Calibri"/>
              <a:ea typeface="Calibri"/>
              <a:cs typeface="Calibri"/>
              <a:sym typeface="Calibri"/>
            </a:endParaRPr>
          </a:p>
        </p:txBody>
      </p:sp>
      <p:sp>
        <p:nvSpPr>
          <p:cNvPr id="798" name="Google Shape;798;p44"/>
          <p:cNvSpPr/>
          <p:nvPr/>
        </p:nvSpPr>
        <p:spPr>
          <a:xfrm>
            <a:off x="8286521" y="4629150"/>
            <a:ext cx="411480" cy="17830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7480"/>
              </a:buClr>
              <a:buSzPts val="700"/>
              <a:buFont typeface="Calibri"/>
              <a:buNone/>
            </a:pPr>
            <a:r>
              <a:rPr lang="en" sz="700">
                <a:solidFill>
                  <a:srgbClr val="5E7480"/>
                </a:solidFill>
                <a:latin typeface="Calibri"/>
                <a:ea typeface="Calibri"/>
                <a:cs typeface="Calibri"/>
                <a:sym typeface="Calibri"/>
              </a:rPr>
              <a:t>29</a:t>
            </a:r>
            <a:endParaRPr sz="7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803" name="Shape 803"/>
        <p:cNvGrpSpPr/>
        <p:nvPr/>
      </p:nvGrpSpPr>
      <p:grpSpPr>
        <a:xfrm>
          <a:off x="0" y="0"/>
          <a:ext cx="0" cy="0"/>
          <a:chOff x="0" y="0"/>
          <a:chExt cx="0" cy="0"/>
        </a:xfrm>
      </p:grpSpPr>
      <p:sp>
        <p:nvSpPr>
          <p:cNvPr id="804" name="Google Shape;804;p45"/>
          <p:cNvSpPr/>
          <p:nvPr/>
        </p:nvSpPr>
        <p:spPr>
          <a:xfrm>
            <a:off x="476250" y="342675"/>
            <a:ext cx="9010800" cy="181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25A1E"/>
              </a:buClr>
              <a:buSzPts val="900"/>
              <a:buFont typeface="Source Sans 3"/>
              <a:buNone/>
            </a:pPr>
            <a:r>
              <a:rPr b="1" lang="en" sz="900">
                <a:solidFill>
                  <a:srgbClr val="C25A1E"/>
                </a:solidFill>
                <a:latin typeface="Source Sans 3"/>
                <a:ea typeface="Source Sans 3"/>
                <a:cs typeface="Source Sans 3"/>
                <a:sym typeface="Source Sans 3"/>
              </a:rPr>
              <a:t>PROGRESS</a:t>
            </a:r>
            <a:endParaRPr b="0" i="0" sz="900" u="none" cap="none" strike="noStrike">
              <a:solidFill>
                <a:schemeClr val="dk1"/>
              </a:solidFill>
              <a:latin typeface="Calibri"/>
              <a:ea typeface="Calibri"/>
              <a:cs typeface="Calibri"/>
              <a:sym typeface="Calibri"/>
            </a:endParaRPr>
          </a:p>
        </p:txBody>
      </p:sp>
      <p:sp>
        <p:nvSpPr>
          <p:cNvPr id="805" name="Google Shape;805;p45"/>
          <p:cNvSpPr/>
          <p:nvPr/>
        </p:nvSpPr>
        <p:spPr>
          <a:xfrm>
            <a:off x="476250" y="714375"/>
            <a:ext cx="9010800" cy="352200"/>
          </a:xfrm>
          <a:prstGeom prst="rect">
            <a:avLst/>
          </a:prstGeom>
          <a:noFill/>
          <a:ln>
            <a:noFill/>
          </a:ln>
        </p:spPr>
        <p:txBody>
          <a:bodyPr anchorCtr="0" anchor="t" bIns="12700" lIns="12700" spcFirstLastPara="1" rIns="12700" wrap="square" tIns="12700">
            <a:noAutofit/>
          </a:bodyPr>
          <a:lstStyle/>
          <a:p>
            <a:pPr indent="0" lvl="0" marL="0" marR="0" rtl="0" algn="l">
              <a:lnSpc>
                <a:spcPct val="77304"/>
              </a:lnSpc>
              <a:spcBef>
                <a:spcPts val="0"/>
              </a:spcBef>
              <a:spcAft>
                <a:spcPts val="0"/>
              </a:spcAft>
              <a:buClr>
                <a:srgbClr val="0B2430"/>
              </a:buClr>
              <a:buSzPts val="2500"/>
              <a:buFont typeface="Source Serif 4"/>
              <a:buNone/>
            </a:pPr>
            <a:r>
              <a:rPr b="1" i="0" lang="en" sz="2500" u="none" cap="none" strike="noStrike">
                <a:solidFill>
                  <a:srgbClr val="0B2430"/>
                </a:solidFill>
                <a:latin typeface="Cambria"/>
                <a:ea typeface="Cambria"/>
                <a:cs typeface="Cambria"/>
                <a:sym typeface="Cambria"/>
              </a:rPr>
              <a:t>Where we are.</a:t>
            </a:r>
            <a:endParaRPr b="1" i="0" sz="2500" u="none" cap="none" strike="noStrike">
              <a:solidFill>
                <a:schemeClr val="dk1"/>
              </a:solidFill>
              <a:latin typeface="Cambria"/>
              <a:ea typeface="Cambria"/>
              <a:cs typeface="Cambria"/>
              <a:sym typeface="Cambria"/>
            </a:endParaRPr>
          </a:p>
        </p:txBody>
      </p:sp>
      <p:sp>
        <p:nvSpPr>
          <p:cNvPr id="806" name="Google Shape;806;p45"/>
          <p:cNvSpPr/>
          <p:nvPr/>
        </p:nvSpPr>
        <p:spPr>
          <a:xfrm>
            <a:off x="476250" y="1257075"/>
            <a:ext cx="4971300" cy="2403000"/>
          </a:xfrm>
          <a:prstGeom prst="rect">
            <a:avLst/>
          </a:prstGeom>
          <a:solidFill>
            <a:srgbClr val="EDF1F2"/>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07" name="Google Shape;807;p45"/>
          <p:cNvSpPr/>
          <p:nvPr/>
        </p:nvSpPr>
        <p:spPr>
          <a:xfrm>
            <a:off x="685800" y="1447577"/>
            <a:ext cx="3876600" cy="195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2E6F84"/>
              </a:buClr>
              <a:buSzPts val="1000"/>
              <a:buFont typeface="Source Sans 3"/>
              <a:buNone/>
            </a:pPr>
            <a:r>
              <a:rPr b="1" i="0" lang="en" sz="1000" u="none" cap="none" strike="noStrike">
                <a:solidFill>
                  <a:srgbClr val="2E6F84"/>
                </a:solidFill>
                <a:latin typeface="Source Sans 3"/>
                <a:ea typeface="Source Sans 3"/>
                <a:cs typeface="Source Sans 3"/>
                <a:sym typeface="Source Sans 3"/>
              </a:rPr>
              <a:t>REAL TODAY</a:t>
            </a:r>
            <a:endParaRPr b="0" i="0" sz="1000" u="none" cap="none" strike="noStrike">
              <a:solidFill>
                <a:schemeClr val="dk1"/>
              </a:solidFill>
              <a:latin typeface="Calibri"/>
              <a:ea typeface="Calibri"/>
              <a:cs typeface="Calibri"/>
              <a:sym typeface="Calibri"/>
            </a:endParaRPr>
          </a:p>
        </p:txBody>
      </p:sp>
      <p:sp>
        <p:nvSpPr>
          <p:cNvPr id="808" name="Google Shape;808;p45"/>
          <p:cNvSpPr/>
          <p:nvPr/>
        </p:nvSpPr>
        <p:spPr>
          <a:xfrm>
            <a:off x="685800" y="1747615"/>
            <a:ext cx="200100" cy="190500"/>
          </a:xfrm>
          <a:prstGeom prst="rect">
            <a:avLst/>
          </a:prstGeom>
          <a:noFill/>
          <a:ln>
            <a:noFill/>
          </a:ln>
        </p:spPr>
        <p:txBody>
          <a:bodyPr anchorCtr="0" anchor="t" bIns="12700" lIns="12700" spcFirstLastPara="1" rIns="12700" wrap="square" tIns="12700">
            <a:noAutofit/>
          </a:bodyPr>
          <a:lstStyle/>
          <a:p>
            <a:pPr indent="0" lvl="0" marL="0" marR="0" rtl="0" algn="l">
              <a:lnSpc>
                <a:spcPct val="84706"/>
              </a:lnSpc>
              <a:spcBef>
                <a:spcPts val="0"/>
              </a:spcBef>
              <a:spcAft>
                <a:spcPts val="0"/>
              </a:spcAft>
              <a:buClr>
                <a:srgbClr val="2E6F84"/>
              </a:buClr>
              <a:buSzPts val="1100"/>
              <a:buFont typeface="Source Sans 3"/>
              <a:buNone/>
            </a:pPr>
            <a:r>
              <a:rPr b="0" i="0" lang="en" sz="1100" u="none" cap="none" strike="noStrike">
                <a:solidFill>
                  <a:srgbClr val="2E6F84"/>
                </a:solidFill>
                <a:latin typeface="Source Sans 3"/>
                <a:ea typeface="Source Sans 3"/>
                <a:cs typeface="Source Sans 3"/>
                <a:sym typeface="Source Sans 3"/>
              </a:rPr>
              <a:t>✓</a:t>
            </a:r>
            <a:endParaRPr b="0" i="0" sz="1100" u="none" cap="none" strike="noStrike">
              <a:solidFill>
                <a:schemeClr val="dk1"/>
              </a:solidFill>
              <a:latin typeface="Calibri"/>
              <a:ea typeface="Calibri"/>
              <a:cs typeface="Calibri"/>
              <a:sym typeface="Calibri"/>
            </a:endParaRPr>
          </a:p>
        </p:txBody>
      </p:sp>
      <p:sp>
        <p:nvSpPr>
          <p:cNvPr id="809" name="Google Shape;809;p45"/>
          <p:cNvSpPr/>
          <p:nvPr/>
        </p:nvSpPr>
        <p:spPr>
          <a:xfrm>
            <a:off x="1052653" y="1747613"/>
            <a:ext cx="4543800" cy="179100"/>
          </a:xfrm>
          <a:prstGeom prst="rect">
            <a:avLst/>
          </a:prstGeom>
          <a:noFill/>
          <a:ln>
            <a:noFill/>
          </a:ln>
        </p:spPr>
        <p:txBody>
          <a:bodyPr anchorCtr="0" anchor="t" bIns="12700" lIns="12700" spcFirstLastPara="1" rIns="12700" wrap="square" tIns="12700">
            <a:noAutofit/>
          </a:bodyPr>
          <a:lstStyle/>
          <a:p>
            <a:pPr indent="0" lvl="0" marL="0" marR="0" rtl="0" algn="l">
              <a:lnSpc>
                <a:spcPct val="98824"/>
              </a:lnSpc>
              <a:spcBef>
                <a:spcPts val="0"/>
              </a:spcBef>
              <a:spcAft>
                <a:spcPts val="0"/>
              </a:spcAft>
              <a:buClr>
                <a:srgbClr val="0B2430"/>
              </a:buClr>
              <a:buSzPts val="900"/>
              <a:buFont typeface="Source Sans 3"/>
              <a:buNone/>
            </a:pPr>
            <a:r>
              <a:rPr b="0" i="0" lang="en" sz="900" u="none" cap="none" strike="noStrike">
                <a:solidFill>
                  <a:srgbClr val="0B2430"/>
                </a:solidFill>
                <a:latin typeface="Source Sans 3"/>
                <a:ea typeface="Source Sans 3"/>
                <a:cs typeface="Source Sans 3"/>
                <a:sym typeface="Source Sans 3"/>
              </a:rPr>
              <a:t>The platform runs end to end on a real partner's written envelope</a:t>
            </a:r>
            <a:endParaRPr b="0" i="0" sz="900" u="none" cap="none" strike="noStrike">
              <a:solidFill>
                <a:schemeClr val="dk1"/>
              </a:solidFill>
              <a:latin typeface="Calibri"/>
              <a:ea typeface="Calibri"/>
              <a:cs typeface="Calibri"/>
              <a:sym typeface="Calibri"/>
            </a:endParaRPr>
          </a:p>
        </p:txBody>
      </p:sp>
      <p:sp>
        <p:nvSpPr>
          <p:cNvPr id="810" name="Google Shape;810;p45"/>
          <p:cNvSpPr/>
          <p:nvPr/>
        </p:nvSpPr>
        <p:spPr>
          <a:xfrm>
            <a:off x="685800" y="2023840"/>
            <a:ext cx="200100" cy="190500"/>
          </a:xfrm>
          <a:prstGeom prst="rect">
            <a:avLst/>
          </a:prstGeom>
          <a:noFill/>
          <a:ln>
            <a:noFill/>
          </a:ln>
        </p:spPr>
        <p:txBody>
          <a:bodyPr anchorCtr="0" anchor="t" bIns="12700" lIns="12700" spcFirstLastPara="1" rIns="12700" wrap="square" tIns="12700">
            <a:noAutofit/>
          </a:bodyPr>
          <a:lstStyle/>
          <a:p>
            <a:pPr indent="0" lvl="0" marL="0" marR="0" rtl="0" algn="l">
              <a:lnSpc>
                <a:spcPct val="84706"/>
              </a:lnSpc>
              <a:spcBef>
                <a:spcPts val="0"/>
              </a:spcBef>
              <a:spcAft>
                <a:spcPts val="0"/>
              </a:spcAft>
              <a:buClr>
                <a:srgbClr val="2E6F84"/>
              </a:buClr>
              <a:buSzPts val="1100"/>
              <a:buFont typeface="Source Sans 3"/>
              <a:buNone/>
            </a:pPr>
            <a:r>
              <a:rPr b="0" i="0" lang="en" sz="1100" u="none" cap="none" strike="noStrike">
                <a:solidFill>
                  <a:srgbClr val="2E6F84"/>
                </a:solidFill>
                <a:latin typeface="Source Sans 3"/>
                <a:ea typeface="Source Sans 3"/>
                <a:cs typeface="Source Sans 3"/>
                <a:sym typeface="Source Sans 3"/>
              </a:rPr>
              <a:t>✓</a:t>
            </a:r>
            <a:endParaRPr b="0" i="0" sz="1100" u="none" cap="none" strike="noStrike">
              <a:solidFill>
                <a:schemeClr val="dk1"/>
              </a:solidFill>
              <a:latin typeface="Calibri"/>
              <a:ea typeface="Calibri"/>
              <a:cs typeface="Calibri"/>
              <a:sym typeface="Calibri"/>
            </a:endParaRPr>
          </a:p>
        </p:txBody>
      </p:sp>
      <p:sp>
        <p:nvSpPr>
          <p:cNvPr id="811" name="Google Shape;811;p45"/>
          <p:cNvSpPr/>
          <p:nvPr/>
        </p:nvSpPr>
        <p:spPr>
          <a:xfrm>
            <a:off x="1052653" y="2023838"/>
            <a:ext cx="4254600" cy="339000"/>
          </a:xfrm>
          <a:prstGeom prst="rect">
            <a:avLst/>
          </a:prstGeom>
          <a:noFill/>
          <a:ln>
            <a:noFill/>
          </a:ln>
        </p:spPr>
        <p:txBody>
          <a:bodyPr anchorCtr="0" anchor="t" bIns="12700" lIns="12700" spcFirstLastPara="1" rIns="12700" wrap="square" tIns="12700">
            <a:noAutofit/>
          </a:bodyPr>
          <a:lstStyle/>
          <a:p>
            <a:pPr indent="0" lvl="0" marL="0" marR="0" rtl="0" algn="l">
              <a:lnSpc>
                <a:spcPct val="98824"/>
              </a:lnSpc>
              <a:spcBef>
                <a:spcPts val="0"/>
              </a:spcBef>
              <a:spcAft>
                <a:spcPts val="0"/>
              </a:spcAft>
              <a:buClr>
                <a:srgbClr val="0B2430"/>
              </a:buClr>
              <a:buSzPts val="900"/>
              <a:buFont typeface="Source Sans 3"/>
              <a:buNone/>
            </a:pPr>
            <a:r>
              <a:rPr b="0" i="0" lang="en" sz="900" u="none" cap="none" strike="noStrike">
                <a:solidFill>
                  <a:srgbClr val="0B2430"/>
                </a:solidFill>
                <a:latin typeface="Source Sans 3"/>
                <a:ea typeface="Source Sans 3"/>
                <a:cs typeface="Source Sans 3"/>
                <a:sym typeface="Source Sans 3"/>
              </a:rPr>
              <a:t>Benchmark wins on five properties against the strongest published methods</a:t>
            </a:r>
            <a:endParaRPr b="0" i="0" sz="900" u="none" cap="none" strike="noStrike">
              <a:solidFill>
                <a:schemeClr val="dk1"/>
              </a:solidFill>
              <a:latin typeface="Calibri"/>
              <a:ea typeface="Calibri"/>
              <a:cs typeface="Calibri"/>
              <a:sym typeface="Calibri"/>
            </a:endParaRPr>
          </a:p>
        </p:txBody>
      </p:sp>
      <p:sp>
        <p:nvSpPr>
          <p:cNvPr id="812" name="Google Shape;812;p45"/>
          <p:cNvSpPr/>
          <p:nvPr/>
        </p:nvSpPr>
        <p:spPr>
          <a:xfrm>
            <a:off x="685800" y="2448595"/>
            <a:ext cx="200100" cy="190500"/>
          </a:xfrm>
          <a:prstGeom prst="rect">
            <a:avLst/>
          </a:prstGeom>
          <a:noFill/>
          <a:ln>
            <a:noFill/>
          </a:ln>
        </p:spPr>
        <p:txBody>
          <a:bodyPr anchorCtr="0" anchor="t" bIns="12700" lIns="12700" spcFirstLastPara="1" rIns="12700" wrap="square" tIns="12700">
            <a:noAutofit/>
          </a:bodyPr>
          <a:lstStyle/>
          <a:p>
            <a:pPr indent="0" lvl="0" marL="0" marR="0" rtl="0" algn="l">
              <a:lnSpc>
                <a:spcPct val="84706"/>
              </a:lnSpc>
              <a:spcBef>
                <a:spcPts val="0"/>
              </a:spcBef>
              <a:spcAft>
                <a:spcPts val="0"/>
              </a:spcAft>
              <a:buClr>
                <a:srgbClr val="2E6F84"/>
              </a:buClr>
              <a:buSzPts val="1100"/>
              <a:buFont typeface="Source Sans 3"/>
              <a:buNone/>
            </a:pPr>
            <a:r>
              <a:rPr b="0" i="0" lang="en" sz="1100" u="none" cap="none" strike="noStrike">
                <a:solidFill>
                  <a:srgbClr val="2E6F84"/>
                </a:solidFill>
                <a:latin typeface="Source Sans 3"/>
                <a:ea typeface="Source Sans 3"/>
                <a:cs typeface="Source Sans 3"/>
                <a:sym typeface="Source Sans 3"/>
              </a:rPr>
              <a:t>✓</a:t>
            </a:r>
            <a:endParaRPr b="0" i="0" sz="1100" u="none" cap="none" strike="noStrike">
              <a:solidFill>
                <a:schemeClr val="dk1"/>
              </a:solidFill>
              <a:latin typeface="Calibri"/>
              <a:ea typeface="Calibri"/>
              <a:cs typeface="Calibri"/>
              <a:sym typeface="Calibri"/>
            </a:endParaRPr>
          </a:p>
        </p:txBody>
      </p:sp>
      <p:sp>
        <p:nvSpPr>
          <p:cNvPr id="813" name="Google Shape;813;p45"/>
          <p:cNvSpPr/>
          <p:nvPr/>
        </p:nvSpPr>
        <p:spPr>
          <a:xfrm>
            <a:off x="1052653" y="2448593"/>
            <a:ext cx="4254600" cy="339000"/>
          </a:xfrm>
          <a:prstGeom prst="rect">
            <a:avLst/>
          </a:prstGeom>
          <a:noFill/>
          <a:ln>
            <a:noFill/>
          </a:ln>
        </p:spPr>
        <p:txBody>
          <a:bodyPr anchorCtr="0" anchor="t" bIns="12700" lIns="12700" spcFirstLastPara="1" rIns="12700" wrap="square" tIns="12700">
            <a:noAutofit/>
          </a:bodyPr>
          <a:lstStyle/>
          <a:p>
            <a:pPr indent="0" lvl="0" marL="0" marR="0" rtl="0" algn="l">
              <a:lnSpc>
                <a:spcPct val="98824"/>
              </a:lnSpc>
              <a:spcBef>
                <a:spcPts val="0"/>
              </a:spcBef>
              <a:spcAft>
                <a:spcPts val="0"/>
              </a:spcAft>
              <a:buClr>
                <a:srgbClr val="0B2430"/>
              </a:buClr>
              <a:buSzPts val="900"/>
              <a:buFont typeface="Source Sans 3"/>
              <a:buNone/>
            </a:pPr>
            <a:r>
              <a:rPr b="0" i="0" lang="en" sz="900" u="none" cap="none" strike="noStrike">
                <a:solidFill>
                  <a:srgbClr val="0B2430"/>
                </a:solidFill>
                <a:latin typeface="Source Sans 3"/>
                <a:ea typeface="Source Sans 3"/>
                <a:cs typeface="Source Sans 3"/>
                <a:sym typeface="Source Sans 3"/>
              </a:rPr>
              <a:t>Memorandum of understanding signed with the largest U.S. Navy shipbuilder</a:t>
            </a:r>
            <a:endParaRPr b="0" i="0" sz="900" u="none" cap="none" strike="noStrike">
              <a:solidFill>
                <a:schemeClr val="dk1"/>
              </a:solidFill>
              <a:latin typeface="Calibri"/>
              <a:ea typeface="Calibri"/>
              <a:cs typeface="Calibri"/>
              <a:sym typeface="Calibri"/>
            </a:endParaRPr>
          </a:p>
        </p:txBody>
      </p:sp>
      <p:sp>
        <p:nvSpPr>
          <p:cNvPr id="814" name="Google Shape;814;p45"/>
          <p:cNvSpPr/>
          <p:nvPr/>
        </p:nvSpPr>
        <p:spPr>
          <a:xfrm>
            <a:off x="685800" y="2873350"/>
            <a:ext cx="200100" cy="190500"/>
          </a:xfrm>
          <a:prstGeom prst="rect">
            <a:avLst/>
          </a:prstGeom>
          <a:noFill/>
          <a:ln>
            <a:noFill/>
          </a:ln>
        </p:spPr>
        <p:txBody>
          <a:bodyPr anchorCtr="0" anchor="t" bIns="12700" lIns="12700" spcFirstLastPara="1" rIns="12700" wrap="square" tIns="12700">
            <a:noAutofit/>
          </a:bodyPr>
          <a:lstStyle/>
          <a:p>
            <a:pPr indent="0" lvl="0" marL="0" marR="0" rtl="0" algn="l">
              <a:lnSpc>
                <a:spcPct val="84706"/>
              </a:lnSpc>
              <a:spcBef>
                <a:spcPts val="0"/>
              </a:spcBef>
              <a:spcAft>
                <a:spcPts val="0"/>
              </a:spcAft>
              <a:buClr>
                <a:srgbClr val="2E6F84"/>
              </a:buClr>
              <a:buSzPts val="1100"/>
              <a:buFont typeface="Source Sans 3"/>
              <a:buNone/>
            </a:pPr>
            <a:r>
              <a:rPr b="0" i="0" lang="en" sz="1100" u="none" cap="none" strike="noStrike">
                <a:solidFill>
                  <a:srgbClr val="2E6F84"/>
                </a:solidFill>
                <a:latin typeface="Source Sans 3"/>
                <a:ea typeface="Source Sans 3"/>
                <a:cs typeface="Source Sans 3"/>
                <a:sym typeface="Source Sans 3"/>
              </a:rPr>
              <a:t>✓</a:t>
            </a:r>
            <a:endParaRPr b="0" i="0" sz="1100" u="none" cap="none" strike="noStrike">
              <a:solidFill>
                <a:schemeClr val="dk1"/>
              </a:solidFill>
              <a:latin typeface="Calibri"/>
              <a:ea typeface="Calibri"/>
              <a:cs typeface="Calibri"/>
              <a:sym typeface="Calibri"/>
            </a:endParaRPr>
          </a:p>
        </p:txBody>
      </p:sp>
      <p:sp>
        <p:nvSpPr>
          <p:cNvPr id="815" name="Google Shape;815;p45"/>
          <p:cNvSpPr/>
          <p:nvPr/>
        </p:nvSpPr>
        <p:spPr>
          <a:xfrm>
            <a:off x="1052653" y="2873348"/>
            <a:ext cx="4254600" cy="339000"/>
          </a:xfrm>
          <a:prstGeom prst="rect">
            <a:avLst/>
          </a:prstGeom>
          <a:noFill/>
          <a:ln>
            <a:noFill/>
          </a:ln>
        </p:spPr>
        <p:txBody>
          <a:bodyPr anchorCtr="0" anchor="t" bIns="12700" lIns="12700" spcFirstLastPara="1" rIns="12700" wrap="square" tIns="12700">
            <a:noAutofit/>
          </a:bodyPr>
          <a:lstStyle/>
          <a:p>
            <a:pPr indent="0" lvl="0" marL="0" marR="0" rtl="0" algn="l">
              <a:lnSpc>
                <a:spcPct val="98824"/>
              </a:lnSpc>
              <a:spcBef>
                <a:spcPts val="0"/>
              </a:spcBef>
              <a:spcAft>
                <a:spcPts val="0"/>
              </a:spcAft>
              <a:buClr>
                <a:srgbClr val="0B2430"/>
              </a:buClr>
              <a:buSzPts val="900"/>
              <a:buFont typeface="Source Sans 3"/>
              <a:buNone/>
            </a:pPr>
            <a:r>
              <a:rPr b="0" i="0" lang="en" sz="900" u="none" cap="none" strike="noStrike">
                <a:solidFill>
                  <a:srgbClr val="0B2430"/>
                </a:solidFill>
                <a:latin typeface="Source Sans 3"/>
                <a:ea typeface="Source Sans 3"/>
                <a:cs typeface="Source Sans 3"/>
                <a:sym typeface="Source Sans 3"/>
              </a:rPr>
              <a:t>Five laboratory partners lined up, including salt spray and corrosion testing</a:t>
            </a:r>
            <a:endParaRPr b="0" i="0" sz="900" u="none" cap="none" strike="noStrike">
              <a:solidFill>
                <a:schemeClr val="dk1"/>
              </a:solidFill>
              <a:latin typeface="Calibri"/>
              <a:ea typeface="Calibri"/>
              <a:cs typeface="Calibri"/>
              <a:sym typeface="Calibri"/>
            </a:endParaRPr>
          </a:p>
        </p:txBody>
      </p:sp>
      <p:sp>
        <p:nvSpPr>
          <p:cNvPr id="816" name="Google Shape;816;p45"/>
          <p:cNvSpPr/>
          <p:nvPr/>
        </p:nvSpPr>
        <p:spPr>
          <a:xfrm>
            <a:off x="685800" y="3298106"/>
            <a:ext cx="200100" cy="190500"/>
          </a:xfrm>
          <a:prstGeom prst="rect">
            <a:avLst/>
          </a:prstGeom>
          <a:noFill/>
          <a:ln>
            <a:noFill/>
          </a:ln>
        </p:spPr>
        <p:txBody>
          <a:bodyPr anchorCtr="0" anchor="t" bIns="12700" lIns="12700" spcFirstLastPara="1" rIns="12700" wrap="square" tIns="12700">
            <a:noAutofit/>
          </a:bodyPr>
          <a:lstStyle/>
          <a:p>
            <a:pPr indent="0" lvl="0" marL="0" marR="0" rtl="0" algn="l">
              <a:lnSpc>
                <a:spcPct val="84706"/>
              </a:lnSpc>
              <a:spcBef>
                <a:spcPts val="0"/>
              </a:spcBef>
              <a:spcAft>
                <a:spcPts val="0"/>
              </a:spcAft>
              <a:buClr>
                <a:srgbClr val="2E6F84"/>
              </a:buClr>
              <a:buSzPts val="1100"/>
              <a:buFont typeface="Source Sans 3"/>
              <a:buNone/>
            </a:pPr>
            <a:r>
              <a:rPr b="0" i="0" lang="en" sz="1100" u="none" cap="none" strike="noStrike">
                <a:solidFill>
                  <a:srgbClr val="2E6F84"/>
                </a:solidFill>
                <a:latin typeface="Source Sans 3"/>
                <a:ea typeface="Source Sans 3"/>
                <a:cs typeface="Source Sans 3"/>
                <a:sym typeface="Source Sans 3"/>
              </a:rPr>
              <a:t>✓</a:t>
            </a:r>
            <a:endParaRPr b="0" i="0" sz="1100" u="none" cap="none" strike="noStrike">
              <a:solidFill>
                <a:schemeClr val="dk1"/>
              </a:solidFill>
              <a:latin typeface="Calibri"/>
              <a:ea typeface="Calibri"/>
              <a:cs typeface="Calibri"/>
              <a:sym typeface="Calibri"/>
            </a:endParaRPr>
          </a:p>
        </p:txBody>
      </p:sp>
      <p:sp>
        <p:nvSpPr>
          <p:cNvPr id="817" name="Google Shape;817;p45"/>
          <p:cNvSpPr/>
          <p:nvPr/>
        </p:nvSpPr>
        <p:spPr>
          <a:xfrm>
            <a:off x="1052653" y="3298104"/>
            <a:ext cx="4543800" cy="179100"/>
          </a:xfrm>
          <a:prstGeom prst="rect">
            <a:avLst/>
          </a:prstGeom>
          <a:noFill/>
          <a:ln>
            <a:noFill/>
          </a:ln>
        </p:spPr>
        <p:txBody>
          <a:bodyPr anchorCtr="0" anchor="t" bIns="12700" lIns="12700" spcFirstLastPara="1" rIns="12700" wrap="square" tIns="12700">
            <a:noAutofit/>
          </a:bodyPr>
          <a:lstStyle/>
          <a:p>
            <a:pPr indent="0" lvl="0" marL="0" marR="0" rtl="0" algn="l">
              <a:lnSpc>
                <a:spcPct val="98824"/>
              </a:lnSpc>
              <a:spcBef>
                <a:spcPts val="0"/>
              </a:spcBef>
              <a:spcAft>
                <a:spcPts val="0"/>
              </a:spcAft>
              <a:buClr>
                <a:srgbClr val="0B2430"/>
              </a:buClr>
              <a:buSzPts val="900"/>
              <a:buFont typeface="Source Sans 3"/>
              <a:buNone/>
            </a:pPr>
            <a:r>
              <a:rPr b="0" i="0" lang="en" sz="900" u="none" cap="none" strike="noStrike">
                <a:solidFill>
                  <a:srgbClr val="0B2430"/>
                </a:solidFill>
                <a:latin typeface="Source Sans 3"/>
                <a:ea typeface="Source Sans 3"/>
                <a:cs typeface="Source Sans 3"/>
                <a:sym typeface="Source Sans 3"/>
              </a:rPr>
              <a:t>Daily checks running against our own claims</a:t>
            </a:r>
            <a:endParaRPr b="0" i="0" sz="900" u="none" cap="none" strike="noStrike">
              <a:solidFill>
                <a:schemeClr val="dk1"/>
              </a:solidFill>
              <a:latin typeface="Calibri"/>
              <a:ea typeface="Calibri"/>
              <a:cs typeface="Calibri"/>
              <a:sym typeface="Calibri"/>
            </a:endParaRPr>
          </a:p>
        </p:txBody>
      </p:sp>
      <p:sp>
        <p:nvSpPr>
          <p:cNvPr id="818" name="Google Shape;818;p45"/>
          <p:cNvSpPr/>
          <p:nvPr/>
        </p:nvSpPr>
        <p:spPr>
          <a:xfrm>
            <a:off x="8542697" y="4619625"/>
            <a:ext cx="163200" cy="181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E7480"/>
              </a:buClr>
              <a:buSzPts val="900"/>
              <a:buFont typeface="Source Sans 3"/>
              <a:buNone/>
            </a:pPr>
            <a:r>
              <a:rPr b="0" i="0" lang="en" sz="900" u="none" cap="none" strike="noStrike">
                <a:solidFill>
                  <a:srgbClr val="5E7480"/>
                </a:solidFill>
                <a:latin typeface="Source Sans 3"/>
                <a:ea typeface="Source Sans 3"/>
                <a:cs typeface="Source Sans 3"/>
                <a:sym typeface="Source Sans 3"/>
              </a:rPr>
              <a:t>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