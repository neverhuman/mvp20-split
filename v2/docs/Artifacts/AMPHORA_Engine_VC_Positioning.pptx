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Open on a buyer problem to validate, not a fabricated market statistic. Research objectives, evidence and constraints change. The proposed engine represents that changing decision process as an executable research map. The value hypotheses must be measured against the current workflow and credible incumbent/custom-integration alternatives.</a:t>
            </a:r>
          </a:p>
          <a:p/>
          <a:p>
            <a:r>
              <a:t>Amphora architecture is a proposed product direction. Existing numerical search/evidence code has been source-reviewed; full graph execution, biological evaluators and pathway evolution are not established as delivered. No commercial performance or exclusive novelty is claimed.</a:t>
            </a:r>
          </a:p>
          <a:p>
            <a:r>
              <a:t>Local basis: docs/Architecture/Graph_Native_Research_Engine.md; Product_Requirements.md; Evolutionary_Code_Reuse_Baseline.md.</a:t>
            </a:r>
          </a:p>
          <a:p>
            <a:r>
              <a:t>Competitive diligence: docs/Presentations/VC_Positioning_Research.md.</a:t>
            </a:r>
          </a:p>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There are two authored graphs: domain knowledge and executable campaigns. History/provenance is derived from runs. Target novelty is the integrated representation plus governed evolution of campaign topology, not merely a canvas, a chatbot or candidate optimization. This is a differentiation hypothesis, not evidence that no competitor has similar features or that the architecture is patentable. Existing code supports numerical/feature evolution; general pathway evolution remains future work.</a:t>
            </a:r>
          </a:p>
          <a:p/>
          <a:p>
            <a:r>
              <a:t>Amphora architecture is a proposed product direction. Existing numerical search/evidence code has been source-reviewed; full graph execution, biological evaluators and pathway evolution are not established as delivered. No commercial performance or exclusive novelty is claimed.</a:t>
            </a:r>
          </a:p>
          <a:p>
            <a:r>
              <a:t>Local basis: docs/Architecture/Graph_Native_Research_Engine.md; Product_Requirements.md; Evolutionary_Code_Reuse_Baseline.md.</a:t>
            </a:r>
          </a:p>
          <a:p>
            <a:r>
              <a:t>Competitive diligence: docs/Presentations/VC_Positioning_Research.md.</a:t>
            </a:r>
          </a:p>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These rows are summaries of advertised strengths, not mutually exclusive categories or claims about missing features. Citrine Catalyst already creates AI workflows and supports reviewed domain-knowledge edits. Automata explicitly documents graph tasks and conditionals. Benchling and Claude Science advertise scientific assistance and traceability. Recursion describes end-to-end discovery. Direct evaluation is needed to establish whether Amphora offers a differentiated bundle. We must not say only Amphora uses graphs, connects wet/dry research, retains lineage, or supports human review.</a:t>
            </a:r>
          </a:p>
          <a:p/>
          <a:p>
            <a:r>
              <a:t>Amphora architecture is a proposed product direction. Existing numerical search/evidence code has been source-reviewed; full graph execution, biological evaluators and pathway evolution are not established as delivered. No commercial performance or exclusive novelty is claimed.</a:t>
            </a:r>
          </a:p>
          <a:p>
            <a:r>
              <a:t>Local basis: docs/Architecture/Graph_Native_Research_Engine.md; Product_Requirements.md; Evolutionary_Code_Reuse_Baseline.md.</a:t>
            </a:r>
          </a:p>
          <a:p>
            <a:r>
              <a:t>Competitive diligence: docs/Presentations/VC_Positioning_Research.md.</a:t>
            </a:r>
          </a:p>
          <a:p/>
          <a:p>
            <a:r>
              <a:t>[S1] Benchling AI: https://www.benchling.com/ai (accessed 2026-09-16; vendor description)</a:t>
            </a:r>
          </a:p>
          <a:p>
            <a:r>
              <a:t>[S2] Citrine Catalyst: https://citrine.io/platform/citrine-catalyst/ (accessed 2026-09-16; vendor description)</a:t>
            </a:r>
          </a:p>
          <a:p>
            <a:r>
              <a:t>[S3] Citrine sequential learning: https://citrine.io/doe/ (accessed 2026-09-16; vendor description)</a:t>
            </a:r>
          </a:p>
          <a:p>
            <a:r>
              <a:t>[S4] Schrödinger active learning: https://www.schrodinger.com/platform/products/active-learning-applications/ (accessed 2026-09-16; vendor description)</a:t>
            </a:r>
          </a:p>
          <a:p>
            <a:r>
              <a:t>[S5] Synthace: https://www.synthace.com/what-we-do (accessed 2026-09-16; vendor description)</a:t>
            </a:r>
          </a:p>
          <a:p>
            <a:r>
              <a:t>[S6] Automata LINQ: https://docs.automata.tech/tasks-transport (accessed 2026-09-16; vendor description)</a:t>
            </a:r>
          </a:p>
          <a:p>
            <a:r>
              <a:t>[S7] Recursion OS: https://www.recursion.com/faq (accessed 2026-09-16; vendor description)</a:t>
            </a:r>
          </a:p>
          <a:p>
            <a:r>
              <a:t>[S8] Claude Science: https://www.anthropic.com/news/claude-science-ai-workbench (accessed 2026-09-16; vendor description)</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Why now is an inference from current vendor offerings in scientific AI, orchestration and automation, not a measured market-size trend. The proposed engineering work is a versioned interpreter, scientific applicability contracts, retained state/history, intervention controls and evaluation integration. A generic workflow runner can schedule tasks; assembling the required scientific behavior still requires implementation. Existing alternatives may satisfy some or all buyer needs; the build decision must be justified by a measured pilot rather than categorical dismissal.</a:t>
            </a:r>
          </a:p>
          <a:p/>
          <a:p>
            <a:r>
              <a:t>Amphora architecture is a proposed product direction. Existing numerical search/evidence code has been source-reviewed; full graph execution, biological evaluators and pathway evolution are not established as delivered. No commercial performance or exclusive novelty is claimed.</a:t>
            </a:r>
          </a:p>
          <a:p>
            <a:r>
              <a:t>Local basis: docs/Architecture/Graph_Native_Research_Engine.md; Product_Requirements.md; Evolutionary_Code_Reuse_Baseline.md.</a:t>
            </a:r>
          </a:p>
          <a:p>
            <a:r>
              <a:t>Competitive diligence: docs/Presentations/VC_Positioning_Research.md.</a:t>
            </a:r>
          </a:p>
          <a:p/>
          <a:p>
            <a:r>
              <a:t>[S1] Benchling AI: https://www.benchling.com/ai (accessed 2026-09-16; vendor description)</a:t>
            </a:r>
          </a:p>
          <a:p>
            <a:r>
              <a:t>[S2] Citrine Catalyst: https://citrine.io/platform/citrine-catalyst/ (accessed 2026-09-16; vendor description)</a:t>
            </a:r>
          </a:p>
          <a:p>
            <a:r>
              <a:t>[S6] Automata LINQ: https://docs.automata.tech/tasks-transport (accessed 2026-09-16; vendor description)</a:t>
            </a:r>
          </a:p>
          <a:p>
            <a:r>
              <a:t>[S8] Claude Science: https://www.anthropic.com/news/claude-science-ai-workbench (accessed 2026-09-16; vendor description)</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potential moat is outcome-linked campaign history plus validated capability adapters and integration into repeat workflows. The architecture alone is not a moat. Private project evidence cannot be pooled without rights; no universal network effect is assumed. Proposed commercial sequence: focused sponsored/product development programs, then validate repeatable platform or licensing demand. This is a hypothesis, not current customer, revenue or business-model evidence. The five-product brief informs examples without establishing their regulatory or market claims.</a:t>
            </a:r>
          </a:p>
          <a:p/>
          <a:p>
            <a:r>
              <a:t>Amphora architecture is a proposed product direction. Existing numerical search/evidence code has been source-reviewed; full graph execution, biological evaluators and pathway evolution are not established as delivered. No commercial performance or exclusive novelty is claimed.</a:t>
            </a:r>
          </a:p>
          <a:p>
            <a:r>
              <a:t>Local basis: docs/Architecture/Graph_Native_Research_Engine.md; Product_Requirements.md; Evolutionary_Code_Reuse_Baseline.md.</a:t>
            </a:r>
          </a:p>
          <a:p>
            <a:r>
              <a:t>Competitive diligence: docs/Presentations/VC_Positioning_Research.md.</a:t>
            </a:r>
          </a:p>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funding amount, revenue, partnerships or advantage percentage is supplied. Proposed first proof uses rod-depot and oral-matrix synthetic fixtures for software portability, followed separately by scientific validation and a cross-domain biological fixture. Generic graph runtime, full Studio, drug-specific science and pathway evolution remain work to do. Measure setup/change time, decision reconstruction, reuse, gate behavior and cost per reviewed decision under pre-agreed baselines. Do not describe historical source checks as current runtime certification.</a:t>
            </a:r>
          </a:p>
          <a:p/>
          <a:p>
            <a:r>
              <a:t>Amphora architecture is a proposed product direction. Existing numerical search/evidence code has been source-reviewed; full graph execution, biological evaluators and pathway evolution are not established as delivered. No commercial performance or exclusive novelty is claimed.</a:t>
            </a:r>
          </a:p>
          <a:p>
            <a:r>
              <a:t>Local basis: docs/Architecture/Graph_Native_Research_Engine.md; Product_Requirements.md; Evolutionary_Code_Reuse_Baseline.md.</a:t>
            </a:r>
          </a:p>
          <a:p>
            <a:r>
              <a:t>Competitive diligence: docs/Presentations/VC_Positioning_Research.md.</a:t>
            </a:r>
          </a:p>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Use this appendix for diligence. Competitor rows are not exhaustive comparisons and do not imply that omitted capabilities are absent. All evidence is from official sources; our intended architecture is from the local specifications. Local companion memo VC_Positioning_Research.md records the claims, boundaries and pilot questions.</a:t>
            </a:r>
          </a:p>
          <a:p/>
          <a:p>
            <a:r>
              <a:t>Amphora architecture is a proposed product direction. Existing numerical search/evidence code has been source-reviewed; full graph execution, biological evaluators and pathway evolution are not established as delivered. No commercial performance or exclusive novelty is claimed.</a:t>
            </a:r>
          </a:p>
          <a:p>
            <a:r>
              <a:t>Local basis: docs/Architecture/Graph_Native_Research_Engine.md; Product_Requirements.md; Evolutionary_Code_Reuse_Baseline.md.</a:t>
            </a:r>
          </a:p>
          <a:p>
            <a:r>
              <a:t>Competitive diligence: docs/Presentations/VC_Positioning_Research.md.</a:t>
            </a:r>
          </a:p>
          <a:p/>
          <a:p>
            <a:r>
              <a:t>[S1] Benchling AI: https://www.benchling.com/ai (accessed 2026-09-16; vendor description)</a:t>
            </a:r>
          </a:p>
          <a:p>
            <a:r>
              <a:t>[S2] Citrine Catalyst: https://citrine.io/platform/citrine-catalyst/ (accessed 2026-09-16; vendor description)</a:t>
            </a:r>
          </a:p>
          <a:p>
            <a:r>
              <a:t>[S3] Citrine sequential learning: https://citrine.io/doe/ (accessed 2026-09-16; vendor description)</a:t>
            </a:r>
          </a:p>
          <a:p>
            <a:r>
              <a:t>[S4] Schrödinger active learning: https://www.schrodinger.com/platform/products/active-learning-applications/ (accessed 2026-09-16; vendor description)</a:t>
            </a:r>
          </a:p>
          <a:p>
            <a:r>
              <a:t>[S5] Synthace: https://www.synthace.com/what-we-do (accessed 2026-09-16; vendor description)</a:t>
            </a:r>
          </a:p>
          <a:p>
            <a:r>
              <a:t>[S6] Automata LINQ: https://docs.automata.tech/tasks-transport (accessed 2026-09-16; vendor description)</a:t>
            </a:r>
          </a:p>
          <a:p>
            <a:r>
              <a:t>[S7] Recursion OS: https://www.recursion.com/faq (accessed 2026-09-16; vendor description)</a:t>
            </a:r>
          </a:p>
          <a:p>
            <a:r>
              <a:t>[S8] Claude Science: https://www.anthropic.com/news/claude-science-ai-workbench (accessed 2026-09-16; vendor description)</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www.benchling.com/ai" TargetMode="External"/><Relationship Id="rId3" Type="http://schemas.openxmlformats.org/officeDocument/2006/relationships/hyperlink" Target="https://citrine.io/platform/citrine-catalyst/" TargetMode="External"/><Relationship Id="rId4" Type="http://schemas.openxmlformats.org/officeDocument/2006/relationships/hyperlink" Target="https://www.synthace.com/what-we-do" TargetMode="External"/><Relationship Id="rId5" Type="http://schemas.openxmlformats.org/officeDocument/2006/relationships/hyperlink" Target="https://www.recursion.com/faq" TargetMode="External"/><Relationship Id="rId6" Type="http://schemas.openxmlformats.org/officeDocument/2006/relationships/hyperlink" Target="https://www.schrodinger.com/platform/products/active-learning-applications/" TargetMode="External"/><Relationship Id="rId7" Type="http://schemas.openxmlformats.org/officeDocument/2006/relationships/hyperlink" Target="https://docs.automata.tech/tasks-transport" TargetMode="External"/><Relationship Id="rId8" Type="http://schemas.openxmlformats.org/officeDocument/2006/relationships/hyperlink" Target="https://www.anthropic.com/news/claude-science-ai-workbench" TargetMode="External"/><Relationship Id="rId9"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www.benchling.com/ai" TargetMode="External"/><Relationship Id="rId3" Type="http://schemas.openxmlformats.org/officeDocument/2006/relationships/hyperlink" Target="https://citrine.io/platform/citrine-catalyst/" TargetMode="External"/><Relationship Id="rId4" Type="http://schemas.openxmlformats.org/officeDocument/2006/relationships/hyperlink" Target="https://docs.automata.tech/tasks-transport" TargetMode="External"/><Relationship Id="rId5" Type="http://schemas.openxmlformats.org/officeDocument/2006/relationships/hyperlink" Target="https://www.anthropic.com/news/claude-science-ai-workbench" TargetMode="External"/><Relationship Id="rId6"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www.benchling.com/ai" TargetMode="External"/><Relationship Id="rId3" Type="http://schemas.openxmlformats.org/officeDocument/2006/relationships/hyperlink" Target="https://citrine.io/platform/citrine-catalyst/" TargetMode="External"/><Relationship Id="rId4" Type="http://schemas.openxmlformats.org/officeDocument/2006/relationships/hyperlink" Target="https://citrine.io/doe/" TargetMode="External"/><Relationship Id="rId5" Type="http://schemas.openxmlformats.org/officeDocument/2006/relationships/hyperlink" Target="https://www.schrodinger.com/platform/products/active-learning-applications/" TargetMode="External"/><Relationship Id="rId6" Type="http://schemas.openxmlformats.org/officeDocument/2006/relationships/hyperlink" Target="https://www.synthace.com/what-we-do" TargetMode="External"/><Relationship Id="rId7" Type="http://schemas.openxmlformats.org/officeDocument/2006/relationships/hyperlink" Target="https://docs.automata.tech/tasks-transport" TargetMode="External"/><Relationship Id="rId8" Type="http://schemas.openxmlformats.org/officeDocument/2006/relationships/hyperlink" Target="https://www.recursion.com/faq" TargetMode="External"/><Relationship Id="rId9" Type="http://schemas.openxmlformats.org/officeDocument/2006/relationships/hyperlink" Target="https://www.anthropic.com/news/claude-science-ai-workbench" TargetMode="External"/><Relationship Id="rId10" Type="http://schemas.openxmlformats.org/officeDocument/2006/relationships/notesSlide" Target="../notesSlides/notesSlide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01D2C"/>
        </a:solidFill>
        <a:effectLst/>
      </p:bgPr>
    </p:bg>
    <p:spTree>
      <p:nvGrpSpPr>
        <p:cNvPr id="1" name=""/>
        <p:cNvGrpSpPr/>
        <p:nvPr/>
      </p:nvGrpSpPr>
      <p:grpSpPr/>
      <p:sp>
        <p:nvSpPr>
          <p:cNvPr id="2" name="TextBox 1"/>
          <p:cNvSpPr txBox="1"/>
          <p:nvPr/>
        </p:nvSpPr>
        <p:spPr>
          <a:xfrm>
            <a:off x="457200" y="274320"/>
            <a:ext cx="10972800" cy="228600"/>
          </a:xfrm>
          <a:prstGeom prst="rect">
            <a:avLst/>
          </a:prstGeom>
          <a:noFill/>
        </p:spPr>
        <p:txBody>
          <a:bodyPr wrap="square" tIns="0" bIns="0" lIns="0" rIns="0">
            <a:spAutoFit/>
          </a:bodyPr>
          <a:lstStyle/>
          <a:p>
            <a:pPr algn="l">
              <a:spcAft>
                <a:spcPts val="500"/>
              </a:spcAft>
              <a:defRPr sz="1000" b="1">
                <a:solidFill>
                  <a:srgbClr val="56D9BD"/>
                </a:solidFill>
                <a:latin typeface="Aptos"/>
              </a:defRPr>
            </a:pPr>
            <a:r>
              <a:t>THE OPPORTUNITY</a:t>
            </a:r>
          </a:p>
        </p:txBody>
      </p:sp>
      <p:sp>
        <p:nvSpPr>
          <p:cNvPr id="3" name="TextBox 2"/>
          <p:cNvSpPr txBox="1"/>
          <p:nvPr/>
        </p:nvSpPr>
        <p:spPr>
          <a:xfrm>
            <a:off x="457200" y="731520"/>
            <a:ext cx="11247120" cy="822960"/>
          </a:xfrm>
          <a:prstGeom prst="rect">
            <a:avLst/>
          </a:prstGeom>
          <a:noFill/>
        </p:spPr>
        <p:txBody>
          <a:bodyPr wrap="square" tIns="0" bIns="0" lIns="0" rIns="0">
            <a:spAutoFit/>
          </a:bodyPr>
          <a:lstStyle/>
          <a:p>
            <a:pPr algn="l">
              <a:spcAft>
                <a:spcPts val="500"/>
              </a:spcAft>
              <a:defRPr sz="3000" b="1">
                <a:solidFill>
                  <a:srgbClr val="F1F5F6"/>
                </a:solidFill>
                <a:latin typeface="Aptos"/>
              </a:defRPr>
            </a:pPr>
            <a:r>
              <a:t>Research changes. Its software should change with it.</a:t>
            </a:r>
          </a:p>
        </p:txBody>
      </p:sp>
      <p:sp>
        <p:nvSpPr>
          <p:cNvPr id="4" name="TextBox 3"/>
          <p:cNvSpPr txBox="1"/>
          <p:nvPr/>
        </p:nvSpPr>
        <p:spPr>
          <a:xfrm>
            <a:off x="475488" y="1673352"/>
            <a:ext cx="11064240" cy="512064"/>
          </a:xfrm>
          <a:prstGeom prst="rect">
            <a:avLst/>
          </a:prstGeom>
          <a:noFill/>
        </p:spPr>
        <p:txBody>
          <a:bodyPr wrap="square" tIns="0" bIns="0" lIns="0" rIns="0">
            <a:spAutoFit/>
          </a:bodyPr>
          <a:lstStyle/>
          <a:p>
            <a:pPr algn="l">
              <a:spcAft>
                <a:spcPts val="500"/>
              </a:spcAft>
              <a:defRPr sz="1600" b="0">
                <a:solidFill>
                  <a:srgbClr val="AFC1CE"/>
                </a:solidFill>
                <a:latin typeface="Aptos"/>
              </a:defRPr>
            </a:pPr>
            <a:r>
              <a:t>Amphora is building an engine for research pathways that adapt as evidence arrives.</a:t>
            </a:r>
          </a:p>
        </p:txBody>
      </p:sp>
      <p:cxnSp>
        <p:nvCxnSpPr>
          <p:cNvPr id="5" name="Connector 4"/>
          <p:cNvCxnSpPr/>
          <p:nvPr/>
        </p:nvCxnSpPr>
        <p:spPr>
          <a:xfrm>
            <a:off x="457200" y="6428232"/>
            <a:ext cx="11274552" cy="0"/>
          </a:xfrm>
          <a:prstGeom prst="line">
            <a:avLst/>
          </a:prstGeom>
          <a:ln w="8255">
            <a:solidFill>
              <a:srgbClr val="40586A"/>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457200" y="6547104"/>
            <a:ext cx="6400800" cy="173736"/>
          </a:xfrm>
          <a:prstGeom prst="rect">
            <a:avLst/>
          </a:prstGeom>
          <a:noFill/>
        </p:spPr>
        <p:txBody>
          <a:bodyPr wrap="square" tIns="0" bIns="0" lIns="0" rIns="0">
            <a:spAutoFit/>
          </a:bodyPr>
          <a:lstStyle/>
          <a:p>
            <a:pPr algn="l">
              <a:spcAft>
                <a:spcPts val="500"/>
              </a:spcAft>
              <a:defRPr sz="800" b="0">
                <a:solidFill>
                  <a:srgbClr val="AFC1CE"/>
                </a:solidFill>
                <a:latin typeface="Aptos"/>
              </a:defRPr>
            </a:pPr>
            <a:r>
              <a:t>AMPHORA  /  CONFIDENTIAL INVESTOR DISCUSSION  /  SEPTEMBER 2026</a:t>
            </a:r>
          </a:p>
        </p:txBody>
      </p:sp>
      <p:sp>
        <p:nvSpPr>
          <p:cNvPr id="7" name="TextBox 6"/>
          <p:cNvSpPr txBox="1"/>
          <p:nvPr/>
        </p:nvSpPr>
        <p:spPr>
          <a:xfrm>
            <a:off x="8366760" y="6528816"/>
            <a:ext cx="2788920" cy="201168"/>
          </a:xfrm>
          <a:prstGeom prst="rect">
            <a:avLst/>
          </a:prstGeom>
          <a:noFill/>
        </p:spPr>
        <p:txBody>
          <a:bodyPr wrap="square" tIns="0" bIns="0" lIns="0" rIns="0">
            <a:spAutoFit/>
          </a:bodyPr>
          <a:lstStyle/>
          <a:p>
            <a:pPr algn="r">
              <a:spcAft>
                <a:spcPts val="500"/>
              </a:spcAft>
              <a:defRPr sz="800" b="0">
                <a:solidFill>
                  <a:srgbClr val="56D9BD"/>
                </a:solidFill>
                <a:latin typeface="Aptos"/>
              </a:defRPr>
            </a:pPr>
            <a:r>
              <a:t>INVESTMENT THESIS</a:t>
            </a:r>
          </a:p>
        </p:txBody>
      </p:sp>
      <p:sp>
        <p:nvSpPr>
          <p:cNvPr id="8" name="TextBox 7"/>
          <p:cNvSpPr txBox="1"/>
          <p:nvPr/>
        </p:nvSpPr>
        <p:spPr>
          <a:xfrm>
            <a:off x="11384280" y="6492240"/>
            <a:ext cx="320040" cy="265176"/>
          </a:xfrm>
          <a:prstGeom prst="rect">
            <a:avLst/>
          </a:prstGeom>
          <a:noFill/>
        </p:spPr>
        <p:txBody>
          <a:bodyPr wrap="square" tIns="0" bIns="0" lIns="0" rIns="0">
            <a:spAutoFit/>
          </a:bodyPr>
          <a:lstStyle/>
          <a:p>
            <a:pPr algn="r">
              <a:spcAft>
                <a:spcPts val="500"/>
              </a:spcAft>
              <a:defRPr sz="1000" b="1">
                <a:solidFill>
                  <a:srgbClr val="F1F5F6"/>
                </a:solidFill>
                <a:latin typeface="Aptos"/>
              </a:defRPr>
            </a:pPr>
            <a:r>
              <a:t>01</a:t>
            </a:r>
          </a:p>
        </p:txBody>
      </p:sp>
      <p:sp>
        <p:nvSpPr>
          <p:cNvPr id="9" name="TextBox 8"/>
          <p:cNvSpPr txBox="1"/>
          <p:nvPr/>
        </p:nvSpPr>
        <p:spPr>
          <a:xfrm>
            <a:off x="512064" y="2487168"/>
            <a:ext cx="4754880" cy="1673352"/>
          </a:xfrm>
          <a:prstGeom prst="rect">
            <a:avLst/>
          </a:prstGeom>
          <a:noFill/>
        </p:spPr>
        <p:txBody>
          <a:bodyPr wrap="square" tIns="0" bIns="0" lIns="0" rIns="0">
            <a:spAutoFit/>
          </a:bodyPr>
          <a:lstStyle/>
          <a:p>
            <a:pPr algn="l">
              <a:spcAft>
                <a:spcPts val="500"/>
              </a:spcAft>
              <a:defRPr sz="3300" b="1">
                <a:solidFill>
                  <a:srgbClr val="F1F5F6"/>
                </a:solidFill>
                <a:latin typeface="Aptos"/>
              </a:defRPr>
            </a:pPr>
            <a:r>
              <a:t>Make the next step</a:t>
            </a:r>
          </a:p>
          <a:p>
            <a:pPr algn="l">
              <a:spcAft>
                <a:spcPts val="500"/>
              </a:spcAft>
              <a:defRPr sz="3300" b="1">
                <a:solidFill>
                  <a:srgbClr val="F1F5F6"/>
                </a:solidFill>
                <a:latin typeface="Aptos"/>
              </a:defRPr>
            </a:pPr>
            <a:r>
              <a:t>clear, executable</a:t>
            </a:r>
          </a:p>
          <a:p>
            <a:pPr algn="l">
              <a:spcAft>
                <a:spcPts val="500"/>
              </a:spcAft>
              <a:defRPr sz="3300" b="1">
                <a:solidFill>
                  <a:srgbClr val="F1F5F6"/>
                </a:solidFill>
                <a:latin typeface="Aptos"/>
              </a:defRPr>
            </a:pPr>
            <a:r>
              <a:t>and explainable.</a:t>
            </a:r>
          </a:p>
        </p:txBody>
      </p:sp>
      <p:sp>
        <p:nvSpPr>
          <p:cNvPr id="10" name="TextBox 9"/>
          <p:cNvSpPr txBox="1"/>
          <p:nvPr/>
        </p:nvSpPr>
        <p:spPr>
          <a:xfrm>
            <a:off x="521207" y="4434840"/>
            <a:ext cx="4617720" cy="1078992"/>
          </a:xfrm>
          <a:prstGeom prst="rect">
            <a:avLst/>
          </a:prstGeom>
          <a:noFill/>
        </p:spPr>
        <p:txBody>
          <a:bodyPr wrap="square" tIns="0" bIns="0" lIns="0" rIns="0">
            <a:spAutoFit/>
          </a:bodyPr>
          <a:lstStyle/>
          <a:p>
            <a:pPr algn="l">
              <a:spcAft>
                <a:spcPts val="500"/>
              </a:spcAft>
              <a:defRPr sz="2000" b="0">
                <a:solidFill>
                  <a:srgbClr val="AFC1CE"/>
                </a:solidFill>
                <a:latin typeface="Aptos"/>
              </a:defRPr>
            </a:pPr>
            <a:r>
              <a:t>Our thesis: less rebuilding between tools, stronger decision context, and more reusable work across programs.</a:t>
            </a:r>
          </a:p>
        </p:txBody>
      </p:sp>
      <p:sp>
        <p:nvSpPr>
          <p:cNvPr id="11" name="Rounded Rectangle 10"/>
          <p:cNvSpPr/>
          <p:nvPr/>
        </p:nvSpPr>
        <p:spPr>
          <a:xfrm>
            <a:off x="6144768" y="2432304"/>
            <a:ext cx="5431536" cy="283464"/>
          </a:xfrm>
          <a:prstGeom prst="roundRect">
            <a:avLst>
              <a:gd name="adj" fmla="val 12000"/>
            </a:avLst>
          </a:prstGeom>
          <a:solidFill>
            <a:srgbClr val="22394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236207" y="2487168"/>
            <a:ext cx="5248656" cy="201168"/>
          </a:xfrm>
          <a:prstGeom prst="rect">
            <a:avLst/>
          </a:prstGeom>
          <a:noFill/>
        </p:spPr>
        <p:txBody>
          <a:bodyPr wrap="square" tIns="0" bIns="0" lIns="0" rIns="0">
            <a:spAutoFit/>
          </a:bodyPr>
          <a:lstStyle/>
          <a:p>
            <a:pPr algn="l">
              <a:spcAft>
                <a:spcPts val="500"/>
              </a:spcAft>
              <a:defRPr sz="1000" b="1">
                <a:solidFill>
                  <a:srgbClr val="56D9BD"/>
                </a:solidFill>
                <a:latin typeface="Aptos"/>
              </a:defRPr>
            </a:pPr>
            <a:r>
              <a:t>ILLUSTRATIVE CAMPAIGN  /  PROPOSED ENGINE</a:t>
            </a:r>
          </a:p>
        </p:txBody>
      </p:sp>
      <p:sp>
        <p:nvSpPr>
          <p:cNvPr id="13" name="Rounded Rectangle 12"/>
          <p:cNvSpPr/>
          <p:nvPr/>
        </p:nvSpPr>
        <p:spPr>
          <a:xfrm>
            <a:off x="6217920" y="3099816"/>
            <a:ext cx="1362456" cy="740664"/>
          </a:xfrm>
          <a:prstGeom prst="roundRect">
            <a:avLst>
              <a:gd name="adj" fmla="val 12000"/>
            </a:avLst>
          </a:prstGeom>
          <a:solidFill>
            <a:srgbClr val="192B3E"/>
          </a:solidFill>
          <a:ln>
            <a:solidFill>
              <a:srgbClr val="56D9B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309359" y="3355848"/>
            <a:ext cx="1179576" cy="237744"/>
          </a:xfrm>
          <a:prstGeom prst="rect">
            <a:avLst/>
          </a:prstGeom>
          <a:noFill/>
        </p:spPr>
        <p:txBody>
          <a:bodyPr wrap="square" tIns="0" bIns="0" lIns="0" rIns="0">
            <a:spAutoFit/>
          </a:bodyPr>
          <a:lstStyle/>
          <a:p>
            <a:pPr algn="ctr">
              <a:spcAft>
                <a:spcPts val="500"/>
              </a:spcAft>
              <a:defRPr sz="1100" b="1">
                <a:solidFill>
                  <a:srgbClr val="56D9BD"/>
                </a:solidFill>
                <a:latin typeface="Aptos"/>
              </a:defRPr>
            </a:pPr>
            <a:r>
              <a:t>DESIGN</a:t>
            </a:r>
          </a:p>
        </p:txBody>
      </p:sp>
      <p:sp>
        <p:nvSpPr>
          <p:cNvPr id="15" name="Rounded Rectangle 14"/>
          <p:cNvSpPr/>
          <p:nvPr/>
        </p:nvSpPr>
        <p:spPr>
          <a:xfrm>
            <a:off x="8366760" y="3099816"/>
            <a:ext cx="1362456" cy="740664"/>
          </a:xfrm>
          <a:prstGeom prst="roundRect">
            <a:avLst>
              <a:gd name="adj" fmla="val 12000"/>
            </a:avLst>
          </a:prstGeom>
          <a:solidFill>
            <a:srgbClr val="192B3E"/>
          </a:solidFill>
          <a:ln>
            <a:solidFill>
              <a:srgbClr val="83B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458200" y="3355848"/>
            <a:ext cx="1179576" cy="237744"/>
          </a:xfrm>
          <a:prstGeom prst="rect">
            <a:avLst/>
          </a:prstGeom>
          <a:noFill/>
        </p:spPr>
        <p:txBody>
          <a:bodyPr wrap="square" tIns="0" bIns="0" lIns="0" rIns="0">
            <a:spAutoFit/>
          </a:bodyPr>
          <a:lstStyle/>
          <a:p>
            <a:pPr algn="ctr">
              <a:spcAft>
                <a:spcPts val="500"/>
              </a:spcAft>
              <a:defRPr sz="1100" b="1">
                <a:solidFill>
                  <a:srgbClr val="83BFFF"/>
                </a:solidFill>
                <a:latin typeface="Aptos"/>
              </a:defRPr>
            </a:pPr>
            <a:r>
              <a:t>TEST</a:t>
            </a:r>
          </a:p>
        </p:txBody>
      </p:sp>
      <p:sp>
        <p:nvSpPr>
          <p:cNvPr id="17" name="Rounded Rectangle 16"/>
          <p:cNvSpPr/>
          <p:nvPr/>
        </p:nvSpPr>
        <p:spPr>
          <a:xfrm>
            <a:off x="10259568" y="3099816"/>
            <a:ext cx="1362456" cy="740664"/>
          </a:xfrm>
          <a:prstGeom prst="roundRect">
            <a:avLst>
              <a:gd name="adj" fmla="val 12000"/>
            </a:avLst>
          </a:prstGeom>
          <a:solidFill>
            <a:srgbClr val="192B3E"/>
          </a:solidFill>
          <a:ln>
            <a:solidFill>
              <a:srgbClr val="F4C77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0351008" y="3355848"/>
            <a:ext cx="1179576" cy="237744"/>
          </a:xfrm>
          <a:prstGeom prst="rect">
            <a:avLst/>
          </a:prstGeom>
          <a:noFill/>
        </p:spPr>
        <p:txBody>
          <a:bodyPr wrap="square" tIns="0" bIns="0" lIns="0" rIns="0">
            <a:spAutoFit/>
          </a:bodyPr>
          <a:lstStyle/>
          <a:p>
            <a:pPr algn="ctr">
              <a:spcAft>
                <a:spcPts val="500"/>
              </a:spcAft>
              <a:defRPr sz="1100" b="1">
                <a:solidFill>
                  <a:srgbClr val="F4C77E"/>
                </a:solidFill>
                <a:latin typeface="Aptos"/>
              </a:defRPr>
            </a:pPr>
            <a:r>
              <a:t>REVIEW</a:t>
            </a:r>
          </a:p>
        </p:txBody>
      </p:sp>
      <p:sp>
        <p:nvSpPr>
          <p:cNvPr id="19" name="Rounded Rectangle 18"/>
          <p:cNvSpPr/>
          <p:nvPr/>
        </p:nvSpPr>
        <p:spPr>
          <a:xfrm>
            <a:off x="8202168" y="4608576"/>
            <a:ext cx="2487168" cy="740664"/>
          </a:xfrm>
          <a:prstGeom prst="roundRect">
            <a:avLst>
              <a:gd name="adj" fmla="val 12000"/>
            </a:avLst>
          </a:prstGeom>
          <a:solidFill>
            <a:srgbClr val="192B3E"/>
          </a:solidFill>
          <a:ln>
            <a:solidFill>
              <a:srgbClr val="BEA5F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293608" y="4864608"/>
            <a:ext cx="2304288" cy="237744"/>
          </a:xfrm>
          <a:prstGeom prst="rect">
            <a:avLst/>
          </a:prstGeom>
          <a:noFill/>
        </p:spPr>
        <p:txBody>
          <a:bodyPr wrap="square" tIns="0" bIns="0" lIns="0" rIns="0">
            <a:spAutoFit/>
          </a:bodyPr>
          <a:lstStyle/>
          <a:p>
            <a:pPr algn="ctr">
              <a:spcAft>
                <a:spcPts val="500"/>
              </a:spcAft>
              <a:defRPr sz="1100" b="1">
                <a:solidFill>
                  <a:srgbClr val="BEA5F4"/>
                </a:solidFill>
                <a:latin typeface="Aptos"/>
              </a:defRPr>
            </a:pPr>
            <a:r>
              <a:t>NEW EVIDENCE</a:t>
            </a:r>
          </a:p>
        </p:txBody>
      </p:sp>
      <p:cxnSp>
        <p:nvCxnSpPr>
          <p:cNvPr id="21" name="Connector 20"/>
          <p:cNvCxnSpPr/>
          <p:nvPr/>
        </p:nvCxnSpPr>
        <p:spPr>
          <a:xfrm>
            <a:off x="7598664" y="3465576"/>
            <a:ext cx="713232" cy="0"/>
          </a:xfrm>
          <a:prstGeom prst="line">
            <a:avLst/>
          </a:prstGeom>
          <a:ln w="25400">
            <a:solidFill>
              <a:srgbClr val="56D9BD"/>
            </a:solidFill>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flipH="1">
            <a:off x="8224607" y="3465576"/>
            <a:ext cx="87289" cy="49978"/>
          </a:xfrm>
          <a:prstGeom prst="line">
            <a:avLst/>
          </a:prstGeom>
          <a:ln w="25400">
            <a:solidFill>
              <a:srgbClr val="56D9BD"/>
            </a:solidFill>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flipH="1" flipV="1">
            <a:off x="8224607" y="3415597"/>
            <a:ext cx="87289" cy="49979"/>
          </a:xfrm>
          <a:prstGeom prst="line">
            <a:avLst/>
          </a:prstGeom>
          <a:ln w="25400">
            <a:solidFill>
              <a:srgbClr val="56D9BD"/>
            </a:solidFill>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a:off x="9747504" y="3465576"/>
            <a:ext cx="457200" cy="0"/>
          </a:xfrm>
          <a:prstGeom prst="line">
            <a:avLst/>
          </a:prstGeom>
          <a:ln w="25400">
            <a:solidFill>
              <a:srgbClr val="56D9BD"/>
            </a:solidFill>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flipH="1">
            <a:off x="10117415" y="3465576"/>
            <a:ext cx="87289" cy="49978"/>
          </a:xfrm>
          <a:prstGeom prst="line">
            <a:avLst/>
          </a:prstGeom>
          <a:ln w="25400">
            <a:solidFill>
              <a:srgbClr val="56D9BD"/>
            </a:solidFill>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flipH="1" flipV="1">
            <a:off x="10117415" y="3415597"/>
            <a:ext cx="87289" cy="49979"/>
          </a:xfrm>
          <a:prstGeom prst="line">
            <a:avLst/>
          </a:prstGeom>
          <a:ln w="25400">
            <a:solidFill>
              <a:srgbClr val="56D9BD"/>
            </a:solidFill>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a:off x="10945368" y="3858768"/>
            <a:ext cx="0" cy="1115568"/>
          </a:xfrm>
          <a:prstGeom prst="line">
            <a:avLst/>
          </a:prstGeom>
          <a:ln w="19050">
            <a:solidFill>
              <a:srgbClr val="F4C77E"/>
            </a:solidFill>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flipH="1">
            <a:off x="10707624" y="4974336"/>
            <a:ext cx="237744" cy="0"/>
          </a:xfrm>
          <a:prstGeom prst="line">
            <a:avLst/>
          </a:prstGeom>
          <a:ln w="25400">
            <a:solidFill>
              <a:srgbClr val="F4C77E"/>
            </a:solidFill>
          </a:ln>
        </p:spPr>
        <p:style>
          <a:lnRef idx="2">
            <a:schemeClr val="accent1"/>
          </a:lnRef>
          <a:fillRef idx="0">
            <a:schemeClr val="accent1"/>
          </a:fillRef>
          <a:effectRef idx="1">
            <a:schemeClr val="accent1"/>
          </a:effectRef>
          <a:fontRef idx="minor">
            <a:schemeClr val="tx1"/>
          </a:fontRef>
        </p:style>
      </p:cxnSp>
      <p:cxnSp>
        <p:nvCxnSpPr>
          <p:cNvPr id="29" name="Connector 28"/>
          <p:cNvCxnSpPr/>
          <p:nvPr/>
        </p:nvCxnSpPr>
        <p:spPr>
          <a:xfrm flipV="1">
            <a:off x="10707624" y="4924357"/>
            <a:ext cx="87288" cy="49979"/>
          </a:xfrm>
          <a:prstGeom prst="line">
            <a:avLst/>
          </a:prstGeom>
          <a:ln w="25400">
            <a:solidFill>
              <a:srgbClr val="F4C77E"/>
            </a:solidFill>
          </a:ln>
        </p:spPr>
        <p:style>
          <a:lnRef idx="2">
            <a:schemeClr val="accent1"/>
          </a:lnRef>
          <a:fillRef idx="0">
            <a:schemeClr val="accent1"/>
          </a:fillRef>
          <a:effectRef idx="1">
            <a:schemeClr val="accent1"/>
          </a:effectRef>
          <a:fontRef idx="minor">
            <a:schemeClr val="tx1"/>
          </a:fontRef>
        </p:style>
      </p:cxnSp>
      <p:cxnSp>
        <p:nvCxnSpPr>
          <p:cNvPr id="30" name="Connector 29"/>
          <p:cNvCxnSpPr/>
          <p:nvPr/>
        </p:nvCxnSpPr>
        <p:spPr>
          <a:xfrm>
            <a:off x="10707624" y="4974336"/>
            <a:ext cx="87288" cy="49978"/>
          </a:xfrm>
          <a:prstGeom prst="line">
            <a:avLst/>
          </a:prstGeom>
          <a:ln w="25400">
            <a:solidFill>
              <a:srgbClr val="F4C77E"/>
            </a:solidFill>
          </a:ln>
        </p:spPr>
        <p:style>
          <a:lnRef idx="2">
            <a:schemeClr val="accent1"/>
          </a:lnRef>
          <a:fillRef idx="0">
            <a:schemeClr val="accent1"/>
          </a:fillRef>
          <a:effectRef idx="1">
            <a:schemeClr val="accent1"/>
          </a:effectRef>
          <a:fontRef idx="minor">
            <a:schemeClr val="tx1"/>
          </a:fontRef>
        </p:style>
      </p:cxnSp>
      <p:cxnSp>
        <p:nvCxnSpPr>
          <p:cNvPr id="31" name="Connector 30"/>
          <p:cNvCxnSpPr/>
          <p:nvPr/>
        </p:nvCxnSpPr>
        <p:spPr>
          <a:xfrm flipH="1">
            <a:off x="6903720" y="4974336"/>
            <a:ext cx="1271016" cy="0"/>
          </a:xfrm>
          <a:prstGeom prst="line">
            <a:avLst/>
          </a:prstGeom>
          <a:ln w="19050">
            <a:solidFill>
              <a:srgbClr val="BEA5F4"/>
            </a:solidFill>
          </a:ln>
        </p:spPr>
        <p:style>
          <a:lnRef idx="2">
            <a:schemeClr val="accent1"/>
          </a:lnRef>
          <a:fillRef idx="0">
            <a:schemeClr val="accent1"/>
          </a:fillRef>
          <a:effectRef idx="1">
            <a:schemeClr val="accent1"/>
          </a:effectRef>
          <a:fontRef idx="minor">
            <a:schemeClr val="tx1"/>
          </a:fontRef>
        </p:style>
      </p:cxnSp>
      <p:cxnSp>
        <p:nvCxnSpPr>
          <p:cNvPr id="32" name="Connector 31"/>
          <p:cNvCxnSpPr/>
          <p:nvPr/>
        </p:nvCxnSpPr>
        <p:spPr>
          <a:xfrm flipV="1">
            <a:off x="6903720" y="3877056"/>
            <a:ext cx="0" cy="1097280"/>
          </a:xfrm>
          <a:prstGeom prst="line">
            <a:avLst/>
          </a:prstGeom>
          <a:ln w="25400">
            <a:solidFill>
              <a:srgbClr val="BEA5F4"/>
            </a:solidFill>
          </a:ln>
        </p:spPr>
        <p:style>
          <a:lnRef idx="2">
            <a:schemeClr val="accent1"/>
          </a:lnRef>
          <a:fillRef idx="0">
            <a:schemeClr val="accent1"/>
          </a:fillRef>
          <a:effectRef idx="1">
            <a:schemeClr val="accent1"/>
          </a:effectRef>
          <a:fontRef idx="minor">
            <a:schemeClr val="tx1"/>
          </a:fontRef>
        </p:style>
      </p:cxnSp>
      <p:cxnSp>
        <p:nvCxnSpPr>
          <p:cNvPr id="33" name="Connector 32"/>
          <p:cNvCxnSpPr/>
          <p:nvPr/>
        </p:nvCxnSpPr>
        <p:spPr>
          <a:xfrm>
            <a:off x="6903720" y="3877056"/>
            <a:ext cx="49978" cy="87288"/>
          </a:xfrm>
          <a:prstGeom prst="line">
            <a:avLst/>
          </a:prstGeom>
          <a:ln w="25400">
            <a:solidFill>
              <a:srgbClr val="BEA5F4"/>
            </a:solidFill>
          </a:ln>
        </p:spPr>
        <p:style>
          <a:lnRef idx="2">
            <a:schemeClr val="accent1"/>
          </a:lnRef>
          <a:fillRef idx="0">
            <a:schemeClr val="accent1"/>
          </a:fillRef>
          <a:effectRef idx="1">
            <a:schemeClr val="accent1"/>
          </a:effectRef>
          <a:fontRef idx="minor">
            <a:schemeClr val="tx1"/>
          </a:fontRef>
        </p:style>
      </p:cxnSp>
      <p:cxnSp>
        <p:nvCxnSpPr>
          <p:cNvPr id="34" name="Connector 33"/>
          <p:cNvCxnSpPr/>
          <p:nvPr/>
        </p:nvCxnSpPr>
        <p:spPr>
          <a:xfrm flipH="1">
            <a:off x="6853741" y="3877056"/>
            <a:ext cx="49979" cy="87288"/>
          </a:xfrm>
          <a:prstGeom prst="line">
            <a:avLst/>
          </a:prstGeom>
          <a:ln w="25400">
            <a:solidFill>
              <a:srgbClr val="BEA5F4"/>
            </a:solidFill>
          </a:ln>
        </p:spPr>
        <p:style>
          <a:lnRef idx="2">
            <a:schemeClr val="accent1"/>
          </a:lnRef>
          <a:fillRef idx="0">
            <a:schemeClr val="accent1"/>
          </a:fillRef>
          <a:effectRef idx="1">
            <a:schemeClr val="accent1"/>
          </a:effectRef>
          <a:fontRef idx="minor">
            <a:schemeClr val="tx1"/>
          </a:fontRef>
        </p:style>
      </p:cxnSp>
      <p:sp>
        <p:nvSpPr>
          <p:cNvPr id="35" name="Rounded Rectangle 34"/>
          <p:cNvSpPr/>
          <p:nvPr/>
        </p:nvSpPr>
        <p:spPr>
          <a:xfrm>
            <a:off x="475488" y="5815584"/>
            <a:ext cx="11237976" cy="393192"/>
          </a:xfrm>
          <a:prstGeom prst="roundRect">
            <a:avLst>
              <a:gd name="adj" fmla="val 12000"/>
            </a:avLst>
          </a:prstGeom>
          <a:solidFill>
            <a:srgbClr val="22394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658368" y="5893308"/>
            <a:ext cx="10881360" cy="283464"/>
          </a:xfrm>
          <a:prstGeom prst="rect">
            <a:avLst/>
          </a:prstGeom>
          <a:noFill/>
        </p:spPr>
        <p:txBody>
          <a:bodyPr wrap="square" tIns="0" bIns="0" lIns="0" rIns="0">
            <a:spAutoFit/>
          </a:bodyPr>
          <a:lstStyle/>
          <a:p>
            <a:pPr algn="l">
              <a:spcAft>
                <a:spcPts val="500"/>
              </a:spcAft>
              <a:defRPr sz="1400" b="1">
                <a:solidFill>
                  <a:srgbClr val="56D9BD"/>
                </a:solidFill>
                <a:latin typeface="Aptos"/>
              </a:defRPr>
            </a:pPr>
            <a:r>
              <a:t>The economic target: reduce the work between a promising result and a defensible next decision.</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101D2C"/>
        </a:solidFill>
        <a:effectLst/>
      </p:bgPr>
    </p:bg>
    <p:spTree>
      <p:nvGrpSpPr>
        <p:cNvPr id="1" name=""/>
        <p:cNvGrpSpPr/>
        <p:nvPr/>
      </p:nvGrpSpPr>
      <p:grpSpPr/>
      <p:sp>
        <p:nvSpPr>
          <p:cNvPr id="2" name="TextBox 1"/>
          <p:cNvSpPr txBox="1"/>
          <p:nvPr/>
        </p:nvSpPr>
        <p:spPr>
          <a:xfrm>
            <a:off x="457200" y="274320"/>
            <a:ext cx="10972800" cy="228600"/>
          </a:xfrm>
          <a:prstGeom prst="rect">
            <a:avLst/>
          </a:prstGeom>
          <a:noFill/>
        </p:spPr>
        <p:txBody>
          <a:bodyPr wrap="square" tIns="0" bIns="0" lIns="0" rIns="0">
            <a:spAutoFit/>
          </a:bodyPr>
          <a:lstStyle/>
          <a:p>
            <a:pPr algn="l">
              <a:spcAft>
                <a:spcPts val="500"/>
              </a:spcAft>
              <a:defRPr sz="1000" b="1">
                <a:solidFill>
                  <a:srgbClr val="56D9BD"/>
                </a:solidFill>
                <a:latin typeface="Aptos"/>
              </a:defRPr>
            </a:pPr>
            <a:r>
              <a:t>THE DIFFERENTIATION THESIS</a:t>
            </a:r>
          </a:p>
        </p:txBody>
      </p:sp>
      <p:sp>
        <p:nvSpPr>
          <p:cNvPr id="3" name="TextBox 2"/>
          <p:cNvSpPr txBox="1"/>
          <p:nvPr/>
        </p:nvSpPr>
        <p:spPr>
          <a:xfrm>
            <a:off x="457200" y="731520"/>
            <a:ext cx="11247120" cy="822960"/>
          </a:xfrm>
          <a:prstGeom prst="rect">
            <a:avLst/>
          </a:prstGeom>
          <a:noFill/>
        </p:spPr>
        <p:txBody>
          <a:bodyPr wrap="square" tIns="0" bIns="0" lIns="0" rIns="0">
            <a:spAutoFit/>
          </a:bodyPr>
          <a:lstStyle/>
          <a:p>
            <a:pPr algn="l">
              <a:spcAft>
                <a:spcPts val="500"/>
              </a:spcAft>
              <a:defRPr sz="3000" b="1">
                <a:solidFill>
                  <a:srgbClr val="F1F5F6"/>
                </a:solidFill>
                <a:latin typeface="Aptos"/>
              </a:defRPr>
            </a:pPr>
            <a:r>
              <a:t>Make the research pathway an asset we can improve</a:t>
            </a:r>
          </a:p>
        </p:txBody>
      </p:sp>
      <p:sp>
        <p:nvSpPr>
          <p:cNvPr id="4" name="TextBox 3"/>
          <p:cNvSpPr txBox="1"/>
          <p:nvPr/>
        </p:nvSpPr>
        <p:spPr>
          <a:xfrm>
            <a:off x="475488" y="1673352"/>
            <a:ext cx="11064240" cy="512064"/>
          </a:xfrm>
          <a:prstGeom prst="rect">
            <a:avLst/>
          </a:prstGeom>
          <a:noFill/>
        </p:spPr>
        <p:txBody>
          <a:bodyPr wrap="square" tIns="0" bIns="0" lIns="0" rIns="0">
            <a:spAutoFit/>
          </a:bodyPr>
          <a:lstStyle/>
          <a:p>
            <a:pPr algn="l">
              <a:spcAft>
                <a:spcPts val="500"/>
              </a:spcAft>
              <a:defRPr sz="1600" b="0">
                <a:solidFill>
                  <a:srgbClr val="AFC1CE"/>
                </a:solidFill>
                <a:latin typeface="Aptos"/>
              </a:defRPr>
            </a:pPr>
            <a:r>
              <a:t>One connected system for scientific knowledge, executable work and outcome-linked learning.</a:t>
            </a:r>
          </a:p>
        </p:txBody>
      </p:sp>
      <p:cxnSp>
        <p:nvCxnSpPr>
          <p:cNvPr id="5" name="Connector 4"/>
          <p:cNvCxnSpPr/>
          <p:nvPr/>
        </p:nvCxnSpPr>
        <p:spPr>
          <a:xfrm>
            <a:off x="457200" y="6428232"/>
            <a:ext cx="11274552" cy="0"/>
          </a:xfrm>
          <a:prstGeom prst="line">
            <a:avLst/>
          </a:prstGeom>
          <a:ln w="8255">
            <a:solidFill>
              <a:srgbClr val="40586A"/>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457200" y="6547104"/>
            <a:ext cx="6400800" cy="173736"/>
          </a:xfrm>
          <a:prstGeom prst="rect">
            <a:avLst/>
          </a:prstGeom>
          <a:noFill/>
        </p:spPr>
        <p:txBody>
          <a:bodyPr wrap="square" tIns="0" bIns="0" lIns="0" rIns="0">
            <a:spAutoFit/>
          </a:bodyPr>
          <a:lstStyle/>
          <a:p>
            <a:pPr algn="l">
              <a:spcAft>
                <a:spcPts val="500"/>
              </a:spcAft>
              <a:defRPr sz="800" b="0">
                <a:solidFill>
                  <a:srgbClr val="AFC1CE"/>
                </a:solidFill>
                <a:latin typeface="Aptos"/>
              </a:defRPr>
            </a:pPr>
            <a:r>
              <a:t>AMPHORA  /  CONFIDENTIAL INVESTOR DISCUSSION  /  SEPTEMBER 2026</a:t>
            </a:r>
          </a:p>
        </p:txBody>
      </p:sp>
      <p:sp>
        <p:nvSpPr>
          <p:cNvPr id="7" name="TextBox 6"/>
          <p:cNvSpPr txBox="1"/>
          <p:nvPr/>
        </p:nvSpPr>
        <p:spPr>
          <a:xfrm>
            <a:off x="8366760" y="6528816"/>
            <a:ext cx="2788920" cy="201168"/>
          </a:xfrm>
          <a:prstGeom prst="rect">
            <a:avLst/>
          </a:prstGeom>
          <a:noFill/>
        </p:spPr>
        <p:txBody>
          <a:bodyPr wrap="square" tIns="0" bIns="0" lIns="0" rIns="0">
            <a:spAutoFit/>
          </a:bodyPr>
          <a:lstStyle/>
          <a:p>
            <a:pPr algn="r">
              <a:spcAft>
                <a:spcPts val="500"/>
              </a:spcAft>
              <a:defRPr sz="800" b="0">
                <a:solidFill>
                  <a:srgbClr val="56D9BD"/>
                </a:solidFill>
                <a:latin typeface="Aptos"/>
              </a:defRPr>
            </a:pPr>
            <a:r>
              <a:t>TARGET ARCHITECTURE</a:t>
            </a:r>
          </a:p>
        </p:txBody>
      </p:sp>
      <p:sp>
        <p:nvSpPr>
          <p:cNvPr id="8" name="TextBox 7"/>
          <p:cNvSpPr txBox="1"/>
          <p:nvPr/>
        </p:nvSpPr>
        <p:spPr>
          <a:xfrm>
            <a:off x="11384280" y="6492240"/>
            <a:ext cx="320040" cy="265176"/>
          </a:xfrm>
          <a:prstGeom prst="rect">
            <a:avLst/>
          </a:prstGeom>
          <a:noFill/>
        </p:spPr>
        <p:txBody>
          <a:bodyPr wrap="square" tIns="0" bIns="0" lIns="0" rIns="0">
            <a:spAutoFit/>
          </a:bodyPr>
          <a:lstStyle/>
          <a:p>
            <a:pPr algn="r">
              <a:spcAft>
                <a:spcPts val="500"/>
              </a:spcAft>
              <a:defRPr sz="1000" b="1">
                <a:solidFill>
                  <a:srgbClr val="F1F5F6"/>
                </a:solidFill>
                <a:latin typeface="Aptos"/>
              </a:defRPr>
            </a:pPr>
            <a:r>
              <a:t>02</a:t>
            </a:r>
          </a:p>
        </p:txBody>
      </p:sp>
      <p:sp>
        <p:nvSpPr>
          <p:cNvPr id="9" name="Rounded Rectangle 8"/>
          <p:cNvSpPr/>
          <p:nvPr/>
        </p:nvSpPr>
        <p:spPr>
          <a:xfrm>
            <a:off x="493776" y="2496312"/>
            <a:ext cx="3456432" cy="2468880"/>
          </a:xfrm>
          <a:prstGeom prst="roundRect">
            <a:avLst>
              <a:gd name="adj" fmla="val 12000"/>
            </a:avLst>
          </a:prstGeom>
          <a:solidFill>
            <a:srgbClr val="192B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8368" y="2688336"/>
            <a:ext cx="3108960" cy="274320"/>
          </a:xfrm>
          <a:prstGeom prst="rect">
            <a:avLst/>
          </a:prstGeom>
          <a:noFill/>
        </p:spPr>
        <p:txBody>
          <a:bodyPr wrap="square" tIns="0" bIns="0" lIns="0" rIns="0">
            <a:spAutoFit/>
          </a:bodyPr>
          <a:lstStyle/>
          <a:p>
            <a:pPr algn="l">
              <a:spcAft>
                <a:spcPts val="500"/>
              </a:spcAft>
              <a:defRPr sz="1300" b="1">
                <a:solidFill>
                  <a:srgbClr val="BEA5F4"/>
                </a:solidFill>
                <a:latin typeface="Aptos"/>
              </a:defRPr>
            </a:pPr>
            <a:r>
              <a:t>01  KNOWLEDGE</a:t>
            </a:r>
          </a:p>
        </p:txBody>
      </p:sp>
      <p:sp>
        <p:nvSpPr>
          <p:cNvPr id="11" name="TextBox 10"/>
          <p:cNvSpPr txBox="1"/>
          <p:nvPr/>
        </p:nvSpPr>
        <p:spPr>
          <a:xfrm>
            <a:off x="658368" y="3273552"/>
            <a:ext cx="3108960" cy="694944"/>
          </a:xfrm>
          <a:prstGeom prst="rect">
            <a:avLst/>
          </a:prstGeom>
          <a:noFill/>
        </p:spPr>
        <p:txBody>
          <a:bodyPr wrap="square" tIns="0" bIns="0" lIns="0" rIns="0">
            <a:spAutoFit/>
          </a:bodyPr>
          <a:lstStyle/>
          <a:p>
            <a:pPr algn="l">
              <a:spcAft>
                <a:spcPts val="500"/>
              </a:spcAft>
              <a:defRPr sz="2400" b="1">
                <a:solidFill>
                  <a:srgbClr val="F1F5F6"/>
                </a:solidFill>
                <a:latin typeface="Aptos"/>
              </a:defRPr>
            </a:pPr>
            <a:r>
              <a:t>What can we rely on?</a:t>
            </a:r>
          </a:p>
        </p:txBody>
      </p:sp>
      <p:sp>
        <p:nvSpPr>
          <p:cNvPr id="12" name="TextBox 11"/>
          <p:cNvSpPr txBox="1"/>
          <p:nvPr/>
        </p:nvSpPr>
        <p:spPr>
          <a:xfrm>
            <a:off x="658368" y="4151376"/>
            <a:ext cx="3090672" cy="612648"/>
          </a:xfrm>
          <a:prstGeom prst="rect">
            <a:avLst/>
          </a:prstGeom>
          <a:noFill/>
        </p:spPr>
        <p:txBody>
          <a:bodyPr wrap="square" tIns="0" bIns="0" lIns="0" rIns="0">
            <a:spAutoFit/>
          </a:bodyPr>
          <a:lstStyle/>
          <a:p>
            <a:pPr algn="l">
              <a:spcAft>
                <a:spcPts val="500"/>
              </a:spcAft>
              <a:defRPr sz="1700" b="0">
                <a:solidFill>
                  <a:srgbClr val="AFC1CE"/>
                </a:solidFill>
                <a:latin typeface="Aptos"/>
              </a:defRPr>
            </a:pPr>
            <a:r>
              <a:t>Mechanisms, evidence,</a:t>
            </a:r>
          </a:p>
          <a:p>
            <a:pPr algn="l">
              <a:spcAft>
                <a:spcPts val="500"/>
              </a:spcAft>
              <a:defRPr sz="1700" b="0">
                <a:solidFill>
                  <a:srgbClr val="AFC1CE"/>
                </a:solidFill>
                <a:latin typeface="Aptos"/>
              </a:defRPr>
            </a:pPr>
            <a:r>
              <a:t>uncertainty and limits.</a:t>
            </a:r>
          </a:p>
        </p:txBody>
      </p:sp>
      <p:sp>
        <p:nvSpPr>
          <p:cNvPr id="13" name="Rounded Rectangle 12"/>
          <p:cNvSpPr/>
          <p:nvPr/>
        </p:nvSpPr>
        <p:spPr>
          <a:xfrm>
            <a:off x="4370832" y="2496312"/>
            <a:ext cx="3456432" cy="2468880"/>
          </a:xfrm>
          <a:prstGeom prst="roundRect">
            <a:avLst>
              <a:gd name="adj" fmla="val 12000"/>
            </a:avLst>
          </a:prstGeom>
          <a:solidFill>
            <a:srgbClr val="192B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35424" y="2688336"/>
            <a:ext cx="3108960" cy="274320"/>
          </a:xfrm>
          <a:prstGeom prst="rect">
            <a:avLst/>
          </a:prstGeom>
          <a:noFill/>
        </p:spPr>
        <p:txBody>
          <a:bodyPr wrap="square" tIns="0" bIns="0" lIns="0" rIns="0">
            <a:spAutoFit/>
          </a:bodyPr>
          <a:lstStyle/>
          <a:p>
            <a:pPr algn="l">
              <a:spcAft>
                <a:spcPts val="500"/>
              </a:spcAft>
              <a:defRPr sz="1300" b="1">
                <a:solidFill>
                  <a:srgbClr val="56D9BD"/>
                </a:solidFill>
                <a:latin typeface="Aptos"/>
              </a:defRPr>
            </a:pPr>
            <a:r>
              <a:t>02  CAMPAIGN</a:t>
            </a:r>
          </a:p>
        </p:txBody>
      </p:sp>
      <p:sp>
        <p:nvSpPr>
          <p:cNvPr id="15" name="TextBox 14"/>
          <p:cNvSpPr txBox="1"/>
          <p:nvPr/>
        </p:nvSpPr>
        <p:spPr>
          <a:xfrm>
            <a:off x="4535424" y="3273552"/>
            <a:ext cx="3108960" cy="694944"/>
          </a:xfrm>
          <a:prstGeom prst="rect">
            <a:avLst/>
          </a:prstGeom>
          <a:noFill/>
        </p:spPr>
        <p:txBody>
          <a:bodyPr wrap="square" tIns="0" bIns="0" lIns="0" rIns="0">
            <a:spAutoFit/>
          </a:bodyPr>
          <a:lstStyle/>
          <a:p>
            <a:pPr algn="l">
              <a:spcAft>
                <a:spcPts val="500"/>
              </a:spcAft>
              <a:defRPr sz="2400" b="1">
                <a:solidFill>
                  <a:srgbClr val="F1F5F6"/>
                </a:solidFill>
                <a:latin typeface="Aptos"/>
              </a:defRPr>
            </a:pPr>
            <a:r>
              <a:t>What should run next?</a:t>
            </a:r>
          </a:p>
        </p:txBody>
      </p:sp>
      <p:sp>
        <p:nvSpPr>
          <p:cNvPr id="16" name="TextBox 15"/>
          <p:cNvSpPr txBox="1"/>
          <p:nvPr/>
        </p:nvSpPr>
        <p:spPr>
          <a:xfrm>
            <a:off x="4535424" y="4151376"/>
            <a:ext cx="3090672" cy="612648"/>
          </a:xfrm>
          <a:prstGeom prst="rect">
            <a:avLst/>
          </a:prstGeom>
          <a:noFill/>
        </p:spPr>
        <p:txBody>
          <a:bodyPr wrap="square" tIns="0" bIns="0" lIns="0" rIns="0">
            <a:spAutoFit/>
          </a:bodyPr>
          <a:lstStyle/>
          <a:p>
            <a:pPr algn="l">
              <a:spcAft>
                <a:spcPts val="500"/>
              </a:spcAft>
              <a:defRPr sz="1700" b="0">
                <a:solidFill>
                  <a:srgbClr val="AFC1CE"/>
                </a:solidFill>
                <a:latin typeface="Aptos"/>
              </a:defRPr>
            </a:pPr>
            <a:r>
              <a:t>Editable steps, branches,</a:t>
            </a:r>
          </a:p>
          <a:p>
            <a:pPr algn="l">
              <a:spcAft>
                <a:spcPts val="500"/>
              </a:spcAft>
              <a:defRPr sz="1700" b="0">
                <a:solidFill>
                  <a:srgbClr val="AFC1CE"/>
                </a:solidFill>
                <a:latin typeface="Aptos"/>
              </a:defRPr>
            </a:pPr>
            <a:r>
              <a:t>experiments and human gates.</a:t>
            </a:r>
          </a:p>
        </p:txBody>
      </p:sp>
      <p:sp>
        <p:nvSpPr>
          <p:cNvPr id="17" name="Rounded Rectangle 16"/>
          <p:cNvSpPr/>
          <p:nvPr/>
        </p:nvSpPr>
        <p:spPr>
          <a:xfrm>
            <a:off x="8247888" y="2496312"/>
            <a:ext cx="3456432" cy="2468880"/>
          </a:xfrm>
          <a:prstGeom prst="roundRect">
            <a:avLst>
              <a:gd name="adj" fmla="val 12000"/>
            </a:avLst>
          </a:prstGeom>
          <a:solidFill>
            <a:srgbClr val="192B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412480" y="2688336"/>
            <a:ext cx="3108960" cy="274320"/>
          </a:xfrm>
          <a:prstGeom prst="rect">
            <a:avLst/>
          </a:prstGeom>
          <a:noFill/>
        </p:spPr>
        <p:txBody>
          <a:bodyPr wrap="square" tIns="0" bIns="0" lIns="0" rIns="0">
            <a:spAutoFit/>
          </a:bodyPr>
          <a:lstStyle/>
          <a:p>
            <a:pPr algn="l">
              <a:spcAft>
                <a:spcPts val="500"/>
              </a:spcAft>
              <a:defRPr sz="1300" b="1">
                <a:solidFill>
                  <a:srgbClr val="F4C77E"/>
                </a:solidFill>
                <a:latin typeface="Aptos"/>
              </a:defRPr>
            </a:pPr>
            <a:r>
              <a:t>03  HISTORY</a:t>
            </a:r>
          </a:p>
        </p:txBody>
      </p:sp>
      <p:sp>
        <p:nvSpPr>
          <p:cNvPr id="19" name="TextBox 18"/>
          <p:cNvSpPr txBox="1"/>
          <p:nvPr/>
        </p:nvSpPr>
        <p:spPr>
          <a:xfrm>
            <a:off x="8412480" y="3273552"/>
            <a:ext cx="3108960" cy="694944"/>
          </a:xfrm>
          <a:prstGeom prst="rect">
            <a:avLst/>
          </a:prstGeom>
          <a:noFill/>
        </p:spPr>
        <p:txBody>
          <a:bodyPr wrap="square" tIns="0" bIns="0" lIns="0" rIns="0">
            <a:spAutoFit/>
          </a:bodyPr>
          <a:lstStyle/>
          <a:p>
            <a:pPr algn="l">
              <a:spcAft>
                <a:spcPts val="500"/>
              </a:spcAft>
              <a:defRPr sz="2400" b="1">
                <a:solidFill>
                  <a:srgbClr val="F1F5F6"/>
                </a:solidFill>
                <a:latin typeface="Aptos"/>
              </a:defRPr>
            </a:pPr>
            <a:r>
              <a:t>What did we learn?</a:t>
            </a:r>
          </a:p>
        </p:txBody>
      </p:sp>
      <p:sp>
        <p:nvSpPr>
          <p:cNvPr id="20" name="TextBox 19"/>
          <p:cNvSpPr txBox="1"/>
          <p:nvPr/>
        </p:nvSpPr>
        <p:spPr>
          <a:xfrm>
            <a:off x="8412480" y="4151376"/>
            <a:ext cx="3090672" cy="612648"/>
          </a:xfrm>
          <a:prstGeom prst="rect">
            <a:avLst/>
          </a:prstGeom>
          <a:noFill/>
        </p:spPr>
        <p:txBody>
          <a:bodyPr wrap="square" tIns="0" bIns="0" lIns="0" rIns="0">
            <a:spAutoFit/>
          </a:bodyPr>
          <a:lstStyle/>
          <a:p>
            <a:pPr algn="l">
              <a:spcAft>
                <a:spcPts val="500"/>
              </a:spcAft>
              <a:defRPr sz="1700" b="0">
                <a:solidFill>
                  <a:srgbClr val="AFC1CE"/>
                </a:solidFill>
                <a:latin typeface="Aptos"/>
              </a:defRPr>
            </a:pPr>
            <a:r>
              <a:t>Every attempt, decision</a:t>
            </a:r>
          </a:p>
          <a:p>
            <a:pPr algn="l">
              <a:spcAft>
                <a:spcPts val="500"/>
              </a:spcAft>
              <a:defRPr sz="1700" b="0">
                <a:solidFill>
                  <a:srgbClr val="AFC1CE"/>
                </a:solidFill>
                <a:latin typeface="Aptos"/>
              </a:defRPr>
            </a:pPr>
            <a:r>
              <a:t>and outcome retained.</a:t>
            </a:r>
          </a:p>
        </p:txBody>
      </p:sp>
      <p:cxnSp>
        <p:nvCxnSpPr>
          <p:cNvPr id="21" name="Connector 20"/>
          <p:cNvCxnSpPr/>
          <p:nvPr/>
        </p:nvCxnSpPr>
        <p:spPr>
          <a:xfrm>
            <a:off x="3995928" y="3703320"/>
            <a:ext cx="320040" cy="0"/>
          </a:xfrm>
          <a:prstGeom prst="line">
            <a:avLst/>
          </a:prstGeom>
          <a:ln w="25400">
            <a:solidFill>
              <a:srgbClr val="BEA5F4"/>
            </a:solidFill>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flipH="1">
            <a:off x="4228679" y="3703320"/>
            <a:ext cx="87289" cy="49978"/>
          </a:xfrm>
          <a:prstGeom prst="line">
            <a:avLst/>
          </a:prstGeom>
          <a:ln w="25400">
            <a:solidFill>
              <a:srgbClr val="BEA5F4"/>
            </a:solidFill>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flipH="1" flipV="1">
            <a:off x="4228679" y="3653341"/>
            <a:ext cx="87289" cy="49979"/>
          </a:xfrm>
          <a:prstGeom prst="line">
            <a:avLst/>
          </a:prstGeom>
          <a:ln w="25400">
            <a:solidFill>
              <a:srgbClr val="BEA5F4"/>
            </a:solidFill>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a:off x="7872983" y="3703320"/>
            <a:ext cx="320041" cy="0"/>
          </a:xfrm>
          <a:prstGeom prst="line">
            <a:avLst/>
          </a:prstGeom>
          <a:ln w="25400">
            <a:solidFill>
              <a:srgbClr val="56D9BD"/>
            </a:solidFill>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flipH="1">
            <a:off x="8105735" y="3703320"/>
            <a:ext cx="87289" cy="49978"/>
          </a:xfrm>
          <a:prstGeom prst="line">
            <a:avLst/>
          </a:prstGeom>
          <a:ln w="25400">
            <a:solidFill>
              <a:srgbClr val="56D9BD"/>
            </a:solidFill>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flipH="1" flipV="1">
            <a:off x="8105735" y="3653341"/>
            <a:ext cx="87289" cy="49979"/>
          </a:xfrm>
          <a:prstGeom prst="line">
            <a:avLst/>
          </a:prstGeom>
          <a:ln w="25400">
            <a:solidFill>
              <a:srgbClr val="56D9BD"/>
            </a:solidFill>
          </a:ln>
        </p:spPr>
        <p:style>
          <a:lnRef idx="2">
            <a:schemeClr val="accent1"/>
          </a:lnRef>
          <a:fillRef idx="0">
            <a:schemeClr val="accent1"/>
          </a:fillRef>
          <a:effectRef idx="1">
            <a:schemeClr val="accent1"/>
          </a:effectRef>
          <a:fontRef idx="minor">
            <a:schemeClr val="tx1"/>
          </a:fontRef>
        </p:style>
      </p:cxnSp>
      <p:sp>
        <p:nvSpPr>
          <p:cNvPr id="27" name="TextBox 26"/>
          <p:cNvSpPr txBox="1"/>
          <p:nvPr/>
        </p:nvSpPr>
        <p:spPr>
          <a:xfrm>
            <a:off x="676656" y="5221224"/>
            <a:ext cx="10908792" cy="347472"/>
          </a:xfrm>
          <a:prstGeom prst="rect">
            <a:avLst/>
          </a:prstGeom>
          <a:noFill/>
        </p:spPr>
        <p:txBody>
          <a:bodyPr wrap="square" tIns="0" bIns="0" lIns="0" rIns="0">
            <a:spAutoFit/>
          </a:bodyPr>
          <a:lstStyle/>
          <a:p>
            <a:pPr algn="l">
              <a:spcAft>
                <a:spcPts val="500"/>
              </a:spcAft>
              <a:defRPr sz="1600" b="1">
                <a:solidFill>
                  <a:srgbClr val="56D9BD"/>
                </a:solidFill>
                <a:latin typeface="Aptos"/>
              </a:defRPr>
            </a:pPr>
            <a:r>
              <a:t>FUTURE SEARCH: compare and evolve whole research pathways under scientific and human review.</a:t>
            </a:r>
          </a:p>
        </p:txBody>
      </p:sp>
      <p:sp>
        <p:nvSpPr>
          <p:cNvPr id="28" name="Rounded Rectangle 27"/>
          <p:cNvSpPr/>
          <p:nvPr/>
        </p:nvSpPr>
        <p:spPr>
          <a:xfrm>
            <a:off x="475488" y="5815584"/>
            <a:ext cx="11237976" cy="393192"/>
          </a:xfrm>
          <a:prstGeom prst="roundRect">
            <a:avLst>
              <a:gd name="adj" fmla="val 12000"/>
            </a:avLst>
          </a:prstGeom>
          <a:solidFill>
            <a:srgbClr val="22394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58368" y="5893308"/>
            <a:ext cx="10881360" cy="283464"/>
          </a:xfrm>
          <a:prstGeom prst="rect">
            <a:avLst/>
          </a:prstGeom>
          <a:noFill/>
        </p:spPr>
        <p:txBody>
          <a:bodyPr wrap="square" tIns="0" bIns="0" lIns="0" rIns="0">
            <a:spAutoFit/>
          </a:bodyPr>
          <a:lstStyle/>
          <a:p>
            <a:pPr algn="l">
              <a:spcAft>
                <a:spcPts val="500"/>
              </a:spcAft>
              <a:defRPr sz="1400" b="1">
                <a:solidFill>
                  <a:srgbClr val="56D9BD"/>
                </a:solidFill>
                <a:latin typeface="Aptos"/>
              </a:defRPr>
            </a:pPr>
            <a:r>
              <a:t>Our proposed distinction is this governed combination across materials, chemistry and biology.</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101D2C"/>
        </a:solidFill>
        <a:effectLst/>
      </p:bgPr>
    </p:bg>
    <p:spTree>
      <p:nvGrpSpPr>
        <p:cNvPr id="1" name=""/>
        <p:cNvGrpSpPr/>
        <p:nvPr/>
      </p:nvGrpSpPr>
      <p:grpSpPr/>
      <p:sp>
        <p:nvSpPr>
          <p:cNvPr id="2" name="TextBox 1"/>
          <p:cNvSpPr txBox="1"/>
          <p:nvPr/>
        </p:nvSpPr>
        <p:spPr>
          <a:xfrm>
            <a:off x="457200" y="274320"/>
            <a:ext cx="10972800" cy="228600"/>
          </a:xfrm>
          <a:prstGeom prst="rect">
            <a:avLst/>
          </a:prstGeom>
          <a:noFill/>
        </p:spPr>
        <p:txBody>
          <a:bodyPr wrap="square" tIns="0" bIns="0" lIns="0" rIns="0">
            <a:spAutoFit/>
          </a:bodyPr>
          <a:lstStyle/>
          <a:p>
            <a:pPr algn="l">
              <a:spcAft>
                <a:spcPts val="500"/>
              </a:spcAft>
              <a:defRPr sz="1000" b="1">
                <a:solidFill>
                  <a:srgbClr val="56D9BD"/>
                </a:solidFill>
                <a:latin typeface="Aptos"/>
              </a:defRPr>
            </a:pPr>
            <a:r>
              <a:t>COMPETITIVE LANDSCAPE</a:t>
            </a:r>
          </a:p>
        </p:txBody>
      </p:sp>
      <p:sp>
        <p:nvSpPr>
          <p:cNvPr id="3" name="TextBox 2"/>
          <p:cNvSpPr txBox="1"/>
          <p:nvPr/>
        </p:nvSpPr>
        <p:spPr>
          <a:xfrm>
            <a:off x="457200" y="731520"/>
            <a:ext cx="11247120" cy="822960"/>
          </a:xfrm>
          <a:prstGeom prst="rect">
            <a:avLst/>
          </a:prstGeom>
          <a:noFill/>
        </p:spPr>
        <p:txBody>
          <a:bodyPr wrap="square" tIns="0" bIns="0" lIns="0" rIns="0">
            <a:spAutoFit/>
          </a:bodyPr>
          <a:lstStyle/>
          <a:p>
            <a:pPr algn="l">
              <a:spcAft>
                <a:spcPts val="500"/>
              </a:spcAft>
              <a:defRPr sz="3000" b="1">
                <a:solidFill>
                  <a:srgbClr val="F1F5F6"/>
                </a:solidFill>
                <a:latin typeface="Aptos"/>
              </a:defRPr>
            </a:pPr>
            <a:r>
              <a:t>Strong alternatives raise the bar for Amphora</a:t>
            </a:r>
          </a:p>
        </p:txBody>
      </p:sp>
      <p:sp>
        <p:nvSpPr>
          <p:cNvPr id="4" name="TextBox 3"/>
          <p:cNvSpPr txBox="1"/>
          <p:nvPr/>
        </p:nvSpPr>
        <p:spPr>
          <a:xfrm>
            <a:off x="475488" y="1673352"/>
            <a:ext cx="11064240" cy="512064"/>
          </a:xfrm>
          <a:prstGeom prst="rect">
            <a:avLst/>
          </a:prstGeom>
          <a:noFill/>
        </p:spPr>
        <p:txBody>
          <a:bodyPr wrap="square" tIns="0" bIns="0" lIns="0" rIns="0">
            <a:spAutoFit/>
          </a:bodyPr>
          <a:lstStyle/>
          <a:p>
            <a:pPr algn="l">
              <a:spcAft>
                <a:spcPts val="500"/>
              </a:spcAft>
              <a:defRPr sz="1600" b="0">
                <a:solidFill>
                  <a:srgbClr val="AFC1CE"/>
                </a:solidFill>
                <a:latin typeface="Aptos"/>
              </a:defRPr>
            </a:pPr>
            <a:r>
              <a:t>These products already solve meaningful parts of scientific work. We must win on the combined use case.</a:t>
            </a:r>
          </a:p>
        </p:txBody>
      </p:sp>
      <p:cxnSp>
        <p:nvCxnSpPr>
          <p:cNvPr id="5" name="Connector 4"/>
          <p:cNvCxnSpPr/>
          <p:nvPr/>
        </p:nvCxnSpPr>
        <p:spPr>
          <a:xfrm>
            <a:off x="457200" y="6428232"/>
            <a:ext cx="11274552" cy="0"/>
          </a:xfrm>
          <a:prstGeom prst="line">
            <a:avLst/>
          </a:prstGeom>
          <a:ln w="8255">
            <a:solidFill>
              <a:srgbClr val="40586A"/>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457200" y="6547104"/>
            <a:ext cx="6400800" cy="173736"/>
          </a:xfrm>
          <a:prstGeom prst="rect">
            <a:avLst/>
          </a:prstGeom>
          <a:noFill/>
        </p:spPr>
        <p:txBody>
          <a:bodyPr wrap="square" tIns="0" bIns="0" lIns="0" rIns="0">
            <a:spAutoFit/>
          </a:bodyPr>
          <a:lstStyle/>
          <a:p>
            <a:pPr algn="l">
              <a:spcAft>
                <a:spcPts val="500"/>
              </a:spcAft>
              <a:defRPr sz="800" b="0">
                <a:solidFill>
                  <a:srgbClr val="AFC1CE"/>
                </a:solidFill>
                <a:latin typeface="Aptos"/>
              </a:defRPr>
            </a:pPr>
            <a:r>
              <a:t>AMPHORA  /  CONFIDENTIAL INVESTOR DISCUSSION  /  SEPTEMBER 2026</a:t>
            </a:r>
          </a:p>
        </p:txBody>
      </p:sp>
      <p:sp>
        <p:nvSpPr>
          <p:cNvPr id="7" name="TextBox 6"/>
          <p:cNvSpPr txBox="1"/>
          <p:nvPr/>
        </p:nvSpPr>
        <p:spPr>
          <a:xfrm>
            <a:off x="8366760" y="6528816"/>
            <a:ext cx="2788920" cy="201168"/>
          </a:xfrm>
          <a:prstGeom prst="rect">
            <a:avLst/>
          </a:prstGeom>
          <a:noFill/>
        </p:spPr>
        <p:txBody>
          <a:bodyPr wrap="square" tIns="0" bIns="0" lIns="0" rIns="0">
            <a:spAutoFit/>
          </a:bodyPr>
          <a:lstStyle/>
          <a:p>
            <a:pPr algn="r">
              <a:spcAft>
                <a:spcPts val="500"/>
              </a:spcAft>
              <a:defRPr sz="800" b="0">
                <a:solidFill>
                  <a:srgbClr val="56D9BD"/>
                </a:solidFill>
                <a:latin typeface="Aptos"/>
              </a:defRPr>
            </a:pPr>
            <a:r>
              <a:t>VENDOR-SOURCED COMPARISON</a:t>
            </a:r>
          </a:p>
        </p:txBody>
      </p:sp>
      <p:sp>
        <p:nvSpPr>
          <p:cNvPr id="8" name="TextBox 7"/>
          <p:cNvSpPr txBox="1"/>
          <p:nvPr/>
        </p:nvSpPr>
        <p:spPr>
          <a:xfrm>
            <a:off x="11384280" y="6492240"/>
            <a:ext cx="320040" cy="265176"/>
          </a:xfrm>
          <a:prstGeom prst="rect">
            <a:avLst/>
          </a:prstGeom>
          <a:noFill/>
        </p:spPr>
        <p:txBody>
          <a:bodyPr wrap="square" tIns="0" bIns="0" lIns="0" rIns="0">
            <a:spAutoFit/>
          </a:bodyPr>
          <a:lstStyle/>
          <a:p>
            <a:pPr algn="r">
              <a:spcAft>
                <a:spcPts val="500"/>
              </a:spcAft>
              <a:defRPr sz="1000" b="1">
                <a:solidFill>
                  <a:srgbClr val="F1F5F6"/>
                </a:solidFill>
                <a:latin typeface="Aptos"/>
              </a:defRPr>
            </a:pPr>
            <a:r>
              <a:t>03</a:t>
            </a:r>
          </a:p>
        </p:txBody>
      </p:sp>
      <p:sp>
        <p:nvSpPr>
          <p:cNvPr id="9" name="TextBox 8"/>
          <p:cNvSpPr txBox="1"/>
          <p:nvPr/>
        </p:nvSpPr>
        <p:spPr>
          <a:xfrm>
            <a:off x="630936" y="2377440"/>
            <a:ext cx="3108960" cy="228600"/>
          </a:xfrm>
          <a:prstGeom prst="rect">
            <a:avLst/>
          </a:prstGeom>
          <a:noFill/>
        </p:spPr>
        <p:txBody>
          <a:bodyPr wrap="square" tIns="0" bIns="0" lIns="0" rIns="0">
            <a:spAutoFit/>
          </a:bodyPr>
          <a:lstStyle/>
          <a:p>
            <a:pPr algn="l">
              <a:spcAft>
                <a:spcPts val="500"/>
              </a:spcAft>
              <a:defRPr sz="1100" b="1">
                <a:solidFill>
                  <a:srgbClr val="56D9BD"/>
                </a:solidFill>
                <a:latin typeface="Aptos"/>
              </a:defRPr>
            </a:pPr>
            <a:r>
              <a:t>EXISTING ALTERNATIVE</a:t>
            </a:r>
          </a:p>
        </p:txBody>
      </p:sp>
      <p:sp>
        <p:nvSpPr>
          <p:cNvPr id="10" name="TextBox 9"/>
          <p:cNvSpPr txBox="1"/>
          <p:nvPr/>
        </p:nvSpPr>
        <p:spPr>
          <a:xfrm>
            <a:off x="3694176" y="2377440"/>
            <a:ext cx="4325112" cy="228600"/>
          </a:xfrm>
          <a:prstGeom prst="rect">
            <a:avLst/>
          </a:prstGeom>
          <a:noFill/>
        </p:spPr>
        <p:txBody>
          <a:bodyPr wrap="square" tIns="0" bIns="0" lIns="0" rIns="0">
            <a:spAutoFit/>
          </a:bodyPr>
          <a:lstStyle/>
          <a:p>
            <a:pPr algn="l">
              <a:spcAft>
                <a:spcPts val="500"/>
              </a:spcAft>
              <a:defRPr sz="1100" b="1">
                <a:solidFill>
                  <a:srgbClr val="56D9BD"/>
                </a:solidFill>
                <a:latin typeface="Aptos"/>
              </a:defRPr>
            </a:pPr>
            <a:r>
              <a:t>WHAT IT ALREADY BRINGS</a:t>
            </a:r>
          </a:p>
        </p:txBody>
      </p:sp>
      <p:sp>
        <p:nvSpPr>
          <p:cNvPr id="11" name="Rounded Rectangle 10"/>
          <p:cNvSpPr/>
          <p:nvPr/>
        </p:nvSpPr>
        <p:spPr>
          <a:xfrm>
            <a:off x="493776" y="2761488"/>
            <a:ext cx="7580375" cy="530352"/>
          </a:xfrm>
          <a:prstGeom prst="roundRect">
            <a:avLst>
              <a:gd name="adj" fmla="val 12000"/>
            </a:avLst>
          </a:prstGeom>
          <a:solidFill>
            <a:srgbClr val="192B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9224" y="2852928"/>
            <a:ext cx="2880360" cy="420624"/>
          </a:xfrm>
          <a:prstGeom prst="rect">
            <a:avLst/>
          </a:prstGeom>
          <a:noFill/>
        </p:spPr>
        <p:txBody>
          <a:bodyPr wrap="square" tIns="0" bIns="0" lIns="0" rIns="0">
            <a:spAutoFit/>
          </a:bodyPr>
          <a:lstStyle/>
          <a:p>
            <a:pPr algn="l">
              <a:spcAft>
                <a:spcPts val="500"/>
              </a:spcAft>
              <a:defRPr sz="1600" b="1">
                <a:solidFill>
                  <a:srgbClr val="F1F5F6"/>
                </a:solidFill>
                <a:latin typeface="Aptos"/>
              </a:defRPr>
            </a:pPr>
            <a:r>
              <a:rPr>
                <a:hlinkClick r:id="rId2"/>
              </a:rPr>
              <a:t>Benchling / Claude Science</a:t>
            </a:r>
          </a:p>
        </p:txBody>
      </p:sp>
      <p:sp>
        <p:nvSpPr>
          <p:cNvPr id="13" name="TextBox 12"/>
          <p:cNvSpPr txBox="1"/>
          <p:nvPr/>
        </p:nvSpPr>
        <p:spPr>
          <a:xfrm>
            <a:off x="3694176" y="2852928"/>
            <a:ext cx="4123944" cy="420624"/>
          </a:xfrm>
          <a:prstGeom prst="rect">
            <a:avLst/>
          </a:prstGeom>
          <a:noFill/>
        </p:spPr>
        <p:txBody>
          <a:bodyPr wrap="square" tIns="0" bIns="0" lIns="0" rIns="0">
            <a:spAutoFit/>
          </a:bodyPr>
          <a:lstStyle/>
          <a:p>
            <a:pPr algn="l">
              <a:spcAft>
                <a:spcPts val="500"/>
              </a:spcAft>
              <a:defRPr sz="1500" b="0">
                <a:solidFill>
                  <a:srgbClr val="AFC1CE"/>
                </a:solidFill>
                <a:latin typeface="Aptos"/>
              </a:defRPr>
            </a:pPr>
            <a:r>
              <a:t>Scientific AI, context and tool orchestration</a:t>
            </a:r>
          </a:p>
        </p:txBody>
      </p:sp>
      <p:sp>
        <p:nvSpPr>
          <p:cNvPr id="14" name="Rounded Rectangle 13"/>
          <p:cNvSpPr/>
          <p:nvPr/>
        </p:nvSpPr>
        <p:spPr>
          <a:xfrm>
            <a:off x="493776" y="3355848"/>
            <a:ext cx="7580375" cy="530352"/>
          </a:xfrm>
          <a:prstGeom prst="roundRect">
            <a:avLst>
              <a:gd name="adj" fmla="val 12000"/>
            </a:avLst>
          </a:prstGeom>
          <a:solidFill>
            <a:srgbClr val="192B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9224" y="3447288"/>
            <a:ext cx="2880360" cy="420624"/>
          </a:xfrm>
          <a:prstGeom prst="rect">
            <a:avLst/>
          </a:prstGeom>
          <a:noFill/>
        </p:spPr>
        <p:txBody>
          <a:bodyPr wrap="square" tIns="0" bIns="0" lIns="0" rIns="0">
            <a:spAutoFit/>
          </a:bodyPr>
          <a:lstStyle/>
          <a:p>
            <a:pPr algn="l">
              <a:spcAft>
                <a:spcPts val="500"/>
              </a:spcAft>
              <a:defRPr sz="1600" b="1">
                <a:solidFill>
                  <a:srgbClr val="F1F5F6"/>
                </a:solidFill>
                <a:latin typeface="Aptos"/>
              </a:defRPr>
            </a:pPr>
            <a:r>
              <a:rPr>
                <a:hlinkClick r:id="rId3"/>
              </a:rPr>
              <a:t>Citrine / Schrödinger</a:t>
            </a:r>
          </a:p>
        </p:txBody>
      </p:sp>
      <p:sp>
        <p:nvSpPr>
          <p:cNvPr id="16" name="TextBox 15"/>
          <p:cNvSpPr txBox="1"/>
          <p:nvPr/>
        </p:nvSpPr>
        <p:spPr>
          <a:xfrm>
            <a:off x="3694176" y="3447288"/>
            <a:ext cx="4123944" cy="420624"/>
          </a:xfrm>
          <a:prstGeom prst="rect">
            <a:avLst/>
          </a:prstGeom>
          <a:noFill/>
        </p:spPr>
        <p:txBody>
          <a:bodyPr wrap="square" tIns="0" bIns="0" lIns="0" rIns="0">
            <a:spAutoFit/>
          </a:bodyPr>
          <a:lstStyle/>
          <a:p>
            <a:pPr algn="l">
              <a:spcAft>
                <a:spcPts val="500"/>
              </a:spcAft>
              <a:defRPr sz="1500" b="0">
                <a:solidFill>
                  <a:srgbClr val="AFC1CE"/>
                </a:solidFill>
                <a:latin typeface="Aptos"/>
              </a:defRPr>
            </a:pPr>
            <a:r>
              <a:t>Materials or molecular optimization</a:t>
            </a:r>
          </a:p>
        </p:txBody>
      </p:sp>
      <p:sp>
        <p:nvSpPr>
          <p:cNvPr id="17" name="Rounded Rectangle 16"/>
          <p:cNvSpPr/>
          <p:nvPr/>
        </p:nvSpPr>
        <p:spPr>
          <a:xfrm>
            <a:off x="493776" y="3950208"/>
            <a:ext cx="7580375" cy="530352"/>
          </a:xfrm>
          <a:prstGeom prst="roundRect">
            <a:avLst>
              <a:gd name="adj" fmla="val 12000"/>
            </a:avLst>
          </a:prstGeom>
          <a:solidFill>
            <a:srgbClr val="192B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49224" y="4041648"/>
            <a:ext cx="2880360" cy="420624"/>
          </a:xfrm>
          <a:prstGeom prst="rect">
            <a:avLst/>
          </a:prstGeom>
          <a:noFill/>
        </p:spPr>
        <p:txBody>
          <a:bodyPr wrap="square" tIns="0" bIns="0" lIns="0" rIns="0">
            <a:spAutoFit/>
          </a:bodyPr>
          <a:lstStyle/>
          <a:p>
            <a:pPr algn="l">
              <a:spcAft>
                <a:spcPts val="500"/>
              </a:spcAft>
              <a:defRPr sz="1600" b="1">
                <a:solidFill>
                  <a:srgbClr val="F1F5F6"/>
                </a:solidFill>
                <a:latin typeface="Aptos"/>
              </a:defRPr>
            </a:pPr>
            <a:r>
              <a:rPr>
                <a:hlinkClick r:id="rId4"/>
              </a:rPr>
              <a:t>Synthace / Automata</a:t>
            </a:r>
          </a:p>
        </p:txBody>
      </p:sp>
      <p:sp>
        <p:nvSpPr>
          <p:cNvPr id="19" name="TextBox 18"/>
          <p:cNvSpPr txBox="1"/>
          <p:nvPr/>
        </p:nvSpPr>
        <p:spPr>
          <a:xfrm>
            <a:off x="3694176" y="4041648"/>
            <a:ext cx="4123944" cy="420624"/>
          </a:xfrm>
          <a:prstGeom prst="rect">
            <a:avLst/>
          </a:prstGeom>
          <a:noFill/>
        </p:spPr>
        <p:txBody>
          <a:bodyPr wrap="square" tIns="0" bIns="0" lIns="0" rIns="0">
            <a:spAutoFit/>
          </a:bodyPr>
          <a:lstStyle/>
          <a:p>
            <a:pPr algn="l">
              <a:spcAft>
                <a:spcPts val="500"/>
              </a:spcAft>
              <a:defRPr sz="1500" b="0">
                <a:solidFill>
                  <a:srgbClr val="AFC1CE"/>
                </a:solidFill>
                <a:latin typeface="Aptos"/>
              </a:defRPr>
            </a:pPr>
            <a:r>
              <a:t>Experiment design, automation and task graphs</a:t>
            </a:r>
          </a:p>
        </p:txBody>
      </p:sp>
      <p:sp>
        <p:nvSpPr>
          <p:cNvPr id="20" name="Rounded Rectangle 19"/>
          <p:cNvSpPr/>
          <p:nvPr/>
        </p:nvSpPr>
        <p:spPr>
          <a:xfrm>
            <a:off x="493776" y="4544568"/>
            <a:ext cx="7580375" cy="530352"/>
          </a:xfrm>
          <a:prstGeom prst="roundRect">
            <a:avLst>
              <a:gd name="adj" fmla="val 12000"/>
            </a:avLst>
          </a:prstGeom>
          <a:solidFill>
            <a:srgbClr val="192B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49224" y="4636008"/>
            <a:ext cx="2880360" cy="420624"/>
          </a:xfrm>
          <a:prstGeom prst="rect">
            <a:avLst/>
          </a:prstGeom>
          <a:noFill/>
        </p:spPr>
        <p:txBody>
          <a:bodyPr wrap="square" tIns="0" bIns="0" lIns="0" rIns="0">
            <a:spAutoFit/>
          </a:bodyPr>
          <a:lstStyle/>
          <a:p>
            <a:pPr algn="l">
              <a:spcAft>
                <a:spcPts val="500"/>
              </a:spcAft>
              <a:defRPr sz="1600" b="1">
                <a:solidFill>
                  <a:srgbClr val="F1F5F6"/>
                </a:solidFill>
                <a:latin typeface="Aptos"/>
              </a:defRPr>
            </a:pPr>
            <a:r>
              <a:rPr>
                <a:hlinkClick r:id="rId5"/>
              </a:rPr>
              <a:t>Recursion OS</a:t>
            </a:r>
          </a:p>
        </p:txBody>
      </p:sp>
      <p:sp>
        <p:nvSpPr>
          <p:cNvPr id="22" name="TextBox 21"/>
          <p:cNvSpPr txBox="1"/>
          <p:nvPr/>
        </p:nvSpPr>
        <p:spPr>
          <a:xfrm>
            <a:off x="3694176" y="4636008"/>
            <a:ext cx="4123944" cy="420624"/>
          </a:xfrm>
          <a:prstGeom prst="rect">
            <a:avLst/>
          </a:prstGeom>
          <a:noFill/>
        </p:spPr>
        <p:txBody>
          <a:bodyPr wrap="square" tIns="0" bIns="0" lIns="0" rIns="0">
            <a:spAutoFit/>
          </a:bodyPr>
          <a:lstStyle/>
          <a:p>
            <a:pPr algn="l">
              <a:spcAft>
                <a:spcPts val="500"/>
              </a:spcAft>
              <a:defRPr sz="1500" b="0">
                <a:solidFill>
                  <a:srgbClr val="AFC1CE"/>
                </a:solidFill>
                <a:latin typeface="Aptos"/>
              </a:defRPr>
            </a:pPr>
            <a:r>
              <a:t>Integrated computational + physical discovery</a:t>
            </a:r>
          </a:p>
        </p:txBody>
      </p:sp>
      <p:sp>
        <p:nvSpPr>
          <p:cNvPr id="23" name="Rounded Rectangle 22"/>
          <p:cNvSpPr/>
          <p:nvPr/>
        </p:nvSpPr>
        <p:spPr>
          <a:xfrm>
            <a:off x="8385048" y="2487168"/>
            <a:ext cx="3328416" cy="2926080"/>
          </a:xfrm>
          <a:prstGeom prst="roundRect">
            <a:avLst>
              <a:gd name="adj" fmla="val 12000"/>
            </a:avLst>
          </a:prstGeom>
          <a:solidFill>
            <a:srgbClr val="22394D"/>
          </a:solidFill>
          <a:ln>
            <a:solidFill>
              <a:srgbClr val="56D9B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8577072" y="2697480"/>
            <a:ext cx="2926080" cy="292608"/>
          </a:xfrm>
          <a:prstGeom prst="rect">
            <a:avLst/>
          </a:prstGeom>
          <a:noFill/>
        </p:spPr>
        <p:txBody>
          <a:bodyPr wrap="square" tIns="0" bIns="0" lIns="0" rIns="0">
            <a:spAutoFit/>
          </a:bodyPr>
          <a:lstStyle/>
          <a:p>
            <a:pPr algn="l">
              <a:spcAft>
                <a:spcPts val="500"/>
              </a:spcAft>
              <a:defRPr sz="1200" b="1">
                <a:solidFill>
                  <a:srgbClr val="56D9BD"/>
                </a:solidFill>
                <a:latin typeface="Aptos"/>
              </a:defRPr>
            </a:pPr>
            <a:r>
              <a:t>AMPHORA TARGET</a:t>
            </a:r>
          </a:p>
        </p:txBody>
      </p:sp>
      <p:sp>
        <p:nvSpPr>
          <p:cNvPr id="25" name="TextBox 24"/>
          <p:cNvSpPr txBox="1"/>
          <p:nvPr/>
        </p:nvSpPr>
        <p:spPr>
          <a:xfrm>
            <a:off x="8577072" y="3246120"/>
            <a:ext cx="2907792" cy="1152144"/>
          </a:xfrm>
          <a:prstGeom prst="rect">
            <a:avLst/>
          </a:prstGeom>
          <a:noFill/>
        </p:spPr>
        <p:txBody>
          <a:bodyPr wrap="square" tIns="0" bIns="0" lIns="0" rIns="0">
            <a:spAutoFit/>
          </a:bodyPr>
          <a:lstStyle/>
          <a:p>
            <a:pPr algn="l">
              <a:spcAft>
                <a:spcPts val="500"/>
              </a:spcAft>
              <a:defRPr sz="2200" b="1">
                <a:solidFill>
                  <a:srgbClr val="F1F5F6"/>
                </a:solidFill>
                <a:latin typeface="Aptos"/>
              </a:defRPr>
            </a:pPr>
            <a:r>
              <a:t>Versioned, evolvable</a:t>
            </a:r>
          </a:p>
          <a:p>
            <a:pPr algn="l">
              <a:spcAft>
                <a:spcPts val="500"/>
              </a:spcAft>
              <a:defRPr sz="2200" b="1">
                <a:solidFill>
                  <a:srgbClr val="F1F5F6"/>
                </a:solidFill>
                <a:latin typeface="Aptos"/>
              </a:defRPr>
            </a:pPr>
            <a:r>
              <a:t>research maps linked</a:t>
            </a:r>
          </a:p>
          <a:p>
            <a:pPr algn="l">
              <a:spcAft>
                <a:spcPts val="500"/>
              </a:spcAft>
              <a:defRPr sz="2200" b="1">
                <a:solidFill>
                  <a:srgbClr val="F1F5F6"/>
                </a:solidFill>
                <a:latin typeface="Aptos"/>
              </a:defRPr>
            </a:pPr>
            <a:r>
              <a:t>to scientific evidence.</a:t>
            </a:r>
          </a:p>
        </p:txBody>
      </p:sp>
      <p:sp>
        <p:nvSpPr>
          <p:cNvPr id="26" name="TextBox 25"/>
          <p:cNvSpPr txBox="1"/>
          <p:nvPr/>
        </p:nvSpPr>
        <p:spPr>
          <a:xfrm>
            <a:off x="8577072" y="4608576"/>
            <a:ext cx="2907792" cy="658368"/>
          </a:xfrm>
          <a:prstGeom prst="rect">
            <a:avLst/>
          </a:prstGeom>
          <a:noFill/>
        </p:spPr>
        <p:txBody>
          <a:bodyPr wrap="square" tIns="0" bIns="0" lIns="0" rIns="0">
            <a:spAutoFit/>
          </a:bodyPr>
          <a:lstStyle/>
          <a:p>
            <a:pPr algn="l">
              <a:spcAft>
                <a:spcPts val="500"/>
              </a:spcAft>
              <a:defRPr sz="1700" b="0">
                <a:solidFill>
                  <a:srgbClr val="AFC1CE"/>
                </a:solidFill>
                <a:latin typeface="Aptos"/>
              </a:defRPr>
            </a:pPr>
            <a:r>
              <a:t>Cross-domain.</a:t>
            </a:r>
          </a:p>
          <a:p>
            <a:pPr algn="l">
              <a:spcAft>
                <a:spcPts val="500"/>
              </a:spcAft>
              <a:defRPr sz="1700" b="0">
                <a:solidFill>
                  <a:srgbClr val="AFC1CE"/>
                </a:solidFill>
                <a:latin typeface="Aptos"/>
              </a:defRPr>
            </a:pPr>
            <a:r>
              <a:t>Scientist-controlled.</a:t>
            </a:r>
          </a:p>
        </p:txBody>
      </p:sp>
      <p:sp>
        <p:nvSpPr>
          <p:cNvPr id="27" name="Rounded Rectangle 26"/>
          <p:cNvSpPr/>
          <p:nvPr/>
        </p:nvSpPr>
        <p:spPr>
          <a:xfrm>
            <a:off x="475488" y="5815584"/>
            <a:ext cx="11237976" cy="393192"/>
          </a:xfrm>
          <a:prstGeom prst="roundRect">
            <a:avLst>
              <a:gd name="adj" fmla="val 12000"/>
            </a:avLst>
          </a:prstGeom>
          <a:solidFill>
            <a:srgbClr val="22394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58368" y="5893308"/>
            <a:ext cx="10881360" cy="283464"/>
          </a:xfrm>
          <a:prstGeom prst="rect">
            <a:avLst/>
          </a:prstGeom>
          <a:noFill/>
        </p:spPr>
        <p:txBody>
          <a:bodyPr wrap="square" tIns="0" bIns="0" lIns="0" rIns="0">
            <a:spAutoFit/>
          </a:bodyPr>
          <a:lstStyle/>
          <a:p>
            <a:pPr algn="l">
              <a:spcAft>
                <a:spcPts val="500"/>
              </a:spcAft>
              <a:defRPr sz="1400" b="1">
                <a:solidFill>
                  <a:srgbClr val="56D9BD"/>
                </a:solidFill>
                <a:latin typeface="Aptos"/>
              </a:defRPr>
            </a:pPr>
            <a:r>
              <a:t>The test: better campaign change, scientific traceability and reuse—not a longer feature list.</a:t>
            </a:r>
          </a:p>
        </p:txBody>
      </p:sp>
      <p:sp>
        <p:nvSpPr>
          <p:cNvPr id="29" name="TextBox 28"/>
          <p:cNvSpPr txBox="1"/>
          <p:nvPr/>
        </p:nvSpPr>
        <p:spPr>
          <a:xfrm>
            <a:off x="493776" y="6291072"/>
            <a:ext cx="1143000" cy="128016"/>
          </a:xfrm>
          <a:prstGeom prst="rect">
            <a:avLst/>
          </a:prstGeom>
          <a:noFill/>
        </p:spPr>
        <p:txBody>
          <a:bodyPr wrap="square" tIns="0" bIns="0" lIns="0" rIns="0">
            <a:spAutoFit/>
          </a:bodyPr>
          <a:lstStyle/>
          <a:p>
            <a:pPr algn="l">
              <a:spcAft>
                <a:spcPts val="500"/>
              </a:spcAft>
              <a:defRPr sz="750" b="0">
                <a:solidFill>
                  <a:srgbClr val="AFC1CE"/>
                </a:solidFill>
                <a:latin typeface="Aptos"/>
              </a:defRPr>
            </a:pPr>
            <a:r>
              <a:rPr>
                <a:hlinkClick r:id="rId2"/>
              </a:rPr>
              <a:t>S1 Benchling AI</a:t>
            </a:r>
          </a:p>
        </p:txBody>
      </p:sp>
      <p:sp>
        <p:nvSpPr>
          <p:cNvPr id="30" name="TextBox 29"/>
          <p:cNvSpPr txBox="1"/>
          <p:nvPr/>
        </p:nvSpPr>
        <p:spPr>
          <a:xfrm>
            <a:off x="1792224" y="6291072"/>
            <a:ext cx="1143000" cy="128016"/>
          </a:xfrm>
          <a:prstGeom prst="rect">
            <a:avLst/>
          </a:prstGeom>
          <a:noFill/>
        </p:spPr>
        <p:txBody>
          <a:bodyPr wrap="square" tIns="0" bIns="0" lIns="0" rIns="0">
            <a:spAutoFit/>
          </a:bodyPr>
          <a:lstStyle/>
          <a:p>
            <a:pPr algn="l">
              <a:spcAft>
                <a:spcPts val="500"/>
              </a:spcAft>
              <a:defRPr sz="750" b="0">
                <a:solidFill>
                  <a:srgbClr val="AFC1CE"/>
                </a:solidFill>
                <a:latin typeface="Aptos"/>
              </a:defRPr>
            </a:pPr>
            <a:r>
              <a:rPr>
                <a:hlinkClick r:id="rId3"/>
              </a:rPr>
              <a:t>S2 Citrine Catalyst</a:t>
            </a:r>
          </a:p>
        </p:txBody>
      </p:sp>
      <p:sp>
        <p:nvSpPr>
          <p:cNvPr id="31" name="TextBox 30"/>
          <p:cNvSpPr txBox="1"/>
          <p:nvPr/>
        </p:nvSpPr>
        <p:spPr>
          <a:xfrm>
            <a:off x="3090672" y="6291072"/>
            <a:ext cx="1645919" cy="128016"/>
          </a:xfrm>
          <a:prstGeom prst="rect">
            <a:avLst/>
          </a:prstGeom>
          <a:noFill/>
        </p:spPr>
        <p:txBody>
          <a:bodyPr wrap="square" tIns="0" bIns="0" lIns="0" rIns="0">
            <a:spAutoFit/>
          </a:bodyPr>
          <a:lstStyle/>
          <a:p>
            <a:pPr algn="l">
              <a:spcAft>
                <a:spcPts val="500"/>
              </a:spcAft>
              <a:defRPr sz="750" b="0">
                <a:solidFill>
                  <a:srgbClr val="AFC1CE"/>
                </a:solidFill>
                <a:latin typeface="Aptos"/>
              </a:defRPr>
            </a:pPr>
            <a:r>
              <a:rPr>
                <a:hlinkClick r:id="rId6"/>
              </a:rPr>
              <a:t>S4 Schrödinger active learning</a:t>
            </a:r>
          </a:p>
        </p:txBody>
      </p:sp>
      <p:sp>
        <p:nvSpPr>
          <p:cNvPr id="32" name="TextBox 31"/>
          <p:cNvSpPr txBox="1"/>
          <p:nvPr/>
        </p:nvSpPr>
        <p:spPr>
          <a:xfrm>
            <a:off x="4892040" y="6291072"/>
            <a:ext cx="1143000" cy="128016"/>
          </a:xfrm>
          <a:prstGeom prst="rect">
            <a:avLst/>
          </a:prstGeom>
          <a:noFill/>
        </p:spPr>
        <p:txBody>
          <a:bodyPr wrap="square" tIns="0" bIns="0" lIns="0" rIns="0">
            <a:spAutoFit/>
          </a:bodyPr>
          <a:lstStyle/>
          <a:p>
            <a:pPr algn="l">
              <a:spcAft>
                <a:spcPts val="500"/>
              </a:spcAft>
              <a:defRPr sz="750" b="0">
                <a:solidFill>
                  <a:srgbClr val="AFC1CE"/>
                </a:solidFill>
                <a:latin typeface="Aptos"/>
              </a:defRPr>
            </a:pPr>
            <a:r>
              <a:rPr>
                <a:hlinkClick r:id="rId4"/>
              </a:rPr>
              <a:t>S5 Synthace</a:t>
            </a:r>
          </a:p>
        </p:txBody>
      </p:sp>
      <p:sp>
        <p:nvSpPr>
          <p:cNvPr id="33" name="TextBox 32"/>
          <p:cNvSpPr txBox="1"/>
          <p:nvPr/>
        </p:nvSpPr>
        <p:spPr>
          <a:xfrm>
            <a:off x="6190488" y="6291072"/>
            <a:ext cx="1143000" cy="128016"/>
          </a:xfrm>
          <a:prstGeom prst="rect">
            <a:avLst/>
          </a:prstGeom>
          <a:noFill/>
        </p:spPr>
        <p:txBody>
          <a:bodyPr wrap="square" tIns="0" bIns="0" lIns="0" rIns="0">
            <a:spAutoFit/>
          </a:bodyPr>
          <a:lstStyle/>
          <a:p>
            <a:pPr algn="l">
              <a:spcAft>
                <a:spcPts val="500"/>
              </a:spcAft>
              <a:defRPr sz="750" b="0">
                <a:solidFill>
                  <a:srgbClr val="AFC1CE"/>
                </a:solidFill>
                <a:latin typeface="Aptos"/>
              </a:defRPr>
            </a:pPr>
            <a:r>
              <a:rPr>
                <a:hlinkClick r:id="rId7"/>
              </a:rPr>
              <a:t>S6 Automata LINQ</a:t>
            </a:r>
          </a:p>
        </p:txBody>
      </p:sp>
      <p:sp>
        <p:nvSpPr>
          <p:cNvPr id="34" name="TextBox 33"/>
          <p:cNvSpPr txBox="1"/>
          <p:nvPr/>
        </p:nvSpPr>
        <p:spPr>
          <a:xfrm>
            <a:off x="7488936" y="6291072"/>
            <a:ext cx="1143000" cy="128016"/>
          </a:xfrm>
          <a:prstGeom prst="rect">
            <a:avLst/>
          </a:prstGeom>
          <a:noFill/>
        </p:spPr>
        <p:txBody>
          <a:bodyPr wrap="square" tIns="0" bIns="0" lIns="0" rIns="0">
            <a:spAutoFit/>
          </a:bodyPr>
          <a:lstStyle/>
          <a:p>
            <a:pPr algn="l">
              <a:spcAft>
                <a:spcPts val="500"/>
              </a:spcAft>
              <a:defRPr sz="750" b="0">
                <a:solidFill>
                  <a:srgbClr val="AFC1CE"/>
                </a:solidFill>
                <a:latin typeface="Aptos"/>
              </a:defRPr>
            </a:pPr>
            <a:r>
              <a:rPr>
                <a:hlinkClick r:id="rId5"/>
              </a:rPr>
              <a:t>S7 Recursion OS</a:t>
            </a:r>
          </a:p>
        </p:txBody>
      </p:sp>
      <p:sp>
        <p:nvSpPr>
          <p:cNvPr id="35" name="TextBox 34"/>
          <p:cNvSpPr txBox="1"/>
          <p:nvPr/>
        </p:nvSpPr>
        <p:spPr>
          <a:xfrm>
            <a:off x="8787384" y="6291072"/>
            <a:ext cx="1143000" cy="128016"/>
          </a:xfrm>
          <a:prstGeom prst="rect">
            <a:avLst/>
          </a:prstGeom>
          <a:noFill/>
        </p:spPr>
        <p:txBody>
          <a:bodyPr wrap="square" tIns="0" bIns="0" lIns="0" rIns="0">
            <a:spAutoFit/>
          </a:bodyPr>
          <a:lstStyle/>
          <a:p>
            <a:pPr algn="l">
              <a:spcAft>
                <a:spcPts val="500"/>
              </a:spcAft>
              <a:defRPr sz="750" b="0">
                <a:solidFill>
                  <a:srgbClr val="AFC1CE"/>
                </a:solidFill>
                <a:latin typeface="Aptos"/>
              </a:defRPr>
            </a:pPr>
            <a:r>
              <a:rPr>
                <a:hlinkClick r:id="rId8"/>
              </a:rPr>
              <a:t>S8 Claude Science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101D2C"/>
        </a:solidFill>
        <a:effectLst/>
      </p:bgPr>
    </p:bg>
    <p:spTree>
      <p:nvGrpSpPr>
        <p:cNvPr id="1" name=""/>
        <p:cNvGrpSpPr/>
        <p:nvPr/>
      </p:nvGrpSpPr>
      <p:grpSpPr/>
      <p:sp>
        <p:nvSpPr>
          <p:cNvPr id="2" name="TextBox 1"/>
          <p:cNvSpPr txBox="1"/>
          <p:nvPr/>
        </p:nvSpPr>
        <p:spPr>
          <a:xfrm>
            <a:off x="457200" y="274320"/>
            <a:ext cx="10972800" cy="228600"/>
          </a:xfrm>
          <a:prstGeom prst="rect">
            <a:avLst/>
          </a:prstGeom>
          <a:noFill/>
        </p:spPr>
        <p:txBody>
          <a:bodyPr wrap="square" tIns="0" bIns="0" lIns="0" rIns="0">
            <a:spAutoFit/>
          </a:bodyPr>
          <a:lstStyle/>
          <a:p>
            <a:pPr algn="l">
              <a:spcAft>
                <a:spcPts val="500"/>
              </a:spcAft>
              <a:defRPr sz="1000" b="1">
                <a:solidFill>
                  <a:srgbClr val="56D9BD"/>
                </a:solidFill>
                <a:latin typeface="Aptos"/>
              </a:defRPr>
            </a:pPr>
            <a:r>
              <a:t>WHY THIS ENGINE NEEDS TO BE BUILT</a:t>
            </a:r>
          </a:p>
        </p:txBody>
      </p:sp>
      <p:sp>
        <p:nvSpPr>
          <p:cNvPr id="3" name="TextBox 2"/>
          <p:cNvSpPr txBox="1"/>
          <p:nvPr/>
        </p:nvSpPr>
        <p:spPr>
          <a:xfrm>
            <a:off x="457200" y="731520"/>
            <a:ext cx="11247120" cy="822960"/>
          </a:xfrm>
          <a:prstGeom prst="rect">
            <a:avLst/>
          </a:prstGeom>
          <a:noFill/>
        </p:spPr>
        <p:txBody>
          <a:bodyPr wrap="square" tIns="0" bIns="0" lIns="0" rIns="0">
            <a:spAutoFit/>
          </a:bodyPr>
          <a:lstStyle/>
          <a:p>
            <a:pPr algn="l">
              <a:spcAft>
                <a:spcPts val="500"/>
              </a:spcAft>
              <a:defRPr sz="3000" b="1">
                <a:solidFill>
                  <a:srgbClr val="F1F5F6"/>
                </a:solidFill>
                <a:latin typeface="Aptos"/>
              </a:defRPr>
            </a:pPr>
            <a:r>
              <a:t>A change of scientific direction should preserve the work</a:t>
            </a:r>
          </a:p>
        </p:txBody>
      </p:sp>
      <p:sp>
        <p:nvSpPr>
          <p:cNvPr id="4" name="TextBox 3"/>
          <p:cNvSpPr txBox="1"/>
          <p:nvPr/>
        </p:nvSpPr>
        <p:spPr>
          <a:xfrm>
            <a:off x="475488" y="1673352"/>
            <a:ext cx="11064240" cy="512064"/>
          </a:xfrm>
          <a:prstGeom prst="rect">
            <a:avLst/>
          </a:prstGeom>
          <a:noFill/>
        </p:spPr>
        <p:txBody>
          <a:bodyPr wrap="square" tIns="0" bIns="0" lIns="0" rIns="0">
            <a:spAutoFit/>
          </a:bodyPr>
          <a:lstStyle/>
          <a:p>
            <a:pPr algn="l">
              <a:spcAft>
                <a:spcPts val="500"/>
              </a:spcAft>
              <a:defRPr sz="1600" b="0">
                <a:solidFill>
                  <a:srgbClr val="AFC1CE"/>
                </a:solidFill>
                <a:latin typeface="Aptos"/>
              </a:defRPr>
            </a:pPr>
            <a:r>
              <a:t>Our design makes the pathway, its scientific limits and its history part of the same product.</a:t>
            </a:r>
          </a:p>
        </p:txBody>
      </p:sp>
      <p:cxnSp>
        <p:nvCxnSpPr>
          <p:cNvPr id="5" name="Connector 4"/>
          <p:cNvCxnSpPr/>
          <p:nvPr/>
        </p:nvCxnSpPr>
        <p:spPr>
          <a:xfrm>
            <a:off x="457200" y="6428232"/>
            <a:ext cx="11274552" cy="0"/>
          </a:xfrm>
          <a:prstGeom prst="line">
            <a:avLst/>
          </a:prstGeom>
          <a:ln w="8255">
            <a:solidFill>
              <a:srgbClr val="40586A"/>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457200" y="6547104"/>
            <a:ext cx="6400800" cy="173736"/>
          </a:xfrm>
          <a:prstGeom prst="rect">
            <a:avLst/>
          </a:prstGeom>
          <a:noFill/>
        </p:spPr>
        <p:txBody>
          <a:bodyPr wrap="square" tIns="0" bIns="0" lIns="0" rIns="0">
            <a:spAutoFit/>
          </a:bodyPr>
          <a:lstStyle/>
          <a:p>
            <a:pPr algn="l">
              <a:spcAft>
                <a:spcPts val="500"/>
              </a:spcAft>
              <a:defRPr sz="800" b="0">
                <a:solidFill>
                  <a:srgbClr val="AFC1CE"/>
                </a:solidFill>
                <a:latin typeface="Aptos"/>
              </a:defRPr>
            </a:pPr>
            <a:r>
              <a:t>AMPHORA  /  CONFIDENTIAL INVESTOR DISCUSSION  /  SEPTEMBER 2026</a:t>
            </a:r>
          </a:p>
        </p:txBody>
      </p:sp>
      <p:sp>
        <p:nvSpPr>
          <p:cNvPr id="7" name="TextBox 6"/>
          <p:cNvSpPr txBox="1"/>
          <p:nvPr/>
        </p:nvSpPr>
        <p:spPr>
          <a:xfrm>
            <a:off x="8366760" y="6528816"/>
            <a:ext cx="2788920" cy="201168"/>
          </a:xfrm>
          <a:prstGeom prst="rect">
            <a:avLst/>
          </a:prstGeom>
          <a:noFill/>
        </p:spPr>
        <p:txBody>
          <a:bodyPr wrap="square" tIns="0" bIns="0" lIns="0" rIns="0">
            <a:spAutoFit/>
          </a:bodyPr>
          <a:lstStyle/>
          <a:p>
            <a:pPr algn="r">
              <a:spcAft>
                <a:spcPts val="500"/>
              </a:spcAft>
              <a:defRPr sz="800" b="0">
                <a:solidFill>
                  <a:srgbClr val="56D9BD"/>
                </a:solidFill>
                <a:latin typeface="Aptos"/>
              </a:defRPr>
            </a:pPr>
            <a:r>
              <a:t>DESIGN GOALS / TO PROVE</a:t>
            </a:r>
          </a:p>
        </p:txBody>
      </p:sp>
      <p:sp>
        <p:nvSpPr>
          <p:cNvPr id="8" name="TextBox 7"/>
          <p:cNvSpPr txBox="1"/>
          <p:nvPr/>
        </p:nvSpPr>
        <p:spPr>
          <a:xfrm>
            <a:off x="11384280" y="6492240"/>
            <a:ext cx="320040" cy="265176"/>
          </a:xfrm>
          <a:prstGeom prst="rect">
            <a:avLst/>
          </a:prstGeom>
          <a:noFill/>
        </p:spPr>
        <p:txBody>
          <a:bodyPr wrap="square" tIns="0" bIns="0" lIns="0" rIns="0">
            <a:spAutoFit/>
          </a:bodyPr>
          <a:lstStyle/>
          <a:p>
            <a:pPr algn="r">
              <a:spcAft>
                <a:spcPts val="500"/>
              </a:spcAft>
              <a:defRPr sz="1000" b="1">
                <a:solidFill>
                  <a:srgbClr val="F1F5F6"/>
                </a:solidFill>
                <a:latin typeface="Aptos"/>
              </a:defRPr>
            </a:pPr>
            <a:r>
              <a:t>04</a:t>
            </a:r>
          </a:p>
        </p:txBody>
      </p:sp>
      <p:sp>
        <p:nvSpPr>
          <p:cNvPr id="9" name="Rounded Rectangle 8"/>
          <p:cNvSpPr/>
          <p:nvPr/>
        </p:nvSpPr>
        <p:spPr>
          <a:xfrm>
            <a:off x="502920" y="2505456"/>
            <a:ext cx="6876288" cy="822960"/>
          </a:xfrm>
          <a:prstGeom prst="roundRect">
            <a:avLst>
              <a:gd name="adj" fmla="val 12000"/>
            </a:avLst>
          </a:prstGeom>
          <a:solidFill>
            <a:srgbClr val="192B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85800" y="2724912"/>
            <a:ext cx="530352" cy="384048"/>
          </a:xfrm>
          <a:prstGeom prst="rect">
            <a:avLst/>
          </a:prstGeom>
          <a:noFill/>
        </p:spPr>
        <p:txBody>
          <a:bodyPr wrap="square" tIns="0" bIns="0" lIns="0" rIns="0">
            <a:spAutoFit/>
          </a:bodyPr>
          <a:lstStyle/>
          <a:p>
            <a:pPr algn="l">
              <a:spcAft>
                <a:spcPts val="500"/>
              </a:spcAft>
              <a:defRPr sz="2100" b="1">
                <a:solidFill>
                  <a:srgbClr val="56D9BD"/>
                </a:solidFill>
                <a:latin typeface="Aptos"/>
              </a:defRPr>
            </a:pPr>
            <a:r>
              <a:t>01</a:t>
            </a:r>
          </a:p>
        </p:txBody>
      </p:sp>
      <p:sp>
        <p:nvSpPr>
          <p:cNvPr id="11" name="TextBox 10"/>
          <p:cNvSpPr txBox="1"/>
          <p:nvPr/>
        </p:nvSpPr>
        <p:spPr>
          <a:xfrm>
            <a:off x="1389888" y="2596896"/>
            <a:ext cx="2286000" cy="676656"/>
          </a:xfrm>
          <a:prstGeom prst="rect">
            <a:avLst/>
          </a:prstGeom>
          <a:noFill/>
        </p:spPr>
        <p:txBody>
          <a:bodyPr wrap="square" tIns="0" bIns="0" lIns="0" rIns="0">
            <a:spAutoFit/>
          </a:bodyPr>
          <a:lstStyle/>
          <a:p>
            <a:pPr algn="l">
              <a:spcAft>
                <a:spcPts val="500"/>
              </a:spcAft>
              <a:defRPr sz="1900" b="1">
                <a:solidFill>
                  <a:srgbClr val="F1F5F6"/>
                </a:solidFill>
                <a:latin typeface="Aptos"/>
              </a:defRPr>
            </a:pPr>
            <a:r>
              <a:t>Change the path</a:t>
            </a:r>
          </a:p>
        </p:txBody>
      </p:sp>
      <p:sp>
        <p:nvSpPr>
          <p:cNvPr id="12" name="TextBox 11"/>
          <p:cNvSpPr txBox="1"/>
          <p:nvPr/>
        </p:nvSpPr>
        <p:spPr>
          <a:xfrm>
            <a:off x="3813048" y="2651760"/>
            <a:ext cx="3364992" cy="585216"/>
          </a:xfrm>
          <a:prstGeom prst="rect">
            <a:avLst/>
          </a:prstGeom>
          <a:noFill/>
        </p:spPr>
        <p:txBody>
          <a:bodyPr wrap="square" tIns="0" bIns="0" lIns="0" rIns="0">
            <a:spAutoFit/>
          </a:bodyPr>
          <a:lstStyle/>
          <a:p>
            <a:pPr algn="l">
              <a:spcAft>
                <a:spcPts val="500"/>
              </a:spcAft>
              <a:defRPr sz="1400" b="0">
                <a:solidFill>
                  <a:srgbClr val="AFC1CE"/>
                </a:solidFill>
                <a:latin typeface="Aptos"/>
              </a:defRPr>
            </a:pPr>
            <a:r>
              <a:t>Insert a new assay or evaluator</a:t>
            </a:r>
          </a:p>
          <a:p>
            <a:pPr algn="l">
              <a:spcAft>
                <a:spcPts val="500"/>
              </a:spcAft>
              <a:defRPr sz="1400" b="0">
                <a:solidFill>
                  <a:srgbClr val="AFC1CE"/>
                </a:solidFill>
                <a:latin typeface="Aptos"/>
              </a:defRPr>
            </a:pPr>
            <a:r>
              <a:t>without rebuilding the whole campaign.</a:t>
            </a:r>
          </a:p>
        </p:txBody>
      </p:sp>
      <p:sp>
        <p:nvSpPr>
          <p:cNvPr id="13" name="Rounded Rectangle 12"/>
          <p:cNvSpPr/>
          <p:nvPr/>
        </p:nvSpPr>
        <p:spPr>
          <a:xfrm>
            <a:off x="502920" y="3447288"/>
            <a:ext cx="6876288" cy="822960"/>
          </a:xfrm>
          <a:prstGeom prst="roundRect">
            <a:avLst>
              <a:gd name="adj" fmla="val 12000"/>
            </a:avLst>
          </a:prstGeom>
          <a:solidFill>
            <a:srgbClr val="192B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85800" y="3666744"/>
            <a:ext cx="530352" cy="384048"/>
          </a:xfrm>
          <a:prstGeom prst="rect">
            <a:avLst/>
          </a:prstGeom>
          <a:noFill/>
        </p:spPr>
        <p:txBody>
          <a:bodyPr wrap="square" tIns="0" bIns="0" lIns="0" rIns="0">
            <a:spAutoFit/>
          </a:bodyPr>
          <a:lstStyle/>
          <a:p>
            <a:pPr algn="l">
              <a:spcAft>
                <a:spcPts val="500"/>
              </a:spcAft>
              <a:defRPr sz="2100" b="1">
                <a:solidFill>
                  <a:srgbClr val="83BFFF"/>
                </a:solidFill>
                <a:latin typeface="Aptos"/>
              </a:defRPr>
            </a:pPr>
            <a:r>
              <a:t>02</a:t>
            </a:r>
          </a:p>
        </p:txBody>
      </p:sp>
      <p:sp>
        <p:nvSpPr>
          <p:cNvPr id="15" name="TextBox 14"/>
          <p:cNvSpPr txBox="1"/>
          <p:nvPr/>
        </p:nvSpPr>
        <p:spPr>
          <a:xfrm>
            <a:off x="1389888" y="3538728"/>
            <a:ext cx="2286000" cy="676656"/>
          </a:xfrm>
          <a:prstGeom prst="rect">
            <a:avLst/>
          </a:prstGeom>
          <a:noFill/>
        </p:spPr>
        <p:txBody>
          <a:bodyPr wrap="square" tIns="0" bIns="0" lIns="0" rIns="0">
            <a:spAutoFit/>
          </a:bodyPr>
          <a:lstStyle/>
          <a:p>
            <a:pPr algn="l">
              <a:spcAft>
                <a:spcPts val="500"/>
              </a:spcAft>
              <a:defRPr sz="1900" b="1">
                <a:solidFill>
                  <a:srgbClr val="F1F5F6"/>
                </a:solidFill>
                <a:latin typeface="Aptos"/>
              </a:defRPr>
            </a:pPr>
            <a:r>
              <a:t>Protect the meaning</a:t>
            </a:r>
          </a:p>
        </p:txBody>
      </p:sp>
      <p:sp>
        <p:nvSpPr>
          <p:cNvPr id="16" name="TextBox 15"/>
          <p:cNvSpPr txBox="1"/>
          <p:nvPr/>
        </p:nvSpPr>
        <p:spPr>
          <a:xfrm>
            <a:off x="3813048" y="3593592"/>
            <a:ext cx="3364992" cy="585216"/>
          </a:xfrm>
          <a:prstGeom prst="rect">
            <a:avLst/>
          </a:prstGeom>
          <a:noFill/>
        </p:spPr>
        <p:txBody>
          <a:bodyPr wrap="square" tIns="0" bIns="0" lIns="0" rIns="0">
            <a:spAutoFit/>
          </a:bodyPr>
          <a:lstStyle/>
          <a:p>
            <a:pPr algn="l">
              <a:spcAft>
                <a:spcPts val="500"/>
              </a:spcAft>
              <a:defRPr sz="1400" b="0">
                <a:solidFill>
                  <a:srgbClr val="AFC1CE"/>
                </a:solidFill>
                <a:latin typeface="Aptos"/>
              </a:defRPr>
            </a:pPr>
            <a:r>
              <a:t>Carry source, species, method and</a:t>
            </a:r>
          </a:p>
          <a:p>
            <a:pPr algn="l">
              <a:spcAft>
                <a:spcPts val="500"/>
              </a:spcAft>
              <a:defRPr sz="1400" b="0">
                <a:solidFill>
                  <a:srgbClr val="AFC1CE"/>
                </a:solidFill>
                <a:latin typeface="Aptos"/>
              </a:defRPr>
            </a:pPr>
            <a:r>
              <a:t>model limits into every decision.</a:t>
            </a:r>
          </a:p>
        </p:txBody>
      </p:sp>
      <p:sp>
        <p:nvSpPr>
          <p:cNvPr id="17" name="Rounded Rectangle 16"/>
          <p:cNvSpPr/>
          <p:nvPr/>
        </p:nvSpPr>
        <p:spPr>
          <a:xfrm>
            <a:off x="502920" y="4389120"/>
            <a:ext cx="6876288" cy="822960"/>
          </a:xfrm>
          <a:prstGeom prst="roundRect">
            <a:avLst>
              <a:gd name="adj" fmla="val 12000"/>
            </a:avLst>
          </a:prstGeom>
          <a:solidFill>
            <a:srgbClr val="192B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85800" y="4608576"/>
            <a:ext cx="530352" cy="384048"/>
          </a:xfrm>
          <a:prstGeom prst="rect">
            <a:avLst/>
          </a:prstGeom>
          <a:noFill/>
        </p:spPr>
        <p:txBody>
          <a:bodyPr wrap="square" tIns="0" bIns="0" lIns="0" rIns="0">
            <a:spAutoFit/>
          </a:bodyPr>
          <a:lstStyle/>
          <a:p>
            <a:pPr algn="l">
              <a:spcAft>
                <a:spcPts val="500"/>
              </a:spcAft>
              <a:defRPr sz="2100" b="1">
                <a:solidFill>
                  <a:srgbClr val="BEA5F4"/>
                </a:solidFill>
                <a:latin typeface="Aptos"/>
              </a:defRPr>
            </a:pPr>
            <a:r>
              <a:t>03</a:t>
            </a:r>
          </a:p>
        </p:txBody>
      </p:sp>
      <p:sp>
        <p:nvSpPr>
          <p:cNvPr id="19" name="TextBox 18"/>
          <p:cNvSpPr txBox="1"/>
          <p:nvPr/>
        </p:nvSpPr>
        <p:spPr>
          <a:xfrm>
            <a:off x="1389888" y="4480560"/>
            <a:ext cx="2286000" cy="676656"/>
          </a:xfrm>
          <a:prstGeom prst="rect">
            <a:avLst/>
          </a:prstGeom>
          <a:noFill/>
        </p:spPr>
        <p:txBody>
          <a:bodyPr wrap="square" tIns="0" bIns="0" lIns="0" rIns="0">
            <a:spAutoFit/>
          </a:bodyPr>
          <a:lstStyle/>
          <a:p>
            <a:pPr algn="l">
              <a:spcAft>
                <a:spcPts val="500"/>
              </a:spcAft>
              <a:defRPr sz="1900" b="1">
                <a:solidFill>
                  <a:srgbClr val="F1F5F6"/>
                </a:solidFill>
                <a:latin typeface="Aptos"/>
              </a:defRPr>
            </a:pPr>
            <a:r>
              <a:t>Reuse what worked</a:t>
            </a:r>
          </a:p>
        </p:txBody>
      </p:sp>
      <p:sp>
        <p:nvSpPr>
          <p:cNvPr id="20" name="TextBox 19"/>
          <p:cNvSpPr txBox="1"/>
          <p:nvPr/>
        </p:nvSpPr>
        <p:spPr>
          <a:xfrm>
            <a:off x="3813048" y="4535424"/>
            <a:ext cx="3364992" cy="585216"/>
          </a:xfrm>
          <a:prstGeom prst="rect">
            <a:avLst/>
          </a:prstGeom>
          <a:noFill/>
        </p:spPr>
        <p:txBody>
          <a:bodyPr wrap="square" tIns="0" bIns="0" lIns="0" rIns="0">
            <a:spAutoFit/>
          </a:bodyPr>
          <a:lstStyle/>
          <a:p>
            <a:pPr algn="l">
              <a:spcAft>
                <a:spcPts val="500"/>
              </a:spcAft>
              <a:defRPr sz="1400" b="0">
                <a:solidFill>
                  <a:srgbClr val="AFC1CE"/>
                </a:solidFill>
                <a:latin typeface="Aptos"/>
              </a:defRPr>
            </a:pPr>
            <a:r>
              <a:t>Transfer reviewed steps and patterns</a:t>
            </a:r>
          </a:p>
          <a:p>
            <a:pPr algn="l">
              <a:spcAft>
                <a:spcPts val="500"/>
              </a:spcAft>
              <a:defRPr sz="1400" b="0">
                <a:solidFill>
                  <a:srgbClr val="AFC1CE"/>
                </a:solidFill>
                <a:latin typeface="Aptos"/>
              </a:defRPr>
            </a:pPr>
            <a:r>
              <a:t>while keeping product-specific evidence.</a:t>
            </a:r>
          </a:p>
        </p:txBody>
      </p:sp>
      <p:sp>
        <p:nvSpPr>
          <p:cNvPr id="21" name="Rounded Rectangle 20"/>
          <p:cNvSpPr/>
          <p:nvPr/>
        </p:nvSpPr>
        <p:spPr>
          <a:xfrm>
            <a:off x="7790688" y="2505456"/>
            <a:ext cx="3913632" cy="2715768"/>
          </a:xfrm>
          <a:prstGeom prst="roundRect">
            <a:avLst>
              <a:gd name="adj" fmla="val 12000"/>
            </a:avLst>
          </a:prstGeom>
          <a:solidFill>
            <a:srgbClr val="22394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010144" y="2761488"/>
            <a:ext cx="3474720" cy="283464"/>
          </a:xfrm>
          <a:prstGeom prst="rect">
            <a:avLst/>
          </a:prstGeom>
          <a:noFill/>
        </p:spPr>
        <p:txBody>
          <a:bodyPr wrap="square" tIns="0" bIns="0" lIns="0" rIns="0">
            <a:spAutoFit/>
          </a:bodyPr>
          <a:lstStyle/>
          <a:p>
            <a:pPr algn="l">
              <a:spcAft>
                <a:spcPts val="500"/>
              </a:spcAft>
              <a:defRPr sz="1300" b="1">
                <a:solidFill>
                  <a:srgbClr val="F4C77E"/>
                </a:solidFill>
                <a:latin typeface="Aptos"/>
              </a:defRPr>
            </a:pPr>
            <a:r>
              <a:t>WHY NOW</a:t>
            </a:r>
          </a:p>
        </p:txBody>
      </p:sp>
      <p:sp>
        <p:nvSpPr>
          <p:cNvPr id="23" name="TextBox 22"/>
          <p:cNvSpPr txBox="1"/>
          <p:nvPr/>
        </p:nvSpPr>
        <p:spPr>
          <a:xfrm>
            <a:off x="8010144" y="3300984"/>
            <a:ext cx="3429000" cy="1783080"/>
          </a:xfrm>
          <a:prstGeom prst="rect">
            <a:avLst/>
          </a:prstGeom>
          <a:noFill/>
        </p:spPr>
        <p:txBody>
          <a:bodyPr wrap="square" tIns="0" bIns="0" lIns="0" rIns="0">
            <a:spAutoFit/>
          </a:bodyPr>
          <a:lstStyle/>
          <a:p>
            <a:pPr algn="l">
              <a:spcAft>
                <a:spcPts val="500"/>
              </a:spcAft>
              <a:defRPr sz="1900" b="0">
                <a:solidFill>
                  <a:srgbClr val="F1F5F6"/>
                </a:solidFill>
                <a:latin typeface="Aptos"/>
              </a:defRPr>
            </a:pPr>
            <a:r>
              <a:t>Scientific AI and lab automation are expanding. Adaptable research execution can turn those tools into repeatable value.</a:t>
            </a:r>
          </a:p>
        </p:txBody>
      </p:sp>
      <p:sp>
        <p:nvSpPr>
          <p:cNvPr id="24" name="Rounded Rectangle 23"/>
          <p:cNvSpPr/>
          <p:nvPr/>
        </p:nvSpPr>
        <p:spPr>
          <a:xfrm>
            <a:off x="475488" y="5815584"/>
            <a:ext cx="11237976" cy="393192"/>
          </a:xfrm>
          <a:prstGeom prst="roundRect">
            <a:avLst>
              <a:gd name="adj" fmla="val 12000"/>
            </a:avLst>
          </a:prstGeom>
          <a:solidFill>
            <a:srgbClr val="22394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58368" y="5893308"/>
            <a:ext cx="10881360" cy="283464"/>
          </a:xfrm>
          <a:prstGeom prst="rect">
            <a:avLst/>
          </a:prstGeom>
          <a:noFill/>
        </p:spPr>
        <p:txBody>
          <a:bodyPr wrap="square" tIns="0" bIns="0" lIns="0" rIns="0">
            <a:spAutoFit/>
          </a:bodyPr>
          <a:lstStyle/>
          <a:p>
            <a:pPr algn="l">
              <a:spcAft>
                <a:spcPts val="500"/>
              </a:spcAft>
              <a:defRPr sz="1400" b="1">
                <a:solidFill>
                  <a:srgbClr val="56D9BD"/>
                </a:solidFill>
                <a:latin typeface="Aptos"/>
              </a:defRPr>
            </a:pPr>
            <a:r>
              <a:t>Build the shared execution and evidence layer; connect specialist models, data platforms and labs.</a:t>
            </a:r>
          </a:p>
        </p:txBody>
      </p:sp>
      <p:sp>
        <p:nvSpPr>
          <p:cNvPr id="26" name="TextBox 25"/>
          <p:cNvSpPr txBox="1"/>
          <p:nvPr/>
        </p:nvSpPr>
        <p:spPr>
          <a:xfrm>
            <a:off x="493776" y="6291072"/>
            <a:ext cx="1143000" cy="128016"/>
          </a:xfrm>
          <a:prstGeom prst="rect">
            <a:avLst/>
          </a:prstGeom>
          <a:noFill/>
        </p:spPr>
        <p:txBody>
          <a:bodyPr wrap="square" tIns="0" bIns="0" lIns="0" rIns="0">
            <a:spAutoFit/>
          </a:bodyPr>
          <a:lstStyle/>
          <a:p>
            <a:pPr algn="l">
              <a:spcAft>
                <a:spcPts val="500"/>
              </a:spcAft>
              <a:defRPr sz="750" b="0">
                <a:solidFill>
                  <a:srgbClr val="AFC1CE"/>
                </a:solidFill>
                <a:latin typeface="Aptos"/>
              </a:defRPr>
            </a:pPr>
            <a:r>
              <a:rPr>
                <a:hlinkClick r:id="rId2"/>
              </a:rPr>
              <a:t>S1 Benchling AI</a:t>
            </a:r>
          </a:p>
        </p:txBody>
      </p:sp>
      <p:sp>
        <p:nvSpPr>
          <p:cNvPr id="27" name="TextBox 26"/>
          <p:cNvSpPr txBox="1"/>
          <p:nvPr/>
        </p:nvSpPr>
        <p:spPr>
          <a:xfrm>
            <a:off x="1792224" y="6291072"/>
            <a:ext cx="1143000" cy="128016"/>
          </a:xfrm>
          <a:prstGeom prst="rect">
            <a:avLst/>
          </a:prstGeom>
          <a:noFill/>
        </p:spPr>
        <p:txBody>
          <a:bodyPr wrap="square" tIns="0" bIns="0" lIns="0" rIns="0">
            <a:spAutoFit/>
          </a:bodyPr>
          <a:lstStyle/>
          <a:p>
            <a:pPr algn="l">
              <a:spcAft>
                <a:spcPts val="500"/>
              </a:spcAft>
              <a:defRPr sz="750" b="0">
                <a:solidFill>
                  <a:srgbClr val="AFC1CE"/>
                </a:solidFill>
                <a:latin typeface="Aptos"/>
              </a:defRPr>
            </a:pPr>
            <a:r>
              <a:rPr>
                <a:hlinkClick r:id="rId3"/>
              </a:rPr>
              <a:t>S2 Citrine Catalyst</a:t>
            </a:r>
          </a:p>
        </p:txBody>
      </p:sp>
      <p:sp>
        <p:nvSpPr>
          <p:cNvPr id="28" name="TextBox 27"/>
          <p:cNvSpPr txBox="1"/>
          <p:nvPr/>
        </p:nvSpPr>
        <p:spPr>
          <a:xfrm>
            <a:off x="3090672" y="6291072"/>
            <a:ext cx="1143000" cy="128016"/>
          </a:xfrm>
          <a:prstGeom prst="rect">
            <a:avLst/>
          </a:prstGeom>
          <a:noFill/>
        </p:spPr>
        <p:txBody>
          <a:bodyPr wrap="square" tIns="0" bIns="0" lIns="0" rIns="0">
            <a:spAutoFit/>
          </a:bodyPr>
          <a:lstStyle/>
          <a:p>
            <a:pPr algn="l">
              <a:spcAft>
                <a:spcPts val="500"/>
              </a:spcAft>
              <a:defRPr sz="750" b="0">
                <a:solidFill>
                  <a:srgbClr val="AFC1CE"/>
                </a:solidFill>
                <a:latin typeface="Aptos"/>
              </a:defRPr>
            </a:pPr>
            <a:r>
              <a:rPr>
                <a:hlinkClick r:id="rId4"/>
              </a:rPr>
              <a:t>S6 Automata LINQ</a:t>
            </a:r>
          </a:p>
        </p:txBody>
      </p:sp>
      <p:sp>
        <p:nvSpPr>
          <p:cNvPr id="29" name="TextBox 28"/>
          <p:cNvSpPr txBox="1"/>
          <p:nvPr/>
        </p:nvSpPr>
        <p:spPr>
          <a:xfrm>
            <a:off x="4389120" y="6291072"/>
            <a:ext cx="1143000" cy="128016"/>
          </a:xfrm>
          <a:prstGeom prst="rect">
            <a:avLst/>
          </a:prstGeom>
          <a:noFill/>
        </p:spPr>
        <p:txBody>
          <a:bodyPr wrap="square" tIns="0" bIns="0" lIns="0" rIns="0">
            <a:spAutoFit/>
          </a:bodyPr>
          <a:lstStyle/>
          <a:p>
            <a:pPr algn="l">
              <a:spcAft>
                <a:spcPts val="500"/>
              </a:spcAft>
              <a:defRPr sz="750" b="0">
                <a:solidFill>
                  <a:srgbClr val="AFC1CE"/>
                </a:solidFill>
                <a:latin typeface="Aptos"/>
              </a:defRPr>
            </a:pPr>
            <a:r>
              <a:rPr>
                <a:hlinkClick r:id="rId5"/>
              </a:rPr>
              <a:t>S8 Claude Science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101D2C"/>
        </a:solidFill>
        <a:effectLst/>
      </p:bgPr>
    </p:bg>
    <p:spTree>
      <p:nvGrpSpPr>
        <p:cNvPr id="1" name=""/>
        <p:cNvGrpSpPr/>
        <p:nvPr/>
      </p:nvGrpSpPr>
      <p:grpSpPr/>
      <p:sp>
        <p:nvSpPr>
          <p:cNvPr id="2" name="TextBox 1"/>
          <p:cNvSpPr txBox="1"/>
          <p:nvPr/>
        </p:nvSpPr>
        <p:spPr>
          <a:xfrm>
            <a:off x="457200" y="274320"/>
            <a:ext cx="10972800" cy="228600"/>
          </a:xfrm>
          <a:prstGeom prst="rect">
            <a:avLst/>
          </a:prstGeom>
          <a:noFill/>
        </p:spPr>
        <p:txBody>
          <a:bodyPr wrap="square" tIns="0" bIns="0" lIns="0" rIns="0">
            <a:spAutoFit/>
          </a:bodyPr>
          <a:lstStyle/>
          <a:p>
            <a:pPr algn="l">
              <a:spcAft>
                <a:spcPts val="500"/>
              </a:spcAft>
              <a:defRPr sz="1000" b="1">
                <a:solidFill>
                  <a:srgbClr val="56D9BD"/>
                </a:solidFill>
                <a:latin typeface="Aptos"/>
              </a:defRPr>
            </a:pPr>
            <a:r>
              <a:t>POTENTIAL DEFENSIBILITY</a:t>
            </a:r>
          </a:p>
        </p:txBody>
      </p:sp>
      <p:sp>
        <p:nvSpPr>
          <p:cNvPr id="3" name="TextBox 2"/>
          <p:cNvSpPr txBox="1"/>
          <p:nvPr/>
        </p:nvSpPr>
        <p:spPr>
          <a:xfrm>
            <a:off x="457200" y="731520"/>
            <a:ext cx="11247120" cy="822960"/>
          </a:xfrm>
          <a:prstGeom prst="rect">
            <a:avLst/>
          </a:prstGeom>
          <a:noFill/>
        </p:spPr>
        <p:txBody>
          <a:bodyPr wrap="square" tIns="0" bIns="0" lIns="0" rIns="0">
            <a:spAutoFit/>
          </a:bodyPr>
          <a:lstStyle/>
          <a:p>
            <a:pPr algn="l">
              <a:spcAft>
                <a:spcPts val="500"/>
              </a:spcAft>
              <a:defRPr sz="3000" b="1">
                <a:solidFill>
                  <a:srgbClr val="F1F5F6"/>
                </a:solidFill>
                <a:latin typeface="Aptos"/>
              </a:defRPr>
            </a:pPr>
            <a:r>
              <a:t>Each campaign can leave behind more than a result</a:t>
            </a:r>
          </a:p>
        </p:txBody>
      </p:sp>
      <p:sp>
        <p:nvSpPr>
          <p:cNvPr id="4" name="TextBox 3"/>
          <p:cNvSpPr txBox="1"/>
          <p:nvPr/>
        </p:nvSpPr>
        <p:spPr>
          <a:xfrm>
            <a:off x="475488" y="1673352"/>
            <a:ext cx="11064240" cy="512064"/>
          </a:xfrm>
          <a:prstGeom prst="rect">
            <a:avLst/>
          </a:prstGeom>
          <a:noFill/>
        </p:spPr>
        <p:txBody>
          <a:bodyPr wrap="square" tIns="0" bIns="0" lIns="0" rIns="0">
            <a:spAutoFit/>
          </a:bodyPr>
          <a:lstStyle/>
          <a:p>
            <a:pPr algn="l">
              <a:spcAft>
                <a:spcPts val="500"/>
              </a:spcAft>
              <a:defRPr sz="1600" b="0">
                <a:solidFill>
                  <a:srgbClr val="AFC1CE"/>
                </a:solidFill>
                <a:latin typeface="Aptos"/>
              </a:defRPr>
            </a:pPr>
            <a:r>
              <a:t>The accumulating asset is a reviewed history of which research paths worked, where and why.</a:t>
            </a:r>
          </a:p>
        </p:txBody>
      </p:sp>
      <p:cxnSp>
        <p:nvCxnSpPr>
          <p:cNvPr id="5" name="Connector 4"/>
          <p:cNvCxnSpPr/>
          <p:nvPr/>
        </p:nvCxnSpPr>
        <p:spPr>
          <a:xfrm>
            <a:off x="457200" y="6428232"/>
            <a:ext cx="11274552" cy="0"/>
          </a:xfrm>
          <a:prstGeom prst="line">
            <a:avLst/>
          </a:prstGeom>
          <a:ln w="8255">
            <a:solidFill>
              <a:srgbClr val="40586A"/>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457200" y="6547104"/>
            <a:ext cx="6400800" cy="173736"/>
          </a:xfrm>
          <a:prstGeom prst="rect">
            <a:avLst/>
          </a:prstGeom>
          <a:noFill/>
        </p:spPr>
        <p:txBody>
          <a:bodyPr wrap="square" tIns="0" bIns="0" lIns="0" rIns="0">
            <a:spAutoFit/>
          </a:bodyPr>
          <a:lstStyle/>
          <a:p>
            <a:pPr algn="l">
              <a:spcAft>
                <a:spcPts val="500"/>
              </a:spcAft>
              <a:defRPr sz="800" b="0">
                <a:solidFill>
                  <a:srgbClr val="AFC1CE"/>
                </a:solidFill>
                <a:latin typeface="Aptos"/>
              </a:defRPr>
            </a:pPr>
            <a:r>
              <a:t>AMPHORA  /  CONFIDENTIAL INVESTOR DISCUSSION  /  SEPTEMBER 2026</a:t>
            </a:r>
          </a:p>
        </p:txBody>
      </p:sp>
      <p:sp>
        <p:nvSpPr>
          <p:cNvPr id="7" name="TextBox 6"/>
          <p:cNvSpPr txBox="1"/>
          <p:nvPr/>
        </p:nvSpPr>
        <p:spPr>
          <a:xfrm>
            <a:off x="8366760" y="6528816"/>
            <a:ext cx="2788920" cy="201168"/>
          </a:xfrm>
          <a:prstGeom prst="rect">
            <a:avLst/>
          </a:prstGeom>
          <a:noFill/>
        </p:spPr>
        <p:txBody>
          <a:bodyPr wrap="square" tIns="0" bIns="0" lIns="0" rIns="0">
            <a:spAutoFit/>
          </a:bodyPr>
          <a:lstStyle/>
          <a:p>
            <a:pPr algn="r">
              <a:spcAft>
                <a:spcPts val="500"/>
              </a:spcAft>
              <a:defRPr sz="800" b="0">
                <a:solidFill>
                  <a:srgbClr val="56D9BD"/>
                </a:solidFill>
                <a:latin typeface="Aptos"/>
              </a:defRPr>
            </a:pPr>
            <a:r>
              <a:t>MOAT + COMMERCIAL HYPOTHESIS</a:t>
            </a:r>
          </a:p>
        </p:txBody>
      </p:sp>
      <p:sp>
        <p:nvSpPr>
          <p:cNvPr id="8" name="TextBox 7"/>
          <p:cNvSpPr txBox="1"/>
          <p:nvPr/>
        </p:nvSpPr>
        <p:spPr>
          <a:xfrm>
            <a:off x="11384280" y="6492240"/>
            <a:ext cx="320040" cy="265176"/>
          </a:xfrm>
          <a:prstGeom prst="rect">
            <a:avLst/>
          </a:prstGeom>
          <a:noFill/>
        </p:spPr>
        <p:txBody>
          <a:bodyPr wrap="square" tIns="0" bIns="0" lIns="0" rIns="0">
            <a:spAutoFit/>
          </a:bodyPr>
          <a:lstStyle/>
          <a:p>
            <a:pPr algn="r">
              <a:spcAft>
                <a:spcPts val="500"/>
              </a:spcAft>
              <a:defRPr sz="1000" b="1">
                <a:solidFill>
                  <a:srgbClr val="F1F5F6"/>
                </a:solidFill>
                <a:latin typeface="Aptos"/>
              </a:defRPr>
            </a:pPr>
            <a:r>
              <a:t>05</a:t>
            </a:r>
          </a:p>
        </p:txBody>
      </p:sp>
      <p:sp>
        <p:nvSpPr>
          <p:cNvPr id="9" name="Rounded Rectangle 8"/>
          <p:cNvSpPr/>
          <p:nvPr/>
        </p:nvSpPr>
        <p:spPr>
          <a:xfrm>
            <a:off x="512064" y="2542032"/>
            <a:ext cx="2368296" cy="1325880"/>
          </a:xfrm>
          <a:prstGeom prst="roundRect">
            <a:avLst>
              <a:gd name="adj" fmla="val 12000"/>
            </a:avLst>
          </a:prstGeom>
          <a:solidFill>
            <a:srgbClr val="192B3E"/>
          </a:solidFill>
          <a:ln>
            <a:solidFill>
              <a:srgbClr val="56D9B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67512" y="2734056"/>
            <a:ext cx="2057400" cy="283464"/>
          </a:xfrm>
          <a:prstGeom prst="rect">
            <a:avLst/>
          </a:prstGeom>
          <a:noFill/>
        </p:spPr>
        <p:txBody>
          <a:bodyPr wrap="square" tIns="0" bIns="0" lIns="0" rIns="0">
            <a:spAutoFit/>
          </a:bodyPr>
          <a:lstStyle/>
          <a:p>
            <a:pPr algn="l">
              <a:spcAft>
                <a:spcPts val="500"/>
              </a:spcAft>
              <a:defRPr sz="1300" b="1">
                <a:solidFill>
                  <a:srgbClr val="56D9BD"/>
                </a:solidFill>
                <a:latin typeface="Aptos"/>
              </a:defRPr>
            </a:pPr>
            <a:r>
              <a:t>RUN</a:t>
            </a:r>
          </a:p>
        </p:txBody>
      </p:sp>
      <p:sp>
        <p:nvSpPr>
          <p:cNvPr id="11" name="TextBox 10"/>
          <p:cNvSpPr txBox="1"/>
          <p:nvPr/>
        </p:nvSpPr>
        <p:spPr>
          <a:xfrm>
            <a:off x="667512" y="3246120"/>
            <a:ext cx="2057400" cy="530352"/>
          </a:xfrm>
          <a:prstGeom prst="rect">
            <a:avLst/>
          </a:prstGeom>
          <a:noFill/>
        </p:spPr>
        <p:txBody>
          <a:bodyPr wrap="square" tIns="0" bIns="0" lIns="0" rIns="0">
            <a:spAutoFit/>
          </a:bodyPr>
          <a:lstStyle/>
          <a:p>
            <a:pPr algn="l">
              <a:spcAft>
                <a:spcPts val="500"/>
              </a:spcAft>
              <a:defRPr sz="1800" b="1">
                <a:solidFill>
                  <a:srgbClr val="F1F5F6"/>
                </a:solidFill>
                <a:latin typeface="Aptos"/>
              </a:defRPr>
            </a:pPr>
            <a:r>
              <a:t>Attempts + outcomes</a:t>
            </a:r>
          </a:p>
        </p:txBody>
      </p:sp>
      <p:sp>
        <p:nvSpPr>
          <p:cNvPr id="12" name="Rounded Rectangle 11"/>
          <p:cNvSpPr/>
          <p:nvPr/>
        </p:nvSpPr>
        <p:spPr>
          <a:xfrm>
            <a:off x="3447288" y="2542032"/>
            <a:ext cx="2368296" cy="1325880"/>
          </a:xfrm>
          <a:prstGeom prst="roundRect">
            <a:avLst>
              <a:gd name="adj" fmla="val 12000"/>
            </a:avLst>
          </a:prstGeom>
          <a:solidFill>
            <a:srgbClr val="192B3E"/>
          </a:solidFill>
          <a:ln>
            <a:solidFill>
              <a:srgbClr val="83B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602736" y="2734056"/>
            <a:ext cx="2057400" cy="283464"/>
          </a:xfrm>
          <a:prstGeom prst="rect">
            <a:avLst/>
          </a:prstGeom>
          <a:noFill/>
        </p:spPr>
        <p:txBody>
          <a:bodyPr wrap="square" tIns="0" bIns="0" lIns="0" rIns="0">
            <a:spAutoFit/>
          </a:bodyPr>
          <a:lstStyle/>
          <a:p>
            <a:pPr algn="l">
              <a:spcAft>
                <a:spcPts val="500"/>
              </a:spcAft>
              <a:defRPr sz="1300" b="1">
                <a:solidFill>
                  <a:srgbClr val="83BFFF"/>
                </a:solidFill>
                <a:latin typeface="Aptos"/>
              </a:defRPr>
            </a:pPr>
            <a:r>
              <a:t>COMPARE</a:t>
            </a:r>
          </a:p>
        </p:txBody>
      </p:sp>
      <p:sp>
        <p:nvSpPr>
          <p:cNvPr id="14" name="TextBox 13"/>
          <p:cNvSpPr txBox="1"/>
          <p:nvPr/>
        </p:nvSpPr>
        <p:spPr>
          <a:xfrm>
            <a:off x="3602736" y="3246120"/>
            <a:ext cx="2057400" cy="530352"/>
          </a:xfrm>
          <a:prstGeom prst="rect">
            <a:avLst/>
          </a:prstGeom>
          <a:noFill/>
        </p:spPr>
        <p:txBody>
          <a:bodyPr wrap="square" tIns="0" bIns="0" lIns="0" rIns="0">
            <a:spAutoFit/>
          </a:bodyPr>
          <a:lstStyle/>
          <a:p>
            <a:pPr algn="l">
              <a:spcAft>
                <a:spcPts val="500"/>
              </a:spcAft>
              <a:defRPr sz="1800" b="1">
                <a:solidFill>
                  <a:srgbClr val="F1F5F6"/>
                </a:solidFill>
                <a:latin typeface="Aptos"/>
              </a:defRPr>
            </a:pPr>
            <a:r>
              <a:t>Cost + evidence + context</a:t>
            </a:r>
          </a:p>
        </p:txBody>
      </p:sp>
      <p:sp>
        <p:nvSpPr>
          <p:cNvPr id="15" name="Rounded Rectangle 14"/>
          <p:cNvSpPr/>
          <p:nvPr/>
        </p:nvSpPr>
        <p:spPr>
          <a:xfrm>
            <a:off x="6382512" y="2542032"/>
            <a:ext cx="2368296" cy="1325880"/>
          </a:xfrm>
          <a:prstGeom prst="roundRect">
            <a:avLst>
              <a:gd name="adj" fmla="val 12000"/>
            </a:avLst>
          </a:prstGeom>
          <a:solidFill>
            <a:srgbClr val="192B3E"/>
          </a:solidFill>
          <a:ln>
            <a:solidFill>
              <a:srgbClr val="BEA5F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537960" y="2734056"/>
            <a:ext cx="2057400" cy="283464"/>
          </a:xfrm>
          <a:prstGeom prst="rect">
            <a:avLst/>
          </a:prstGeom>
          <a:noFill/>
        </p:spPr>
        <p:txBody>
          <a:bodyPr wrap="square" tIns="0" bIns="0" lIns="0" rIns="0">
            <a:spAutoFit/>
          </a:bodyPr>
          <a:lstStyle/>
          <a:p>
            <a:pPr algn="l">
              <a:spcAft>
                <a:spcPts val="500"/>
              </a:spcAft>
              <a:defRPr sz="1300" b="1">
                <a:solidFill>
                  <a:srgbClr val="BEA5F4"/>
                </a:solidFill>
                <a:latin typeface="Aptos"/>
              </a:defRPr>
            </a:pPr>
            <a:r>
              <a:t>REVIEW</a:t>
            </a:r>
          </a:p>
        </p:txBody>
      </p:sp>
      <p:sp>
        <p:nvSpPr>
          <p:cNvPr id="17" name="TextBox 16"/>
          <p:cNvSpPr txBox="1"/>
          <p:nvPr/>
        </p:nvSpPr>
        <p:spPr>
          <a:xfrm>
            <a:off x="6537960" y="3246120"/>
            <a:ext cx="2057400" cy="530352"/>
          </a:xfrm>
          <a:prstGeom prst="rect">
            <a:avLst/>
          </a:prstGeom>
          <a:noFill/>
        </p:spPr>
        <p:txBody>
          <a:bodyPr wrap="square" tIns="0" bIns="0" lIns="0" rIns="0">
            <a:spAutoFit/>
          </a:bodyPr>
          <a:lstStyle/>
          <a:p>
            <a:pPr algn="l">
              <a:spcAft>
                <a:spcPts val="500"/>
              </a:spcAft>
              <a:defRPr sz="1800" b="1">
                <a:solidFill>
                  <a:srgbClr val="F1F5F6"/>
                </a:solidFill>
                <a:latin typeface="Aptos"/>
              </a:defRPr>
            </a:pPr>
            <a:r>
              <a:t>Applicability + rights</a:t>
            </a:r>
          </a:p>
        </p:txBody>
      </p:sp>
      <p:sp>
        <p:nvSpPr>
          <p:cNvPr id="18" name="Rounded Rectangle 17"/>
          <p:cNvSpPr/>
          <p:nvPr/>
        </p:nvSpPr>
        <p:spPr>
          <a:xfrm>
            <a:off x="9317736" y="2542032"/>
            <a:ext cx="2368296" cy="1325880"/>
          </a:xfrm>
          <a:prstGeom prst="roundRect">
            <a:avLst>
              <a:gd name="adj" fmla="val 12000"/>
            </a:avLst>
          </a:prstGeom>
          <a:solidFill>
            <a:srgbClr val="192B3E"/>
          </a:solidFill>
          <a:ln>
            <a:solidFill>
              <a:srgbClr val="F4C77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473184" y="2734056"/>
            <a:ext cx="2057400" cy="283464"/>
          </a:xfrm>
          <a:prstGeom prst="rect">
            <a:avLst/>
          </a:prstGeom>
          <a:noFill/>
        </p:spPr>
        <p:txBody>
          <a:bodyPr wrap="square" tIns="0" bIns="0" lIns="0" rIns="0">
            <a:spAutoFit/>
          </a:bodyPr>
          <a:lstStyle/>
          <a:p>
            <a:pPr algn="l">
              <a:spcAft>
                <a:spcPts val="500"/>
              </a:spcAft>
              <a:defRPr sz="1300" b="1">
                <a:solidFill>
                  <a:srgbClr val="F4C77E"/>
                </a:solidFill>
                <a:latin typeface="Aptos"/>
              </a:defRPr>
            </a:pPr>
            <a:r>
              <a:t>REUSE</a:t>
            </a:r>
          </a:p>
        </p:txBody>
      </p:sp>
      <p:sp>
        <p:nvSpPr>
          <p:cNvPr id="20" name="TextBox 19"/>
          <p:cNvSpPr txBox="1"/>
          <p:nvPr/>
        </p:nvSpPr>
        <p:spPr>
          <a:xfrm>
            <a:off x="9473184" y="3246120"/>
            <a:ext cx="2057400" cy="530352"/>
          </a:xfrm>
          <a:prstGeom prst="rect">
            <a:avLst/>
          </a:prstGeom>
          <a:noFill/>
        </p:spPr>
        <p:txBody>
          <a:bodyPr wrap="square" tIns="0" bIns="0" lIns="0" rIns="0">
            <a:spAutoFit/>
          </a:bodyPr>
          <a:lstStyle/>
          <a:p>
            <a:pPr algn="l">
              <a:spcAft>
                <a:spcPts val="500"/>
              </a:spcAft>
              <a:defRPr sz="1800" b="1">
                <a:solidFill>
                  <a:srgbClr val="F1F5F6"/>
                </a:solidFill>
                <a:latin typeface="Aptos"/>
              </a:defRPr>
            </a:pPr>
            <a:r>
              <a:t>Campaign patterns</a:t>
            </a:r>
          </a:p>
        </p:txBody>
      </p:sp>
      <p:cxnSp>
        <p:nvCxnSpPr>
          <p:cNvPr id="21" name="Connector 20"/>
          <p:cNvCxnSpPr/>
          <p:nvPr/>
        </p:nvCxnSpPr>
        <p:spPr>
          <a:xfrm>
            <a:off x="2907792" y="3218688"/>
            <a:ext cx="484632" cy="0"/>
          </a:xfrm>
          <a:prstGeom prst="line">
            <a:avLst/>
          </a:prstGeom>
          <a:ln w="25400">
            <a:solidFill>
              <a:srgbClr val="56D9BD"/>
            </a:solidFill>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flipH="1">
            <a:off x="3305135" y="3218688"/>
            <a:ext cx="87289" cy="49978"/>
          </a:xfrm>
          <a:prstGeom prst="line">
            <a:avLst/>
          </a:prstGeom>
          <a:ln w="25400">
            <a:solidFill>
              <a:srgbClr val="56D9BD"/>
            </a:solidFill>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flipH="1" flipV="1">
            <a:off x="3305135" y="3168709"/>
            <a:ext cx="87289" cy="49979"/>
          </a:xfrm>
          <a:prstGeom prst="line">
            <a:avLst/>
          </a:prstGeom>
          <a:ln w="25400">
            <a:solidFill>
              <a:srgbClr val="56D9BD"/>
            </a:solidFill>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a:off x="5843016" y="3218688"/>
            <a:ext cx="484632" cy="0"/>
          </a:xfrm>
          <a:prstGeom prst="line">
            <a:avLst/>
          </a:prstGeom>
          <a:ln w="25400">
            <a:solidFill>
              <a:srgbClr val="56D9BD"/>
            </a:solidFill>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flipH="1">
            <a:off x="6240359" y="3218688"/>
            <a:ext cx="87289" cy="49978"/>
          </a:xfrm>
          <a:prstGeom prst="line">
            <a:avLst/>
          </a:prstGeom>
          <a:ln w="25400">
            <a:solidFill>
              <a:srgbClr val="56D9BD"/>
            </a:solidFill>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flipH="1" flipV="1">
            <a:off x="6240359" y="3168709"/>
            <a:ext cx="87289" cy="49979"/>
          </a:xfrm>
          <a:prstGeom prst="line">
            <a:avLst/>
          </a:prstGeom>
          <a:ln w="25400">
            <a:solidFill>
              <a:srgbClr val="56D9BD"/>
            </a:solidFill>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a:off x="8778240" y="3218688"/>
            <a:ext cx="484632" cy="0"/>
          </a:xfrm>
          <a:prstGeom prst="line">
            <a:avLst/>
          </a:prstGeom>
          <a:ln w="25400">
            <a:solidFill>
              <a:srgbClr val="56D9BD"/>
            </a:solidFill>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flipH="1">
            <a:off x="9175583" y="3218688"/>
            <a:ext cx="87289" cy="49978"/>
          </a:xfrm>
          <a:prstGeom prst="line">
            <a:avLst/>
          </a:prstGeom>
          <a:ln w="25400">
            <a:solidFill>
              <a:srgbClr val="56D9BD"/>
            </a:solidFill>
          </a:ln>
        </p:spPr>
        <p:style>
          <a:lnRef idx="2">
            <a:schemeClr val="accent1"/>
          </a:lnRef>
          <a:fillRef idx="0">
            <a:schemeClr val="accent1"/>
          </a:fillRef>
          <a:effectRef idx="1">
            <a:schemeClr val="accent1"/>
          </a:effectRef>
          <a:fontRef idx="minor">
            <a:schemeClr val="tx1"/>
          </a:fontRef>
        </p:style>
      </p:cxnSp>
      <p:cxnSp>
        <p:nvCxnSpPr>
          <p:cNvPr id="29" name="Connector 28"/>
          <p:cNvCxnSpPr/>
          <p:nvPr/>
        </p:nvCxnSpPr>
        <p:spPr>
          <a:xfrm flipH="1" flipV="1">
            <a:off x="9175583" y="3168709"/>
            <a:ext cx="87289" cy="49979"/>
          </a:xfrm>
          <a:prstGeom prst="line">
            <a:avLst/>
          </a:prstGeom>
          <a:ln w="25400">
            <a:solidFill>
              <a:srgbClr val="56D9BD"/>
            </a:solidFill>
          </a:ln>
        </p:spPr>
        <p:style>
          <a:lnRef idx="2">
            <a:schemeClr val="accent1"/>
          </a:lnRef>
          <a:fillRef idx="0">
            <a:schemeClr val="accent1"/>
          </a:fillRef>
          <a:effectRef idx="1">
            <a:schemeClr val="accent1"/>
          </a:effectRef>
          <a:fontRef idx="minor">
            <a:schemeClr val="tx1"/>
          </a:fontRef>
        </p:style>
      </p:cxnSp>
      <p:cxnSp>
        <p:nvCxnSpPr>
          <p:cNvPr id="30" name="Connector 29"/>
          <p:cNvCxnSpPr/>
          <p:nvPr/>
        </p:nvCxnSpPr>
        <p:spPr>
          <a:xfrm>
            <a:off x="10497312" y="3904487"/>
            <a:ext cx="0" cy="310897"/>
          </a:xfrm>
          <a:prstGeom prst="line">
            <a:avLst/>
          </a:prstGeom>
          <a:ln w="19050">
            <a:solidFill>
              <a:srgbClr val="F4C77E"/>
            </a:solidFill>
          </a:ln>
        </p:spPr>
        <p:style>
          <a:lnRef idx="2">
            <a:schemeClr val="accent1"/>
          </a:lnRef>
          <a:fillRef idx="0">
            <a:schemeClr val="accent1"/>
          </a:fillRef>
          <a:effectRef idx="1">
            <a:schemeClr val="accent1"/>
          </a:effectRef>
          <a:fontRef idx="minor">
            <a:schemeClr val="tx1"/>
          </a:fontRef>
        </p:style>
      </p:cxnSp>
      <p:cxnSp>
        <p:nvCxnSpPr>
          <p:cNvPr id="31" name="Connector 30"/>
          <p:cNvCxnSpPr/>
          <p:nvPr/>
        </p:nvCxnSpPr>
        <p:spPr>
          <a:xfrm flipH="1">
            <a:off x="1691640" y="4215384"/>
            <a:ext cx="8805672" cy="0"/>
          </a:xfrm>
          <a:prstGeom prst="line">
            <a:avLst/>
          </a:prstGeom>
          <a:ln w="19050">
            <a:solidFill>
              <a:srgbClr val="F4C77E"/>
            </a:solidFill>
          </a:ln>
        </p:spPr>
        <p:style>
          <a:lnRef idx="2">
            <a:schemeClr val="accent1"/>
          </a:lnRef>
          <a:fillRef idx="0">
            <a:schemeClr val="accent1"/>
          </a:fillRef>
          <a:effectRef idx="1">
            <a:schemeClr val="accent1"/>
          </a:effectRef>
          <a:fontRef idx="minor">
            <a:schemeClr val="tx1"/>
          </a:fontRef>
        </p:style>
      </p:cxnSp>
      <p:cxnSp>
        <p:nvCxnSpPr>
          <p:cNvPr id="32" name="Connector 31"/>
          <p:cNvCxnSpPr/>
          <p:nvPr/>
        </p:nvCxnSpPr>
        <p:spPr>
          <a:xfrm flipV="1">
            <a:off x="1691640" y="3904487"/>
            <a:ext cx="0" cy="310897"/>
          </a:xfrm>
          <a:prstGeom prst="line">
            <a:avLst/>
          </a:prstGeom>
          <a:ln w="25400">
            <a:solidFill>
              <a:srgbClr val="F4C77E"/>
            </a:solidFill>
          </a:ln>
        </p:spPr>
        <p:style>
          <a:lnRef idx="2">
            <a:schemeClr val="accent1"/>
          </a:lnRef>
          <a:fillRef idx="0">
            <a:schemeClr val="accent1"/>
          </a:fillRef>
          <a:effectRef idx="1">
            <a:schemeClr val="accent1"/>
          </a:effectRef>
          <a:fontRef idx="minor">
            <a:schemeClr val="tx1"/>
          </a:fontRef>
        </p:style>
      </p:cxnSp>
      <p:cxnSp>
        <p:nvCxnSpPr>
          <p:cNvPr id="33" name="Connector 32"/>
          <p:cNvCxnSpPr/>
          <p:nvPr/>
        </p:nvCxnSpPr>
        <p:spPr>
          <a:xfrm>
            <a:off x="1691640" y="3904487"/>
            <a:ext cx="49978" cy="87289"/>
          </a:xfrm>
          <a:prstGeom prst="line">
            <a:avLst/>
          </a:prstGeom>
          <a:ln w="25400">
            <a:solidFill>
              <a:srgbClr val="F4C77E"/>
            </a:solidFill>
          </a:ln>
        </p:spPr>
        <p:style>
          <a:lnRef idx="2">
            <a:schemeClr val="accent1"/>
          </a:lnRef>
          <a:fillRef idx="0">
            <a:schemeClr val="accent1"/>
          </a:fillRef>
          <a:effectRef idx="1">
            <a:schemeClr val="accent1"/>
          </a:effectRef>
          <a:fontRef idx="minor">
            <a:schemeClr val="tx1"/>
          </a:fontRef>
        </p:style>
      </p:cxnSp>
      <p:cxnSp>
        <p:nvCxnSpPr>
          <p:cNvPr id="34" name="Connector 33"/>
          <p:cNvCxnSpPr/>
          <p:nvPr/>
        </p:nvCxnSpPr>
        <p:spPr>
          <a:xfrm flipH="1">
            <a:off x="1641661" y="3904487"/>
            <a:ext cx="49979" cy="87289"/>
          </a:xfrm>
          <a:prstGeom prst="line">
            <a:avLst/>
          </a:prstGeom>
          <a:ln w="25400">
            <a:solidFill>
              <a:srgbClr val="F4C77E"/>
            </a:solidFill>
          </a:ln>
        </p:spPr>
        <p:style>
          <a:lnRef idx="2">
            <a:schemeClr val="accent1"/>
          </a:lnRef>
          <a:fillRef idx="0">
            <a:schemeClr val="accent1"/>
          </a:fillRef>
          <a:effectRef idx="1">
            <a:schemeClr val="accent1"/>
          </a:effectRef>
          <a:fontRef idx="minor">
            <a:schemeClr val="tx1"/>
          </a:fontRef>
        </p:style>
      </p:cxnSp>
      <p:sp>
        <p:nvSpPr>
          <p:cNvPr id="35" name="TextBox 34"/>
          <p:cNvSpPr txBox="1"/>
          <p:nvPr/>
        </p:nvSpPr>
        <p:spPr>
          <a:xfrm>
            <a:off x="539496" y="4645152"/>
            <a:ext cx="5394960" cy="402336"/>
          </a:xfrm>
          <a:prstGeom prst="rect">
            <a:avLst/>
          </a:prstGeom>
          <a:noFill/>
        </p:spPr>
        <p:txBody>
          <a:bodyPr wrap="square" tIns="0" bIns="0" lIns="0" rIns="0">
            <a:spAutoFit/>
          </a:bodyPr>
          <a:lstStyle/>
          <a:p>
            <a:pPr algn="l">
              <a:spcAft>
                <a:spcPts val="500"/>
              </a:spcAft>
              <a:defRPr sz="1200" b="1">
                <a:solidFill>
                  <a:srgbClr val="56D9BD"/>
                </a:solidFill>
                <a:latin typeface="Aptos"/>
              </a:defRPr>
            </a:pPr>
            <a:r>
              <a:t>START WITH A FOCUSED PRODUCT PROGRAM</a:t>
            </a:r>
          </a:p>
        </p:txBody>
      </p:sp>
      <p:sp>
        <p:nvSpPr>
          <p:cNvPr id="36" name="TextBox 35"/>
          <p:cNvSpPr txBox="1"/>
          <p:nvPr/>
        </p:nvSpPr>
        <p:spPr>
          <a:xfrm>
            <a:off x="539496" y="5093208"/>
            <a:ext cx="5376672" cy="493776"/>
          </a:xfrm>
          <a:prstGeom prst="rect">
            <a:avLst/>
          </a:prstGeom>
          <a:noFill/>
        </p:spPr>
        <p:txBody>
          <a:bodyPr wrap="square" tIns="0" bIns="0" lIns="0" rIns="0">
            <a:spAutoFit/>
          </a:bodyPr>
          <a:lstStyle/>
          <a:p>
            <a:pPr algn="l">
              <a:spcAft>
                <a:spcPts val="500"/>
              </a:spcAft>
              <a:defRPr sz="1900" b="1">
                <a:solidFill>
                  <a:srgbClr val="F1F5F6"/>
                </a:solidFill>
                <a:latin typeface="Aptos"/>
              </a:defRPr>
            </a:pPr>
            <a:r>
              <a:t>Prove value on delivery/formulation campaigns.</a:t>
            </a:r>
          </a:p>
        </p:txBody>
      </p:sp>
      <p:sp>
        <p:nvSpPr>
          <p:cNvPr id="37" name="TextBox 36"/>
          <p:cNvSpPr txBox="1"/>
          <p:nvPr/>
        </p:nvSpPr>
        <p:spPr>
          <a:xfrm>
            <a:off x="6483096" y="4645152"/>
            <a:ext cx="5193792" cy="402336"/>
          </a:xfrm>
          <a:prstGeom prst="rect">
            <a:avLst/>
          </a:prstGeom>
          <a:noFill/>
        </p:spPr>
        <p:txBody>
          <a:bodyPr wrap="square" tIns="0" bIns="0" lIns="0" rIns="0">
            <a:spAutoFit/>
          </a:bodyPr>
          <a:lstStyle/>
          <a:p>
            <a:pPr algn="l">
              <a:spcAft>
                <a:spcPts val="500"/>
              </a:spcAft>
              <a:defRPr sz="1200" b="1">
                <a:solidFill>
                  <a:srgbClr val="83BFFF"/>
                </a:solidFill>
                <a:latin typeface="Aptos"/>
              </a:defRPr>
            </a:pPr>
            <a:r>
              <a:t>EXPAND THROUGH REPEATABLE CAPABILITIES</a:t>
            </a:r>
          </a:p>
        </p:txBody>
      </p:sp>
      <p:sp>
        <p:nvSpPr>
          <p:cNvPr id="38" name="TextBox 37"/>
          <p:cNvSpPr txBox="1"/>
          <p:nvPr/>
        </p:nvSpPr>
        <p:spPr>
          <a:xfrm>
            <a:off x="6483096" y="5093208"/>
            <a:ext cx="5193792" cy="493776"/>
          </a:xfrm>
          <a:prstGeom prst="rect">
            <a:avLst/>
          </a:prstGeom>
          <a:noFill/>
        </p:spPr>
        <p:txBody>
          <a:bodyPr wrap="square" tIns="0" bIns="0" lIns="0" rIns="0">
            <a:spAutoFit/>
          </a:bodyPr>
          <a:lstStyle/>
          <a:p>
            <a:pPr algn="l">
              <a:spcAft>
                <a:spcPts val="500"/>
              </a:spcAft>
              <a:defRPr sz="1900" b="1">
                <a:solidFill>
                  <a:srgbClr val="F1F5F6"/>
                </a:solidFill>
                <a:latin typeface="Aptos"/>
              </a:defRPr>
            </a:pPr>
            <a:r>
              <a:t>Reuse across materials and biology.</a:t>
            </a:r>
          </a:p>
        </p:txBody>
      </p:sp>
      <p:sp>
        <p:nvSpPr>
          <p:cNvPr id="39" name="Rounded Rectangle 38"/>
          <p:cNvSpPr/>
          <p:nvPr/>
        </p:nvSpPr>
        <p:spPr>
          <a:xfrm>
            <a:off x="475488" y="5815584"/>
            <a:ext cx="11237976" cy="393192"/>
          </a:xfrm>
          <a:prstGeom prst="roundRect">
            <a:avLst>
              <a:gd name="adj" fmla="val 12000"/>
            </a:avLst>
          </a:prstGeom>
          <a:solidFill>
            <a:srgbClr val="22394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658368" y="5893308"/>
            <a:ext cx="10881360" cy="283464"/>
          </a:xfrm>
          <a:prstGeom prst="rect">
            <a:avLst/>
          </a:prstGeom>
          <a:noFill/>
        </p:spPr>
        <p:txBody>
          <a:bodyPr wrap="square" tIns="0" bIns="0" lIns="0" rIns="0">
            <a:spAutoFit/>
          </a:bodyPr>
          <a:lstStyle/>
          <a:p>
            <a:pPr algn="l">
              <a:spcAft>
                <a:spcPts val="500"/>
              </a:spcAft>
              <a:defRPr sz="1400" b="1">
                <a:solidFill>
                  <a:srgbClr val="56D9BD"/>
                </a:solidFill>
                <a:latin typeface="Aptos"/>
              </a:defRPr>
            </a:pPr>
            <a:r>
              <a:t>Defensibility must be earned through validated outcomes, integration and authorized reuse.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101D2C"/>
        </a:solidFill>
        <a:effectLst/>
      </p:bgPr>
    </p:bg>
    <p:spTree>
      <p:nvGrpSpPr>
        <p:cNvPr id="1" name=""/>
        <p:cNvGrpSpPr/>
        <p:nvPr/>
      </p:nvGrpSpPr>
      <p:grpSpPr/>
      <p:sp>
        <p:nvSpPr>
          <p:cNvPr id="2" name="TextBox 1"/>
          <p:cNvSpPr txBox="1"/>
          <p:nvPr/>
        </p:nvSpPr>
        <p:spPr>
          <a:xfrm>
            <a:off x="457200" y="274320"/>
            <a:ext cx="10972800" cy="228600"/>
          </a:xfrm>
          <a:prstGeom prst="rect">
            <a:avLst/>
          </a:prstGeom>
          <a:noFill/>
        </p:spPr>
        <p:txBody>
          <a:bodyPr wrap="square" tIns="0" bIns="0" lIns="0" rIns="0">
            <a:spAutoFit/>
          </a:bodyPr>
          <a:lstStyle/>
          <a:p>
            <a:pPr algn="l">
              <a:spcAft>
                <a:spcPts val="500"/>
              </a:spcAft>
              <a:defRPr sz="1000" b="1">
                <a:solidFill>
                  <a:srgbClr val="56D9BD"/>
                </a:solidFill>
                <a:latin typeface="Aptos"/>
              </a:defRPr>
            </a:pPr>
            <a:r>
              <a:t>WHAT INVESTMENT WOULD PROVE</a:t>
            </a:r>
          </a:p>
        </p:txBody>
      </p:sp>
      <p:sp>
        <p:nvSpPr>
          <p:cNvPr id="3" name="TextBox 2"/>
          <p:cNvSpPr txBox="1"/>
          <p:nvPr/>
        </p:nvSpPr>
        <p:spPr>
          <a:xfrm>
            <a:off x="457200" y="731520"/>
            <a:ext cx="11247120" cy="822960"/>
          </a:xfrm>
          <a:prstGeom prst="rect">
            <a:avLst/>
          </a:prstGeom>
          <a:noFill/>
        </p:spPr>
        <p:txBody>
          <a:bodyPr wrap="square" tIns="0" bIns="0" lIns="0" rIns="0">
            <a:spAutoFit/>
          </a:bodyPr>
          <a:lstStyle/>
          <a:p>
            <a:pPr algn="l">
              <a:spcAft>
                <a:spcPts val="500"/>
              </a:spcAft>
              <a:defRPr sz="3000" b="1">
                <a:solidFill>
                  <a:srgbClr val="F1F5F6"/>
                </a:solidFill>
                <a:latin typeface="Aptos"/>
              </a:defRPr>
            </a:pPr>
            <a:r>
              <a:t>Convert reusable code into a validated research engine</a:t>
            </a:r>
          </a:p>
        </p:txBody>
      </p:sp>
      <p:sp>
        <p:nvSpPr>
          <p:cNvPr id="4" name="TextBox 3"/>
          <p:cNvSpPr txBox="1"/>
          <p:nvPr/>
        </p:nvSpPr>
        <p:spPr>
          <a:xfrm>
            <a:off x="475488" y="1673352"/>
            <a:ext cx="11064240" cy="512064"/>
          </a:xfrm>
          <a:prstGeom prst="rect">
            <a:avLst/>
          </a:prstGeom>
          <a:noFill/>
        </p:spPr>
        <p:txBody>
          <a:bodyPr wrap="square" tIns="0" bIns="0" lIns="0" rIns="0">
            <a:spAutoFit/>
          </a:bodyPr>
          <a:lstStyle/>
          <a:p>
            <a:pPr algn="l">
              <a:spcAft>
                <a:spcPts val="500"/>
              </a:spcAft>
              <a:defRPr sz="1600" b="0">
                <a:solidFill>
                  <a:srgbClr val="AFC1CE"/>
                </a:solidFill>
                <a:latin typeface="Aptos"/>
              </a:defRPr>
            </a:pPr>
            <a:r>
              <a:t>A staged proof program connects the architecture to customer value.</a:t>
            </a:r>
          </a:p>
        </p:txBody>
      </p:sp>
      <p:cxnSp>
        <p:nvCxnSpPr>
          <p:cNvPr id="5" name="Connector 4"/>
          <p:cNvCxnSpPr/>
          <p:nvPr/>
        </p:nvCxnSpPr>
        <p:spPr>
          <a:xfrm>
            <a:off x="457200" y="6428232"/>
            <a:ext cx="11274552" cy="0"/>
          </a:xfrm>
          <a:prstGeom prst="line">
            <a:avLst/>
          </a:prstGeom>
          <a:ln w="8255">
            <a:solidFill>
              <a:srgbClr val="40586A"/>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457200" y="6547104"/>
            <a:ext cx="6400800" cy="173736"/>
          </a:xfrm>
          <a:prstGeom prst="rect">
            <a:avLst/>
          </a:prstGeom>
          <a:noFill/>
        </p:spPr>
        <p:txBody>
          <a:bodyPr wrap="square" tIns="0" bIns="0" lIns="0" rIns="0">
            <a:spAutoFit/>
          </a:bodyPr>
          <a:lstStyle/>
          <a:p>
            <a:pPr algn="l">
              <a:spcAft>
                <a:spcPts val="500"/>
              </a:spcAft>
              <a:defRPr sz="800" b="0">
                <a:solidFill>
                  <a:srgbClr val="AFC1CE"/>
                </a:solidFill>
                <a:latin typeface="Aptos"/>
              </a:defRPr>
            </a:pPr>
            <a:r>
              <a:t>AMPHORA  /  CONFIDENTIAL INVESTOR DISCUSSION  /  SEPTEMBER 2026</a:t>
            </a:r>
          </a:p>
        </p:txBody>
      </p:sp>
      <p:sp>
        <p:nvSpPr>
          <p:cNvPr id="7" name="TextBox 6"/>
          <p:cNvSpPr txBox="1"/>
          <p:nvPr/>
        </p:nvSpPr>
        <p:spPr>
          <a:xfrm>
            <a:off x="8366760" y="6528816"/>
            <a:ext cx="2788920" cy="201168"/>
          </a:xfrm>
          <a:prstGeom prst="rect">
            <a:avLst/>
          </a:prstGeom>
          <a:noFill/>
        </p:spPr>
        <p:txBody>
          <a:bodyPr wrap="square" tIns="0" bIns="0" lIns="0" rIns="0">
            <a:spAutoFit/>
          </a:bodyPr>
          <a:lstStyle/>
          <a:p>
            <a:pPr algn="r">
              <a:spcAft>
                <a:spcPts val="500"/>
              </a:spcAft>
              <a:defRPr sz="800" b="0">
                <a:solidFill>
                  <a:srgbClr val="56D9BD"/>
                </a:solidFill>
                <a:latin typeface="Aptos"/>
              </a:defRPr>
            </a:pPr>
            <a:r>
              <a:t>PROPOSED MILESTONES</a:t>
            </a:r>
          </a:p>
        </p:txBody>
      </p:sp>
      <p:sp>
        <p:nvSpPr>
          <p:cNvPr id="8" name="TextBox 7"/>
          <p:cNvSpPr txBox="1"/>
          <p:nvPr/>
        </p:nvSpPr>
        <p:spPr>
          <a:xfrm>
            <a:off x="11384280" y="6492240"/>
            <a:ext cx="320040" cy="265176"/>
          </a:xfrm>
          <a:prstGeom prst="rect">
            <a:avLst/>
          </a:prstGeom>
          <a:noFill/>
        </p:spPr>
        <p:txBody>
          <a:bodyPr wrap="square" tIns="0" bIns="0" lIns="0" rIns="0">
            <a:spAutoFit/>
          </a:bodyPr>
          <a:lstStyle/>
          <a:p>
            <a:pPr algn="r">
              <a:spcAft>
                <a:spcPts val="500"/>
              </a:spcAft>
              <a:defRPr sz="1000" b="1">
                <a:solidFill>
                  <a:srgbClr val="F1F5F6"/>
                </a:solidFill>
                <a:latin typeface="Aptos"/>
              </a:defRPr>
            </a:pPr>
            <a:r>
              <a:t>06</a:t>
            </a:r>
          </a:p>
        </p:txBody>
      </p:sp>
      <p:sp>
        <p:nvSpPr>
          <p:cNvPr id="9" name="Rounded Rectangle 8"/>
          <p:cNvSpPr/>
          <p:nvPr/>
        </p:nvSpPr>
        <p:spPr>
          <a:xfrm>
            <a:off x="502920" y="2487168"/>
            <a:ext cx="3255264" cy="3008376"/>
          </a:xfrm>
          <a:prstGeom prst="roundRect">
            <a:avLst>
              <a:gd name="adj" fmla="val 12000"/>
            </a:avLst>
          </a:prstGeom>
          <a:solidFill>
            <a:srgbClr val="192B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04088" y="2734056"/>
            <a:ext cx="2843784" cy="256032"/>
          </a:xfrm>
          <a:prstGeom prst="rect">
            <a:avLst/>
          </a:prstGeom>
          <a:noFill/>
        </p:spPr>
        <p:txBody>
          <a:bodyPr wrap="square" tIns="0" bIns="0" lIns="0" rIns="0">
            <a:spAutoFit/>
          </a:bodyPr>
          <a:lstStyle/>
          <a:p>
            <a:pPr algn="l">
              <a:spcAft>
                <a:spcPts val="500"/>
              </a:spcAft>
              <a:defRPr sz="1200" b="1">
                <a:solidFill>
                  <a:srgbClr val="56D9BD"/>
                </a:solidFill>
                <a:latin typeface="Aptos"/>
              </a:defRPr>
            </a:pPr>
            <a:r>
              <a:t>FOUNDATION IN THE CHECKOUT</a:t>
            </a:r>
          </a:p>
        </p:txBody>
      </p:sp>
      <p:sp>
        <p:nvSpPr>
          <p:cNvPr id="11" name="TextBox 10"/>
          <p:cNvSpPr txBox="1"/>
          <p:nvPr/>
        </p:nvSpPr>
        <p:spPr>
          <a:xfrm>
            <a:off x="704088" y="3273552"/>
            <a:ext cx="2834640" cy="1618488"/>
          </a:xfrm>
          <a:prstGeom prst="rect">
            <a:avLst/>
          </a:prstGeom>
          <a:noFill/>
        </p:spPr>
        <p:txBody>
          <a:bodyPr wrap="square" tIns="0" bIns="0" lIns="0" rIns="0">
            <a:spAutoFit/>
          </a:bodyPr>
          <a:lstStyle/>
          <a:p>
            <a:pPr algn="l">
              <a:spcAft>
                <a:spcPts val="500"/>
              </a:spcAft>
              <a:defRPr sz="2200" b="1">
                <a:solidFill>
                  <a:srgbClr val="F1F5F6"/>
                </a:solidFill>
                <a:latin typeface="Aptos"/>
              </a:defRPr>
            </a:pPr>
            <a:r>
              <a:t>Evolutionary search</a:t>
            </a:r>
          </a:p>
          <a:p>
            <a:pPr algn="l">
              <a:spcAft>
                <a:spcPts val="500"/>
              </a:spcAft>
              <a:defRPr sz="2200" b="1">
                <a:solidFill>
                  <a:srgbClr val="F1F5F6"/>
                </a:solidFill>
                <a:latin typeface="Aptos"/>
              </a:defRPr>
            </a:pPr>
            <a:r>
              <a:t>Mixture optimization</a:t>
            </a:r>
          </a:p>
          <a:p>
            <a:pPr algn="l">
              <a:spcAft>
                <a:spcPts val="500"/>
              </a:spcAft>
              <a:defRPr sz="2200" b="1">
                <a:solidFill>
                  <a:srgbClr val="F1F5F6"/>
                </a:solidFill>
                <a:latin typeface="Aptos"/>
              </a:defRPr>
            </a:pPr>
            <a:r>
              <a:t>Feature selection</a:t>
            </a:r>
          </a:p>
          <a:p>
            <a:pPr algn="l">
              <a:spcAft>
                <a:spcPts val="500"/>
              </a:spcAft>
              <a:defRPr sz="2200" b="1">
                <a:solidFill>
                  <a:srgbClr val="F1F5F6"/>
                </a:solidFill>
                <a:latin typeface="Aptos"/>
              </a:defRPr>
            </a:pPr>
            <a:r>
              <a:t>Evidence machinery</a:t>
            </a:r>
          </a:p>
        </p:txBody>
      </p:sp>
      <p:sp>
        <p:nvSpPr>
          <p:cNvPr id="12" name="TextBox 11"/>
          <p:cNvSpPr txBox="1"/>
          <p:nvPr/>
        </p:nvSpPr>
        <p:spPr>
          <a:xfrm>
            <a:off x="704088" y="4919472"/>
            <a:ext cx="2834640" cy="384048"/>
          </a:xfrm>
          <a:prstGeom prst="rect">
            <a:avLst/>
          </a:prstGeom>
          <a:noFill/>
        </p:spPr>
        <p:txBody>
          <a:bodyPr wrap="square" tIns="0" bIns="0" lIns="0" rIns="0">
            <a:spAutoFit/>
          </a:bodyPr>
          <a:lstStyle/>
          <a:p>
            <a:pPr algn="l">
              <a:spcAft>
                <a:spcPts val="500"/>
              </a:spcAft>
              <a:defRPr sz="1300" b="0">
                <a:solidFill>
                  <a:srgbClr val="AFC1CE"/>
                </a:solidFill>
                <a:latin typeface="Aptos"/>
              </a:defRPr>
            </a:pPr>
            <a:r>
              <a:t>Source-reviewed; integration remains.</a:t>
            </a:r>
          </a:p>
        </p:txBody>
      </p:sp>
      <p:sp>
        <p:nvSpPr>
          <p:cNvPr id="13" name="Rounded Rectangle 12"/>
          <p:cNvSpPr/>
          <p:nvPr/>
        </p:nvSpPr>
        <p:spPr>
          <a:xfrm>
            <a:off x="4160520" y="2487168"/>
            <a:ext cx="7543800" cy="877824"/>
          </a:xfrm>
          <a:prstGeom prst="roundRect">
            <a:avLst>
              <a:gd name="adj" fmla="val 12000"/>
            </a:avLst>
          </a:prstGeom>
          <a:solidFill>
            <a:srgbClr val="192B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361688" y="2715768"/>
            <a:ext cx="411480" cy="329184"/>
          </a:xfrm>
          <a:prstGeom prst="rect">
            <a:avLst/>
          </a:prstGeom>
          <a:noFill/>
        </p:spPr>
        <p:txBody>
          <a:bodyPr wrap="square" tIns="0" bIns="0" lIns="0" rIns="0">
            <a:spAutoFit/>
          </a:bodyPr>
          <a:lstStyle/>
          <a:p>
            <a:pPr algn="l">
              <a:spcAft>
                <a:spcPts val="500"/>
              </a:spcAft>
              <a:defRPr sz="2200" b="1">
                <a:solidFill>
                  <a:srgbClr val="56D9BD"/>
                </a:solidFill>
                <a:latin typeface="Aptos"/>
              </a:defRPr>
            </a:pPr>
            <a:r>
              <a:t>A</a:t>
            </a:r>
          </a:p>
        </p:txBody>
      </p:sp>
      <p:sp>
        <p:nvSpPr>
          <p:cNvPr id="15" name="TextBox 14"/>
          <p:cNvSpPr txBox="1"/>
          <p:nvPr/>
        </p:nvSpPr>
        <p:spPr>
          <a:xfrm>
            <a:off x="5038344" y="2606040"/>
            <a:ext cx="2258568" cy="640080"/>
          </a:xfrm>
          <a:prstGeom prst="rect">
            <a:avLst/>
          </a:prstGeom>
          <a:noFill/>
        </p:spPr>
        <p:txBody>
          <a:bodyPr wrap="square" tIns="0" bIns="0" lIns="0" rIns="0">
            <a:spAutoFit/>
          </a:bodyPr>
          <a:lstStyle/>
          <a:p>
            <a:pPr algn="l">
              <a:spcAft>
                <a:spcPts val="500"/>
              </a:spcAft>
              <a:defRPr sz="2100" b="1">
                <a:solidFill>
                  <a:srgbClr val="F1F5F6"/>
                </a:solidFill>
                <a:latin typeface="Aptos"/>
              </a:defRPr>
            </a:pPr>
            <a:r>
              <a:t>Working engine</a:t>
            </a:r>
          </a:p>
        </p:txBody>
      </p:sp>
      <p:sp>
        <p:nvSpPr>
          <p:cNvPr id="16" name="TextBox 15"/>
          <p:cNvSpPr txBox="1"/>
          <p:nvPr/>
        </p:nvSpPr>
        <p:spPr>
          <a:xfrm>
            <a:off x="7598664" y="2670048"/>
            <a:ext cx="3867912" cy="548640"/>
          </a:xfrm>
          <a:prstGeom prst="rect">
            <a:avLst/>
          </a:prstGeom>
          <a:noFill/>
        </p:spPr>
        <p:txBody>
          <a:bodyPr wrap="square" tIns="0" bIns="0" lIns="0" rIns="0">
            <a:spAutoFit/>
          </a:bodyPr>
          <a:lstStyle/>
          <a:p>
            <a:pPr algn="l">
              <a:spcAft>
                <a:spcPts val="500"/>
              </a:spcAft>
              <a:defRPr sz="1500" b="0">
                <a:solidFill>
                  <a:srgbClr val="AFC1CE"/>
                </a:solidFill>
                <a:latin typeface="Aptos"/>
              </a:defRPr>
            </a:pPr>
            <a:r>
              <a:t>Two product representations; one</a:t>
            </a:r>
          </a:p>
          <a:p>
            <a:pPr algn="l">
              <a:spcAft>
                <a:spcPts val="500"/>
              </a:spcAft>
              <a:defRPr sz="1500" b="0">
                <a:solidFill>
                  <a:srgbClr val="AFC1CE"/>
                </a:solidFill>
                <a:latin typeface="Aptos"/>
              </a:defRPr>
            </a:pPr>
            <a:r>
              <a:t>search core and traceable graph.</a:t>
            </a:r>
          </a:p>
        </p:txBody>
      </p:sp>
      <p:sp>
        <p:nvSpPr>
          <p:cNvPr id="17" name="Rounded Rectangle 16"/>
          <p:cNvSpPr/>
          <p:nvPr/>
        </p:nvSpPr>
        <p:spPr>
          <a:xfrm>
            <a:off x="4160520" y="3502152"/>
            <a:ext cx="7543800" cy="877824"/>
          </a:xfrm>
          <a:prstGeom prst="roundRect">
            <a:avLst>
              <a:gd name="adj" fmla="val 12000"/>
            </a:avLst>
          </a:prstGeom>
          <a:solidFill>
            <a:srgbClr val="192B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361688" y="3730752"/>
            <a:ext cx="411480" cy="329184"/>
          </a:xfrm>
          <a:prstGeom prst="rect">
            <a:avLst/>
          </a:prstGeom>
          <a:noFill/>
        </p:spPr>
        <p:txBody>
          <a:bodyPr wrap="square" tIns="0" bIns="0" lIns="0" rIns="0">
            <a:spAutoFit/>
          </a:bodyPr>
          <a:lstStyle/>
          <a:p>
            <a:pPr algn="l">
              <a:spcAft>
                <a:spcPts val="500"/>
              </a:spcAft>
              <a:defRPr sz="2200" b="1">
                <a:solidFill>
                  <a:srgbClr val="83BFFF"/>
                </a:solidFill>
                <a:latin typeface="Aptos"/>
              </a:defRPr>
            </a:pPr>
            <a:r>
              <a:t>B</a:t>
            </a:r>
          </a:p>
        </p:txBody>
      </p:sp>
      <p:sp>
        <p:nvSpPr>
          <p:cNvPr id="19" name="TextBox 18"/>
          <p:cNvSpPr txBox="1"/>
          <p:nvPr/>
        </p:nvSpPr>
        <p:spPr>
          <a:xfrm>
            <a:off x="5038344" y="3621024"/>
            <a:ext cx="2258568" cy="640080"/>
          </a:xfrm>
          <a:prstGeom prst="rect">
            <a:avLst/>
          </a:prstGeom>
          <a:noFill/>
        </p:spPr>
        <p:txBody>
          <a:bodyPr wrap="square" tIns="0" bIns="0" lIns="0" rIns="0">
            <a:spAutoFit/>
          </a:bodyPr>
          <a:lstStyle/>
          <a:p>
            <a:pPr algn="l">
              <a:spcAft>
                <a:spcPts val="500"/>
              </a:spcAft>
              <a:defRPr sz="2100" b="1">
                <a:solidFill>
                  <a:srgbClr val="F1F5F6"/>
                </a:solidFill>
                <a:latin typeface="Aptos"/>
              </a:defRPr>
            </a:pPr>
            <a:r>
              <a:t>Scientific credibility</a:t>
            </a:r>
          </a:p>
        </p:txBody>
      </p:sp>
      <p:sp>
        <p:nvSpPr>
          <p:cNvPr id="20" name="TextBox 19"/>
          <p:cNvSpPr txBox="1"/>
          <p:nvPr/>
        </p:nvSpPr>
        <p:spPr>
          <a:xfrm>
            <a:off x="7598664" y="3685032"/>
            <a:ext cx="3867912" cy="548640"/>
          </a:xfrm>
          <a:prstGeom prst="rect">
            <a:avLst/>
          </a:prstGeom>
          <a:noFill/>
        </p:spPr>
        <p:txBody>
          <a:bodyPr wrap="square" tIns="0" bIns="0" lIns="0" rIns="0">
            <a:spAutoFit/>
          </a:bodyPr>
          <a:lstStyle/>
          <a:p>
            <a:pPr algn="l">
              <a:spcAft>
                <a:spcPts val="500"/>
              </a:spcAft>
              <a:defRPr sz="1500" b="0">
                <a:solidFill>
                  <a:srgbClr val="AFC1CE"/>
                </a:solidFill>
                <a:latin typeface="Aptos"/>
              </a:defRPr>
            </a:pPr>
            <a:r>
              <a:t>Reviewed data and validated evaluators;</a:t>
            </a:r>
          </a:p>
          <a:p>
            <a:pPr algn="l">
              <a:spcAft>
                <a:spcPts val="500"/>
              </a:spcAft>
              <a:defRPr sz="1500" b="0">
                <a:solidFill>
                  <a:srgbClr val="AFC1CE"/>
                </a:solidFill>
                <a:latin typeface="Aptos"/>
              </a:defRPr>
            </a:pPr>
            <a:r>
              <a:t>explicit limits on transfer.</a:t>
            </a:r>
          </a:p>
        </p:txBody>
      </p:sp>
      <p:sp>
        <p:nvSpPr>
          <p:cNvPr id="21" name="Rounded Rectangle 20"/>
          <p:cNvSpPr/>
          <p:nvPr/>
        </p:nvSpPr>
        <p:spPr>
          <a:xfrm>
            <a:off x="4160520" y="4517136"/>
            <a:ext cx="7543800" cy="877824"/>
          </a:xfrm>
          <a:prstGeom prst="roundRect">
            <a:avLst>
              <a:gd name="adj" fmla="val 12000"/>
            </a:avLst>
          </a:prstGeom>
          <a:solidFill>
            <a:srgbClr val="192B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361688" y="4745736"/>
            <a:ext cx="411480" cy="329184"/>
          </a:xfrm>
          <a:prstGeom prst="rect">
            <a:avLst/>
          </a:prstGeom>
          <a:noFill/>
        </p:spPr>
        <p:txBody>
          <a:bodyPr wrap="square" tIns="0" bIns="0" lIns="0" rIns="0">
            <a:spAutoFit/>
          </a:bodyPr>
          <a:lstStyle/>
          <a:p>
            <a:pPr algn="l">
              <a:spcAft>
                <a:spcPts val="500"/>
              </a:spcAft>
              <a:defRPr sz="2200" b="1">
                <a:solidFill>
                  <a:srgbClr val="F4C77E"/>
                </a:solidFill>
                <a:latin typeface="Aptos"/>
              </a:defRPr>
            </a:pPr>
            <a:r>
              <a:t>C</a:t>
            </a:r>
          </a:p>
        </p:txBody>
      </p:sp>
      <p:sp>
        <p:nvSpPr>
          <p:cNvPr id="23" name="TextBox 22"/>
          <p:cNvSpPr txBox="1"/>
          <p:nvPr/>
        </p:nvSpPr>
        <p:spPr>
          <a:xfrm>
            <a:off x="5038344" y="4636008"/>
            <a:ext cx="2258568" cy="640080"/>
          </a:xfrm>
          <a:prstGeom prst="rect">
            <a:avLst/>
          </a:prstGeom>
          <a:noFill/>
        </p:spPr>
        <p:txBody>
          <a:bodyPr wrap="square" tIns="0" bIns="0" lIns="0" rIns="0">
            <a:spAutoFit/>
          </a:bodyPr>
          <a:lstStyle/>
          <a:p>
            <a:pPr algn="l">
              <a:spcAft>
                <a:spcPts val="500"/>
              </a:spcAft>
              <a:defRPr sz="2100" b="1">
                <a:solidFill>
                  <a:srgbClr val="F1F5F6"/>
                </a:solidFill>
                <a:latin typeface="Aptos"/>
              </a:defRPr>
            </a:pPr>
            <a:r>
              <a:t>Commercial evidence</a:t>
            </a:r>
          </a:p>
        </p:txBody>
      </p:sp>
      <p:sp>
        <p:nvSpPr>
          <p:cNvPr id="24" name="TextBox 23"/>
          <p:cNvSpPr txBox="1"/>
          <p:nvPr/>
        </p:nvSpPr>
        <p:spPr>
          <a:xfrm>
            <a:off x="7598664" y="4700016"/>
            <a:ext cx="3867912" cy="548640"/>
          </a:xfrm>
          <a:prstGeom prst="rect">
            <a:avLst/>
          </a:prstGeom>
          <a:noFill/>
        </p:spPr>
        <p:txBody>
          <a:bodyPr wrap="square" tIns="0" bIns="0" lIns="0" rIns="0">
            <a:spAutoFit/>
          </a:bodyPr>
          <a:lstStyle/>
          <a:p>
            <a:pPr algn="l">
              <a:spcAft>
                <a:spcPts val="500"/>
              </a:spcAft>
              <a:defRPr sz="1500" b="0">
                <a:solidFill>
                  <a:srgbClr val="AFC1CE"/>
                </a:solidFill>
                <a:latin typeface="Aptos"/>
              </a:defRPr>
            </a:pPr>
            <a:r>
              <a:t>Pilot against the current workflow;</a:t>
            </a:r>
          </a:p>
          <a:p>
            <a:pPr algn="l">
              <a:spcAft>
                <a:spcPts val="500"/>
              </a:spcAft>
              <a:defRPr sz="1500" b="0">
                <a:solidFill>
                  <a:srgbClr val="AFC1CE"/>
                </a:solidFill>
                <a:latin typeface="Aptos"/>
              </a:defRPr>
            </a:pPr>
            <a:r>
              <a:t>measure change effort, reuse and cost.</a:t>
            </a:r>
          </a:p>
        </p:txBody>
      </p:sp>
      <p:sp>
        <p:nvSpPr>
          <p:cNvPr id="25" name="Rounded Rectangle 24"/>
          <p:cNvSpPr/>
          <p:nvPr/>
        </p:nvSpPr>
        <p:spPr>
          <a:xfrm>
            <a:off x="475488" y="5815584"/>
            <a:ext cx="11237976" cy="393192"/>
          </a:xfrm>
          <a:prstGeom prst="roundRect">
            <a:avLst>
              <a:gd name="adj" fmla="val 12000"/>
            </a:avLst>
          </a:prstGeom>
          <a:solidFill>
            <a:srgbClr val="22394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58368" y="5893308"/>
            <a:ext cx="10881360" cy="283464"/>
          </a:xfrm>
          <a:prstGeom prst="rect">
            <a:avLst/>
          </a:prstGeom>
          <a:noFill/>
        </p:spPr>
        <p:txBody>
          <a:bodyPr wrap="square" tIns="0" bIns="0" lIns="0" rIns="0">
            <a:spAutoFit/>
          </a:bodyPr>
          <a:lstStyle/>
          <a:p>
            <a:pPr algn="l">
              <a:spcAft>
                <a:spcPts val="500"/>
              </a:spcAft>
              <a:defRPr sz="1400" b="1">
                <a:solidFill>
                  <a:srgbClr val="56D9BD"/>
                </a:solidFill>
                <a:latin typeface="Aptos"/>
              </a:defRPr>
            </a:pPr>
            <a:r>
              <a:t>Investment case: prove repeatable research value first; earn the right to expand the platform.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101D2C"/>
        </a:solidFill>
        <a:effectLst/>
      </p:bgPr>
    </p:bg>
    <p:spTree>
      <p:nvGrpSpPr>
        <p:cNvPr id="1" name=""/>
        <p:cNvGrpSpPr/>
        <p:nvPr/>
      </p:nvGrpSpPr>
      <p:grpSpPr/>
      <p:sp>
        <p:nvSpPr>
          <p:cNvPr id="2" name="TextBox 1"/>
          <p:cNvSpPr txBox="1"/>
          <p:nvPr/>
        </p:nvSpPr>
        <p:spPr>
          <a:xfrm>
            <a:off x="457200" y="274320"/>
            <a:ext cx="10972800" cy="228600"/>
          </a:xfrm>
          <a:prstGeom prst="rect">
            <a:avLst/>
          </a:prstGeom>
          <a:noFill/>
        </p:spPr>
        <p:txBody>
          <a:bodyPr wrap="square" tIns="0" bIns="0" lIns="0" rIns="0">
            <a:spAutoFit/>
          </a:bodyPr>
          <a:lstStyle/>
          <a:p>
            <a:pPr algn="l">
              <a:spcAft>
                <a:spcPts val="500"/>
              </a:spcAft>
              <a:defRPr sz="1000" b="1">
                <a:solidFill>
                  <a:srgbClr val="56D9BD"/>
                </a:solidFill>
                <a:latin typeface="Aptos"/>
              </a:defRPr>
            </a:pPr>
            <a:r>
              <a:t>APPENDIX / EVIDENCE BASE</a:t>
            </a:r>
          </a:p>
        </p:txBody>
      </p:sp>
      <p:sp>
        <p:nvSpPr>
          <p:cNvPr id="3" name="TextBox 2"/>
          <p:cNvSpPr txBox="1"/>
          <p:nvPr/>
        </p:nvSpPr>
        <p:spPr>
          <a:xfrm>
            <a:off x="457200" y="731520"/>
            <a:ext cx="11247120" cy="822960"/>
          </a:xfrm>
          <a:prstGeom prst="rect">
            <a:avLst/>
          </a:prstGeom>
          <a:noFill/>
        </p:spPr>
        <p:txBody>
          <a:bodyPr wrap="square" tIns="0" bIns="0" lIns="0" rIns="0">
            <a:spAutoFit/>
          </a:bodyPr>
          <a:lstStyle/>
          <a:p>
            <a:pPr algn="l">
              <a:spcAft>
                <a:spcPts val="500"/>
              </a:spcAft>
              <a:defRPr sz="3000" b="1">
                <a:solidFill>
                  <a:srgbClr val="F1F5F6"/>
                </a:solidFill>
                <a:latin typeface="Aptos"/>
              </a:defRPr>
            </a:pPr>
            <a:r>
              <a:t>Competitive sources and claim boundaries</a:t>
            </a:r>
          </a:p>
        </p:txBody>
      </p:sp>
      <p:sp>
        <p:nvSpPr>
          <p:cNvPr id="4" name="TextBox 3"/>
          <p:cNvSpPr txBox="1"/>
          <p:nvPr/>
        </p:nvSpPr>
        <p:spPr>
          <a:xfrm>
            <a:off x="475488" y="1673352"/>
            <a:ext cx="11064240" cy="512064"/>
          </a:xfrm>
          <a:prstGeom prst="rect">
            <a:avLst/>
          </a:prstGeom>
          <a:noFill/>
        </p:spPr>
        <p:txBody>
          <a:bodyPr wrap="square" tIns="0" bIns="0" lIns="0" rIns="0">
            <a:spAutoFit/>
          </a:bodyPr>
          <a:lstStyle/>
          <a:p>
            <a:pPr algn="l">
              <a:spcAft>
                <a:spcPts val="500"/>
              </a:spcAft>
              <a:defRPr sz="1600" b="0">
                <a:solidFill>
                  <a:srgbClr val="AFC1CE"/>
                </a:solidFill>
                <a:latin typeface="Aptos"/>
              </a:defRPr>
            </a:pPr>
            <a:r>
              <a:t>Official product descriptions reviewed 16 September 2026. Links open the underlying source.</a:t>
            </a:r>
          </a:p>
        </p:txBody>
      </p:sp>
      <p:cxnSp>
        <p:nvCxnSpPr>
          <p:cNvPr id="5" name="Connector 4"/>
          <p:cNvCxnSpPr/>
          <p:nvPr/>
        </p:nvCxnSpPr>
        <p:spPr>
          <a:xfrm>
            <a:off x="457200" y="6428232"/>
            <a:ext cx="11274552" cy="0"/>
          </a:xfrm>
          <a:prstGeom prst="line">
            <a:avLst/>
          </a:prstGeom>
          <a:ln w="8255">
            <a:solidFill>
              <a:srgbClr val="40586A"/>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457200" y="6547104"/>
            <a:ext cx="6400800" cy="173736"/>
          </a:xfrm>
          <a:prstGeom prst="rect">
            <a:avLst/>
          </a:prstGeom>
          <a:noFill/>
        </p:spPr>
        <p:txBody>
          <a:bodyPr wrap="square" tIns="0" bIns="0" lIns="0" rIns="0">
            <a:spAutoFit/>
          </a:bodyPr>
          <a:lstStyle/>
          <a:p>
            <a:pPr algn="l">
              <a:spcAft>
                <a:spcPts val="500"/>
              </a:spcAft>
              <a:defRPr sz="800" b="0">
                <a:solidFill>
                  <a:srgbClr val="AFC1CE"/>
                </a:solidFill>
                <a:latin typeface="Aptos"/>
              </a:defRPr>
            </a:pPr>
            <a:r>
              <a:t>AMPHORA  /  CONFIDENTIAL INVESTOR DISCUSSION  /  SEPTEMBER 2026</a:t>
            </a:r>
          </a:p>
        </p:txBody>
      </p:sp>
      <p:sp>
        <p:nvSpPr>
          <p:cNvPr id="7" name="TextBox 6"/>
          <p:cNvSpPr txBox="1"/>
          <p:nvPr/>
        </p:nvSpPr>
        <p:spPr>
          <a:xfrm>
            <a:off x="8366760" y="6528816"/>
            <a:ext cx="2788920" cy="201168"/>
          </a:xfrm>
          <a:prstGeom prst="rect">
            <a:avLst/>
          </a:prstGeom>
          <a:noFill/>
        </p:spPr>
        <p:txBody>
          <a:bodyPr wrap="square" tIns="0" bIns="0" lIns="0" rIns="0">
            <a:spAutoFit/>
          </a:bodyPr>
          <a:lstStyle/>
          <a:p>
            <a:pPr algn="r">
              <a:spcAft>
                <a:spcPts val="500"/>
              </a:spcAft>
              <a:defRPr sz="800" b="0">
                <a:solidFill>
                  <a:srgbClr val="56D9BD"/>
                </a:solidFill>
                <a:latin typeface="Aptos"/>
              </a:defRPr>
            </a:pPr>
            <a:r>
              <a:t>DILIGENCE APPENDIX</a:t>
            </a:r>
          </a:p>
        </p:txBody>
      </p:sp>
      <p:sp>
        <p:nvSpPr>
          <p:cNvPr id="8" name="TextBox 7"/>
          <p:cNvSpPr txBox="1"/>
          <p:nvPr/>
        </p:nvSpPr>
        <p:spPr>
          <a:xfrm>
            <a:off x="11384280" y="6492240"/>
            <a:ext cx="320040" cy="265176"/>
          </a:xfrm>
          <a:prstGeom prst="rect">
            <a:avLst/>
          </a:prstGeom>
          <a:noFill/>
        </p:spPr>
        <p:txBody>
          <a:bodyPr wrap="square" tIns="0" bIns="0" lIns="0" rIns="0">
            <a:spAutoFit/>
          </a:bodyPr>
          <a:lstStyle/>
          <a:p>
            <a:pPr algn="r">
              <a:spcAft>
                <a:spcPts val="500"/>
              </a:spcAft>
              <a:defRPr sz="1000" b="1">
                <a:solidFill>
                  <a:srgbClr val="F1F5F6"/>
                </a:solidFill>
                <a:latin typeface="Aptos"/>
              </a:defRPr>
            </a:pPr>
            <a:r>
              <a:t>07</a:t>
            </a:r>
          </a:p>
        </p:txBody>
      </p:sp>
      <p:sp>
        <p:nvSpPr>
          <p:cNvPr id="9" name="TextBox 8"/>
          <p:cNvSpPr txBox="1"/>
          <p:nvPr/>
        </p:nvSpPr>
        <p:spPr>
          <a:xfrm>
            <a:off x="521207" y="2441448"/>
            <a:ext cx="5376672" cy="292608"/>
          </a:xfrm>
          <a:prstGeom prst="rect">
            <a:avLst/>
          </a:prstGeom>
          <a:noFill/>
        </p:spPr>
        <p:txBody>
          <a:bodyPr wrap="square" tIns="0" bIns="0" lIns="0" rIns="0">
            <a:spAutoFit/>
          </a:bodyPr>
          <a:lstStyle/>
          <a:p>
            <a:pPr algn="l">
              <a:spcAft>
                <a:spcPts val="500"/>
              </a:spcAft>
              <a:defRPr sz="1700" b="1">
                <a:solidFill>
                  <a:srgbClr val="56D9BD"/>
                </a:solidFill>
                <a:latin typeface="Aptos"/>
              </a:defRPr>
            </a:pPr>
            <a:r>
              <a:rPr>
                <a:hlinkClick r:id="rId2"/>
              </a:rPr>
              <a:t>S1  Benchling AI</a:t>
            </a:r>
          </a:p>
        </p:txBody>
      </p:sp>
      <p:sp>
        <p:nvSpPr>
          <p:cNvPr id="10" name="TextBox 9"/>
          <p:cNvSpPr txBox="1"/>
          <p:nvPr/>
        </p:nvSpPr>
        <p:spPr>
          <a:xfrm>
            <a:off x="521207" y="2779776"/>
            <a:ext cx="5376672" cy="274320"/>
          </a:xfrm>
          <a:prstGeom prst="rect">
            <a:avLst/>
          </a:prstGeom>
          <a:noFill/>
        </p:spPr>
        <p:txBody>
          <a:bodyPr wrap="square" tIns="0" bIns="0" lIns="0" rIns="0">
            <a:spAutoFit/>
          </a:bodyPr>
          <a:lstStyle/>
          <a:p>
            <a:pPr algn="l">
              <a:spcAft>
                <a:spcPts val="500"/>
              </a:spcAft>
              <a:defRPr sz="1300" b="0">
                <a:solidFill>
                  <a:srgbClr val="AFC1CE"/>
                </a:solidFill>
                <a:latin typeface="Aptos"/>
              </a:defRPr>
            </a:pPr>
            <a:r>
              <a:t>Scientific data, AI and model access</a:t>
            </a:r>
          </a:p>
        </p:txBody>
      </p:sp>
      <p:sp>
        <p:nvSpPr>
          <p:cNvPr id="11" name="TextBox 10"/>
          <p:cNvSpPr txBox="1"/>
          <p:nvPr/>
        </p:nvSpPr>
        <p:spPr>
          <a:xfrm>
            <a:off x="521207" y="3145536"/>
            <a:ext cx="5376672" cy="292608"/>
          </a:xfrm>
          <a:prstGeom prst="rect">
            <a:avLst/>
          </a:prstGeom>
          <a:noFill/>
        </p:spPr>
        <p:txBody>
          <a:bodyPr wrap="square" tIns="0" bIns="0" lIns="0" rIns="0">
            <a:spAutoFit/>
          </a:bodyPr>
          <a:lstStyle/>
          <a:p>
            <a:pPr algn="l">
              <a:spcAft>
                <a:spcPts val="500"/>
              </a:spcAft>
              <a:defRPr sz="1700" b="1">
                <a:solidFill>
                  <a:srgbClr val="56D9BD"/>
                </a:solidFill>
                <a:latin typeface="Aptos"/>
              </a:defRPr>
            </a:pPr>
            <a:r>
              <a:rPr>
                <a:hlinkClick r:id="rId3"/>
              </a:rPr>
              <a:t>S2  Citrine Catalyst</a:t>
            </a:r>
          </a:p>
        </p:txBody>
      </p:sp>
      <p:sp>
        <p:nvSpPr>
          <p:cNvPr id="12" name="TextBox 11"/>
          <p:cNvSpPr txBox="1"/>
          <p:nvPr/>
        </p:nvSpPr>
        <p:spPr>
          <a:xfrm>
            <a:off x="521207" y="3483864"/>
            <a:ext cx="5376672" cy="274320"/>
          </a:xfrm>
          <a:prstGeom prst="rect">
            <a:avLst/>
          </a:prstGeom>
          <a:noFill/>
        </p:spPr>
        <p:txBody>
          <a:bodyPr wrap="square" tIns="0" bIns="0" lIns="0" rIns="0">
            <a:spAutoFit/>
          </a:bodyPr>
          <a:lstStyle/>
          <a:p>
            <a:pPr algn="l">
              <a:spcAft>
                <a:spcPts val="500"/>
              </a:spcAft>
              <a:defRPr sz="1300" b="0">
                <a:solidFill>
                  <a:srgbClr val="AFC1CE"/>
                </a:solidFill>
                <a:latin typeface="Aptos"/>
              </a:defRPr>
            </a:pPr>
            <a:r>
              <a:t>Goal-to-workflow AI in materials</a:t>
            </a:r>
          </a:p>
        </p:txBody>
      </p:sp>
      <p:sp>
        <p:nvSpPr>
          <p:cNvPr id="13" name="TextBox 12"/>
          <p:cNvSpPr txBox="1"/>
          <p:nvPr/>
        </p:nvSpPr>
        <p:spPr>
          <a:xfrm>
            <a:off x="521207" y="3849624"/>
            <a:ext cx="5376672" cy="292608"/>
          </a:xfrm>
          <a:prstGeom prst="rect">
            <a:avLst/>
          </a:prstGeom>
          <a:noFill/>
        </p:spPr>
        <p:txBody>
          <a:bodyPr wrap="square" tIns="0" bIns="0" lIns="0" rIns="0">
            <a:spAutoFit/>
          </a:bodyPr>
          <a:lstStyle/>
          <a:p>
            <a:pPr algn="l">
              <a:spcAft>
                <a:spcPts val="500"/>
              </a:spcAft>
              <a:defRPr sz="1700" b="1">
                <a:solidFill>
                  <a:srgbClr val="56D9BD"/>
                </a:solidFill>
                <a:latin typeface="Aptos"/>
              </a:defRPr>
            </a:pPr>
            <a:r>
              <a:rPr>
                <a:hlinkClick r:id="rId4"/>
              </a:rPr>
              <a:t>S3  Citrine sequential learning</a:t>
            </a:r>
          </a:p>
        </p:txBody>
      </p:sp>
      <p:sp>
        <p:nvSpPr>
          <p:cNvPr id="14" name="TextBox 13"/>
          <p:cNvSpPr txBox="1"/>
          <p:nvPr/>
        </p:nvSpPr>
        <p:spPr>
          <a:xfrm>
            <a:off x="521207" y="4187952"/>
            <a:ext cx="5376672" cy="274320"/>
          </a:xfrm>
          <a:prstGeom prst="rect">
            <a:avLst/>
          </a:prstGeom>
          <a:noFill/>
        </p:spPr>
        <p:txBody>
          <a:bodyPr wrap="square" tIns="0" bIns="0" lIns="0" rIns="0">
            <a:spAutoFit/>
          </a:bodyPr>
          <a:lstStyle/>
          <a:p>
            <a:pPr algn="l">
              <a:spcAft>
                <a:spcPts val="500"/>
              </a:spcAft>
              <a:defRPr sz="1300" b="0">
                <a:solidFill>
                  <a:srgbClr val="AFC1CE"/>
                </a:solidFill>
                <a:latin typeface="Aptos"/>
              </a:defRPr>
            </a:pPr>
            <a:r>
              <a:t>Iterative experimental optimization</a:t>
            </a:r>
          </a:p>
        </p:txBody>
      </p:sp>
      <p:sp>
        <p:nvSpPr>
          <p:cNvPr id="15" name="TextBox 14"/>
          <p:cNvSpPr txBox="1"/>
          <p:nvPr/>
        </p:nvSpPr>
        <p:spPr>
          <a:xfrm>
            <a:off x="521207" y="4553712"/>
            <a:ext cx="5376672" cy="292608"/>
          </a:xfrm>
          <a:prstGeom prst="rect">
            <a:avLst/>
          </a:prstGeom>
          <a:noFill/>
        </p:spPr>
        <p:txBody>
          <a:bodyPr wrap="square" tIns="0" bIns="0" lIns="0" rIns="0">
            <a:spAutoFit/>
          </a:bodyPr>
          <a:lstStyle/>
          <a:p>
            <a:pPr algn="l">
              <a:spcAft>
                <a:spcPts val="500"/>
              </a:spcAft>
              <a:defRPr sz="1700" b="1">
                <a:solidFill>
                  <a:srgbClr val="56D9BD"/>
                </a:solidFill>
                <a:latin typeface="Aptos"/>
              </a:defRPr>
            </a:pPr>
            <a:r>
              <a:rPr>
                <a:hlinkClick r:id="rId5"/>
              </a:rPr>
              <a:t>S4  Schrödinger active learning</a:t>
            </a:r>
          </a:p>
        </p:txBody>
      </p:sp>
      <p:sp>
        <p:nvSpPr>
          <p:cNvPr id="16" name="TextBox 15"/>
          <p:cNvSpPr txBox="1"/>
          <p:nvPr/>
        </p:nvSpPr>
        <p:spPr>
          <a:xfrm>
            <a:off x="521207" y="4892040"/>
            <a:ext cx="5376672" cy="274320"/>
          </a:xfrm>
          <a:prstGeom prst="rect">
            <a:avLst/>
          </a:prstGeom>
          <a:noFill/>
        </p:spPr>
        <p:txBody>
          <a:bodyPr wrap="square" tIns="0" bIns="0" lIns="0" rIns="0">
            <a:spAutoFit/>
          </a:bodyPr>
          <a:lstStyle/>
          <a:p>
            <a:pPr algn="l">
              <a:spcAft>
                <a:spcPts val="500"/>
              </a:spcAft>
              <a:defRPr sz="1300" b="0">
                <a:solidFill>
                  <a:srgbClr val="AFC1CE"/>
                </a:solidFill>
                <a:latin typeface="Aptos"/>
              </a:defRPr>
            </a:pPr>
            <a:r>
              <a:t>Physics-based active learning</a:t>
            </a:r>
          </a:p>
        </p:txBody>
      </p:sp>
      <p:sp>
        <p:nvSpPr>
          <p:cNvPr id="17" name="TextBox 16"/>
          <p:cNvSpPr txBox="1"/>
          <p:nvPr/>
        </p:nvSpPr>
        <p:spPr>
          <a:xfrm>
            <a:off x="6300216" y="2441448"/>
            <a:ext cx="5376672" cy="292608"/>
          </a:xfrm>
          <a:prstGeom prst="rect">
            <a:avLst/>
          </a:prstGeom>
          <a:noFill/>
        </p:spPr>
        <p:txBody>
          <a:bodyPr wrap="square" tIns="0" bIns="0" lIns="0" rIns="0">
            <a:spAutoFit/>
          </a:bodyPr>
          <a:lstStyle/>
          <a:p>
            <a:pPr algn="l">
              <a:spcAft>
                <a:spcPts val="500"/>
              </a:spcAft>
              <a:defRPr sz="1700" b="1">
                <a:solidFill>
                  <a:srgbClr val="56D9BD"/>
                </a:solidFill>
                <a:latin typeface="Aptos"/>
              </a:defRPr>
            </a:pPr>
            <a:r>
              <a:rPr>
                <a:hlinkClick r:id="rId6"/>
              </a:rPr>
              <a:t>S5  Synthace</a:t>
            </a:r>
          </a:p>
        </p:txBody>
      </p:sp>
      <p:sp>
        <p:nvSpPr>
          <p:cNvPr id="18" name="TextBox 17"/>
          <p:cNvSpPr txBox="1"/>
          <p:nvPr/>
        </p:nvSpPr>
        <p:spPr>
          <a:xfrm>
            <a:off x="6300216" y="2779776"/>
            <a:ext cx="5376672" cy="274320"/>
          </a:xfrm>
          <a:prstGeom prst="rect">
            <a:avLst/>
          </a:prstGeom>
          <a:noFill/>
        </p:spPr>
        <p:txBody>
          <a:bodyPr wrap="square" tIns="0" bIns="0" lIns="0" rIns="0">
            <a:spAutoFit/>
          </a:bodyPr>
          <a:lstStyle/>
          <a:p>
            <a:pPr algn="l">
              <a:spcAft>
                <a:spcPts val="500"/>
              </a:spcAft>
              <a:defRPr sz="1300" b="0">
                <a:solidFill>
                  <a:srgbClr val="AFC1CE"/>
                </a:solidFill>
                <a:latin typeface="Aptos"/>
              </a:defRPr>
            </a:pPr>
            <a:r>
              <a:t>Experiment design and automation</a:t>
            </a:r>
          </a:p>
        </p:txBody>
      </p:sp>
      <p:sp>
        <p:nvSpPr>
          <p:cNvPr id="19" name="TextBox 18"/>
          <p:cNvSpPr txBox="1"/>
          <p:nvPr/>
        </p:nvSpPr>
        <p:spPr>
          <a:xfrm>
            <a:off x="6300216" y="3145536"/>
            <a:ext cx="5376672" cy="292608"/>
          </a:xfrm>
          <a:prstGeom prst="rect">
            <a:avLst/>
          </a:prstGeom>
          <a:noFill/>
        </p:spPr>
        <p:txBody>
          <a:bodyPr wrap="square" tIns="0" bIns="0" lIns="0" rIns="0">
            <a:spAutoFit/>
          </a:bodyPr>
          <a:lstStyle/>
          <a:p>
            <a:pPr algn="l">
              <a:spcAft>
                <a:spcPts val="500"/>
              </a:spcAft>
              <a:defRPr sz="1700" b="1">
                <a:solidFill>
                  <a:srgbClr val="56D9BD"/>
                </a:solidFill>
                <a:latin typeface="Aptos"/>
              </a:defRPr>
            </a:pPr>
            <a:r>
              <a:rPr>
                <a:hlinkClick r:id="rId7"/>
              </a:rPr>
              <a:t>S6  Automata LINQ</a:t>
            </a:r>
          </a:p>
        </p:txBody>
      </p:sp>
      <p:sp>
        <p:nvSpPr>
          <p:cNvPr id="20" name="TextBox 19"/>
          <p:cNvSpPr txBox="1"/>
          <p:nvPr/>
        </p:nvSpPr>
        <p:spPr>
          <a:xfrm>
            <a:off x="6300216" y="3483864"/>
            <a:ext cx="5376672" cy="274320"/>
          </a:xfrm>
          <a:prstGeom prst="rect">
            <a:avLst/>
          </a:prstGeom>
          <a:noFill/>
        </p:spPr>
        <p:txBody>
          <a:bodyPr wrap="square" tIns="0" bIns="0" lIns="0" rIns="0">
            <a:spAutoFit/>
          </a:bodyPr>
          <a:lstStyle/>
          <a:p>
            <a:pPr algn="l">
              <a:spcAft>
                <a:spcPts val="500"/>
              </a:spcAft>
              <a:defRPr sz="1300" b="0">
                <a:solidFill>
                  <a:srgbClr val="AFC1CE"/>
                </a:solidFill>
                <a:latin typeface="Aptos"/>
              </a:defRPr>
            </a:pPr>
            <a:r>
              <a:t>Task graphs and conditional execution</a:t>
            </a:r>
          </a:p>
        </p:txBody>
      </p:sp>
      <p:sp>
        <p:nvSpPr>
          <p:cNvPr id="21" name="TextBox 20"/>
          <p:cNvSpPr txBox="1"/>
          <p:nvPr/>
        </p:nvSpPr>
        <p:spPr>
          <a:xfrm>
            <a:off x="6300216" y="3849624"/>
            <a:ext cx="5376672" cy="292608"/>
          </a:xfrm>
          <a:prstGeom prst="rect">
            <a:avLst/>
          </a:prstGeom>
          <a:noFill/>
        </p:spPr>
        <p:txBody>
          <a:bodyPr wrap="square" tIns="0" bIns="0" lIns="0" rIns="0">
            <a:spAutoFit/>
          </a:bodyPr>
          <a:lstStyle/>
          <a:p>
            <a:pPr algn="l">
              <a:spcAft>
                <a:spcPts val="500"/>
              </a:spcAft>
              <a:defRPr sz="1700" b="1">
                <a:solidFill>
                  <a:srgbClr val="56D9BD"/>
                </a:solidFill>
                <a:latin typeface="Aptos"/>
              </a:defRPr>
            </a:pPr>
            <a:r>
              <a:rPr>
                <a:hlinkClick r:id="rId8"/>
              </a:rPr>
              <a:t>S7  Recursion OS</a:t>
            </a:r>
          </a:p>
        </p:txBody>
      </p:sp>
      <p:sp>
        <p:nvSpPr>
          <p:cNvPr id="22" name="TextBox 21"/>
          <p:cNvSpPr txBox="1"/>
          <p:nvPr/>
        </p:nvSpPr>
        <p:spPr>
          <a:xfrm>
            <a:off x="6300216" y="4187952"/>
            <a:ext cx="5376672" cy="274320"/>
          </a:xfrm>
          <a:prstGeom prst="rect">
            <a:avLst/>
          </a:prstGeom>
          <a:noFill/>
        </p:spPr>
        <p:txBody>
          <a:bodyPr wrap="square" tIns="0" bIns="0" lIns="0" rIns="0">
            <a:spAutoFit/>
          </a:bodyPr>
          <a:lstStyle/>
          <a:p>
            <a:pPr algn="l">
              <a:spcAft>
                <a:spcPts val="500"/>
              </a:spcAft>
              <a:defRPr sz="1300" b="0">
                <a:solidFill>
                  <a:srgbClr val="AFC1CE"/>
                </a:solidFill>
                <a:latin typeface="Aptos"/>
              </a:defRPr>
            </a:pPr>
            <a:r>
              <a:t>Integrated drug-discovery platform</a:t>
            </a:r>
          </a:p>
        </p:txBody>
      </p:sp>
      <p:sp>
        <p:nvSpPr>
          <p:cNvPr id="23" name="TextBox 22"/>
          <p:cNvSpPr txBox="1"/>
          <p:nvPr/>
        </p:nvSpPr>
        <p:spPr>
          <a:xfrm>
            <a:off x="6300216" y="4553712"/>
            <a:ext cx="5376672" cy="292608"/>
          </a:xfrm>
          <a:prstGeom prst="rect">
            <a:avLst/>
          </a:prstGeom>
          <a:noFill/>
        </p:spPr>
        <p:txBody>
          <a:bodyPr wrap="square" tIns="0" bIns="0" lIns="0" rIns="0">
            <a:spAutoFit/>
          </a:bodyPr>
          <a:lstStyle/>
          <a:p>
            <a:pPr algn="l">
              <a:spcAft>
                <a:spcPts val="500"/>
              </a:spcAft>
              <a:defRPr sz="1700" b="1">
                <a:solidFill>
                  <a:srgbClr val="56D9BD"/>
                </a:solidFill>
                <a:latin typeface="Aptos"/>
              </a:defRPr>
            </a:pPr>
            <a:r>
              <a:rPr>
                <a:hlinkClick r:id="rId9"/>
              </a:rPr>
              <a:t>S8  Claude Science</a:t>
            </a:r>
          </a:p>
        </p:txBody>
      </p:sp>
      <p:sp>
        <p:nvSpPr>
          <p:cNvPr id="24" name="TextBox 23"/>
          <p:cNvSpPr txBox="1"/>
          <p:nvPr/>
        </p:nvSpPr>
        <p:spPr>
          <a:xfrm>
            <a:off x="6300216" y="4892040"/>
            <a:ext cx="5376672" cy="274320"/>
          </a:xfrm>
          <a:prstGeom prst="rect">
            <a:avLst/>
          </a:prstGeom>
          <a:noFill/>
        </p:spPr>
        <p:txBody>
          <a:bodyPr wrap="square" tIns="0" bIns="0" lIns="0" rIns="0">
            <a:spAutoFit/>
          </a:bodyPr>
          <a:lstStyle/>
          <a:p>
            <a:pPr algn="l">
              <a:spcAft>
                <a:spcPts val="500"/>
              </a:spcAft>
              <a:defRPr sz="1300" b="0">
                <a:solidFill>
                  <a:srgbClr val="AFC1CE"/>
                </a:solidFill>
                <a:latin typeface="Aptos"/>
              </a:defRPr>
            </a:pPr>
            <a:r>
              <a:t>Scientific agents and reproducible work</a:t>
            </a:r>
          </a:p>
        </p:txBody>
      </p:sp>
      <p:sp>
        <p:nvSpPr>
          <p:cNvPr id="25" name="Rounded Rectangle 24"/>
          <p:cNvSpPr/>
          <p:nvPr/>
        </p:nvSpPr>
        <p:spPr>
          <a:xfrm>
            <a:off x="493776" y="5486400"/>
            <a:ext cx="11210544" cy="722376"/>
          </a:xfrm>
          <a:prstGeom prst="roundRect">
            <a:avLst>
              <a:gd name="adj" fmla="val 12000"/>
            </a:avLst>
          </a:prstGeom>
          <a:solidFill>
            <a:srgbClr val="22394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67512" y="5632704"/>
            <a:ext cx="10872216" cy="502920"/>
          </a:xfrm>
          <a:prstGeom prst="rect">
            <a:avLst/>
          </a:prstGeom>
          <a:noFill/>
        </p:spPr>
        <p:txBody>
          <a:bodyPr wrap="square" tIns="0" bIns="0" lIns="0" rIns="0">
            <a:spAutoFit/>
          </a:bodyPr>
          <a:lstStyle/>
          <a:p>
            <a:pPr algn="l">
              <a:spcAft>
                <a:spcPts val="500"/>
              </a:spcAft>
              <a:defRPr sz="1300" b="0">
                <a:solidFill>
                  <a:srgbClr val="F1F5F6"/>
                </a:solidFill>
                <a:latin typeface="Aptos"/>
              </a:defRPr>
            </a:pPr>
            <a:r>
              <a:t>Vendor claims are not independent tests. Amphora differentiation is a thesis to validate;</a:t>
            </a:r>
          </a:p>
          <a:p>
            <a:pPr algn="l">
              <a:spcAft>
                <a:spcPts val="500"/>
              </a:spcAft>
              <a:defRPr sz="1300" b="0">
                <a:solidFill>
                  <a:srgbClr val="F1F5F6"/>
                </a:solidFill>
                <a:latin typeface="Aptos"/>
              </a:defRPr>
            </a:pPr>
            <a:r>
              <a:t>this deck makes no exclusive-novelty, patentability, clinical-success or measured-ROI claim.</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56D9BD"/>
      </a:hlink>
      <a:folHlink>
        <a:srgbClr val="56D9BD"/>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56D9BD"/>
      </a:hlink>
      <a:folHlink>
        <a:srgbClr val="56D9BD"/>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Amphora | Investor Engine Positioning</dc:title>
  <dc:subject>Research engine differentiation, alternatives and investment milestones</dc:subject>
  <dc:creator>Amphora</dc:creator>
  <cp:keywords>Confidential; investor discussion; research engine; competitive positioning</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