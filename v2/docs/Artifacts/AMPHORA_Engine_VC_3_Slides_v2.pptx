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to build is the combined context-and-control problem: research spans sources, experiments, models, constraints and human expertise. The goal is to make relationships navigable and translate selected context into executable research. Large context means durable, addressable and versioned information across graphs and artifacts, not loading an entire corpus into an LLM prompt. Benefits are design goals to validate, not measured superiority. The engine should reduce repeated context reconstruction and pathway reimplementation while retaining evidence and human control.</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requested system relationship: data sources, custom scientific models and genetic/evolutionary search are bounded capabilities composed by an executable campaign graph. The graph and LLM exchange current state, questions and proposed amendments; the LLM retrieves bounded context from and proposes changes to a separate neuro-symbolic domain graph. That graph represents entities, mechanisms, evidence, symbolic constraints, uncertainty and applicability; neural/model outputs remain evidence-scoped. The visual workspace surrounds all of these and provides role-appropriate views, graph editing, execution inspection, comparison and intervention. Massive context remains in versioned graphs/artifacts and is projected selectively into model context. LLM proposals do not directly rewrite trusted knowledge or activate execution: validation and authorized human gates apply. Genetic algorithms search candidate parameters; governed campaign-topology evolution is planned. Execution/provenance is derived history. This is a target architecture, not an implemented-system diagram.</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intended points of differentiation in combination, not claims that individual techniques are new or exclusive. 1: candidate optimization and future bounded topology evolution retain ancestry and reviewed constraints. 2: massive context is durable graph/artifact context with selective retrieval, not unlimited LLM memory; assertions preserve evidence, disagreement and applicability. 3: reviewed modules remain implementation code; users change compatible pathway composition through graphs, and new scientific capabilities can still require coding and validation. 4: Graph Studio supplies role-specific navigation, graph changes, approvals, history and interventions over shared state, not merely a static canvas. Existing platforms overlap with these features; prove advantage by comparing complete workflows. Evolutionary workflow design has prior art including AFlow https://arxiv.org/abs/2410.10762 and ADAS https://arxiv.org/abs/2408.08435. No broad novelty or patent claim is made. The near-term scientific/engineering evidence must establish utility across at least two distinct campaign representations.</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a:p>
            <a:r>
              <a:t>[S1] Benchling AI: https://www.benchling.com/ai (accessed 2026-09-16; vendor description)</a:t>
            </a:r>
          </a:p>
          <a:p>
            <a:r>
              <a:t>[S2] Citrine Catalyst: https://citrine.io/platform/citrine-catalyst/ (accessed 2026-09-16; vendor description)</a:t>
            </a:r>
          </a:p>
          <a:p>
            <a:r>
              <a:t>[S3] Citrine sequential learning: https://citrine.io/doe/ (accessed 2026-09-16; vendor description)</a:t>
            </a:r>
          </a:p>
          <a:p>
            <a:r>
              <a:t>[S4] Schrödinger active learning: https://www.schrodinger.com/platform/products/active-learning-applications/ (accessed 2026-09-16; vendor description)</a:t>
            </a:r>
          </a:p>
          <a:p>
            <a:r>
              <a:t>[S5] Synthace: https://www.synthace.com/what-we-do (accessed 2026-09-16; vendor description)</a:t>
            </a:r>
          </a:p>
          <a:p>
            <a:r>
              <a:t>[S6] Automata LINQ: https://docs.automata.tech/tasks-transport (accessed 2026-09-16; vendor description)</a:t>
            </a:r>
          </a:p>
          <a:p>
            <a:r>
              <a:t>[S7] Recursion OS: https://www.recursion.com/faq (accessed 2026-09-16; vendor description)</a:t>
            </a:r>
          </a:p>
          <a:p>
            <a:r>
              <a:t>[S8] Claude Science: https://www.anthropic.com/news/claude-science-ai-workbench (accessed 2026-09-16; vendor description)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01 / WHY BUILD AMPHORA</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Research needs a system that holds the whole problem.</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Connect large scientific context to a research plan that people can understand, change and execute.</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PRODUCT VISION</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01</a:t>
            </a:r>
          </a:p>
        </p:txBody>
      </p:sp>
      <p:sp>
        <p:nvSpPr>
          <p:cNvPr id="9" name="TextBox 8"/>
          <p:cNvSpPr txBox="1"/>
          <p:nvPr/>
        </p:nvSpPr>
        <p:spPr>
          <a:xfrm>
            <a:off x="566928" y="2350008"/>
            <a:ext cx="2788920" cy="292608"/>
          </a:xfrm>
          <a:prstGeom prst="rect">
            <a:avLst/>
          </a:prstGeom>
          <a:noFill/>
        </p:spPr>
        <p:txBody>
          <a:bodyPr wrap="square" tIns="0" bIns="0" lIns="0" rIns="0">
            <a:spAutoFit/>
          </a:bodyPr>
          <a:lstStyle/>
          <a:p>
            <a:pPr algn="l">
              <a:spcAft>
                <a:spcPts val="500"/>
              </a:spcAft>
              <a:defRPr sz="1200" b="1">
                <a:solidFill>
                  <a:srgbClr val="AFC1CE"/>
                </a:solidFill>
                <a:latin typeface="Aptos"/>
              </a:defRPr>
            </a:pPr>
            <a:r>
              <a:t>THE CONTEXT KEEPS GROWING</a:t>
            </a:r>
          </a:p>
        </p:txBody>
      </p:sp>
      <p:sp>
        <p:nvSpPr>
          <p:cNvPr id="10" name="Rounded Rectangle 9"/>
          <p:cNvSpPr/>
          <p:nvPr/>
        </p:nvSpPr>
        <p:spPr>
          <a:xfrm>
            <a:off x="530352" y="2843784"/>
            <a:ext cx="2788920" cy="46634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953512"/>
            <a:ext cx="2450592" cy="265176"/>
          </a:xfrm>
          <a:prstGeom prst="rect">
            <a:avLst/>
          </a:prstGeom>
          <a:noFill/>
        </p:spPr>
        <p:txBody>
          <a:bodyPr wrap="square" tIns="0" bIns="0" lIns="0" rIns="0">
            <a:spAutoFit/>
          </a:bodyPr>
          <a:lstStyle/>
          <a:p>
            <a:pPr algn="l">
              <a:spcAft>
                <a:spcPts val="500"/>
              </a:spcAft>
              <a:defRPr sz="1600" b="1">
                <a:solidFill>
                  <a:srgbClr val="83BFFF"/>
                </a:solidFill>
                <a:latin typeface="Aptos"/>
              </a:defRPr>
            </a:pPr>
            <a:r>
              <a:t>Papers + datasets</a:t>
            </a:r>
          </a:p>
        </p:txBody>
      </p:sp>
      <p:cxnSp>
        <p:nvCxnSpPr>
          <p:cNvPr id="12" name="Connector 11"/>
          <p:cNvCxnSpPr/>
          <p:nvPr/>
        </p:nvCxnSpPr>
        <p:spPr>
          <a:xfrm>
            <a:off x="3337560" y="3072384"/>
            <a:ext cx="457200" cy="950976"/>
          </a:xfrm>
          <a:prstGeom prst="line">
            <a:avLst/>
          </a:prstGeom>
          <a:ln w="19050">
            <a:solidFill>
              <a:srgbClr val="83BFF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0352" y="3447288"/>
            <a:ext cx="2788920" cy="46634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3557016"/>
            <a:ext cx="2450592" cy="265176"/>
          </a:xfrm>
          <a:prstGeom prst="rect">
            <a:avLst/>
          </a:prstGeom>
          <a:noFill/>
        </p:spPr>
        <p:txBody>
          <a:bodyPr wrap="square" tIns="0" bIns="0" lIns="0" rIns="0">
            <a:spAutoFit/>
          </a:bodyPr>
          <a:lstStyle/>
          <a:p>
            <a:pPr algn="l">
              <a:spcAft>
                <a:spcPts val="500"/>
              </a:spcAft>
              <a:defRPr sz="1600" b="1">
                <a:solidFill>
                  <a:srgbClr val="56D9BD"/>
                </a:solidFill>
                <a:latin typeface="Aptos"/>
              </a:defRPr>
            </a:pPr>
            <a:r>
              <a:t>Experiments + failures</a:t>
            </a:r>
          </a:p>
        </p:txBody>
      </p:sp>
      <p:cxnSp>
        <p:nvCxnSpPr>
          <p:cNvPr id="15" name="Connector 14"/>
          <p:cNvCxnSpPr/>
          <p:nvPr/>
        </p:nvCxnSpPr>
        <p:spPr>
          <a:xfrm>
            <a:off x="3337560" y="3675887"/>
            <a:ext cx="457200" cy="347473"/>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0352" y="4050791"/>
            <a:ext cx="2788920" cy="46634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160520"/>
            <a:ext cx="2450592" cy="265176"/>
          </a:xfrm>
          <a:prstGeom prst="rect">
            <a:avLst/>
          </a:prstGeom>
          <a:noFill/>
        </p:spPr>
        <p:txBody>
          <a:bodyPr wrap="square" tIns="0" bIns="0" lIns="0" rIns="0">
            <a:spAutoFit/>
          </a:bodyPr>
          <a:lstStyle/>
          <a:p>
            <a:pPr algn="l">
              <a:spcAft>
                <a:spcPts val="500"/>
              </a:spcAft>
              <a:defRPr sz="1600" b="1">
                <a:solidFill>
                  <a:srgbClr val="BEA5F4"/>
                </a:solidFill>
                <a:latin typeface="Aptos"/>
              </a:defRPr>
            </a:pPr>
            <a:r>
              <a:t>Models + predictions</a:t>
            </a:r>
          </a:p>
        </p:txBody>
      </p:sp>
      <p:cxnSp>
        <p:nvCxnSpPr>
          <p:cNvPr id="18" name="Connector 17"/>
          <p:cNvCxnSpPr/>
          <p:nvPr/>
        </p:nvCxnSpPr>
        <p:spPr>
          <a:xfrm flipV="1">
            <a:off x="3337560" y="4023360"/>
            <a:ext cx="457200" cy="256032"/>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0352" y="4654296"/>
            <a:ext cx="2788920" cy="46634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4764024"/>
            <a:ext cx="2450592" cy="265176"/>
          </a:xfrm>
          <a:prstGeom prst="rect">
            <a:avLst/>
          </a:prstGeom>
          <a:noFill/>
        </p:spPr>
        <p:txBody>
          <a:bodyPr wrap="square" tIns="0" bIns="0" lIns="0" rIns="0">
            <a:spAutoFit/>
          </a:bodyPr>
          <a:lstStyle/>
          <a:p>
            <a:pPr algn="l">
              <a:spcAft>
                <a:spcPts val="500"/>
              </a:spcAft>
              <a:defRPr sz="1600" b="1">
                <a:solidFill>
                  <a:srgbClr val="F4C77E"/>
                </a:solidFill>
                <a:latin typeface="Aptos"/>
              </a:defRPr>
            </a:pPr>
            <a:r>
              <a:t>Constraints + expertise</a:t>
            </a:r>
          </a:p>
        </p:txBody>
      </p:sp>
      <p:cxnSp>
        <p:nvCxnSpPr>
          <p:cNvPr id="21" name="Connector 20"/>
          <p:cNvCxnSpPr/>
          <p:nvPr/>
        </p:nvCxnSpPr>
        <p:spPr>
          <a:xfrm flipV="1">
            <a:off x="3337560" y="4023360"/>
            <a:ext cx="457200" cy="859536"/>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94760" y="4023360"/>
            <a:ext cx="43891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146383" y="402336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146383" y="397338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279392" y="2734056"/>
            <a:ext cx="3447288" cy="2907792"/>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2980944"/>
            <a:ext cx="2990088" cy="283464"/>
          </a:xfrm>
          <a:prstGeom prst="rect">
            <a:avLst/>
          </a:prstGeom>
          <a:noFill/>
        </p:spPr>
        <p:txBody>
          <a:bodyPr wrap="square" tIns="0" bIns="0" lIns="0" rIns="0">
            <a:spAutoFit/>
          </a:bodyPr>
          <a:lstStyle/>
          <a:p>
            <a:pPr algn="ctr">
              <a:spcAft>
                <a:spcPts val="500"/>
              </a:spcAft>
              <a:defRPr sz="1600" b="1">
                <a:solidFill>
                  <a:srgbClr val="56D9BD"/>
                </a:solidFill>
                <a:latin typeface="Aptos"/>
              </a:defRPr>
            </a:pPr>
            <a:r>
              <a:t>AMPHORA</a:t>
            </a:r>
          </a:p>
        </p:txBody>
      </p:sp>
      <p:sp>
        <p:nvSpPr>
          <p:cNvPr id="27" name="TextBox 26"/>
          <p:cNvSpPr txBox="1"/>
          <p:nvPr/>
        </p:nvSpPr>
        <p:spPr>
          <a:xfrm>
            <a:off x="4507992" y="3611880"/>
            <a:ext cx="2990088" cy="1280160"/>
          </a:xfrm>
          <a:prstGeom prst="rect">
            <a:avLst/>
          </a:prstGeom>
          <a:noFill/>
        </p:spPr>
        <p:txBody>
          <a:bodyPr wrap="square" tIns="0" bIns="0" lIns="0" rIns="0">
            <a:spAutoFit/>
          </a:bodyPr>
          <a:lstStyle/>
          <a:p>
            <a:pPr algn="ctr">
              <a:spcAft>
                <a:spcPts val="500"/>
              </a:spcAft>
              <a:defRPr sz="2400" b="1">
                <a:solidFill>
                  <a:srgbClr val="F1F5F6"/>
                </a:solidFill>
                <a:latin typeface="Aptos"/>
              </a:defRPr>
            </a:pPr>
            <a:r>
              <a:t>A living research map</a:t>
            </a:r>
          </a:p>
          <a:p>
            <a:pPr algn="ctr">
              <a:spcAft>
                <a:spcPts val="500"/>
              </a:spcAft>
              <a:defRPr sz="2400" b="1">
                <a:solidFill>
                  <a:srgbClr val="F1F5F6"/>
                </a:solidFill>
                <a:latin typeface="Aptos"/>
              </a:defRPr>
            </a:pPr>
            <a:r>
              <a:t>that can act</a:t>
            </a:r>
          </a:p>
        </p:txBody>
      </p:sp>
      <p:sp>
        <p:nvSpPr>
          <p:cNvPr id="28" name="TextBox 27"/>
          <p:cNvSpPr txBox="1"/>
          <p:nvPr/>
        </p:nvSpPr>
        <p:spPr>
          <a:xfrm>
            <a:off x="4507992" y="5074920"/>
            <a:ext cx="2990088" cy="292608"/>
          </a:xfrm>
          <a:prstGeom prst="rect">
            <a:avLst/>
          </a:prstGeom>
          <a:noFill/>
        </p:spPr>
        <p:txBody>
          <a:bodyPr wrap="square" tIns="0" bIns="0" lIns="0" rIns="0">
            <a:spAutoFit/>
          </a:bodyPr>
          <a:lstStyle/>
          <a:p>
            <a:pPr algn="ctr">
              <a:spcAft>
                <a:spcPts val="500"/>
              </a:spcAft>
              <a:defRPr sz="1200" b="0">
                <a:solidFill>
                  <a:srgbClr val="AFC1CE"/>
                </a:solidFill>
                <a:latin typeface="Aptos"/>
              </a:defRPr>
            </a:pPr>
            <a:r>
              <a:t>Context → decisions → execution</a:t>
            </a:r>
          </a:p>
        </p:txBody>
      </p:sp>
      <p:cxnSp>
        <p:nvCxnSpPr>
          <p:cNvPr id="29" name="Connector 28"/>
          <p:cNvCxnSpPr/>
          <p:nvPr/>
        </p:nvCxnSpPr>
        <p:spPr>
          <a:xfrm>
            <a:off x="7772400" y="4023360"/>
            <a:ext cx="493775"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8178887" y="4023360"/>
            <a:ext cx="87288"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8178887" y="3973381"/>
            <a:ext cx="87288"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421624" y="2953512"/>
            <a:ext cx="109728" cy="109728"/>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95944" y="2834640"/>
            <a:ext cx="2926080" cy="292608"/>
          </a:xfrm>
          <a:prstGeom prst="rect">
            <a:avLst/>
          </a:prstGeom>
          <a:noFill/>
        </p:spPr>
        <p:txBody>
          <a:bodyPr wrap="square" tIns="0" bIns="0" lIns="0" rIns="0">
            <a:spAutoFit/>
          </a:bodyPr>
          <a:lstStyle/>
          <a:p>
            <a:pPr algn="l">
              <a:spcAft>
                <a:spcPts val="500"/>
              </a:spcAft>
              <a:defRPr sz="1600" b="1">
                <a:solidFill>
                  <a:srgbClr val="56D9BD"/>
                </a:solidFill>
                <a:latin typeface="Aptos"/>
              </a:defRPr>
            </a:pPr>
            <a:r>
              <a:t>UNDERSTAND</a:t>
            </a:r>
          </a:p>
        </p:txBody>
      </p:sp>
      <p:sp>
        <p:nvSpPr>
          <p:cNvPr id="34" name="TextBox 33"/>
          <p:cNvSpPr txBox="1"/>
          <p:nvPr/>
        </p:nvSpPr>
        <p:spPr>
          <a:xfrm>
            <a:off x="8695944" y="3236976"/>
            <a:ext cx="2916936" cy="502920"/>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See the relevant relationships</a:t>
            </a:r>
          </a:p>
        </p:txBody>
      </p:sp>
      <p:sp>
        <p:nvSpPr>
          <p:cNvPr id="35" name="Oval 34"/>
          <p:cNvSpPr/>
          <p:nvPr/>
        </p:nvSpPr>
        <p:spPr>
          <a:xfrm>
            <a:off x="8421624" y="3867912"/>
            <a:ext cx="109728" cy="10972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95944" y="3749039"/>
            <a:ext cx="2926080" cy="292608"/>
          </a:xfrm>
          <a:prstGeom prst="rect">
            <a:avLst/>
          </a:prstGeom>
          <a:noFill/>
        </p:spPr>
        <p:txBody>
          <a:bodyPr wrap="square" tIns="0" bIns="0" lIns="0" rIns="0">
            <a:spAutoFit/>
          </a:bodyPr>
          <a:lstStyle/>
          <a:p>
            <a:pPr algn="l">
              <a:spcAft>
                <a:spcPts val="500"/>
              </a:spcAft>
              <a:defRPr sz="1600" b="1">
                <a:solidFill>
                  <a:srgbClr val="83BFFF"/>
                </a:solidFill>
                <a:latin typeface="Aptos"/>
              </a:defRPr>
            </a:pPr>
            <a:r>
              <a:t>ADAPT</a:t>
            </a:r>
          </a:p>
        </p:txBody>
      </p:sp>
      <p:sp>
        <p:nvSpPr>
          <p:cNvPr id="37" name="TextBox 36"/>
          <p:cNvSpPr txBox="1"/>
          <p:nvPr/>
        </p:nvSpPr>
        <p:spPr>
          <a:xfrm>
            <a:off x="8695944" y="4151376"/>
            <a:ext cx="2916936" cy="502920"/>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Change the plan as evidence changes</a:t>
            </a:r>
          </a:p>
        </p:txBody>
      </p:sp>
      <p:sp>
        <p:nvSpPr>
          <p:cNvPr id="38" name="Oval 37"/>
          <p:cNvSpPr/>
          <p:nvPr/>
        </p:nvSpPr>
        <p:spPr>
          <a:xfrm>
            <a:off x="8421624" y="4782312"/>
            <a:ext cx="109728" cy="109728"/>
          </a:xfrm>
          <a:prstGeom prst="ellipse">
            <a:avLst/>
          </a:prstGeom>
          <a:solidFill>
            <a:srgbClr val="F4C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95944" y="4663440"/>
            <a:ext cx="2926080" cy="292608"/>
          </a:xfrm>
          <a:prstGeom prst="rect">
            <a:avLst/>
          </a:prstGeom>
          <a:noFill/>
        </p:spPr>
        <p:txBody>
          <a:bodyPr wrap="square" tIns="0" bIns="0" lIns="0" rIns="0">
            <a:spAutoFit/>
          </a:bodyPr>
          <a:lstStyle/>
          <a:p>
            <a:pPr algn="l">
              <a:spcAft>
                <a:spcPts val="500"/>
              </a:spcAft>
              <a:defRPr sz="1600" b="1">
                <a:solidFill>
                  <a:srgbClr val="F4C77E"/>
                </a:solidFill>
                <a:latin typeface="Aptos"/>
              </a:defRPr>
            </a:pPr>
            <a:r>
              <a:t>COMPOUND</a:t>
            </a:r>
          </a:p>
        </p:txBody>
      </p:sp>
      <p:sp>
        <p:nvSpPr>
          <p:cNvPr id="40" name="TextBox 39"/>
          <p:cNvSpPr txBox="1"/>
          <p:nvPr/>
        </p:nvSpPr>
        <p:spPr>
          <a:xfrm>
            <a:off x="8695944" y="5065776"/>
            <a:ext cx="2916936" cy="502920"/>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Reuse what the campaign teaches us</a:t>
            </a:r>
          </a:p>
        </p:txBody>
      </p:sp>
      <p:sp>
        <p:nvSpPr>
          <p:cNvPr id="41" name="TextBox 40"/>
          <p:cNvSpPr txBox="1"/>
          <p:nvPr/>
        </p:nvSpPr>
        <p:spPr>
          <a:xfrm>
            <a:off x="566928" y="6044184"/>
            <a:ext cx="11055096" cy="310896"/>
          </a:xfrm>
          <a:prstGeom prst="rect">
            <a:avLst/>
          </a:prstGeom>
          <a:noFill/>
        </p:spPr>
        <p:txBody>
          <a:bodyPr wrap="square" tIns="0" bIns="0" lIns="0" rIns="0">
            <a:spAutoFit/>
          </a:bodyPr>
          <a:lstStyle/>
          <a:p>
            <a:pPr algn="l">
              <a:spcAft>
                <a:spcPts val="500"/>
              </a:spcAft>
              <a:defRPr sz="1800" b="1">
                <a:solidFill>
                  <a:srgbClr val="56D9BD"/>
                </a:solidFill>
                <a:latin typeface="Aptos"/>
              </a:defRPr>
            </a:pPr>
            <a:r>
              <a:t>WHY BUILD: make complex research manageable—and turn its context into executable decisions.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02 / HOW THE ENGINE WORKS</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Compose the science. Reason over context. Execute the graph.</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Genetic search, data and custom models become configurable scientific capabilities.</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TARGET ENGINE ARCHITECTURE</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02</a:t>
            </a:r>
          </a:p>
        </p:txBody>
      </p:sp>
      <p:sp>
        <p:nvSpPr>
          <p:cNvPr id="9" name="Rounded Rectangle 8"/>
          <p:cNvSpPr/>
          <p:nvPr/>
        </p:nvSpPr>
        <p:spPr>
          <a:xfrm>
            <a:off x="484632" y="2313432"/>
            <a:ext cx="11228832" cy="3767328"/>
          </a:xfrm>
          <a:prstGeom prst="roundRect">
            <a:avLst>
              <a:gd name="adj" fmla="val 12000"/>
            </a:avLst>
          </a:prstGeom>
          <a:solidFill>
            <a:srgbClr val="192B3E"/>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2487168"/>
            <a:ext cx="5715000" cy="265176"/>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INTERACTIVE VISUALIZATION + COLLABORATION WORKSPACE</a:t>
            </a:r>
          </a:p>
        </p:txBody>
      </p:sp>
      <p:sp>
        <p:nvSpPr>
          <p:cNvPr id="11" name="TextBox 10"/>
          <p:cNvSpPr txBox="1"/>
          <p:nvPr/>
        </p:nvSpPr>
        <p:spPr>
          <a:xfrm>
            <a:off x="6867144" y="2514600"/>
            <a:ext cx="4590288" cy="219456"/>
          </a:xfrm>
          <a:prstGeom prst="rect">
            <a:avLst/>
          </a:prstGeom>
          <a:noFill/>
        </p:spPr>
        <p:txBody>
          <a:bodyPr wrap="square" tIns="0" bIns="0" lIns="0" rIns="0">
            <a:spAutoFit/>
          </a:bodyPr>
          <a:lstStyle/>
          <a:p>
            <a:pPr algn="r">
              <a:spcAft>
                <a:spcPts val="500"/>
              </a:spcAft>
              <a:defRPr sz="900" b="1">
                <a:solidFill>
                  <a:srgbClr val="AFC1CE"/>
                </a:solidFill>
                <a:latin typeface="Aptos"/>
              </a:defRPr>
            </a:pPr>
            <a:r>
              <a:t>SCIENTISTS  ·  MODEL BUILDERS  ·  REVIEWERS  ·  LEADS</a:t>
            </a:r>
          </a:p>
        </p:txBody>
      </p:sp>
      <p:sp>
        <p:nvSpPr>
          <p:cNvPr id="12" name="Rounded Rectangle 11"/>
          <p:cNvSpPr/>
          <p:nvPr/>
        </p:nvSpPr>
        <p:spPr>
          <a:xfrm>
            <a:off x="713232" y="3136392"/>
            <a:ext cx="2231136" cy="512064"/>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3291840"/>
            <a:ext cx="1993392" cy="246888"/>
          </a:xfrm>
          <a:prstGeom prst="rect">
            <a:avLst/>
          </a:prstGeom>
          <a:noFill/>
        </p:spPr>
        <p:txBody>
          <a:bodyPr wrap="square" tIns="0" bIns="0" lIns="0" rIns="0">
            <a:spAutoFit/>
          </a:bodyPr>
          <a:lstStyle/>
          <a:p>
            <a:pPr algn="ctr">
              <a:spcAft>
                <a:spcPts val="500"/>
              </a:spcAft>
              <a:defRPr sz="1200" b="1">
                <a:solidFill>
                  <a:srgbClr val="83BFFF"/>
                </a:solidFill>
                <a:latin typeface="Aptos"/>
              </a:defRPr>
            </a:pPr>
            <a:r>
              <a:t>DATA SOURCES</a:t>
            </a:r>
          </a:p>
        </p:txBody>
      </p:sp>
      <p:cxnSp>
        <p:nvCxnSpPr>
          <p:cNvPr id="14" name="Connector 13"/>
          <p:cNvCxnSpPr/>
          <p:nvPr/>
        </p:nvCxnSpPr>
        <p:spPr>
          <a:xfrm>
            <a:off x="2971800" y="3392424"/>
            <a:ext cx="237744" cy="0"/>
          </a:xfrm>
          <a:prstGeom prst="line">
            <a:avLst/>
          </a:prstGeom>
          <a:ln w="19050">
            <a:solidFill>
              <a:srgbClr val="83BFF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13232" y="3822191"/>
            <a:ext cx="2231136" cy="512064"/>
          </a:xfrm>
          <a:prstGeom prst="roundRect">
            <a:avLst>
              <a:gd name="adj" fmla="val 12000"/>
            </a:avLst>
          </a:prstGeom>
          <a:solidFill>
            <a:srgbClr val="22394D"/>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3977639"/>
            <a:ext cx="1993392" cy="246888"/>
          </a:xfrm>
          <a:prstGeom prst="rect">
            <a:avLst/>
          </a:prstGeom>
          <a:noFill/>
        </p:spPr>
        <p:txBody>
          <a:bodyPr wrap="square" tIns="0" bIns="0" lIns="0" rIns="0">
            <a:spAutoFit/>
          </a:bodyPr>
          <a:lstStyle/>
          <a:p>
            <a:pPr algn="ctr">
              <a:spcAft>
                <a:spcPts val="500"/>
              </a:spcAft>
              <a:defRPr sz="1200" b="1">
                <a:solidFill>
                  <a:srgbClr val="BEA5F4"/>
                </a:solidFill>
                <a:latin typeface="Aptos"/>
              </a:defRPr>
            </a:pPr>
            <a:r>
              <a:t>CUSTOM MODELS</a:t>
            </a:r>
          </a:p>
        </p:txBody>
      </p:sp>
      <p:cxnSp>
        <p:nvCxnSpPr>
          <p:cNvPr id="17" name="Connector 16"/>
          <p:cNvCxnSpPr/>
          <p:nvPr/>
        </p:nvCxnSpPr>
        <p:spPr>
          <a:xfrm>
            <a:off x="2971800" y="4078224"/>
            <a:ext cx="237744" cy="0"/>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13232" y="4507992"/>
            <a:ext cx="2231136" cy="512064"/>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4663440"/>
            <a:ext cx="1993392" cy="246888"/>
          </a:xfrm>
          <a:prstGeom prst="rect">
            <a:avLst/>
          </a:prstGeom>
          <a:noFill/>
        </p:spPr>
        <p:txBody>
          <a:bodyPr wrap="square" tIns="0" bIns="0" lIns="0" rIns="0">
            <a:spAutoFit/>
          </a:bodyPr>
          <a:lstStyle/>
          <a:p>
            <a:pPr algn="ctr">
              <a:spcAft>
                <a:spcPts val="500"/>
              </a:spcAft>
              <a:defRPr sz="1200" b="1">
                <a:solidFill>
                  <a:srgbClr val="56D9BD"/>
                </a:solidFill>
                <a:latin typeface="Aptos"/>
              </a:defRPr>
            </a:pPr>
            <a:r>
              <a:t>GENETIC ALGORITHMS</a:t>
            </a:r>
          </a:p>
        </p:txBody>
      </p:sp>
      <p:cxnSp>
        <p:nvCxnSpPr>
          <p:cNvPr id="20" name="Connector 19"/>
          <p:cNvCxnSpPr/>
          <p:nvPr/>
        </p:nvCxnSpPr>
        <p:spPr>
          <a:xfrm>
            <a:off x="2971800" y="4764024"/>
            <a:ext cx="237744" cy="0"/>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09544" y="3392424"/>
            <a:ext cx="0" cy="1371600"/>
          </a:xfrm>
          <a:prstGeom prst="line">
            <a:avLst/>
          </a:prstGeom>
          <a:ln w="1905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209544" y="4096512"/>
            <a:ext cx="34747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469727" y="4096512"/>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469727" y="4046533"/>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602736" y="3136392"/>
            <a:ext cx="2542032" cy="1993392"/>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67328" y="3328416"/>
            <a:ext cx="2212848" cy="777240"/>
          </a:xfrm>
          <a:prstGeom prst="rect">
            <a:avLst/>
          </a:prstGeom>
          <a:noFill/>
        </p:spPr>
        <p:txBody>
          <a:bodyPr wrap="square" tIns="0" bIns="0" lIns="0" rIns="0">
            <a:spAutoFit/>
          </a:bodyPr>
          <a:lstStyle/>
          <a:p>
            <a:pPr algn="ctr">
              <a:spcAft>
                <a:spcPts val="500"/>
              </a:spcAft>
              <a:defRPr sz="2100" b="1">
                <a:solidFill>
                  <a:srgbClr val="56D9BD"/>
                </a:solidFill>
                <a:latin typeface="Aptos"/>
              </a:defRPr>
            </a:pPr>
            <a:r>
              <a:t>EXECUTION</a:t>
            </a:r>
          </a:p>
          <a:p>
            <a:pPr algn="ctr">
              <a:spcAft>
                <a:spcPts val="500"/>
              </a:spcAft>
              <a:defRPr sz="2100" b="1">
                <a:solidFill>
                  <a:srgbClr val="56D9BD"/>
                </a:solidFill>
                <a:latin typeface="Aptos"/>
              </a:defRPr>
            </a:pPr>
            <a:r>
              <a:t>GRAPH</a:t>
            </a:r>
          </a:p>
        </p:txBody>
      </p:sp>
      <p:sp>
        <p:nvSpPr>
          <p:cNvPr id="27" name="TextBox 26"/>
          <p:cNvSpPr txBox="1"/>
          <p:nvPr/>
        </p:nvSpPr>
        <p:spPr>
          <a:xfrm>
            <a:off x="3794760" y="4251960"/>
            <a:ext cx="2167128" cy="594360"/>
          </a:xfrm>
          <a:prstGeom prst="rect">
            <a:avLst/>
          </a:prstGeom>
          <a:noFill/>
        </p:spPr>
        <p:txBody>
          <a:bodyPr wrap="square" tIns="0" bIns="0" lIns="0" rIns="0">
            <a:spAutoFit/>
          </a:bodyPr>
          <a:lstStyle/>
          <a:p>
            <a:pPr algn="ctr">
              <a:spcAft>
                <a:spcPts val="500"/>
              </a:spcAft>
              <a:defRPr sz="1200" b="0">
                <a:solidFill>
                  <a:srgbClr val="F1F5F6"/>
                </a:solidFill>
                <a:latin typeface="Aptos"/>
              </a:defRPr>
            </a:pPr>
            <a:r>
              <a:t>Compose · branch · iterate</a:t>
            </a:r>
          </a:p>
          <a:p>
            <a:pPr algn="ctr">
              <a:spcAft>
                <a:spcPts val="500"/>
              </a:spcAft>
              <a:defRPr sz="1200" b="0">
                <a:solidFill>
                  <a:srgbClr val="F1F5F6"/>
                </a:solidFill>
                <a:latin typeface="Aptos"/>
              </a:defRPr>
            </a:pPr>
            <a:r>
              <a:t>Retain state · run tools</a:t>
            </a:r>
          </a:p>
        </p:txBody>
      </p:sp>
      <p:cxnSp>
        <p:nvCxnSpPr>
          <p:cNvPr id="28" name="Connector 27"/>
          <p:cNvCxnSpPr/>
          <p:nvPr/>
        </p:nvCxnSpPr>
        <p:spPr>
          <a:xfrm>
            <a:off x="6190488" y="4096512"/>
            <a:ext cx="448056"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551255" y="4096512"/>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6551255" y="4046533"/>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190488" y="4096512"/>
            <a:ext cx="448056"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190488" y="4046533"/>
            <a:ext cx="87288"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90488" y="4096512"/>
            <a:ext cx="87288"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684264" y="3419856"/>
            <a:ext cx="1316736" cy="1389888"/>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9712" y="3639312"/>
            <a:ext cx="1005840" cy="411480"/>
          </a:xfrm>
          <a:prstGeom prst="rect">
            <a:avLst/>
          </a:prstGeom>
          <a:noFill/>
        </p:spPr>
        <p:txBody>
          <a:bodyPr wrap="square" tIns="0" bIns="0" lIns="0" rIns="0">
            <a:spAutoFit/>
          </a:bodyPr>
          <a:lstStyle/>
          <a:p>
            <a:pPr algn="ctr">
              <a:spcAft>
                <a:spcPts val="500"/>
              </a:spcAft>
              <a:defRPr sz="2500" b="1">
                <a:solidFill>
                  <a:srgbClr val="83BFFF"/>
                </a:solidFill>
                <a:latin typeface="Aptos"/>
              </a:defRPr>
            </a:pPr>
            <a:r>
              <a:t>LLM</a:t>
            </a:r>
          </a:p>
        </p:txBody>
      </p:sp>
      <p:sp>
        <p:nvSpPr>
          <p:cNvPr id="36" name="TextBox 35"/>
          <p:cNvSpPr txBox="1"/>
          <p:nvPr/>
        </p:nvSpPr>
        <p:spPr>
          <a:xfrm>
            <a:off x="6793992" y="4279392"/>
            <a:ext cx="1097280" cy="320040"/>
          </a:xfrm>
          <a:prstGeom prst="rect">
            <a:avLst/>
          </a:prstGeom>
          <a:noFill/>
        </p:spPr>
        <p:txBody>
          <a:bodyPr wrap="square" tIns="0" bIns="0" lIns="0" rIns="0">
            <a:spAutoFit/>
          </a:bodyPr>
          <a:lstStyle/>
          <a:p>
            <a:pPr algn="ctr">
              <a:spcAft>
                <a:spcPts val="500"/>
              </a:spcAft>
              <a:defRPr sz="1000" b="0">
                <a:solidFill>
                  <a:srgbClr val="F1F5F6"/>
                </a:solidFill>
                <a:latin typeface="Aptos"/>
              </a:defRPr>
            </a:pPr>
            <a:r>
              <a:t>Reason + propose</a:t>
            </a:r>
          </a:p>
        </p:txBody>
      </p:sp>
      <p:cxnSp>
        <p:nvCxnSpPr>
          <p:cNvPr id="37" name="Connector 36"/>
          <p:cNvCxnSpPr/>
          <p:nvPr/>
        </p:nvCxnSpPr>
        <p:spPr>
          <a:xfrm>
            <a:off x="8046720" y="4096512"/>
            <a:ext cx="448056" cy="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8407487" y="4096512"/>
            <a:ext cx="87289" cy="4997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8407487" y="4046533"/>
            <a:ext cx="87289" cy="4997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8046720" y="4096512"/>
            <a:ext cx="448056" cy="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8046720" y="4046533"/>
            <a:ext cx="87288" cy="4997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046720" y="4096512"/>
            <a:ext cx="87288" cy="4997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8540496" y="3136392"/>
            <a:ext cx="2926080" cy="1993392"/>
          </a:xfrm>
          <a:prstGeom prst="roundRect">
            <a:avLst>
              <a:gd name="adj" fmla="val 12000"/>
            </a:avLst>
          </a:prstGeom>
          <a:solidFill>
            <a:srgbClr val="22394D"/>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0" y="3337560"/>
            <a:ext cx="2633472" cy="722376"/>
          </a:xfrm>
          <a:prstGeom prst="rect">
            <a:avLst/>
          </a:prstGeom>
          <a:noFill/>
        </p:spPr>
        <p:txBody>
          <a:bodyPr wrap="square" tIns="0" bIns="0" lIns="0" rIns="0">
            <a:spAutoFit/>
          </a:bodyPr>
          <a:lstStyle/>
          <a:p>
            <a:pPr algn="ctr">
              <a:spcAft>
                <a:spcPts val="500"/>
              </a:spcAft>
              <a:defRPr sz="1700" b="1">
                <a:solidFill>
                  <a:srgbClr val="BEA5F4"/>
                </a:solidFill>
                <a:latin typeface="Aptos"/>
              </a:defRPr>
            </a:pPr>
            <a:r>
              <a:t>NEURO-SYMBOLIC</a:t>
            </a:r>
          </a:p>
          <a:p>
            <a:pPr algn="ctr">
              <a:spcAft>
                <a:spcPts val="500"/>
              </a:spcAft>
              <a:defRPr sz="1700" b="1">
                <a:solidFill>
                  <a:srgbClr val="BEA5F4"/>
                </a:solidFill>
                <a:latin typeface="Aptos"/>
              </a:defRPr>
            </a:pPr>
            <a:r>
              <a:t>KNOWLEDGE GRAPH</a:t>
            </a:r>
          </a:p>
        </p:txBody>
      </p:sp>
      <p:sp>
        <p:nvSpPr>
          <p:cNvPr id="45" name="TextBox 44"/>
          <p:cNvSpPr txBox="1"/>
          <p:nvPr/>
        </p:nvSpPr>
        <p:spPr>
          <a:xfrm>
            <a:off x="8705088" y="4306824"/>
            <a:ext cx="2606040" cy="585216"/>
          </a:xfrm>
          <a:prstGeom prst="rect">
            <a:avLst/>
          </a:prstGeom>
          <a:noFill/>
        </p:spPr>
        <p:txBody>
          <a:bodyPr wrap="square" tIns="0" bIns="0" lIns="0" rIns="0">
            <a:spAutoFit/>
          </a:bodyPr>
          <a:lstStyle/>
          <a:p>
            <a:pPr algn="ctr">
              <a:spcAft>
                <a:spcPts val="500"/>
              </a:spcAft>
              <a:defRPr sz="1200" b="0">
                <a:solidFill>
                  <a:srgbClr val="F1F5F6"/>
                </a:solidFill>
                <a:latin typeface="Aptos"/>
              </a:defRPr>
            </a:pPr>
            <a:r>
              <a:t>Mechanisms · evidence · rules</a:t>
            </a:r>
          </a:p>
          <a:p>
            <a:pPr algn="ctr">
              <a:spcAft>
                <a:spcPts val="500"/>
              </a:spcAft>
              <a:defRPr sz="1200" b="0">
                <a:solidFill>
                  <a:srgbClr val="F1F5F6"/>
                </a:solidFill>
                <a:latin typeface="Aptos"/>
              </a:defRPr>
            </a:pPr>
            <a:r>
              <a:t>Uncertainty · applicability</a:t>
            </a:r>
          </a:p>
        </p:txBody>
      </p:sp>
      <p:sp>
        <p:nvSpPr>
          <p:cNvPr id="46" name="TextBox 45"/>
          <p:cNvSpPr txBox="1"/>
          <p:nvPr/>
        </p:nvSpPr>
        <p:spPr>
          <a:xfrm>
            <a:off x="3593592" y="5385816"/>
            <a:ext cx="7763256" cy="365760"/>
          </a:xfrm>
          <a:prstGeom prst="rect">
            <a:avLst/>
          </a:prstGeom>
          <a:noFill/>
        </p:spPr>
        <p:txBody>
          <a:bodyPr wrap="square" tIns="0" bIns="0" lIns="0" rIns="0">
            <a:spAutoFit/>
          </a:bodyPr>
          <a:lstStyle/>
          <a:p>
            <a:pPr algn="ctr">
              <a:spcAft>
                <a:spcPts val="500"/>
              </a:spcAft>
              <a:defRPr sz="1600" b="1">
                <a:solidFill>
                  <a:srgbClr val="F1F5F6"/>
                </a:solidFill>
                <a:latin typeface="Aptos"/>
              </a:defRPr>
            </a:pPr>
            <a:r>
              <a:t>Users inspect context, edit pathways and review proposed changes.</a:t>
            </a:r>
          </a:p>
        </p:txBody>
      </p:sp>
      <p:sp>
        <p:nvSpPr>
          <p:cNvPr id="47" name="TextBox 46"/>
          <p:cNvSpPr txBox="1"/>
          <p:nvPr/>
        </p:nvSpPr>
        <p:spPr>
          <a:xfrm>
            <a:off x="704088" y="5806440"/>
            <a:ext cx="10771632" cy="182880"/>
          </a:xfrm>
          <a:prstGeom prst="rect">
            <a:avLst/>
          </a:prstGeom>
          <a:noFill/>
        </p:spPr>
        <p:txBody>
          <a:bodyPr wrap="square" tIns="0" bIns="0" lIns="0" rIns="0">
            <a:spAutoFit/>
          </a:bodyPr>
          <a:lstStyle/>
          <a:p>
            <a:pPr algn="l">
              <a:spcAft>
                <a:spcPts val="500"/>
              </a:spcAft>
              <a:defRPr sz="1000" b="0">
                <a:solidFill>
                  <a:srgbClr val="AFC1CE"/>
                </a:solidFill>
                <a:latin typeface="Aptos"/>
              </a:defRPr>
            </a:pPr>
            <a:r>
              <a:t>SHARED FOUNDATION: versioned artifacts · source lineage · execution history · permissions · human gates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03 / WHAT MAKES THE DESIGN DISTINCTIVE</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The differentiator is how the system learns—and stays usable.</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Four capabilities designed to reinforce one another across materials, chemistry and biology.</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DIFFERENTIATION THESIS</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03</a:t>
            </a:r>
          </a:p>
        </p:txBody>
      </p:sp>
      <p:sp>
        <p:nvSpPr>
          <p:cNvPr id="9" name="Rounded Rectangle 8"/>
          <p:cNvSpPr/>
          <p:nvPr/>
        </p:nvSpPr>
        <p:spPr>
          <a:xfrm>
            <a:off x="521207" y="2404872"/>
            <a:ext cx="5340096" cy="1636776"/>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2560320"/>
            <a:ext cx="466344" cy="384048"/>
          </a:xfrm>
          <a:prstGeom prst="rect">
            <a:avLst/>
          </a:prstGeom>
          <a:noFill/>
        </p:spPr>
        <p:txBody>
          <a:bodyPr wrap="square" tIns="0" bIns="0" lIns="0" rIns="0">
            <a:spAutoFit/>
          </a:bodyPr>
          <a:lstStyle/>
          <a:p>
            <a:pPr algn="l">
              <a:spcAft>
                <a:spcPts val="500"/>
              </a:spcAft>
              <a:defRPr sz="2400" b="1">
                <a:solidFill>
                  <a:srgbClr val="56D9BD"/>
                </a:solidFill>
                <a:latin typeface="Aptos"/>
              </a:defRPr>
            </a:pPr>
            <a:r>
              <a:t>01</a:t>
            </a:r>
          </a:p>
        </p:txBody>
      </p:sp>
      <p:sp>
        <p:nvSpPr>
          <p:cNvPr id="11" name="TextBox 10"/>
          <p:cNvSpPr txBox="1"/>
          <p:nvPr/>
        </p:nvSpPr>
        <p:spPr>
          <a:xfrm>
            <a:off x="1325880" y="2587752"/>
            <a:ext cx="4315968" cy="310896"/>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EVOLVE THE RESEARCH PATH</a:t>
            </a:r>
          </a:p>
        </p:txBody>
      </p:sp>
      <p:sp>
        <p:nvSpPr>
          <p:cNvPr id="12" name="TextBox 11"/>
          <p:cNvSpPr txBox="1"/>
          <p:nvPr/>
        </p:nvSpPr>
        <p:spPr>
          <a:xfrm>
            <a:off x="1325880" y="3035808"/>
            <a:ext cx="4297680" cy="676656"/>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Search candidate designs and, over time,</a:t>
            </a:r>
          </a:p>
          <a:p>
            <a:pPr algn="l">
              <a:spcAft>
                <a:spcPts val="500"/>
              </a:spcAft>
              <a:defRPr sz="1600" b="0">
                <a:solidFill>
                  <a:srgbClr val="F1F5F6"/>
                </a:solidFill>
                <a:latin typeface="Aptos"/>
              </a:defRPr>
            </a:pPr>
            <a:r>
              <a:t>the sequence of work used to discover them.</a:t>
            </a:r>
          </a:p>
        </p:txBody>
      </p:sp>
      <p:sp>
        <p:nvSpPr>
          <p:cNvPr id="13" name="Oval 12"/>
          <p:cNvSpPr/>
          <p:nvPr/>
        </p:nvSpPr>
        <p:spPr>
          <a:xfrm>
            <a:off x="662940" y="3086100"/>
            <a:ext cx="82296" cy="82296"/>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9556" y="3086100"/>
            <a:ext cx="82296" cy="82296"/>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749808" y="3127248"/>
            <a:ext cx="265175" cy="0"/>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62940" y="3497580"/>
            <a:ext cx="82296" cy="82296"/>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9556" y="3497580"/>
            <a:ext cx="82296" cy="82296"/>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49808" y="3538728"/>
            <a:ext cx="265175" cy="0"/>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04088" y="3172968"/>
            <a:ext cx="356616" cy="320040"/>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36792" y="2404872"/>
            <a:ext cx="5340096" cy="1636776"/>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560320"/>
            <a:ext cx="466344" cy="384048"/>
          </a:xfrm>
          <a:prstGeom prst="rect">
            <a:avLst/>
          </a:prstGeom>
          <a:noFill/>
        </p:spPr>
        <p:txBody>
          <a:bodyPr wrap="square" tIns="0" bIns="0" lIns="0" rIns="0">
            <a:spAutoFit/>
          </a:bodyPr>
          <a:lstStyle/>
          <a:p>
            <a:pPr algn="l">
              <a:spcAft>
                <a:spcPts val="500"/>
              </a:spcAft>
              <a:defRPr sz="2400" b="1">
                <a:solidFill>
                  <a:srgbClr val="BEA5F4"/>
                </a:solidFill>
                <a:latin typeface="Aptos"/>
              </a:defRPr>
            </a:pPr>
            <a:r>
              <a:t>02</a:t>
            </a:r>
          </a:p>
        </p:txBody>
      </p:sp>
      <p:sp>
        <p:nvSpPr>
          <p:cNvPr id="22" name="TextBox 21"/>
          <p:cNvSpPr txBox="1"/>
          <p:nvPr/>
        </p:nvSpPr>
        <p:spPr>
          <a:xfrm>
            <a:off x="7141464" y="2587752"/>
            <a:ext cx="4315968" cy="310896"/>
          </a:xfrm>
          <a:prstGeom prst="rect">
            <a:avLst/>
          </a:prstGeom>
          <a:noFill/>
        </p:spPr>
        <p:txBody>
          <a:bodyPr wrap="square" tIns="0" bIns="0" lIns="0" rIns="0">
            <a:spAutoFit/>
          </a:bodyPr>
          <a:lstStyle/>
          <a:p>
            <a:pPr algn="l">
              <a:spcAft>
                <a:spcPts val="500"/>
              </a:spcAft>
              <a:defRPr sz="1200" b="1">
                <a:solidFill>
                  <a:srgbClr val="BEA5F4"/>
                </a:solidFill>
                <a:latin typeface="Aptos"/>
              </a:defRPr>
            </a:pPr>
            <a:r>
              <a:t>REASON ACROSS MASSIVE CONTEXT</a:t>
            </a:r>
          </a:p>
        </p:txBody>
      </p:sp>
      <p:sp>
        <p:nvSpPr>
          <p:cNvPr id="23" name="TextBox 22"/>
          <p:cNvSpPr txBox="1"/>
          <p:nvPr/>
        </p:nvSpPr>
        <p:spPr>
          <a:xfrm>
            <a:off x="7141464" y="3035808"/>
            <a:ext cx="4297680" cy="676656"/>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Navigate connected knowledge and evidence;</a:t>
            </a:r>
          </a:p>
          <a:p>
            <a:pPr algn="l">
              <a:spcAft>
                <a:spcPts val="500"/>
              </a:spcAft>
              <a:defRPr sz="1600" b="0">
                <a:solidFill>
                  <a:srgbClr val="F1F5F6"/>
                </a:solidFill>
                <a:latin typeface="Aptos"/>
              </a:defRPr>
            </a:pPr>
            <a:r>
              <a:t>bring the relevant context to each decision.</a:t>
            </a:r>
          </a:p>
        </p:txBody>
      </p:sp>
      <p:sp>
        <p:nvSpPr>
          <p:cNvPr id="24" name="Oval 23"/>
          <p:cNvSpPr/>
          <p:nvPr/>
        </p:nvSpPr>
        <p:spPr>
          <a:xfrm>
            <a:off x="6462521" y="3170682"/>
            <a:ext cx="77724" cy="77724"/>
          </a:xfrm>
          <a:prstGeom prst="ellipse">
            <a:avLst/>
          </a:prstGeom>
          <a:solidFill>
            <a:srgbClr val="BEA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74001" y="3106674"/>
            <a:ext cx="77724" cy="77724"/>
          </a:xfrm>
          <a:prstGeom prst="ellipse">
            <a:avLst/>
          </a:prstGeom>
          <a:solidFill>
            <a:srgbClr val="BEA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54545" y="3445001"/>
            <a:ext cx="77724" cy="77724"/>
          </a:xfrm>
          <a:prstGeom prst="ellipse">
            <a:avLst/>
          </a:prstGeom>
          <a:solidFill>
            <a:srgbClr val="BEA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83145" y="3655314"/>
            <a:ext cx="77724" cy="77724"/>
          </a:xfrm>
          <a:prstGeom prst="ellipse">
            <a:avLst/>
          </a:prstGeom>
          <a:solidFill>
            <a:srgbClr val="BEA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6501383" y="3209544"/>
            <a:ext cx="192024" cy="274319"/>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693407" y="3145536"/>
            <a:ext cx="219457" cy="338327"/>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93407" y="3483863"/>
            <a:ext cx="228600" cy="210313"/>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21207" y="4242816"/>
            <a:ext cx="5340096" cy="1636776"/>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944" y="4398264"/>
            <a:ext cx="466344" cy="384048"/>
          </a:xfrm>
          <a:prstGeom prst="rect">
            <a:avLst/>
          </a:prstGeom>
          <a:noFill/>
        </p:spPr>
        <p:txBody>
          <a:bodyPr wrap="square" tIns="0" bIns="0" lIns="0" rIns="0">
            <a:spAutoFit/>
          </a:bodyPr>
          <a:lstStyle/>
          <a:p>
            <a:pPr algn="l">
              <a:spcAft>
                <a:spcPts val="500"/>
              </a:spcAft>
              <a:defRPr sz="2400" b="1">
                <a:solidFill>
                  <a:srgbClr val="83BFFF"/>
                </a:solidFill>
                <a:latin typeface="Aptos"/>
              </a:defRPr>
            </a:pPr>
            <a:r>
              <a:t>03</a:t>
            </a:r>
          </a:p>
        </p:txBody>
      </p:sp>
      <p:sp>
        <p:nvSpPr>
          <p:cNvPr id="33" name="TextBox 32"/>
          <p:cNvSpPr txBox="1"/>
          <p:nvPr/>
        </p:nvSpPr>
        <p:spPr>
          <a:xfrm>
            <a:off x="1325880" y="4425696"/>
            <a:ext cx="4315968" cy="310896"/>
          </a:xfrm>
          <a:prstGeom prst="rect">
            <a:avLst/>
          </a:prstGeom>
          <a:noFill/>
        </p:spPr>
        <p:txBody>
          <a:bodyPr wrap="square" tIns="0" bIns="0" lIns="0" rIns="0">
            <a:spAutoFit/>
          </a:bodyPr>
          <a:lstStyle/>
          <a:p>
            <a:pPr algn="l">
              <a:spcAft>
                <a:spcPts val="500"/>
              </a:spcAft>
              <a:defRPr sz="1200" b="1">
                <a:solidFill>
                  <a:srgbClr val="83BFFF"/>
                </a:solidFill>
                <a:latin typeface="Aptos"/>
              </a:defRPr>
            </a:pPr>
            <a:r>
              <a:t>CUSTOMIZE WITHOUT A FIXED PIPELINE</a:t>
            </a:r>
          </a:p>
        </p:txBody>
      </p:sp>
      <p:sp>
        <p:nvSpPr>
          <p:cNvPr id="34" name="TextBox 33"/>
          <p:cNvSpPr txBox="1"/>
          <p:nvPr/>
        </p:nvSpPr>
        <p:spPr>
          <a:xfrm>
            <a:off x="1325880" y="4873752"/>
            <a:ext cx="4297680" cy="676656"/>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Mix data, genetic search and custom models</a:t>
            </a:r>
          </a:p>
          <a:p>
            <a:pPr algn="l">
              <a:spcAft>
                <a:spcPts val="500"/>
              </a:spcAft>
              <a:defRPr sz="1600" b="0">
                <a:solidFill>
                  <a:srgbClr val="F1F5F6"/>
                </a:solidFill>
                <a:latin typeface="Aptos"/>
              </a:defRPr>
            </a:pPr>
            <a:r>
              <a:t>by editing the executable campaign graph.</a:t>
            </a:r>
          </a:p>
        </p:txBody>
      </p:sp>
      <p:sp>
        <p:nvSpPr>
          <p:cNvPr id="35" name="Rounded Rectangle 34"/>
          <p:cNvSpPr/>
          <p:nvPr/>
        </p:nvSpPr>
        <p:spPr>
          <a:xfrm>
            <a:off x="667512" y="4974336"/>
            <a:ext cx="457200" cy="146304"/>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67512" y="5202936"/>
            <a:ext cx="457200" cy="146304"/>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67512" y="5431536"/>
            <a:ext cx="457200" cy="146304"/>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36792" y="4242816"/>
            <a:ext cx="5340096" cy="1636776"/>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10528" y="4398264"/>
            <a:ext cx="466344" cy="384048"/>
          </a:xfrm>
          <a:prstGeom prst="rect">
            <a:avLst/>
          </a:prstGeom>
          <a:noFill/>
        </p:spPr>
        <p:txBody>
          <a:bodyPr wrap="square" tIns="0" bIns="0" lIns="0" rIns="0">
            <a:spAutoFit/>
          </a:bodyPr>
          <a:lstStyle/>
          <a:p>
            <a:pPr algn="l">
              <a:spcAft>
                <a:spcPts val="500"/>
              </a:spcAft>
              <a:defRPr sz="2400" b="1">
                <a:solidFill>
                  <a:srgbClr val="F4C77E"/>
                </a:solidFill>
                <a:latin typeface="Aptos"/>
              </a:defRPr>
            </a:pPr>
            <a:r>
              <a:t>04</a:t>
            </a:r>
          </a:p>
        </p:txBody>
      </p:sp>
      <p:sp>
        <p:nvSpPr>
          <p:cNvPr id="40" name="TextBox 39"/>
          <p:cNvSpPr txBox="1"/>
          <p:nvPr/>
        </p:nvSpPr>
        <p:spPr>
          <a:xfrm>
            <a:off x="7141464" y="4425696"/>
            <a:ext cx="4315968" cy="310896"/>
          </a:xfrm>
          <a:prstGeom prst="rect">
            <a:avLst/>
          </a:prstGeom>
          <a:noFill/>
        </p:spPr>
        <p:txBody>
          <a:bodyPr wrap="square" tIns="0" bIns="0" lIns="0" rIns="0">
            <a:spAutoFit/>
          </a:bodyPr>
          <a:lstStyle/>
          <a:p>
            <a:pPr algn="l">
              <a:spcAft>
                <a:spcPts val="500"/>
              </a:spcAft>
              <a:defRPr sz="1200" b="1">
                <a:solidFill>
                  <a:srgbClr val="F4C77E"/>
                </a:solidFill>
                <a:latin typeface="Aptos"/>
              </a:defRPr>
            </a:pPr>
            <a:r>
              <a:t>LET EVERY ROLE SHAPE THE WORK</a:t>
            </a:r>
          </a:p>
        </p:txBody>
      </p:sp>
      <p:sp>
        <p:nvSpPr>
          <p:cNvPr id="41" name="TextBox 40"/>
          <p:cNvSpPr txBox="1"/>
          <p:nvPr/>
        </p:nvSpPr>
        <p:spPr>
          <a:xfrm>
            <a:off x="7141464" y="4873752"/>
            <a:ext cx="4297680" cy="676656"/>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Scientists, developers and reviewers inspect,</a:t>
            </a:r>
          </a:p>
          <a:p>
            <a:pPr algn="l">
              <a:spcAft>
                <a:spcPts val="500"/>
              </a:spcAft>
              <a:defRPr sz="1600" b="0">
                <a:solidFill>
                  <a:srgbClr val="F1F5F6"/>
                </a:solidFill>
                <a:latin typeface="Aptos"/>
              </a:defRPr>
            </a:pPr>
            <a:r>
              <a:t>customize and intervene through visual views.</a:t>
            </a:r>
          </a:p>
        </p:txBody>
      </p:sp>
      <p:sp>
        <p:nvSpPr>
          <p:cNvPr id="42" name="Oval 41"/>
          <p:cNvSpPr/>
          <p:nvPr/>
        </p:nvSpPr>
        <p:spPr>
          <a:xfrm>
            <a:off x="6505956" y="4969764"/>
            <a:ext cx="100584" cy="100584"/>
          </a:xfrm>
          <a:prstGeom prst="ellipse">
            <a:avLst/>
          </a:prstGeom>
          <a:solidFill>
            <a:srgbClr val="F4C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675120" y="5020055"/>
            <a:ext cx="265176" cy="0"/>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6505956" y="5262372"/>
            <a:ext cx="100584" cy="100584"/>
          </a:xfrm>
          <a:prstGeom prst="ellipse">
            <a:avLst/>
          </a:prstGeom>
          <a:solidFill>
            <a:srgbClr val="F4C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6675120" y="5312664"/>
            <a:ext cx="265176" cy="0"/>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76072" y="6099048"/>
            <a:ext cx="11009376" cy="283464"/>
          </a:xfrm>
          <a:prstGeom prst="rect">
            <a:avLst/>
          </a:prstGeom>
          <a:noFill/>
        </p:spPr>
        <p:txBody>
          <a:bodyPr wrap="square" tIns="0" bIns="0" lIns="0" rIns="0">
            <a:spAutoFit/>
          </a:bodyPr>
          <a:lstStyle/>
          <a:p>
            <a:pPr algn="l">
              <a:spcAft>
                <a:spcPts val="500"/>
              </a:spcAft>
              <a:defRPr sz="1800" b="1">
                <a:solidFill>
                  <a:srgbClr val="56D9BD"/>
                </a:solidFill>
                <a:latin typeface="Aptos"/>
              </a:defRPr>
            </a:pPr>
            <a:r>
              <a:t>THE VALUE TO PROVE: faster adaptation, better decisions and reusable scientific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Amphora | Why Build the Research Engine</dc:title>
  <dc:subject>Three visual slides: why, how, and differentiation</dc:subject>
  <dc:creator>Amphora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