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BUILD — talk track, about 45 seconds. Point to the left: research creates papers, datasets, measurements, custom models and expert assumptions. The problem is maintaining the relationships and turning that context into decisions as it changes. Point to the right: Amphora is designed to make the context navigable and executable; the highlighted path is the work we choose to do next, while the surrounding evidence stays available. This is the reason for a shared engine: less repeated reconstruction, more continuity from question to experiment to learning. The two views are a conceptual transformation, not an assertion that every competitor lacks connected data. The performance benefit remains to be demonstrated. Massive context lives in durable graph/artifact storage; relevant subsets are projected into LLM context.</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 talk track, about 60 seconds. Start with the three inputs: data sources supply evidence, custom models supply scientific evaluations, and genetic algorithms explore candidate designs. The execution graph composes these into steps, branches and repeat loops. The LLM works between that graph and the neuro-symbolic knowledge graph: it interprets objectives, retrieves relevant context, explains outcomes and proposes changes. The knowledge graph carries mechanisms, evidence, symbolic rules, uncertainty and applicability. All of this is inside one visual workspace, where scientists, model builders, reviewers and leads navigate views suited to their roles and customize campaigns. The LLM does not receive unlimited context or directly activate unreviewed amendments; it uses bounded projections and reviewed changes. The displayed arrows describe architecture, not an implemented product. Execution and provenance history is derived. Genetic parameter search exists in the code; general graph-topology evolution remains future work.</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COMBINATION MATTERS — talk track, about 60 seconds. Left: users zoom from the whole research context into the exact evidence or mechanism needed for a decision. Center: authorized users change a campaign directly, including new data/model/assay steps, without making every pathway a new orchestration implementation. Different roles have different views and permissions over shared state. Right: genetic and LLM-assisted processes eventually explore campaign structure as well as candidate parameters, retaining ancestry and the outcomes of each attempt. Existing algorithms, workflow graphs, knowledge graphs and visual editors have prior art; differentiation is the scientific integration and how effectively it supports real research. Custom modules may still require coding and validation. The test is measured decision quality, adaptation effort and reuse, not novelty by assertion. Broader workflow evolution has prior art in AFlow https://arxiv.org/abs/2410.10762 and ADAS https://arxiv.org/abs/2408.08435. No present implementation or superior commercial performance is implied.</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a:p>
            <a:r>
              <a:t>[S1] Benchling AI: https://www.benchling.com/ai (accessed 2026-09-16; vendor description)</a:t>
            </a:r>
          </a:p>
          <a:p>
            <a:r>
              <a:t>[S2] Citrine Catalyst: https://citrine.io/platform/citrine-catalyst/ (accessed 2026-09-16; vendor description)</a:t>
            </a:r>
          </a:p>
          <a:p>
            <a:r>
              <a:t>[S3] Citrine sequential learning: https://citrine.io/doe/ (accessed 2026-09-16; vendor description)</a:t>
            </a:r>
          </a:p>
          <a:p>
            <a:r>
              <a:t>[S4] Schrödinger active learning: https://www.schrodinger.com/platform/products/active-learning-applications/ (accessed 2026-09-16; vendor description)</a:t>
            </a:r>
          </a:p>
          <a:p>
            <a:r>
              <a:t>[S5] Synthace: https://www.synthace.com/what-we-do (accessed 2026-09-16; vendor description)</a:t>
            </a:r>
          </a:p>
          <a:p>
            <a:r>
              <a:t>[S6] Automata LINQ: https://docs.automata.tech/tasks-transport (accessed 2026-09-16; vendor description)</a:t>
            </a:r>
          </a:p>
          <a:p>
            <a:r>
              <a:t>[S7] Recursion OS: https://www.recursion.com/faq (accessed 2026-09-16; vendor description)</a:t>
            </a:r>
          </a:p>
          <a:p>
            <a:r>
              <a:t>[S8] Claude Science: https://www.anthropic.com/news/claude-science-ai-workbench (accessed 2026-09-16; vendor description)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01 / WHY BUILD</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Make the whole problem actionable.</a:t>
            </a:r>
          </a:p>
        </p:txBody>
      </p:sp>
      <p:cxnSp>
        <p:nvCxnSpPr>
          <p:cNvPr id="4" name="Connector 3"/>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6" name="TextBox 5"/>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PRODUCT VISION</a:t>
            </a:r>
          </a:p>
        </p:txBody>
      </p:sp>
      <p:sp>
        <p:nvSpPr>
          <p:cNvPr id="7" name="TextBox 6"/>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01</a:t>
            </a:r>
          </a:p>
        </p:txBody>
      </p:sp>
      <p:sp>
        <p:nvSpPr>
          <p:cNvPr id="8" name="TextBox 7"/>
          <p:cNvSpPr txBox="1"/>
          <p:nvPr/>
        </p:nvSpPr>
        <p:spPr>
          <a:xfrm>
            <a:off x="640080" y="1901952"/>
            <a:ext cx="4480560" cy="365760"/>
          </a:xfrm>
          <a:prstGeom prst="rect">
            <a:avLst/>
          </a:prstGeom>
          <a:noFill/>
        </p:spPr>
        <p:txBody>
          <a:bodyPr wrap="square" tIns="0" bIns="0" lIns="0" rIns="0">
            <a:spAutoFit/>
          </a:bodyPr>
          <a:lstStyle/>
          <a:p>
            <a:pPr algn="l">
              <a:spcAft>
                <a:spcPts val="500"/>
              </a:spcAft>
              <a:defRPr sz="1700" b="1">
                <a:solidFill>
                  <a:srgbClr val="AFC1CE"/>
                </a:solidFill>
                <a:latin typeface="Aptos"/>
              </a:defRPr>
            </a:pPr>
            <a:r>
              <a:t>GROWING CONTEXT</a:t>
            </a:r>
          </a:p>
        </p:txBody>
      </p:sp>
      <p:sp>
        <p:nvSpPr>
          <p:cNvPr id="9" name="TextBox 8"/>
          <p:cNvSpPr txBox="1"/>
          <p:nvPr/>
        </p:nvSpPr>
        <p:spPr>
          <a:xfrm>
            <a:off x="6492240" y="1901952"/>
            <a:ext cx="4572000" cy="365760"/>
          </a:xfrm>
          <a:prstGeom prst="rect">
            <a:avLst/>
          </a:prstGeom>
          <a:noFill/>
        </p:spPr>
        <p:txBody>
          <a:bodyPr wrap="square" tIns="0" bIns="0" lIns="0" rIns="0">
            <a:spAutoFit/>
          </a:bodyPr>
          <a:lstStyle/>
          <a:p>
            <a:pPr algn="l">
              <a:spcAft>
                <a:spcPts val="500"/>
              </a:spcAft>
              <a:defRPr sz="1700" b="1">
                <a:solidFill>
                  <a:srgbClr val="56D9BD"/>
                </a:solidFill>
                <a:latin typeface="Aptos"/>
              </a:defRPr>
            </a:pPr>
            <a:r>
              <a:t>LIVING RESEARCH MAP</a:t>
            </a:r>
          </a:p>
        </p:txBody>
      </p:sp>
      <p:cxnSp>
        <p:nvCxnSpPr>
          <p:cNvPr id="10" name="Connector 9"/>
          <p:cNvCxnSpPr/>
          <p:nvPr/>
        </p:nvCxnSpPr>
        <p:spPr>
          <a:xfrm flipV="1">
            <a:off x="828812" y="2823667"/>
            <a:ext cx="553029" cy="395021"/>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8812" y="3218688"/>
            <a:ext cx="671535" cy="395020"/>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28812" y="3218688"/>
            <a:ext cx="79004" cy="1075334"/>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81841" y="2823667"/>
            <a:ext cx="592531" cy="41696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81841" y="2801721"/>
            <a:ext cx="1343071" cy="2194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500347" y="3240633"/>
            <a:ext cx="474025" cy="373075"/>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00347" y="3613708"/>
            <a:ext cx="671535" cy="416967"/>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07816" y="4030675"/>
            <a:ext cx="1264066" cy="263347"/>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07816" y="4294022"/>
            <a:ext cx="790041" cy="438912"/>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974372" y="2801721"/>
            <a:ext cx="750540" cy="438912"/>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974372" y="3240633"/>
            <a:ext cx="948050" cy="21945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171882" y="3460089"/>
            <a:ext cx="750540" cy="57058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171882" y="4030675"/>
            <a:ext cx="474025" cy="460857"/>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697857" y="4491532"/>
            <a:ext cx="948050" cy="241402"/>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24912" y="2801721"/>
            <a:ext cx="829543" cy="30723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922422" y="3108960"/>
            <a:ext cx="632033" cy="35112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22422" y="3460089"/>
            <a:ext cx="671535" cy="70225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645907" y="4162348"/>
            <a:ext cx="948050" cy="329184"/>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554455" y="2845612"/>
            <a:ext cx="908548" cy="263348"/>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54455" y="3108960"/>
            <a:ext cx="908548" cy="570585"/>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593957" y="3679545"/>
            <a:ext cx="869046" cy="482803"/>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93957" y="4162348"/>
            <a:ext cx="632034" cy="57058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4225991" y="3679545"/>
            <a:ext cx="237012" cy="105338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83092" y="3172968"/>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36121" y="2777947"/>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454627" y="3567988"/>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62096" y="4248302"/>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928652" y="3194913"/>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126162" y="3984955"/>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652137" y="4687214"/>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679192" y="2756001"/>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876702" y="3414369"/>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600187" y="4445812"/>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508735" y="3063240"/>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548237" y="4116628"/>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417283" y="2799892"/>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417283" y="3633825"/>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180271" y="4687214"/>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 y="2414016"/>
            <a:ext cx="1554480" cy="310896"/>
          </a:xfrm>
          <a:prstGeom prst="rect">
            <a:avLst/>
          </a:prstGeom>
          <a:noFill/>
        </p:spPr>
        <p:txBody>
          <a:bodyPr wrap="square" tIns="0" bIns="0" lIns="0" rIns="0">
            <a:spAutoFit/>
          </a:bodyPr>
          <a:lstStyle/>
          <a:p>
            <a:pPr algn="l">
              <a:spcAft>
                <a:spcPts val="500"/>
              </a:spcAft>
              <a:defRPr sz="1600" b="1">
                <a:solidFill>
                  <a:srgbClr val="83BFFF"/>
                </a:solidFill>
                <a:latin typeface="Aptos"/>
              </a:defRPr>
            </a:pPr>
            <a:r>
              <a:t>Data</a:t>
            </a:r>
          </a:p>
        </p:txBody>
      </p:sp>
      <p:sp>
        <p:nvSpPr>
          <p:cNvPr id="49" name="TextBox 48"/>
          <p:cNvSpPr txBox="1"/>
          <p:nvPr/>
        </p:nvSpPr>
        <p:spPr>
          <a:xfrm>
            <a:off x="3236976" y="2414016"/>
            <a:ext cx="1554480" cy="310896"/>
          </a:xfrm>
          <a:prstGeom prst="rect">
            <a:avLst/>
          </a:prstGeom>
          <a:noFill/>
        </p:spPr>
        <p:txBody>
          <a:bodyPr wrap="square" tIns="0" bIns="0" lIns="0" rIns="0">
            <a:spAutoFit/>
          </a:bodyPr>
          <a:lstStyle/>
          <a:p>
            <a:pPr algn="l">
              <a:spcAft>
                <a:spcPts val="500"/>
              </a:spcAft>
              <a:defRPr sz="1600" b="1">
                <a:solidFill>
                  <a:srgbClr val="BEA5F4"/>
                </a:solidFill>
                <a:latin typeface="Aptos"/>
              </a:defRPr>
            </a:pPr>
            <a:r>
              <a:t>Models</a:t>
            </a:r>
          </a:p>
        </p:txBody>
      </p:sp>
      <p:sp>
        <p:nvSpPr>
          <p:cNvPr id="50" name="TextBox 49"/>
          <p:cNvSpPr txBox="1"/>
          <p:nvPr/>
        </p:nvSpPr>
        <p:spPr>
          <a:xfrm>
            <a:off x="667512" y="5074920"/>
            <a:ext cx="1554480" cy="310896"/>
          </a:xfrm>
          <a:prstGeom prst="rect">
            <a:avLst/>
          </a:prstGeom>
          <a:noFill/>
        </p:spPr>
        <p:txBody>
          <a:bodyPr wrap="square" tIns="0" bIns="0" lIns="0" rIns="0">
            <a:spAutoFit/>
          </a:bodyPr>
          <a:lstStyle/>
          <a:p>
            <a:pPr algn="l">
              <a:spcAft>
                <a:spcPts val="500"/>
              </a:spcAft>
              <a:defRPr sz="1600" b="1">
                <a:solidFill>
                  <a:srgbClr val="56D9BD"/>
                </a:solidFill>
                <a:latin typeface="Aptos"/>
              </a:defRPr>
            </a:pPr>
            <a:r>
              <a:t>Experiments</a:t>
            </a:r>
          </a:p>
        </p:txBody>
      </p:sp>
      <p:sp>
        <p:nvSpPr>
          <p:cNvPr id="51" name="TextBox 50"/>
          <p:cNvSpPr txBox="1"/>
          <p:nvPr/>
        </p:nvSpPr>
        <p:spPr>
          <a:xfrm>
            <a:off x="3328416" y="5074920"/>
            <a:ext cx="1554480" cy="310896"/>
          </a:xfrm>
          <a:prstGeom prst="rect">
            <a:avLst/>
          </a:prstGeom>
          <a:noFill/>
        </p:spPr>
        <p:txBody>
          <a:bodyPr wrap="square" tIns="0" bIns="0" lIns="0" rIns="0">
            <a:spAutoFit/>
          </a:bodyPr>
          <a:lstStyle/>
          <a:p>
            <a:pPr algn="l">
              <a:spcAft>
                <a:spcPts val="500"/>
              </a:spcAft>
              <a:defRPr sz="1600" b="1">
                <a:solidFill>
                  <a:srgbClr val="F4C77E"/>
                </a:solidFill>
                <a:latin typeface="Aptos"/>
              </a:defRPr>
            </a:pPr>
            <a:r>
              <a:t>Expertise</a:t>
            </a:r>
          </a:p>
        </p:txBody>
      </p:sp>
      <p:cxnSp>
        <p:nvCxnSpPr>
          <p:cNvPr id="52" name="Connector 51"/>
          <p:cNvCxnSpPr/>
          <p:nvPr/>
        </p:nvCxnSpPr>
        <p:spPr>
          <a:xfrm>
            <a:off x="4919472" y="3767328"/>
            <a:ext cx="1060704"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5892887" y="3767328"/>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5892887" y="3717349"/>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818888" y="4059936"/>
            <a:ext cx="1335024" cy="246888"/>
          </a:xfrm>
          <a:prstGeom prst="rect">
            <a:avLst/>
          </a:prstGeom>
          <a:noFill/>
        </p:spPr>
        <p:txBody>
          <a:bodyPr wrap="square" tIns="0" bIns="0" lIns="0" rIns="0">
            <a:spAutoFit/>
          </a:bodyPr>
          <a:lstStyle/>
          <a:p>
            <a:pPr algn="ctr">
              <a:spcAft>
                <a:spcPts val="500"/>
              </a:spcAft>
              <a:defRPr sz="1100" b="1">
                <a:solidFill>
                  <a:srgbClr val="56D9BD"/>
                </a:solidFill>
                <a:latin typeface="Aptos"/>
              </a:defRPr>
            </a:pPr>
            <a:r>
              <a:t>AMPHORA</a:t>
            </a:r>
          </a:p>
        </p:txBody>
      </p:sp>
      <p:sp>
        <p:nvSpPr>
          <p:cNvPr id="56" name="Rounded Rectangle 55"/>
          <p:cNvSpPr/>
          <p:nvPr/>
        </p:nvSpPr>
        <p:spPr>
          <a:xfrm>
            <a:off x="6309360" y="2487168"/>
            <a:ext cx="5193792" cy="2852928"/>
          </a:xfrm>
          <a:prstGeom prst="roundRect">
            <a:avLst>
              <a:gd name="adj" fmla="val 12000"/>
            </a:avLst>
          </a:prstGeom>
          <a:solidFill>
            <a:srgbClr val="192B3E"/>
          </a:solidFill>
          <a:ln>
            <a:solidFill>
              <a:srgbClr val="405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flipV="1">
            <a:off x="6657197" y="2905963"/>
            <a:ext cx="642641" cy="395021"/>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657197" y="3300984"/>
            <a:ext cx="780349" cy="395020"/>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657197" y="3300984"/>
            <a:ext cx="91806" cy="1075334"/>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299838" y="2905963"/>
            <a:ext cx="688543" cy="41696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299838" y="2884017"/>
            <a:ext cx="1560698" cy="2194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437546" y="3322929"/>
            <a:ext cx="550835" cy="373075"/>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437546" y="3696004"/>
            <a:ext cx="780349" cy="416967"/>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749003" y="4112971"/>
            <a:ext cx="1468892" cy="263347"/>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749003" y="4376318"/>
            <a:ext cx="918058" cy="438912"/>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988381" y="2884017"/>
            <a:ext cx="872155" cy="438912"/>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988381" y="3322929"/>
            <a:ext cx="1101669" cy="21945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217895" y="3542385"/>
            <a:ext cx="872155" cy="570586"/>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217895" y="4112971"/>
            <a:ext cx="550835" cy="460857"/>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667061" y="4573828"/>
            <a:ext cx="1101669" cy="241402"/>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860536" y="2884017"/>
            <a:ext cx="963960" cy="30723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090050" y="3191256"/>
            <a:ext cx="734446" cy="351129"/>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090050" y="3542385"/>
            <a:ext cx="780349" cy="70225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8768730" y="4244644"/>
            <a:ext cx="1101669" cy="329184"/>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9824496" y="2927908"/>
            <a:ext cx="1055766" cy="263348"/>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824496" y="3191256"/>
            <a:ext cx="1055766" cy="570585"/>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9870399" y="3761841"/>
            <a:ext cx="1009863" cy="482803"/>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870399" y="4244644"/>
            <a:ext cx="734446" cy="57058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0604845" y="3761841"/>
            <a:ext cx="275417" cy="105338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6611477" y="3255264"/>
            <a:ext cx="91440" cy="91440"/>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254118" y="2860243"/>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391826" y="3650284"/>
            <a:ext cx="91440" cy="91440"/>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703283" y="4330598"/>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942661" y="3277209"/>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8172175" y="4067251"/>
            <a:ext cx="91440" cy="91440"/>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621341" y="4769510"/>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814815" y="2838297"/>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044330" y="3496665"/>
            <a:ext cx="91440" cy="91440"/>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723010" y="4528108"/>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9778776" y="3145536"/>
            <a:ext cx="91440" cy="91440"/>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824679" y="4198924"/>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0834542" y="2882188"/>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0834542" y="3716121"/>
            <a:ext cx="91440" cy="91440"/>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0559125" y="4769510"/>
            <a:ext cx="91440" cy="91440"/>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6611112" y="3054096"/>
            <a:ext cx="950976" cy="466344"/>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02552" y="3163824"/>
            <a:ext cx="768096" cy="274320"/>
          </a:xfrm>
          <a:prstGeom prst="rect">
            <a:avLst/>
          </a:prstGeom>
          <a:noFill/>
        </p:spPr>
        <p:txBody>
          <a:bodyPr wrap="square" tIns="0" bIns="0" lIns="0" rIns="0">
            <a:spAutoFit/>
          </a:bodyPr>
          <a:lstStyle/>
          <a:p>
            <a:pPr algn="ctr">
              <a:spcAft>
                <a:spcPts val="500"/>
              </a:spcAft>
              <a:defRPr sz="1600" b="1">
                <a:solidFill>
                  <a:srgbClr val="83BFFF"/>
                </a:solidFill>
                <a:latin typeface="Aptos"/>
              </a:defRPr>
            </a:pPr>
            <a:r>
              <a:t>Ask</a:t>
            </a:r>
          </a:p>
        </p:txBody>
      </p:sp>
      <p:sp>
        <p:nvSpPr>
          <p:cNvPr id="97" name="Rounded Rectangle 96"/>
          <p:cNvSpPr/>
          <p:nvPr/>
        </p:nvSpPr>
        <p:spPr>
          <a:xfrm>
            <a:off x="8092440" y="4215384"/>
            <a:ext cx="950976" cy="466344"/>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183879" y="4325112"/>
            <a:ext cx="768096" cy="274320"/>
          </a:xfrm>
          <a:prstGeom prst="rect">
            <a:avLst/>
          </a:prstGeom>
          <a:noFill/>
        </p:spPr>
        <p:txBody>
          <a:bodyPr wrap="square" tIns="0" bIns="0" lIns="0" rIns="0">
            <a:spAutoFit/>
          </a:bodyPr>
          <a:lstStyle/>
          <a:p>
            <a:pPr algn="ctr">
              <a:spcAft>
                <a:spcPts val="500"/>
              </a:spcAft>
              <a:defRPr sz="1600" b="1">
                <a:solidFill>
                  <a:srgbClr val="56D9BD"/>
                </a:solidFill>
                <a:latin typeface="Aptos"/>
              </a:defRPr>
            </a:pPr>
            <a:r>
              <a:t>Test</a:t>
            </a:r>
          </a:p>
        </p:txBody>
      </p:sp>
      <p:sp>
        <p:nvSpPr>
          <p:cNvPr id="99" name="Rounded Rectangle 98"/>
          <p:cNvSpPr/>
          <p:nvPr/>
        </p:nvSpPr>
        <p:spPr>
          <a:xfrm>
            <a:off x="9720072" y="2770632"/>
            <a:ext cx="950976" cy="466344"/>
          </a:xfrm>
          <a:prstGeom prst="roundRect">
            <a:avLst>
              <a:gd name="adj" fmla="val 12000"/>
            </a:avLst>
          </a:prstGeom>
          <a:solidFill>
            <a:srgbClr val="22394D"/>
          </a:solidFill>
          <a:ln>
            <a:solidFill>
              <a:srgbClr val="F4C7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811512" y="2880360"/>
            <a:ext cx="768096" cy="274320"/>
          </a:xfrm>
          <a:prstGeom prst="rect">
            <a:avLst/>
          </a:prstGeom>
          <a:noFill/>
        </p:spPr>
        <p:txBody>
          <a:bodyPr wrap="square" tIns="0" bIns="0" lIns="0" rIns="0">
            <a:spAutoFit/>
          </a:bodyPr>
          <a:lstStyle/>
          <a:p>
            <a:pPr algn="ctr">
              <a:spcAft>
                <a:spcPts val="500"/>
              </a:spcAft>
              <a:defRPr sz="1600" b="1">
                <a:solidFill>
                  <a:srgbClr val="F4C77E"/>
                </a:solidFill>
                <a:latin typeface="Aptos"/>
              </a:defRPr>
            </a:pPr>
            <a:r>
              <a:t>Learn</a:t>
            </a:r>
          </a:p>
        </p:txBody>
      </p:sp>
      <p:sp>
        <p:nvSpPr>
          <p:cNvPr id="101" name="TextBox 100"/>
          <p:cNvSpPr txBox="1"/>
          <p:nvPr/>
        </p:nvSpPr>
        <p:spPr>
          <a:xfrm>
            <a:off x="676656" y="5806440"/>
            <a:ext cx="10863072" cy="448056"/>
          </a:xfrm>
          <a:prstGeom prst="rect">
            <a:avLst/>
          </a:prstGeom>
          <a:noFill/>
        </p:spPr>
        <p:txBody>
          <a:bodyPr wrap="square" tIns="0" bIns="0" lIns="0" rIns="0">
            <a:spAutoFit/>
          </a:bodyPr>
          <a:lstStyle/>
          <a:p>
            <a:pPr algn="ctr">
              <a:spcAft>
                <a:spcPts val="500"/>
              </a:spcAft>
              <a:defRPr sz="2700" b="1">
                <a:solidFill>
                  <a:srgbClr val="F1F5F6"/>
                </a:solidFill>
                <a:latin typeface="Aptos"/>
              </a:defRPr>
            </a:pPr>
            <a:r>
              <a:t>See the connections. Choose the next step.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02 / HOW IT WORKS</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One visual workspace. An adaptive research engine.</a:t>
            </a:r>
          </a:p>
        </p:txBody>
      </p:sp>
      <p:cxnSp>
        <p:nvCxnSpPr>
          <p:cNvPr id="4" name="Connector 3"/>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6" name="TextBox 5"/>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TARGET ARCHITECTURE</a:t>
            </a:r>
          </a:p>
        </p:txBody>
      </p:sp>
      <p:sp>
        <p:nvSpPr>
          <p:cNvPr id="7" name="TextBox 6"/>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02</a:t>
            </a:r>
          </a:p>
        </p:txBody>
      </p:sp>
      <p:sp>
        <p:nvSpPr>
          <p:cNvPr id="8" name="Oval 7"/>
          <p:cNvSpPr/>
          <p:nvPr/>
        </p:nvSpPr>
        <p:spPr>
          <a:xfrm>
            <a:off x="2839212" y="1741932"/>
            <a:ext cx="118872" cy="118872"/>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2898648" y="1892807"/>
            <a:ext cx="0" cy="201169"/>
          </a:xfrm>
          <a:prstGeom prst="line">
            <a:avLst/>
          </a:prstGeom>
          <a:ln w="3175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788920" y="1965960"/>
            <a:ext cx="219456" cy="0"/>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807208" y="2093976"/>
            <a:ext cx="91440" cy="109728"/>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898648" y="2093976"/>
            <a:ext cx="91440" cy="109728"/>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127248" y="1773936"/>
            <a:ext cx="1746504" cy="292608"/>
          </a:xfrm>
          <a:prstGeom prst="rect">
            <a:avLst/>
          </a:prstGeom>
          <a:noFill/>
        </p:spPr>
        <p:txBody>
          <a:bodyPr wrap="square" tIns="0" bIns="0" lIns="0" rIns="0">
            <a:spAutoFit/>
          </a:bodyPr>
          <a:lstStyle/>
          <a:p>
            <a:pPr algn="l">
              <a:spcAft>
                <a:spcPts val="500"/>
              </a:spcAft>
              <a:defRPr sz="1400" b="0">
                <a:solidFill>
                  <a:srgbClr val="AFC1CE"/>
                </a:solidFill>
                <a:latin typeface="Aptos"/>
              </a:defRPr>
            </a:pPr>
            <a:r>
              <a:t>Scientist</a:t>
            </a:r>
          </a:p>
        </p:txBody>
      </p:sp>
      <p:sp>
        <p:nvSpPr>
          <p:cNvPr id="14" name="Oval 13"/>
          <p:cNvSpPr/>
          <p:nvPr/>
        </p:nvSpPr>
        <p:spPr>
          <a:xfrm>
            <a:off x="5052059" y="1741932"/>
            <a:ext cx="118872" cy="118872"/>
          </a:xfrm>
          <a:prstGeom prst="ellipse">
            <a:avLst/>
          </a:prstGeom>
          <a:solidFill>
            <a:srgbClr val="BEA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5111496" y="1892807"/>
            <a:ext cx="0" cy="201169"/>
          </a:xfrm>
          <a:prstGeom prst="line">
            <a:avLst/>
          </a:prstGeom>
          <a:ln w="3175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001768" y="1965960"/>
            <a:ext cx="219456" cy="0"/>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020056" y="2093976"/>
            <a:ext cx="91440" cy="10972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111496" y="2093976"/>
            <a:ext cx="91440" cy="10972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340096" y="1773936"/>
            <a:ext cx="1746504" cy="292608"/>
          </a:xfrm>
          <a:prstGeom prst="rect">
            <a:avLst/>
          </a:prstGeom>
          <a:noFill/>
        </p:spPr>
        <p:txBody>
          <a:bodyPr wrap="square" tIns="0" bIns="0" lIns="0" rIns="0">
            <a:spAutoFit/>
          </a:bodyPr>
          <a:lstStyle/>
          <a:p>
            <a:pPr algn="l">
              <a:spcAft>
                <a:spcPts val="500"/>
              </a:spcAft>
              <a:defRPr sz="1400" b="0">
                <a:solidFill>
                  <a:srgbClr val="AFC1CE"/>
                </a:solidFill>
                <a:latin typeface="Aptos"/>
              </a:defRPr>
            </a:pPr>
            <a:r>
              <a:t>Model builder</a:t>
            </a:r>
          </a:p>
        </p:txBody>
      </p:sp>
      <p:sp>
        <p:nvSpPr>
          <p:cNvPr id="20" name="Oval 19"/>
          <p:cNvSpPr/>
          <p:nvPr/>
        </p:nvSpPr>
        <p:spPr>
          <a:xfrm>
            <a:off x="7264907" y="1741932"/>
            <a:ext cx="118872" cy="118872"/>
          </a:xfrm>
          <a:prstGeom prst="ellipse">
            <a:avLst/>
          </a:prstGeom>
          <a:solidFill>
            <a:srgbClr val="F4C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7324344" y="1892807"/>
            <a:ext cx="0" cy="201169"/>
          </a:xfrm>
          <a:prstGeom prst="line">
            <a:avLst/>
          </a:prstGeom>
          <a:ln w="317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214616" y="1965960"/>
            <a:ext cx="219455" cy="0"/>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232904" y="2093976"/>
            <a:ext cx="91440" cy="109728"/>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324344" y="2093976"/>
            <a:ext cx="91439" cy="109728"/>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552944" y="1773936"/>
            <a:ext cx="1746504" cy="292608"/>
          </a:xfrm>
          <a:prstGeom prst="rect">
            <a:avLst/>
          </a:prstGeom>
          <a:noFill/>
        </p:spPr>
        <p:txBody>
          <a:bodyPr wrap="square" tIns="0" bIns="0" lIns="0" rIns="0">
            <a:spAutoFit/>
          </a:bodyPr>
          <a:lstStyle/>
          <a:p>
            <a:pPr algn="l">
              <a:spcAft>
                <a:spcPts val="500"/>
              </a:spcAft>
              <a:defRPr sz="1400" b="0">
                <a:solidFill>
                  <a:srgbClr val="AFC1CE"/>
                </a:solidFill>
                <a:latin typeface="Aptos"/>
              </a:defRPr>
            </a:pPr>
            <a:r>
              <a:t>Reviewer</a:t>
            </a:r>
          </a:p>
        </p:txBody>
      </p:sp>
      <p:sp>
        <p:nvSpPr>
          <p:cNvPr id="26" name="Oval 25"/>
          <p:cNvSpPr/>
          <p:nvPr/>
        </p:nvSpPr>
        <p:spPr>
          <a:xfrm>
            <a:off x="9477756" y="1741932"/>
            <a:ext cx="118872" cy="118872"/>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537192" y="1892807"/>
            <a:ext cx="0" cy="201169"/>
          </a:xfrm>
          <a:prstGeom prst="line">
            <a:avLst/>
          </a:prstGeom>
          <a:ln w="3175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427464" y="1965960"/>
            <a:ext cx="219455"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9445752" y="2093976"/>
            <a:ext cx="91440" cy="10972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537192" y="2093976"/>
            <a:ext cx="91440" cy="10972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765792" y="1773936"/>
            <a:ext cx="1746504" cy="292608"/>
          </a:xfrm>
          <a:prstGeom prst="rect">
            <a:avLst/>
          </a:prstGeom>
          <a:noFill/>
        </p:spPr>
        <p:txBody>
          <a:bodyPr wrap="square" tIns="0" bIns="0" lIns="0" rIns="0">
            <a:spAutoFit/>
          </a:bodyPr>
          <a:lstStyle/>
          <a:p>
            <a:pPr algn="l">
              <a:spcAft>
                <a:spcPts val="500"/>
              </a:spcAft>
              <a:defRPr sz="1400" b="0">
                <a:solidFill>
                  <a:srgbClr val="AFC1CE"/>
                </a:solidFill>
                <a:latin typeface="Aptos"/>
              </a:defRPr>
            </a:pPr>
            <a:r>
              <a:t>Program lead</a:t>
            </a:r>
          </a:p>
        </p:txBody>
      </p:sp>
      <p:sp>
        <p:nvSpPr>
          <p:cNvPr id="32" name="Rounded Rectangle 31"/>
          <p:cNvSpPr/>
          <p:nvPr/>
        </p:nvSpPr>
        <p:spPr>
          <a:xfrm>
            <a:off x="484632" y="2377440"/>
            <a:ext cx="11228832" cy="3474720"/>
          </a:xfrm>
          <a:prstGeom prst="roundRect">
            <a:avLst>
              <a:gd name="adj" fmla="val 12000"/>
            </a:avLst>
          </a:prstGeom>
          <a:solidFill>
            <a:srgbClr val="192B3E"/>
          </a:solidFill>
          <a:ln>
            <a:solidFill>
              <a:srgbClr val="405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 y="2551176"/>
            <a:ext cx="10789920" cy="265176"/>
          </a:xfrm>
          <a:prstGeom prst="rect">
            <a:avLst/>
          </a:prstGeom>
          <a:noFill/>
        </p:spPr>
        <p:txBody>
          <a:bodyPr wrap="square" tIns="0" bIns="0" lIns="0" rIns="0">
            <a:spAutoFit/>
          </a:bodyPr>
          <a:lstStyle/>
          <a:p>
            <a:pPr algn="l">
              <a:spcAft>
                <a:spcPts val="500"/>
              </a:spcAft>
              <a:defRPr sz="1200" b="1">
                <a:solidFill>
                  <a:srgbClr val="56D9BD"/>
                </a:solidFill>
                <a:latin typeface="Aptos"/>
              </a:defRPr>
            </a:pPr>
            <a:r>
              <a:t>VISUALIZE  ·  INSPECT  ·  EDIT  ·  RUN</a:t>
            </a:r>
          </a:p>
        </p:txBody>
      </p:sp>
      <p:sp>
        <p:nvSpPr>
          <p:cNvPr id="34" name="Rounded Rectangle 33"/>
          <p:cNvSpPr/>
          <p:nvPr/>
        </p:nvSpPr>
        <p:spPr>
          <a:xfrm>
            <a:off x="722376" y="3154680"/>
            <a:ext cx="2157984" cy="502920"/>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3282696"/>
            <a:ext cx="1920240" cy="292608"/>
          </a:xfrm>
          <a:prstGeom prst="rect">
            <a:avLst/>
          </a:prstGeom>
          <a:noFill/>
        </p:spPr>
        <p:txBody>
          <a:bodyPr wrap="square" tIns="0" bIns="0" lIns="0" rIns="0">
            <a:spAutoFit/>
          </a:bodyPr>
          <a:lstStyle/>
          <a:p>
            <a:pPr algn="ctr">
              <a:spcAft>
                <a:spcPts val="500"/>
              </a:spcAft>
              <a:defRPr sz="1400" b="1">
                <a:solidFill>
                  <a:srgbClr val="83BFFF"/>
                </a:solidFill>
                <a:latin typeface="Aptos"/>
              </a:defRPr>
            </a:pPr>
            <a:r>
              <a:t>Data sources</a:t>
            </a:r>
          </a:p>
        </p:txBody>
      </p:sp>
      <p:cxnSp>
        <p:nvCxnSpPr>
          <p:cNvPr id="36" name="Connector 35"/>
          <p:cNvCxnSpPr/>
          <p:nvPr/>
        </p:nvCxnSpPr>
        <p:spPr>
          <a:xfrm>
            <a:off x="2916936" y="3410712"/>
            <a:ext cx="246888" cy="0"/>
          </a:xfrm>
          <a:prstGeom prst="line">
            <a:avLst/>
          </a:prstGeom>
          <a:ln w="19050">
            <a:solidFill>
              <a:srgbClr val="83BFFF"/>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22376" y="3822191"/>
            <a:ext cx="2157984" cy="502920"/>
          </a:xfrm>
          <a:prstGeom prst="roundRect">
            <a:avLst>
              <a:gd name="adj" fmla="val 12000"/>
            </a:avLst>
          </a:prstGeom>
          <a:solidFill>
            <a:srgbClr val="22394D"/>
          </a:solid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 y="3950207"/>
            <a:ext cx="1920240" cy="292608"/>
          </a:xfrm>
          <a:prstGeom prst="rect">
            <a:avLst/>
          </a:prstGeom>
          <a:noFill/>
        </p:spPr>
        <p:txBody>
          <a:bodyPr wrap="square" tIns="0" bIns="0" lIns="0" rIns="0">
            <a:spAutoFit/>
          </a:bodyPr>
          <a:lstStyle/>
          <a:p>
            <a:pPr algn="ctr">
              <a:spcAft>
                <a:spcPts val="500"/>
              </a:spcAft>
              <a:defRPr sz="1400" b="1">
                <a:solidFill>
                  <a:srgbClr val="BEA5F4"/>
                </a:solidFill>
                <a:latin typeface="Aptos"/>
              </a:defRPr>
            </a:pPr>
            <a:r>
              <a:t>Custom models</a:t>
            </a:r>
          </a:p>
        </p:txBody>
      </p:sp>
      <p:cxnSp>
        <p:nvCxnSpPr>
          <p:cNvPr id="39" name="Connector 38"/>
          <p:cNvCxnSpPr/>
          <p:nvPr/>
        </p:nvCxnSpPr>
        <p:spPr>
          <a:xfrm>
            <a:off x="2916936" y="4078224"/>
            <a:ext cx="246888" cy="0"/>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22376" y="4489704"/>
            <a:ext cx="2157984" cy="502920"/>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 y="4617720"/>
            <a:ext cx="1920240" cy="292608"/>
          </a:xfrm>
          <a:prstGeom prst="rect">
            <a:avLst/>
          </a:prstGeom>
          <a:noFill/>
        </p:spPr>
        <p:txBody>
          <a:bodyPr wrap="square" tIns="0" bIns="0" lIns="0" rIns="0">
            <a:spAutoFit/>
          </a:bodyPr>
          <a:lstStyle/>
          <a:p>
            <a:pPr algn="ctr">
              <a:spcAft>
                <a:spcPts val="500"/>
              </a:spcAft>
              <a:defRPr sz="1400" b="1">
                <a:solidFill>
                  <a:srgbClr val="56D9BD"/>
                </a:solidFill>
                <a:latin typeface="Aptos"/>
              </a:defRPr>
            </a:pPr>
            <a:r>
              <a:t>Genetic algorithms</a:t>
            </a:r>
          </a:p>
        </p:txBody>
      </p:sp>
      <p:cxnSp>
        <p:nvCxnSpPr>
          <p:cNvPr id="42" name="Connector 41"/>
          <p:cNvCxnSpPr/>
          <p:nvPr/>
        </p:nvCxnSpPr>
        <p:spPr>
          <a:xfrm>
            <a:off x="2916936" y="4745736"/>
            <a:ext cx="246888" cy="0"/>
          </a:xfrm>
          <a:prstGeom prst="line">
            <a:avLst/>
          </a:prstGeom>
          <a:ln w="1905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163824" y="3410712"/>
            <a:ext cx="0" cy="1335024"/>
          </a:xfrm>
          <a:prstGeom prst="line">
            <a:avLst/>
          </a:prstGeom>
          <a:ln w="1905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163824" y="4096512"/>
            <a:ext cx="420624"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3497159" y="4096512"/>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3497159" y="4046533"/>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712463" y="3099816"/>
            <a:ext cx="2414016" cy="347472"/>
          </a:xfrm>
          <a:prstGeom prst="rect">
            <a:avLst/>
          </a:prstGeom>
          <a:noFill/>
        </p:spPr>
        <p:txBody>
          <a:bodyPr wrap="square" tIns="0" bIns="0" lIns="0" rIns="0">
            <a:spAutoFit/>
          </a:bodyPr>
          <a:lstStyle/>
          <a:p>
            <a:pPr algn="ctr">
              <a:spcAft>
                <a:spcPts val="500"/>
              </a:spcAft>
              <a:defRPr sz="1800" b="1">
                <a:solidFill>
                  <a:srgbClr val="56D9BD"/>
                </a:solidFill>
                <a:latin typeface="Aptos"/>
              </a:defRPr>
            </a:pPr>
            <a:r>
              <a:t>Execution graph</a:t>
            </a:r>
          </a:p>
        </p:txBody>
      </p:sp>
      <p:cxnSp>
        <p:nvCxnSpPr>
          <p:cNvPr id="48" name="Connector 47"/>
          <p:cNvCxnSpPr/>
          <p:nvPr/>
        </p:nvCxnSpPr>
        <p:spPr>
          <a:xfrm flipV="1">
            <a:off x="3933931" y="3941795"/>
            <a:ext cx="650139" cy="310165"/>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4526807" y="3941795"/>
            <a:ext cx="57263" cy="82693"/>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4483767" y="3934272"/>
            <a:ext cx="100303" cy="7523"/>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933931" y="4251960"/>
            <a:ext cx="650139" cy="310164"/>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4483767" y="4562124"/>
            <a:ext cx="100303" cy="7523"/>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526807" y="4479431"/>
            <a:ext cx="57263" cy="82693"/>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584070" y="3941795"/>
            <a:ext cx="671809" cy="310165"/>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5155680" y="4251960"/>
            <a:ext cx="100199" cy="8787"/>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5197578" y="4169995"/>
            <a:ext cx="58301" cy="81965"/>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584070" y="4251960"/>
            <a:ext cx="671809" cy="310164"/>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197578" y="4251960"/>
            <a:ext cx="58301" cy="81964"/>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5155680" y="4243172"/>
            <a:ext cx="100199" cy="878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55879" y="4251960"/>
            <a:ext cx="606796"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775386" y="4251960"/>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5775386" y="4201981"/>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3824203" y="4142232"/>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474342" y="3832067"/>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474342" y="4452396"/>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5146151" y="4142232"/>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5752947" y="4142232"/>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6089904" y="4096512"/>
            <a:ext cx="420624"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6423239" y="4096512"/>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6423239" y="4046533"/>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6089904" y="4096512"/>
            <a:ext cx="420624"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6089904" y="4046533"/>
            <a:ext cx="87288"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089904" y="4096512"/>
            <a:ext cx="87288"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6633972" y="3497580"/>
            <a:ext cx="1197864" cy="1197864"/>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675120" y="3867912"/>
            <a:ext cx="1115568" cy="438912"/>
          </a:xfrm>
          <a:prstGeom prst="rect">
            <a:avLst/>
          </a:prstGeom>
          <a:noFill/>
        </p:spPr>
        <p:txBody>
          <a:bodyPr wrap="square" tIns="0" bIns="0" lIns="0" rIns="0">
            <a:spAutoFit/>
          </a:bodyPr>
          <a:lstStyle/>
          <a:p>
            <a:pPr algn="ctr">
              <a:spcAft>
                <a:spcPts val="500"/>
              </a:spcAft>
              <a:defRPr sz="2800" b="1">
                <a:solidFill>
                  <a:srgbClr val="101D2C"/>
                </a:solidFill>
                <a:latin typeface="Aptos"/>
              </a:defRPr>
            </a:pPr>
            <a:r>
              <a:t>LLM</a:t>
            </a:r>
          </a:p>
        </p:txBody>
      </p:sp>
      <p:cxnSp>
        <p:nvCxnSpPr>
          <p:cNvPr id="76" name="Connector 75"/>
          <p:cNvCxnSpPr/>
          <p:nvPr/>
        </p:nvCxnSpPr>
        <p:spPr>
          <a:xfrm>
            <a:off x="7900416" y="4096512"/>
            <a:ext cx="420624" cy="0"/>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8233751" y="4096512"/>
            <a:ext cx="87289" cy="4997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8233751" y="4046533"/>
            <a:ext cx="87289" cy="49979"/>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7900416" y="4096512"/>
            <a:ext cx="420624" cy="0"/>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900416" y="4046533"/>
            <a:ext cx="87288" cy="49979"/>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900416" y="4096512"/>
            <a:ext cx="87288" cy="4997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449056" y="3008376"/>
            <a:ext cx="2916936" cy="640080"/>
          </a:xfrm>
          <a:prstGeom prst="rect">
            <a:avLst/>
          </a:prstGeom>
          <a:noFill/>
        </p:spPr>
        <p:txBody>
          <a:bodyPr wrap="square" tIns="0" bIns="0" lIns="0" rIns="0">
            <a:spAutoFit/>
          </a:bodyPr>
          <a:lstStyle/>
          <a:p>
            <a:pPr algn="ctr">
              <a:spcAft>
                <a:spcPts val="500"/>
              </a:spcAft>
              <a:defRPr sz="1800" b="1">
                <a:solidFill>
                  <a:srgbClr val="BEA5F4"/>
                </a:solidFill>
                <a:latin typeface="Aptos"/>
              </a:defRPr>
            </a:pPr>
            <a:r>
              <a:t>Neuro-symbolic</a:t>
            </a:r>
          </a:p>
          <a:p>
            <a:pPr algn="ctr">
              <a:spcAft>
                <a:spcPts val="500"/>
              </a:spcAft>
              <a:defRPr sz="1800" b="1">
                <a:solidFill>
                  <a:srgbClr val="BEA5F4"/>
                </a:solidFill>
                <a:latin typeface="Aptos"/>
              </a:defRPr>
            </a:pPr>
            <a:r>
              <a:t>knowledge graph</a:t>
            </a:r>
          </a:p>
        </p:txBody>
      </p:sp>
      <p:cxnSp>
        <p:nvCxnSpPr>
          <p:cNvPr id="83" name="Connector 82"/>
          <p:cNvCxnSpPr/>
          <p:nvPr/>
        </p:nvCxnSpPr>
        <p:spPr>
          <a:xfrm flipV="1">
            <a:off x="8870228" y="3925427"/>
            <a:ext cx="495422" cy="510784"/>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8870228" y="4436211"/>
            <a:ext cx="778520" cy="206746"/>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365650" y="3925427"/>
            <a:ext cx="754929" cy="267554"/>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9648748" y="4192981"/>
            <a:ext cx="471831" cy="449976"/>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648748" y="4642957"/>
            <a:ext cx="778520" cy="218907"/>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120579" y="4192981"/>
            <a:ext cx="849294" cy="279715"/>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120579" y="3864620"/>
            <a:ext cx="731337" cy="328361"/>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427268" y="4472696"/>
            <a:ext cx="542605" cy="389168"/>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0851916" y="3864620"/>
            <a:ext cx="117957" cy="60807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8810792" y="4376775"/>
            <a:ext cx="118872" cy="118872"/>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306214" y="3865991"/>
            <a:ext cx="118872" cy="118872"/>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589312" y="4583521"/>
            <a:ext cx="118872" cy="118872"/>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0061143" y="4133545"/>
            <a:ext cx="118872" cy="118872"/>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367832" y="4802428"/>
            <a:ext cx="118872" cy="118872"/>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0910437" y="4413260"/>
            <a:ext cx="118872" cy="118872"/>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792480" y="3805184"/>
            <a:ext cx="118872" cy="118872"/>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703320" y="5394960"/>
            <a:ext cx="7498079" cy="256032"/>
          </a:xfrm>
          <a:prstGeom prst="rect">
            <a:avLst/>
          </a:prstGeom>
          <a:noFill/>
        </p:spPr>
        <p:txBody>
          <a:bodyPr wrap="square" tIns="0" bIns="0" lIns="0" rIns="0">
            <a:spAutoFit/>
          </a:bodyPr>
          <a:lstStyle/>
          <a:p>
            <a:pPr algn="ctr">
              <a:spcAft>
                <a:spcPts val="500"/>
              </a:spcAft>
              <a:defRPr sz="1300" b="1">
                <a:solidFill>
                  <a:srgbClr val="F4C77E"/>
                </a:solidFill>
                <a:latin typeface="Aptos"/>
              </a:defRPr>
            </a:pPr>
            <a:r>
              <a:t>Evidence + execution history</a:t>
            </a:r>
          </a:p>
        </p:txBody>
      </p:sp>
      <p:sp>
        <p:nvSpPr>
          <p:cNvPr id="100" name="TextBox 99"/>
          <p:cNvSpPr txBox="1"/>
          <p:nvPr/>
        </p:nvSpPr>
        <p:spPr>
          <a:xfrm>
            <a:off x="704088" y="6053328"/>
            <a:ext cx="10826496" cy="256032"/>
          </a:xfrm>
          <a:prstGeom prst="rect">
            <a:avLst/>
          </a:prstGeom>
          <a:noFill/>
        </p:spPr>
        <p:txBody>
          <a:bodyPr wrap="square" tIns="0" bIns="0" lIns="0" rIns="0">
            <a:spAutoFit/>
          </a:bodyPr>
          <a:lstStyle/>
          <a:p>
            <a:pPr algn="ctr">
              <a:spcAft>
                <a:spcPts val="500"/>
              </a:spcAft>
              <a:defRPr sz="1600" b="0">
                <a:solidFill>
                  <a:srgbClr val="AFC1CE"/>
                </a:solidFill>
                <a:latin typeface="Aptos"/>
              </a:defRPr>
            </a:pPr>
            <a:r>
              <a:t>Materials  ↔  Chemistry  ↔  Biology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03 / THE DISTINCTIVE COMBINATION</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Human control. Compounding intelligence.</a:t>
            </a:r>
          </a:p>
        </p:txBody>
      </p:sp>
      <p:cxnSp>
        <p:nvCxnSpPr>
          <p:cNvPr id="4" name="Connector 3"/>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6" name="TextBox 5"/>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DESIGN GOALS / TO PROVE</a:t>
            </a:r>
          </a:p>
        </p:txBody>
      </p:sp>
      <p:sp>
        <p:nvSpPr>
          <p:cNvPr id="7" name="TextBox 6"/>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03</a:t>
            </a:r>
          </a:p>
        </p:txBody>
      </p:sp>
      <p:cxnSp>
        <p:nvCxnSpPr>
          <p:cNvPr id="8" name="Connector 7"/>
          <p:cNvCxnSpPr/>
          <p:nvPr/>
        </p:nvCxnSpPr>
        <p:spPr>
          <a:xfrm>
            <a:off x="4059936" y="2157984"/>
            <a:ext cx="0" cy="3474720"/>
          </a:xfrm>
          <a:prstGeom prst="line">
            <a:avLst/>
          </a:prstGeom>
          <a:ln w="1016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10144" y="2157984"/>
            <a:ext cx="0" cy="3474720"/>
          </a:xfrm>
          <a:prstGeom prst="line">
            <a:avLst/>
          </a:prstGeom>
          <a:ln w="10160">
            <a:solidFill>
              <a:srgbClr val="40586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792" y="1938528"/>
            <a:ext cx="3264408" cy="384048"/>
          </a:xfrm>
          <a:prstGeom prst="rect">
            <a:avLst/>
          </a:prstGeom>
          <a:noFill/>
        </p:spPr>
        <p:txBody>
          <a:bodyPr wrap="square" tIns="0" bIns="0" lIns="0" rIns="0">
            <a:spAutoFit/>
          </a:bodyPr>
          <a:lstStyle/>
          <a:p>
            <a:pPr algn="ctr">
              <a:spcAft>
                <a:spcPts val="500"/>
              </a:spcAft>
              <a:defRPr sz="1600" b="1">
                <a:solidFill>
                  <a:srgbClr val="BEA5F4"/>
                </a:solidFill>
                <a:latin typeface="Aptos"/>
              </a:defRPr>
            </a:pPr>
            <a:r>
              <a:t>NAVIGATE CONTEXT</a:t>
            </a:r>
          </a:p>
        </p:txBody>
      </p:sp>
      <p:sp>
        <p:nvSpPr>
          <p:cNvPr id="11" name="TextBox 10"/>
          <p:cNvSpPr txBox="1"/>
          <p:nvPr/>
        </p:nvSpPr>
        <p:spPr>
          <a:xfrm>
            <a:off x="4306824" y="1938528"/>
            <a:ext cx="3474720" cy="384048"/>
          </a:xfrm>
          <a:prstGeom prst="rect">
            <a:avLst/>
          </a:prstGeom>
          <a:noFill/>
        </p:spPr>
        <p:txBody>
          <a:bodyPr wrap="square" tIns="0" bIns="0" lIns="0" rIns="0">
            <a:spAutoFit/>
          </a:bodyPr>
          <a:lstStyle/>
          <a:p>
            <a:pPr algn="ctr">
              <a:spcAft>
                <a:spcPts val="500"/>
              </a:spcAft>
              <a:defRPr sz="1600" b="1">
                <a:solidFill>
                  <a:srgbClr val="83BFFF"/>
                </a:solidFill>
                <a:latin typeface="Aptos"/>
              </a:defRPr>
            </a:pPr>
            <a:r>
              <a:t>SHAPE EXECUTION</a:t>
            </a:r>
          </a:p>
        </p:txBody>
      </p:sp>
      <p:sp>
        <p:nvSpPr>
          <p:cNvPr id="12" name="TextBox 11"/>
          <p:cNvSpPr txBox="1"/>
          <p:nvPr/>
        </p:nvSpPr>
        <p:spPr>
          <a:xfrm>
            <a:off x="8257031" y="1938528"/>
            <a:ext cx="3310128" cy="384048"/>
          </a:xfrm>
          <a:prstGeom prst="rect">
            <a:avLst/>
          </a:prstGeom>
          <a:noFill/>
        </p:spPr>
        <p:txBody>
          <a:bodyPr wrap="square" tIns="0" bIns="0" lIns="0" rIns="0">
            <a:spAutoFit/>
          </a:bodyPr>
          <a:lstStyle/>
          <a:p>
            <a:pPr algn="ctr">
              <a:spcAft>
                <a:spcPts val="500"/>
              </a:spcAft>
              <a:defRPr sz="1600" b="1">
                <a:solidFill>
                  <a:srgbClr val="56D9BD"/>
                </a:solidFill>
                <a:latin typeface="Aptos"/>
              </a:defRPr>
            </a:pPr>
            <a:r>
              <a:t>EVOLVE PATHWAYS</a:t>
            </a:r>
          </a:p>
        </p:txBody>
      </p:sp>
      <p:cxnSp>
        <p:nvCxnSpPr>
          <p:cNvPr id="13" name="Connector 12"/>
          <p:cNvCxnSpPr/>
          <p:nvPr/>
        </p:nvCxnSpPr>
        <p:spPr>
          <a:xfrm flipV="1">
            <a:off x="843076" y="2837748"/>
            <a:ext cx="396850" cy="266640"/>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43076" y="3104388"/>
            <a:ext cx="481889" cy="26663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43076" y="3104388"/>
            <a:ext cx="56693" cy="725850"/>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39926" y="2837748"/>
            <a:ext cx="425196" cy="281453"/>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239926" y="2822935"/>
            <a:ext cx="963778" cy="14813"/>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324965" y="3119201"/>
            <a:ext cx="340157" cy="25182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24965" y="3371027"/>
            <a:ext cx="481889" cy="281452"/>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99769" y="3652479"/>
            <a:ext cx="907085" cy="17775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99769" y="3830238"/>
            <a:ext cx="566928" cy="29626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665122" y="2822935"/>
            <a:ext cx="538582" cy="29626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65122" y="3119201"/>
            <a:ext cx="680314" cy="148133"/>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806854" y="3267334"/>
            <a:ext cx="538582" cy="385145"/>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806854" y="3652479"/>
            <a:ext cx="340157" cy="31107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466697" y="3963558"/>
            <a:ext cx="680314" cy="16294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03704" y="2822935"/>
            <a:ext cx="595274" cy="207386"/>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345436" y="3030321"/>
            <a:ext cx="453542" cy="237013"/>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345436" y="3267334"/>
            <a:ext cx="481888" cy="474025"/>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147011" y="3741359"/>
            <a:ext cx="680313" cy="22219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798978" y="2852562"/>
            <a:ext cx="651967" cy="17775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98978" y="3030321"/>
            <a:ext cx="651967" cy="385145"/>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827324" y="3415466"/>
            <a:ext cx="623621" cy="325893"/>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827324" y="3741359"/>
            <a:ext cx="453543" cy="385145"/>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3280867" y="3415466"/>
            <a:ext cx="170078" cy="711038"/>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11072" y="3072384"/>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207922" y="2805744"/>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292961" y="3339023"/>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67765" y="3798234"/>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633118" y="3087197"/>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774850" y="3620475"/>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434693" y="4094500"/>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171700" y="2790931"/>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313432" y="3235330"/>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115007" y="3931554"/>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766974" y="2998317"/>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795320" y="3709355"/>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418941" y="2820558"/>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18941" y="3383462"/>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248863" y="4094500"/>
            <a:ext cx="64008" cy="6400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773936" y="3145536"/>
            <a:ext cx="941832" cy="621792"/>
          </a:xfrm>
          <a:prstGeom prst="roundRect">
            <a:avLst>
              <a:gd name="adj" fmla="val 12000"/>
            </a:avLst>
          </a:prstGeom>
          <a:no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flipH="1">
            <a:off x="1399032" y="3767328"/>
            <a:ext cx="374904" cy="722376"/>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715768" y="3767328"/>
            <a:ext cx="402336" cy="722376"/>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1225296" y="4507992"/>
            <a:ext cx="2039112" cy="850392"/>
          </a:xfrm>
          <a:prstGeom prst="roundRect">
            <a:avLst>
              <a:gd name="adj" fmla="val 12000"/>
            </a:avLst>
          </a:prstGeom>
          <a:solidFill>
            <a:srgbClr val="192B3E"/>
          </a:solid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flipV="1">
            <a:off x="1444752" y="4678070"/>
            <a:ext cx="699516" cy="213970"/>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444752" y="4892040"/>
            <a:ext cx="777240" cy="21396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144268" y="4678070"/>
            <a:ext cx="854964" cy="213970"/>
          </a:xfrm>
          <a:prstGeom prst="line">
            <a:avLst/>
          </a:prstGeom>
          <a:ln w="3556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221992" y="4892040"/>
            <a:ext cx="777240" cy="213969"/>
          </a:xfrm>
          <a:prstGeom prst="line">
            <a:avLst/>
          </a:prstGeom>
          <a:ln w="13970">
            <a:solidFill>
              <a:srgbClr val="40586A"/>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1389888" y="4837176"/>
            <a:ext cx="109728" cy="109728"/>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089404" y="4623206"/>
            <a:ext cx="109728" cy="109728"/>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167128" y="5051145"/>
            <a:ext cx="109728" cy="109728"/>
          </a:xfrm>
          <a:prstGeom prst="ellipse">
            <a:avLst/>
          </a:prstGeom>
          <a:solidFill>
            <a:srgbClr val="83B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944368" y="4837176"/>
            <a:ext cx="109728" cy="109728"/>
          </a:xfrm>
          <a:prstGeom prst="ellipse">
            <a:avLst/>
          </a:prstGeom>
          <a:solidFill>
            <a:srgbClr val="56D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flipV="1">
            <a:off x="4719035" y="3088111"/>
            <a:ext cx="872338" cy="450617"/>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536757" y="3088111"/>
            <a:ext cx="54616" cy="84465"/>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5490882" y="3083768"/>
            <a:ext cx="100491" cy="4343"/>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719035" y="3538728"/>
            <a:ext cx="872338" cy="450616"/>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490882" y="3989344"/>
            <a:ext cx="100491" cy="4343"/>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5536757" y="3904879"/>
            <a:ext cx="54616" cy="84465"/>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91373" y="3088111"/>
            <a:ext cx="901415" cy="450617"/>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6392364" y="3538728"/>
            <a:ext cx="100424" cy="5673"/>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6437059" y="3454993"/>
            <a:ext cx="55729" cy="83735"/>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591373" y="3538728"/>
            <a:ext cx="901415" cy="450616"/>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6437059" y="3538728"/>
            <a:ext cx="55729" cy="83734"/>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6392364" y="3533054"/>
            <a:ext cx="100424" cy="5674"/>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492788" y="3538728"/>
            <a:ext cx="814182" cy="0"/>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7219681" y="3538728"/>
            <a:ext cx="87289" cy="49978"/>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7219681" y="3488749"/>
            <a:ext cx="87289" cy="49979"/>
          </a:xfrm>
          <a:prstGeom prst="line">
            <a:avLst/>
          </a:prstGeom>
          <a:ln w="25400">
            <a:solidFill>
              <a:srgbClr val="83BFFF"/>
            </a:solidFill>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4609307" y="3429000"/>
            <a:ext cx="219456" cy="219456"/>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5481645" y="2978383"/>
            <a:ext cx="219456" cy="219456"/>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5481645" y="3879616"/>
            <a:ext cx="219456" cy="219456"/>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6383060" y="3429000"/>
            <a:ext cx="219456" cy="219456"/>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197242" y="3429000"/>
            <a:ext cx="219456" cy="219456"/>
          </a:xfrm>
          <a:prstGeom prst="roundRect">
            <a:avLst>
              <a:gd name="adj" fmla="val 12000"/>
            </a:avLst>
          </a:prstGeom>
          <a:solidFill>
            <a:srgbClr val="22394D"/>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5577840" y="4654296"/>
            <a:ext cx="1335024" cy="475488"/>
          </a:xfrm>
          <a:prstGeom prst="roundRect">
            <a:avLst>
              <a:gd name="adj" fmla="val 12000"/>
            </a:avLst>
          </a:prstGeom>
          <a:solidFill>
            <a:srgbClr val="22394D"/>
          </a:solidFill>
          <a:ln>
            <a:solidFill>
              <a:srgbClr val="F4C7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669280" y="4773168"/>
            <a:ext cx="1152144" cy="274320"/>
          </a:xfrm>
          <a:prstGeom prst="rect">
            <a:avLst/>
          </a:prstGeom>
          <a:noFill/>
        </p:spPr>
        <p:txBody>
          <a:bodyPr wrap="square" tIns="0" bIns="0" lIns="0" rIns="0">
            <a:spAutoFit/>
          </a:bodyPr>
          <a:lstStyle/>
          <a:p>
            <a:pPr algn="ctr">
              <a:spcAft>
                <a:spcPts val="500"/>
              </a:spcAft>
              <a:defRPr sz="1400" b="1">
                <a:solidFill>
                  <a:srgbClr val="F4C77E"/>
                </a:solidFill>
                <a:latin typeface="Aptos"/>
              </a:defRPr>
            </a:pPr>
            <a:r>
              <a:t>New assay</a:t>
            </a:r>
          </a:p>
        </p:txBody>
      </p:sp>
      <p:cxnSp>
        <p:nvCxnSpPr>
          <p:cNvPr id="85" name="Connector 84"/>
          <p:cNvCxnSpPr/>
          <p:nvPr/>
        </p:nvCxnSpPr>
        <p:spPr>
          <a:xfrm>
            <a:off x="5596128" y="4096512"/>
            <a:ext cx="0" cy="310896"/>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596128" y="4407408"/>
            <a:ext cx="502920" cy="201168"/>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5999441" y="4608576"/>
            <a:ext cx="99607" cy="13985"/>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6036563" y="4529754"/>
            <a:ext cx="62485" cy="78822"/>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473952" y="3822191"/>
            <a:ext cx="484632" cy="822961"/>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sp>
        <p:nvSpPr>
          <p:cNvPr id="90" name="Right Triangle 89"/>
          <p:cNvSpPr/>
          <p:nvPr/>
        </p:nvSpPr>
        <p:spPr>
          <a:xfrm rot="19800000">
            <a:off x="7123176" y="4800600"/>
            <a:ext cx="228600" cy="356616"/>
          </a:xfrm>
          <a:prstGeom prst="rtTriangle">
            <a:avLst/>
          </a:prstGeom>
          <a:solidFill>
            <a:srgbClr val="F1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flipV="1">
            <a:off x="8678021" y="2813243"/>
            <a:ext cx="779069" cy="254569"/>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9389642" y="2813243"/>
            <a:ext cx="67448" cy="74618"/>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9358595" y="2792848"/>
            <a:ext cx="98495" cy="20395"/>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678021" y="3067812"/>
            <a:ext cx="779069" cy="254568"/>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9358595" y="3322380"/>
            <a:ext cx="98495" cy="20395"/>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9389642" y="3247762"/>
            <a:ext cx="67448" cy="74618"/>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9457090" y="2813243"/>
            <a:ext cx="805038" cy="254569"/>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10163832" y="3067812"/>
            <a:ext cx="98296" cy="21334"/>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0193970" y="2993841"/>
            <a:ext cx="68158" cy="73971"/>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457090" y="3067812"/>
            <a:ext cx="805038" cy="254568"/>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10193970" y="3067812"/>
            <a:ext cx="68158" cy="73970"/>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10163832" y="3046477"/>
            <a:ext cx="98296" cy="21335"/>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262128" y="3067812"/>
            <a:ext cx="727131" cy="0"/>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10901970" y="3067812"/>
            <a:ext cx="87289" cy="49978"/>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0901970" y="3017833"/>
            <a:ext cx="87289" cy="49979"/>
          </a:xfrm>
          <a:prstGeom prst="line">
            <a:avLst/>
          </a:prstGeom>
          <a:ln w="25400">
            <a:solidFill>
              <a:srgbClr val="40586A"/>
            </a:solidFill>
          </a:ln>
        </p:spPr>
        <p:style>
          <a:lnRef idx="2">
            <a:schemeClr val="accent1"/>
          </a:lnRef>
          <a:fillRef idx="0">
            <a:schemeClr val="accent1"/>
          </a:fillRef>
          <a:effectRef idx="1">
            <a:schemeClr val="accent1"/>
          </a:effectRef>
          <a:fontRef idx="minor">
            <a:schemeClr val="tx1"/>
          </a:fontRef>
        </p:style>
      </p:cxnSp>
      <p:sp>
        <p:nvSpPr>
          <p:cNvPr id="106" name="Rounded Rectangle 105"/>
          <p:cNvSpPr/>
          <p:nvPr/>
        </p:nvSpPr>
        <p:spPr>
          <a:xfrm>
            <a:off x="8568293" y="2958084"/>
            <a:ext cx="219456" cy="219456"/>
          </a:xfrm>
          <a:prstGeom prst="roundRect">
            <a:avLst>
              <a:gd name="adj" fmla="val 12000"/>
            </a:avLst>
          </a:prstGeom>
          <a:solidFill>
            <a:srgbClr val="22394D"/>
          </a:solidFill>
          <a:ln>
            <a:solidFill>
              <a:srgbClr val="405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9347362" y="2703515"/>
            <a:ext cx="219456" cy="219456"/>
          </a:xfrm>
          <a:prstGeom prst="roundRect">
            <a:avLst>
              <a:gd name="adj" fmla="val 12000"/>
            </a:avLst>
          </a:prstGeom>
          <a:solidFill>
            <a:srgbClr val="22394D"/>
          </a:solidFill>
          <a:ln>
            <a:solidFill>
              <a:srgbClr val="405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9347362" y="3212652"/>
            <a:ext cx="219456" cy="219456"/>
          </a:xfrm>
          <a:prstGeom prst="roundRect">
            <a:avLst>
              <a:gd name="adj" fmla="val 12000"/>
            </a:avLst>
          </a:prstGeom>
          <a:solidFill>
            <a:srgbClr val="22394D"/>
          </a:solidFill>
          <a:ln>
            <a:solidFill>
              <a:srgbClr val="405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10152400" y="2958084"/>
            <a:ext cx="219456" cy="219456"/>
          </a:xfrm>
          <a:prstGeom prst="roundRect">
            <a:avLst>
              <a:gd name="adj" fmla="val 12000"/>
            </a:avLst>
          </a:prstGeom>
          <a:solidFill>
            <a:srgbClr val="22394D"/>
          </a:solidFill>
          <a:ln>
            <a:solidFill>
              <a:srgbClr val="405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10879531" y="2958084"/>
            <a:ext cx="219456" cy="219456"/>
          </a:xfrm>
          <a:prstGeom prst="roundRect">
            <a:avLst>
              <a:gd name="adj" fmla="val 12000"/>
            </a:avLst>
          </a:prstGeom>
          <a:solidFill>
            <a:srgbClr val="22394D"/>
          </a:solidFill>
          <a:ln>
            <a:solidFill>
              <a:srgbClr val="405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1" name="Connector 110"/>
          <p:cNvCxnSpPr/>
          <p:nvPr/>
        </p:nvCxnSpPr>
        <p:spPr>
          <a:xfrm>
            <a:off x="9921240" y="3666744"/>
            <a:ext cx="0" cy="512064"/>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9871261" y="4091519"/>
            <a:ext cx="49979" cy="8728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9921240" y="4091519"/>
            <a:ext cx="49978" cy="8728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8678021" y="4595225"/>
            <a:ext cx="779069" cy="301387"/>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9393713" y="4595225"/>
            <a:ext cx="63377" cy="78106"/>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9357649" y="4580107"/>
            <a:ext cx="99441" cy="1511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678021" y="4896612"/>
            <a:ext cx="779069" cy="301386"/>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9357649" y="5197998"/>
            <a:ext cx="99441" cy="1511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flipV="1">
            <a:off x="9393713" y="5119892"/>
            <a:ext cx="63377" cy="78106"/>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9457090" y="4444532"/>
            <a:ext cx="831007" cy="150693"/>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10211126" y="4444532"/>
            <a:ext cx="76971" cy="64751"/>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flipV="1">
            <a:off x="10193291" y="4410931"/>
            <a:ext cx="94806" cy="33601"/>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288097" y="4444532"/>
            <a:ext cx="701162" cy="45208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flipV="1">
            <a:off x="10888814" y="4891315"/>
            <a:ext cx="100445" cy="5297"/>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flipV="1">
            <a:off x="10942979" y="4807307"/>
            <a:ext cx="46280" cy="89305"/>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9457090" y="4896612"/>
            <a:ext cx="805038" cy="301386"/>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a:off x="10197903" y="4896612"/>
            <a:ext cx="64225" cy="7740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H="1" flipV="1">
            <a:off x="10162857" y="4880410"/>
            <a:ext cx="99271" cy="16202"/>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10262128" y="4896612"/>
            <a:ext cx="727131"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a:off x="10901970" y="4896612"/>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flipV="1">
            <a:off x="10901970" y="4846633"/>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132" name="Rounded Rectangle 131"/>
          <p:cNvSpPr/>
          <p:nvPr/>
        </p:nvSpPr>
        <p:spPr>
          <a:xfrm>
            <a:off x="8568293" y="4786883"/>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9347362" y="4485497"/>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9347362" y="5088270"/>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10152400" y="4786883"/>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10879531" y="4786883"/>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10178369" y="4334804"/>
            <a:ext cx="219456" cy="219456"/>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85216" y="5586984"/>
            <a:ext cx="3319272" cy="356616"/>
          </a:xfrm>
          <a:prstGeom prst="rect">
            <a:avLst/>
          </a:prstGeom>
          <a:noFill/>
        </p:spPr>
        <p:txBody>
          <a:bodyPr wrap="square" tIns="0" bIns="0" lIns="0" rIns="0">
            <a:spAutoFit/>
          </a:bodyPr>
          <a:lstStyle/>
          <a:p>
            <a:pPr algn="ctr">
              <a:spcAft>
                <a:spcPts val="500"/>
              </a:spcAft>
              <a:defRPr sz="2000" b="1">
                <a:solidFill>
                  <a:srgbClr val="BEA5F4"/>
                </a:solidFill>
                <a:latin typeface="Aptos"/>
              </a:defRPr>
            </a:pPr>
            <a:r>
              <a:t>Massive context</a:t>
            </a:r>
          </a:p>
        </p:txBody>
      </p:sp>
      <p:sp>
        <p:nvSpPr>
          <p:cNvPr id="139" name="TextBox 138"/>
          <p:cNvSpPr txBox="1"/>
          <p:nvPr/>
        </p:nvSpPr>
        <p:spPr>
          <a:xfrm>
            <a:off x="4370832" y="5586984"/>
            <a:ext cx="3319272" cy="356616"/>
          </a:xfrm>
          <a:prstGeom prst="rect">
            <a:avLst/>
          </a:prstGeom>
          <a:noFill/>
        </p:spPr>
        <p:txBody>
          <a:bodyPr wrap="square" tIns="0" bIns="0" lIns="0" rIns="0">
            <a:spAutoFit/>
          </a:bodyPr>
          <a:lstStyle/>
          <a:p>
            <a:pPr algn="ctr">
              <a:spcAft>
                <a:spcPts val="500"/>
              </a:spcAft>
              <a:defRPr sz="2000" b="1">
                <a:solidFill>
                  <a:srgbClr val="83BFFF"/>
                </a:solidFill>
                <a:latin typeface="Aptos"/>
              </a:defRPr>
            </a:pPr>
            <a:r>
              <a:t>Role-based editing</a:t>
            </a:r>
          </a:p>
        </p:txBody>
      </p:sp>
      <p:sp>
        <p:nvSpPr>
          <p:cNvPr id="140" name="TextBox 139"/>
          <p:cNvSpPr txBox="1"/>
          <p:nvPr/>
        </p:nvSpPr>
        <p:spPr>
          <a:xfrm>
            <a:off x="8247888" y="5586984"/>
            <a:ext cx="3319272" cy="356616"/>
          </a:xfrm>
          <a:prstGeom prst="rect">
            <a:avLst/>
          </a:prstGeom>
          <a:noFill/>
        </p:spPr>
        <p:txBody>
          <a:bodyPr wrap="square" tIns="0" bIns="0" lIns="0" rIns="0">
            <a:spAutoFit/>
          </a:bodyPr>
          <a:lstStyle/>
          <a:p>
            <a:pPr algn="ctr">
              <a:spcAft>
                <a:spcPts val="500"/>
              </a:spcAft>
              <a:defRPr sz="2000" b="1">
                <a:solidFill>
                  <a:srgbClr val="56D9BD"/>
                </a:solidFill>
                <a:latin typeface="Aptos"/>
              </a:defRPr>
            </a:pPr>
            <a:r>
              <a:t>Search the research</a:t>
            </a:r>
          </a:p>
        </p:txBody>
      </p:sp>
      <p:sp>
        <p:nvSpPr>
          <p:cNvPr id="141" name="TextBox 140"/>
          <p:cNvSpPr txBox="1"/>
          <p:nvPr/>
        </p:nvSpPr>
        <p:spPr>
          <a:xfrm>
            <a:off x="658368" y="6135624"/>
            <a:ext cx="10881360" cy="246888"/>
          </a:xfrm>
          <a:prstGeom prst="rect">
            <a:avLst/>
          </a:prstGeom>
          <a:noFill/>
        </p:spPr>
        <p:txBody>
          <a:bodyPr wrap="square" tIns="0" bIns="0" lIns="0" rIns="0">
            <a:spAutoFit/>
          </a:bodyPr>
          <a:lstStyle/>
          <a:p>
            <a:pPr algn="ctr">
              <a:spcAft>
                <a:spcPts val="500"/>
              </a:spcAft>
              <a:defRPr sz="1700" b="1">
                <a:solidFill>
                  <a:srgbClr val="F1F5F6"/>
                </a:solidFill>
                <a:latin typeface="Aptos"/>
              </a:defRPr>
            </a:pPr>
            <a:r>
              <a:t>Reusable science. Customizable campaigns. Retained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Amphora | Visual Engine Story</dc:title>
  <dc:subject>Presenter-led visual story: why, how, and differentiation</dc:subject>
  <dc:creator>Amphora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