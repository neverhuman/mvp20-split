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Condenses the opportunity and architecture slides. Two authored graphs describe scientific knowledge and executable campaigns; history is derived from runs. Every loop must have constraints, resource limits and review rules. The full engine is a proposed capability, not a delivered system. The economic hypotheses require measured pilot evidence. Numerical search exists in the checkout, but generic pathway evolution and biological evaluators are not established as delivered.</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map shows advertised capability categories and the proposed Amphora role, not existing integrations or partnerships. Categories overlap. Incumbents already support AI, workflows, scientific context, active learning, graphs and human review. Citrine is a close materials-side alternative; scientific agent products are serious competitors. The arrow does not imply these vendors lack integration or that only Amphora can connect them. Validate change effort, evidence traceability, reuse and cost on the combined use case. Pathway evolution also has research prior art: AFlow https://arxiv.org/abs/2410.10762 and ADAS https://arxiv.org/abs/2408.08435. No exclusive novelty is asserted.</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a:p>
            <a:r>
              <a:t>[S1] Benchling AI: https://www.benchling.com/ai (accessed 2026-09-16; vendor description)</a:t>
            </a:r>
          </a:p>
          <a:p>
            <a:r>
              <a:t>[S2] Citrine Catalyst: https://citrine.io/platform/citrine-catalyst/ (accessed 2026-09-16; vendor description)</a:t>
            </a:r>
          </a:p>
          <a:p>
            <a:r>
              <a:t>[S3] Citrine sequential learning: https://citrine.io/doe/ (accessed 2026-09-16; vendor description)</a:t>
            </a:r>
          </a:p>
          <a:p>
            <a:r>
              <a:t>[S4] Schrödinger active learning: https://www.schrodinger.com/platform/products/active-learning-applications/ (accessed 2026-09-16; vendor description)</a:t>
            </a:r>
          </a:p>
          <a:p>
            <a:r>
              <a:t>[S5] Synthace: https://www.synthace.com/what-we-do (accessed 2026-09-16; vendor description)</a:t>
            </a:r>
          </a:p>
          <a:p>
            <a:r>
              <a:t>[S6] Automata LINQ: https://docs.automata.tech/tasks-transport (accessed 2026-09-16; vendor description)</a:t>
            </a:r>
          </a:p>
          <a:p>
            <a:r>
              <a:t>[S7] Recursion OS: https://www.recursion.com/faq (accessed 2026-09-16; vendor description)</a:t>
            </a:r>
          </a:p>
          <a:p>
            <a:r>
              <a:t>[S8] Claude Science: https://www.anthropic.com/news/claude-science-ai-workbench (accessed 2026-09-16; vendor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Condenses why-build, potential defensibility and investment milestones. Outcome-linked campaign history and validated adapters could create repeatable value, but the architecture alone is not a moat. Customer/project data remains private unless reuse is authorized. Proposed entry through focused delivery/formulation work is a commercial hypothesis, not customer traction. Current reusable code includes numerical optimization and evidence infrastructure; graph execution, scientific evaluator coverage and workflow evolution need implementation/validation. Compare the same data, tools and budget against a fixed scientist-designed workflow and an incumbent or agent-assisted alternative. Measure outcomes, change effort, decision reconstruction, reuse and total cost. No funding amount, revenues, ROI figures or clinical claims are supplied.</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01 / THE ENGINE</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Research changes. The pathway should evolve.</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Amphora’s proposed engine connects scientific knowledge, executable work and every result.</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TARGET ARCHITECTURE</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01</a:t>
            </a:r>
          </a:p>
        </p:txBody>
      </p:sp>
      <p:sp>
        <p:nvSpPr>
          <p:cNvPr id="9" name="Rounded Rectangle 8"/>
          <p:cNvSpPr/>
          <p:nvPr/>
        </p:nvSpPr>
        <p:spPr>
          <a:xfrm>
            <a:off x="493776" y="2423160"/>
            <a:ext cx="2103120" cy="2962656"/>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706624"/>
            <a:ext cx="1700784" cy="274320"/>
          </a:xfrm>
          <a:prstGeom prst="rect">
            <a:avLst/>
          </a:prstGeom>
          <a:noFill/>
        </p:spPr>
        <p:txBody>
          <a:bodyPr wrap="square" tIns="0" bIns="0" lIns="0" rIns="0">
            <a:spAutoFit/>
          </a:bodyPr>
          <a:lstStyle/>
          <a:p>
            <a:pPr algn="l">
              <a:spcAft>
                <a:spcPts val="500"/>
              </a:spcAft>
              <a:defRPr sz="1200" b="1">
                <a:solidFill>
                  <a:srgbClr val="56D9BD"/>
                </a:solidFill>
                <a:latin typeface="Aptos"/>
              </a:defRPr>
            </a:pPr>
            <a:r>
              <a:t>THE QUESTION</a:t>
            </a:r>
          </a:p>
        </p:txBody>
      </p:sp>
      <p:sp>
        <p:nvSpPr>
          <p:cNvPr id="11" name="TextBox 10"/>
          <p:cNvSpPr txBox="1"/>
          <p:nvPr/>
        </p:nvSpPr>
        <p:spPr>
          <a:xfrm>
            <a:off x="704088" y="3364992"/>
            <a:ext cx="1673352" cy="1280160"/>
          </a:xfrm>
          <a:prstGeom prst="rect">
            <a:avLst/>
          </a:prstGeom>
          <a:noFill/>
        </p:spPr>
        <p:txBody>
          <a:bodyPr wrap="square" tIns="0" bIns="0" lIns="0" rIns="0">
            <a:spAutoFit/>
          </a:bodyPr>
          <a:lstStyle/>
          <a:p>
            <a:pPr algn="l">
              <a:spcAft>
                <a:spcPts val="500"/>
              </a:spcAft>
              <a:defRPr sz="2400" b="1">
                <a:solidFill>
                  <a:srgbClr val="F1F5F6"/>
                </a:solidFill>
                <a:latin typeface="Aptos"/>
              </a:defRPr>
            </a:pPr>
            <a:r>
              <a:t>What do</a:t>
            </a:r>
          </a:p>
          <a:p>
            <a:pPr algn="l">
              <a:spcAft>
                <a:spcPts val="500"/>
              </a:spcAft>
              <a:defRPr sz="2400" b="1">
                <a:solidFill>
                  <a:srgbClr val="F1F5F6"/>
                </a:solidFill>
                <a:latin typeface="Aptos"/>
              </a:defRPr>
            </a:pPr>
            <a:r>
              <a:t>we try</a:t>
            </a:r>
          </a:p>
          <a:p>
            <a:pPr algn="l">
              <a:spcAft>
                <a:spcPts val="500"/>
              </a:spcAft>
              <a:defRPr sz="2400" b="1">
                <a:solidFill>
                  <a:srgbClr val="F1F5F6"/>
                </a:solidFill>
                <a:latin typeface="Aptos"/>
              </a:defRPr>
            </a:pPr>
            <a:r>
              <a:t>next?</a:t>
            </a:r>
          </a:p>
        </p:txBody>
      </p:sp>
      <p:sp>
        <p:nvSpPr>
          <p:cNvPr id="12" name="TextBox 11"/>
          <p:cNvSpPr txBox="1"/>
          <p:nvPr/>
        </p:nvSpPr>
        <p:spPr>
          <a:xfrm>
            <a:off x="704088" y="4791456"/>
            <a:ext cx="1682496" cy="420624"/>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Materials + biology</a:t>
            </a:r>
          </a:p>
        </p:txBody>
      </p:sp>
      <p:sp>
        <p:nvSpPr>
          <p:cNvPr id="13" name="Rounded Rectangle 12"/>
          <p:cNvSpPr/>
          <p:nvPr/>
        </p:nvSpPr>
        <p:spPr>
          <a:xfrm>
            <a:off x="3200400" y="2359152"/>
            <a:ext cx="8485632" cy="539496"/>
          </a:xfrm>
          <a:prstGeom prst="roundRect">
            <a:avLst>
              <a:gd name="adj" fmla="val 12000"/>
            </a:avLst>
          </a:prstGeom>
          <a:solidFill>
            <a:srgbClr val="192B3E"/>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92424" y="2514600"/>
            <a:ext cx="8083296" cy="292608"/>
          </a:xfrm>
          <a:prstGeom prst="rect">
            <a:avLst/>
          </a:prstGeom>
          <a:noFill/>
        </p:spPr>
        <p:txBody>
          <a:bodyPr wrap="square" tIns="0" bIns="0" lIns="0" rIns="0">
            <a:spAutoFit/>
          </a:bodyPr>
          <a:lstStyle/>
          <a:p>
            <a:pPr algn="l">
              <a:spcAft>
                <a:spcPts val="500"/>
              </a:spcAft>
              <a:defRPr sz="1500" b="1">
                <a:solidFill>
                  <a:srgbClr val="BEA5F4"/>
                </a:solidFill>
                <a:latin typeface="Aptos"/>
              </a:defRPr>
            </a:pPr>
            <a:r>
              <a:t>KNOWLEDGE   /   Evidence, mechanisms and scientific limits</a:t>
            </a:r>
          </a:p>
        </p:txBody>
      </p:sp>
      <p:sp>
        <p:nvSpPr>
          <p:cNvPr id="15" name="Rounded Rectangle 14"/>
          <p:cNvSpPr/>
          <p:nvPr/>
        </p:nvSpPr>
        <p:spPr>
          <a:xfrm>
            <a:off x="3218688" y="3456432"/>
            <a:ext cx="1783080" cy="868680"/>
          </a:xfrm>
          <a:prstGeom prst="roundRect">
            <a:avLst>
              <a:gd name="adj" fmla="val 12000"/>
            </a:avLst>
          </a:prstGeom>
          <a:solidFill>
            <a:srgbClr val="192B3E"/>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3621024"/>
            <a:ext cx="1545336"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Acquire</a:t>
            </a:r>
          </a:p>
        </p:txBody>
      </p:sp>
      <p:sp>
        <p:nvSpPr>
          <p:cNvPr id="17" name="Rounded Rectangle 16"/>
          <p:cNvSpPr/>
          <p:nvPr/>
        </p:nvSpPr>
        <p:spPr>
          <a:xfrm>
            <a:off x="5440680" y="3456432"/>
            <a:ext cx="1783080" cy="868680"/>
          </a:xfrm>
          <a:prstGeom prst="roundRect">
            <a:avLst>
              <a:gd name="adj" fmla="val 12000"/>
            </a:avLst>
          </a:prstGeom>
          <a:solidFill>
            <a:srgbClr val="192B3E"/>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59552" y="3621024"/>
            <a:ext cx="1545336"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Design</a:t>
            </a:r>
          </a:p>
        </p:txBody>
      </p:sp>
      <p:sp>
        <p:nvSpPr>
          <p:cNvPr id="19" name="Rounded Rectangle 18"/>
          <p:cNvSpPr/>
          <p:nvPr/>
        </p:nvSpPr>
        <p:spPr>
          <a:xfrm>
            <a:off x="7662672" y="3456432"/>
            <a:ext cx="1783080" cy="868680"/>
          </a:xfrm>
          <a:prstGeom prst="roundRect">
            <a:avLst>
              <a:gd name="adj" fmla="val 12000"/>
            </a:avLst>
          </a:prstGeom>
          <a:solidFill>
            <a:srgbClr val="192B3E"/>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81544" y="3621024"/>
            <a:ext cx="1545336"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Evaluate</a:t>
            </a:r>
          </a:p>
        </p:txBody>
      </p:sp>
      <p:sp>
        <p:nvSpPr>
          <p:cNvPr id="21" name="Rounded Rectangle 20"/>
          <p:cNvSpPr/>
          <p:nvPr/>
        </p:nvSpPr>
        <p:spPr>
          <a:xfrm>
            <a:off x="9884664" y="3456432"/>
            <a:ext cx="1783080" cy="868680"/>
          </a:xfrm>
          <a:prstGeom prst="roundRect">
            <a:avLst>
              <a:gd name="adj" fmla="val 12000"/>
            </a:avLst>
          </a:prstGeom>
          <a:solidFill>
            <a:srgbClr val="192B3E"/>
          </a:solidFill>
          <a:ln>
            <a:solidFill>
              <a:srgbClr val="F4C7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03536" y="3621024"/>
            <a:ext cx="1545336"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Review</a:t>
            </a:r>
          </a:p>
        </p:txBody>
      </p:sp>
      <p:cxnSp>
        <p:nvCxnSpPr>
          <p:cNvPr id="23" name="Connector 22"/>
          <p:cNvCxnSpPr/>
          <p:nvPr/>
        </p:nvCxnSpPr>
        <p:spPr>
          <a:xfrm>
            <a:off x="2624328" y="3877056"/>
            <a:ext cx="530352"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067391" y="3877056"/>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3067391" y="3827077"/>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010912" y="3877056"/>
            <a:ext cx="365760"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289383" y="3877056"/>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5289383" y="3827077"/>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232904" y="3877056"/>
            <a:ext cx="365760"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7511375" y="3877056"/>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7511375" y="3827077"/>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54896" y="3877056"/>
            <a:ext cx="365760"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733367" y="3877056"/>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9733367" y="3827077"/>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549640" y="2907792"/>
            <a:ext cx="0" cy="512064"/>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8499661" y="3332567"/>
            <a:ext cx="49979" cy="87289"/>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549640" y="3332567"/>
            <a:ext cx="49978" cy="87289"/>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549640" y="4352544"/>
            <a:ext cx="0" cy="566928"/>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336792" y="4919472"/>
            <a:ext cx="2212848" cy="0"/>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336792" y="4352544"/>
            <a:ext cx="0" cy="56692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336792" y="4352544"/>
            <a:ext cx="49978" cy="8728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6286813" y="4352544"/>
            <a:ext cx="49979" cy="8728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09944" y="4608576"/>
            <a:ext cx="2029968" cy="246888"/>
          </a:xfrm>
          <a:prstGeom prst="rect">
            <a:avLst/>
          </a:prstGeom>
          <a:noFill/>
        </p:spPr>
        <p:txBody>
          <a:bodyPr wrap="square" tIns="0" bIns="0" lIns="0" rIns="0">
            <a:spAutoFit/>
          </a:bodyPr>
          <a:lstStyle/>
          <a:p>
            <a:pPr algn="l">
              <a:spcAft>
                <a:spcPts val="500"/>
              </a:spcAft>
              <a:defRPr sz="1000" b="1">
                <a:solidFill>
                  <a:srgbClr val="BEA5F4"/>
                </a:solidFill>
                <a:latin typeface="Aptos"/>
              </a:defRPr>
            </a:pPr>
            <a:r>
              <a:t>NEW EVIDENCE → REVISE</a:t>
            </a:r>
          </a:p>
        </p:txBody>
      </p:sp>
      <p:sp>
        <p:nvSpPr>
          <p:cNvPr id="44" name="Rounded Rectangle 43"/>
          <p:cNvSpPr/>
          <p:nvPr/>
        </p:nvSpPr>
        <p:spPr>
          <a:xfrm>
            <a:off x="3200400" y="5303520"/>
            <a:ext cx="8485632" cy="530352"/>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01568" y="5449824"/>
            <a:ext cx="8092440" cy="274320"/>
          </a:xfrm>
          <a:prstGeom prst="rect">
            <a:avLst/>
          </a:prstGeom>
          <a:noFill/>
        </p:spPr>
        <p:txBody>
          <a:bodyPr wrap="square" tIns="0" bIns="0" lIns="0" rIns="0">
            <a:spAutoFit/>
          </a:bodyPr>
          <a:lstStyle/>
          <a:p>
            <a:pPr algn="l">
              <a:spcAft>
                <a:spcPts val="500"/>
              </a:spcAft>
              <a:defRPr sz="1400" b="1">
                <a:solidFill>
                  <a:srgbClr val="F4C77E"/>
                </a:solidFill>
                <a:latin typeface="Aptos"/>
              </a:defRPr>
            </a:pPr>
            <a:r>
              <a:t>RETAINED HISTORY   /   Inputs · attempts · failures · decisions</a:t>
            </a:r>
          </a:p>
        </p:txBody>
      </p:sp>
      <p:cxnSp>
        <p:nvCxnSpPr>
          <p:cNvPr id="46" name="Connector 45"/>
          <p:cNvCxnSpPr/>
          <p:nvPr/>
        </p:nvCxnSpPr>
        <p:spPr>
          <a:xfrm>
            <a:off x="10780776" y="4352544"/>
            <a:ext cx="0" cy="905256"/>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30352" y="6080760"/>
            <a:ext cx="11091672" cy="283464"/>
          </a:xfrm>
          <a:prstGeom prst="rect">
            <a:avLst/>
          </a:prstGeom>
          <a:noFill/>
        </p:spPr>
        <p:txBody>
          <a:bodyPr wrap="square" tIns="0" bIns="0" lIns="0" rIns="0">
            <a:spAutoFit/>
          </a:bodyPr>
          <a:lstStyle/>
          <a:p>
            <a:pPr algn="l">
              <a:spcAft>
                <a:spcPts val="500"/>
              </a:spcAft>
              <a:defRPr sz="1900" b="1">
                <a:solidFill>
                  <a:srgbClr val="56D9BD"/>
                </a:solidFill>
                <a:latin typeface="Aptos"/>
              </a:defRPr>
            </a:pPr>
            <a:r>
              <a:t>THE THESIS: less rebuilding, clearer decisions, more reusable 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02 / THE DIFFERENTIATION</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Connect the tools. Improve the research pathway.</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Our differentiation thesis is the governed combination—not any individual feature.</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POSITIONING TO VALIDATE</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02</a:t>
            </a:r>
          </a:p>
        </p:txBody>
      </p:sp>
      <p:sp>
        <p:nvSpPr>
          <p:cNvPr id="9" name="TextBox 8"/>
          <p:cNvSpPr txBox="1"/>
          <p:nvPr/>
        </p:nvSpPr>
        <p:spPr>
          <a:xfrm>
            <a:off x="557784" y="2340864"/>
            <a:ext cx="3017520" cy="292608"/>
          </a:xfrm>
          <a:prstGeom prst="rect">
            <a:avLst/>
          </a:prstGeom>
          <a:noFill/>
        </p:spPr>
        <p:txBody>
          <a:bodyPr wrap="square" tIns="0" bIns="0" lIns="0" rIns="0">
            <a:spAutoFit/>
          </a:bodyPr>
          <a:lstStyle/>
          <a:p>
            <a:pPr algn="l">
              <a:spcAft>
                <a:spcPts val="500"/>
              </a:spcAft>
              <a:defRPr sz="1200" b="1">
                <a:solidFill>
                  <a:srgbClr val="AFC1CE"/>
                </a:solidFill>
                <a:latin typeface="Aptos"/>
              </a:defRPr>
            </a:pPr>
            <a:r>
              <a:t>ESTABLISHED CAPABILITIES</a:t>
            </a:r>
          </a:p>
        </p:txBody>
      </p:sp>
      <p:sp>
        <p:nvSpPr>
          <p:cNvPr id="10" name="Rounded Rectangle 9"/>
          <p:cNvSpPr/>
          <p:nvPr/>
        </p:nvSpPr>
        <p:spPr>
          <a:xfrm>
            <a:off x="512064" y="2852928"/>
            <a:ext cx="3136392" cy="54864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916936"/>
            <a:ext cx="2843784" cy="237744"/>
          </a:xfrm>
          <a:prstGeom prst="rect">
            <a:avLst/>
          </a:prstGeom>
          <a:noFill/>
        </p:spPr>
        <p:txBody>
          <a:bodyPr wrap="square" tIns="0" bIns="0" lIns="0" rIns="0">
            <a:spAutoFit/>
          </a:bodyPr>
          <a:lstStyle/>
          <a:p>
            <a:pPr algn="l">
              <a:spcAft>
                <a:spcPts val="500"/>
              </a:spcAft>
              <a:defRPr sz="1500" b="1">
                <a:solidFill>
                  <a:srgbClr val="F1F5F6"/>
                </a:solidFill>
                <a:latin typeface="Aptos"/>
              </a:defRPr>
            </a:pPr>
            <a:r>
              <a:t>Scientific AI</a:t>
            </a:r>
          </a:p>
        </p:txBody>
      </p:sp>
      <p:sp>
        <p:nvSpPr>
          <p:cNvPr id="12" name="TextBox 11"/>
          <p:cNvSpPr txBox="1"/>
          <p:nvPr/>
        </p:nvSpPr>
        <p:spPr>
          <a:xfrm>
            <a:off x="649224" y="3172968"/>
            <a:ext cx="2843784" cy="164592"/>
          </a:xfrm>
          <a:prstGeom prst="rect">
            <a:avLst/>
          </a:prstGeom>
          <a:noFill/>
        </p:spPr>
        <p:txBody>
          <a:bodyPr wrap="square" tIns="0" bIns="0" lIns="0" rIns="0">
            <a:spAutoFit/>
          </a:bodyPr>
          <a:lstStyle/>
          <a:p>
            <a:pPr algn="l">
              <a:spcAft>
                <a:spcPts val="500"/>
              </a:spcAft>
              <a:defRPr sz="1000" b="0">
                <a:solidFill>
                  <a:srgbClr val="AFC1CE"/>
                </a:solidFill>
                <a:latin typeface="Aptos"/>
              </a:defRPr>
            </a:pPr>
            <a:r>
              <a:t>Benchling · Claude Science</a:t>
            </a:r>
          </a:p>
        </p:txBody>
      </p:sp>
      <p:cxnSp>
        <p:nvCxnSpPr>
          <p:cNvPr id="13" name="Connector 12"/>
          <p:cNvCxnSpPr/>
          <p:nvPr/>
        </p:nvCxnSpPr>
        <p:spPr>
          <a:xfrm>
            <a:off x="3675887" y="3127248"/>
            <a:ext cx="521209" cy="0"/>
          </a:xfrm>
          <a:prstGeom prst="line">
            <a:avLst/>
          </a:prstGeom>
          <a:ln w="19050">
            <a:solidFill>
              <a:srgbClr val="83BFF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2064" y="3511296"/>
            <a:ext cx="3136392" cy="54864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575303"/>
            <a:ext cx="2843784" cy="237744"/>
          </a:xfrm>
          <a:prstGeom prst="rect">
            <a:avLst/>
          </a:prstGeom>
          <a:noFill/>
        </p:spPr>
        <p:txBody>
          <a:bodyPr wrap="square" tIns="0" bIns="0" lIns="0" rIns="0">
            <a:spAutoFit/>
          </a:bodyPr>
          <a:lstStyle/>
          <a:p>
            <a:pPr algn="l">
              <a:spcAft>
                <a:spcPts val="500"/>
              </a:spcAft>
              <a:defRPr sz="1500" b="1">
                <a:solidFill>
                  <a:srgbClr val="F1F5F6"/>
                </a:solidFill>
                <a:latin typeface="Aptos"/>
              </a:defRPr>
            </a:pPr>
            <a:r>
              <a:t>Scientific optimization</a:t>
            </a:r>
          </a:p>
        </p:txBody>
      </p:sp>
      <p:sp>
        <p:nvSpPr>
          <p:cNvPr id="16" name="TextBox 15"/>
          <p:cNvSpPr txBox="1"/>
          <p:nvPr/>
        </p:nvSpPr>
        <p:spPr>
          <a:xfrm>
            <a:off x="649224" y="3831335"/>
            <a:ext cx="2843784" cy="164592"/>
          </a:xfrm>
          <a:prstGeom prst="rect">
            <a:avLst/>
          </a:prstGeom>
          <a:noFill/>
        </p:spPr>
        <p:txBody>
          <a:bodyPr wrap="square" tIns="0" bIns="0" lIns="0" rIns="0">
            <a:spAutoFit/>
          </a:bodyPr>
          <a:lstStyle/>
          <a:p>
            <a:pPr algn="l">
              <a:spcAft>
                <a:spcPts val="500"/>
              </a:spcAft>
              <a:defRPr sz="1000" b="0">
                <a:solidFill>
                  <a:srgbClr val="AFC1CE"/>
                </a:solidFill>
                <a:latin typeface="Aptos"/>
              </a:defRPr>
            </a:pPr>
            <a:r>
              <a:t>Citrine · Schrödinger</a:t>
            </a:r>
          </a:p>
        </p:txBody>
      </p:sp>
      <p:cxnSp>
        <p:nvCxnSpPr>
          <p:cNvPr id="17" name="Connector 16"/>
          <p:cNvCxnSpPr/>
          <p:nvPr/>
        </p:nvCxnSpPr>
        <p:spPr>
          <a:xfrm>
            <a:off x="3675887" y="3785615"/>
            <a:ext cx="521209" cy="0"/>
          </a:xfrm>
          <a:prstGeom prst="line">
            <a:avLst/>
          </a:prstGeom>
          <a:ln w="19050">
            <a:solidFill>
              <a:srgbClr val="56D9B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2064" y="4169664"/>
            <a:ext cx="3136392" cy="54864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233672"/>
            <a:ext cx="2843784" cy="237744"/>
          </a:xfrm>
          <a:prstGeom prst="rect">
            <a:avLst/>
          </a:prstGeom>
          <a:noFill/>
        </p:spPr>
        <p:txBody>
          <a:bodyPr wrap="square" tIns="0" bIns="0" lIns="0" rIns="0">
            <a:spAutoFit/>
          </a:bodyPr>
          <a:lstStyle/>
          <a:p>
            <a:pPr algn="l">
              <a:spcAft>
                <a:spcPts val="500"/>
              </a:spcAft>
              <a:defRPr sz="1500" b="1">
                <a:solidFill>
                  <a:srgbClr val="F1F5F6"/>
                </a:solidFill>
                <a:latin typeface="Aptos"/>
              </a:defRPr>
            </a:pPr>
            <a:r>
              <a:t>Lab execution</a:t>
            </a:r>
          </a:p>
        </p:txBody>
      </p:sp>
      <p:sp>
        <p:nvSpPr>
          <p:cNvPr id="20" name="TextBox 19"/>
          <p:cNvSpPr txBox="1"/>
          <p:nvPr/>
        </p:nvSpPr>
        <p:spPr>
          <a:xfrm>
            <a:off x="649224" y="4489704"/>
            <a:ext cx="2843784" cy="164592"/>
          </a:xfrm>
          <a:prstGeom prst="rect">
            <a:avLst/>
          </a:prstGeom>
          <a:noFill/>
        </p:spPr>
        <p:txBody>
          <a:bodyPr wrap="square" tIns="0" bIns="0" lIns="0" rIns="0">
            <a:spAutoFit/>
          </a:bodyPr>
          <a:lstStyle/>
          <a:p>
            <a:pPr algn="l">
              <a:spcAft>
                <a:spcPts val="500"/>
              </a:spcAft>
              <a:defRPr sz="1000" b="0">
                <a:solidFill>
                  <a:srgbClr val="AFC1CE"/>
                </a:solidFill>
                <a:latin typeface="Aptos"/>
              </a:defRPr>
            </a:pPr>
            <a:r>
              <a:t>Synthace · Automata</a:t>
            </a:r>
          </a:p>
        </p:txBody>
      </p:sp>
      <p:cxnSp>
        <p:nvCxnSpPr>
          <p:cNvPr id="21" name="Connector 20"/>
          <p:cNvCxnSpPr/>
          <p:nvPr/>
        </p:nvCxnSpPr>
        <p:spPr>
          <a:xfrm>
            <a:off x="3675887" y="4443984"/>
            <a:ext cx="521209" cy="0"/>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12064" y="4828032"/>
            <a:ext cx="3136392" cy="54864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4892040"/>
            <a:ext cx="2843784" cy="237744"/>
          </a:xfrm>
          <a:prstGeom prst="rect">
            <a:avLst/>
          </a:prstGeom>
          <a:noFill/>
        </p:spPr>
        <p:txBody>
          <a:bodyPr wrap="square" tIns="0" bIns="0" lIns="0" rIns="0">
            <a:spAutoFit/>
          </a:bodyPr>
          <a:lstStyle/>
          <a:p>
            <a:pPr algn="l">
              <a:spcAft>
                <a:spcPts val="500"/>
              </a:spcAft>
              <a:defRPr sz="1500" b="1">
                <a:solidFill>
                  <a:srgbClr val="F1F5F6"/>
                </a:solidFill>
                <a:latin typeface="Aptos"/>
              </a:defRPr>
            </a:pPr>
            <a:r>
              <a:t>Integrated discovery</a:t>
            </a:r>
          </a:p>
        </p:txBody>
      </p:sp>
      <p:sp>
        <p:nvSpPr>
          <p:cNvPr id="24" name="TextBox 23"/>
          <p:cNvSpPr txBox="1"/>
          <p:nvPr/>
        </p:nvSpPr>
        <p:spPr>
          <a:xfrm>
            <a:off x="649224" y="5148072"/>
            <a:ext cx="2843784" cy="164592"/>
          </a:xfrm>
          <a:prstGeom prst="rect">
            <a:avLst/>
          </a:prstGeom>
          <a:noFill/>
        </p:spPr>
        <p:txBody>
          <a:bodyPr wrap="square" tIns="0" bIns="0" lIns="0" rIns="0">
            <a:spAutoFit/>
          </a:bodyPr>
          <a:lstStyle/>
          <a:p>
            <a:pPr algn="l">
              <a:spcAft>
                <a:spcPts val="500"/>
              </a:spcAft>
              <a:defRPr sz="1000" b="0">
                <a:solidFill>
                  <a:srgbClr val="AFC1CE"/>
                </a:solidFill>
                <a:latin typeface="Aptos"/>
              </a:defRPr>
            </a:pPr>
            <a:r>
              <a:t>Recursion</a:t>
            </a:r>
          </a:p>
        </p:txBody>
      </p:sp>
      <p:cxnSp>
        <p:nvCxnSpPr>
          <p:cNvPr id="25" name="Connector 24"/>
          <p:cNvCxnSpPr/>
          <p:nvPr/>
        </p:nvCxnSpPr>
        <p:spPr>
          <a:xfrm>
            <a:off x="3675887" y="5102352"/>
            <a:ext cx="521209" cy="0"/>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197096" y="3127248"/>
            <a:ext cx="0" cy="1975104"/>
          </a:xfrm>
          <a:prstGeom prst="line">
            <a:avLst/>
          </a:prstGeom>
          <a:ln w="1905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197096" y="4114800"/>
            <a:ext cx="475488"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585295" y="411480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585295" y="406482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718304" y="2734056"/>
            <a:ext cx="3273552" cy="2816352"/>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65192" y="2971800"/>
            <a:ext cx="2788920" cy="320040"/>
          </a:xfrm>
          <a:prstGeom prst="rect">
            <a:avLst/>
          </a:prstGeom>
          <a:noFill/>
        </p:spPr>
        <p:txBody>
          <a:bodyPr wrap="square" tIns="0" bIns="0" lIns="0" rIns="0">
            <a:spAutoFit/>
          </a:bodyPr>
          <a:lstStyle/>
          <a:p>
            <a:pPr algn="ctr">
              <a:spcAft>
                <a:spcPts val="500"/>
              </a:spcAft>
              <a:defRPr sz="1700" b="1">
                <a:solidFill>
                  <a:srgbClr val="56D9BD"/>
                </a:solidFill>
                <a:latin typeface="Aptos"/>
              </a:defRPr>
            </a:pPr>
            <a:r>
              <a:t>AMPHORA</a:t>
            </a:r>
          </a:p>
        </p:txBody>
      </p:sp>
      <p:sp>
        <p:nvSpPr>
          <p:cNvPr id="32" name="TextBox 31"/>
          <p:cNvSpPr txBox="1"/>
          <p:nvPr/>
        </p:nvSpPr>
        <p:spPr>
          <a:xfrm>
            <a:off x="4965192" y="3557016"/>
            <a:ext cx="2788920" cy="1188720"/>
          </a:xfrm>
          <a:prstGeom prst="rect">
            <a:avLst/>
          </a:prstGeom>
          <a:noFill/>
        </p:spPr>
        <p:txBody>
          <a:bodyPr wrap="square" tIns="0" bIns="0" lIns="0" rIns="0">
            <a:spAutoFit/>
          </a:bodyPr>
          <a:lstStyle/>
          <a:p>
            <a:pPr algn="ctr">
              <a:spcAft>
                <a:spcPts val="500"/>
              </a:spcAft>
              <a:defRPr sz="2200" b="1">
                <a:solidFill>
                  <a:srgbClr val="F1F5F6"/>
                </a:solidFill>
                <a:latin typeface="Aptos"/>
              </a:defRPr>
            </a:pPr>
            <a:r>
              <a:t>Executable,</a:t>
            </a:r>
          </a:p>
          <a:p>
            <a:pPr algn="ctr">
              <a:spcAft>
                <a:spcPts val="500"/>
              </a:spcAft>
              <a:defRPr sz="2200" b="1">
                <a:solidFill>
                  <a:srgbClr val="F1F5F6"/>
                </a:solidFill>
                <a:latin typeface="Aptos"/>
              </a:defRPr>
            </a:pPr>
            <a:r>
              <a:t>evolvable</a:t>
            </a:r>
          </a:p>
          <a:p>
            <a:pPr algn="ctr">
              <a:spcAft>
                <a:spcPts val="500"/>
              </a:spcAft>
              <a:defRPr sz="2200" b="1">
                <a:solidFill>
                  <a:srgbClr val="F1F5F6"/>
                </a:solidFill>
                <a:latin typeface="Aptos"/>
              </a:defRPr>
            </a:pPr>
            <a:r>
              <a:t>research maps</a:t>
            </a:r>
          </a:p>
        </p:txBody>
      </p:sp>
      <p:sp>
        <p:nvSpPr>
          <p:cNvPr id="33" name="TextBox 32"/>
          <p:cNvSpPr txBox="1"/>
          <p:nvPr/>
        </p:nvSpPr>
        <p:spPr>
          <a:xfrm>
            <a:off x="4974336" y="4919472"/>
            <a:ext cx="2761488" cy="365760"/>
          </a:xfrm>
          <a:prstGeom prst="rect">
            <a:avLst/>
          </a:prstGeom>
          <a:noFill/>
        </p:spPr>
        <p:txBody>
          <a:bodyPr wrap="square" tIns="0" bIns="0" lIns="0" rIns="0">
            <a:spAutoFit/>
          </a:bodyPr>
          <a:lstStyle/>
          <a:p>
            <a:pPr algn="ctr">
              <a:spcAft>
                <a:spcPts val="500"/>
              </a:spcAft>
              <a:defRPr sz="1200" b="0">
                <a:solidFill>
                  <a:srgbClr val="AFC1CE"/>
                </a:solidFill>
                <a:latin typeface="Aptos"/>
              </a:defRPr>
            </a:pPr>
            <a:r>
              <a:t>Knowledge + evidence + control</a:t>
            </a:r>
          </a:p>
        </p:txBody>
      </p:sp>
      <p:cxnSp>
        <p:nvCxnSpPr>
          <p:cNvPr id="34" name="Connector 33"/>
          <p:cNvCxnSpPr/>
          <p:nvPr/>
        </p:nvCxnSpPr>
        <p:spPr>
          <a:xfrm>
            <a:off x="8046720" y="4114800"/>
            <a:ext cx="502920"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462351" y="411480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8462351" y="406482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801100" y="3049524"/>
            <a:ext cx="118872" cy="118872"/>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98280" y="2871216"/>
            <a:ext cx="2514600"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t>ADAPT</a:t>
            </a:r>
          </a:p>
        </p:txBody>
      </p:sp>
      <p:sp>
        <p:nvSpPr>
          <p:cNvPr id="39" name="TextBox 38"/>
          <p:cNvSpPr txBox="1"/>
          <p:nvPr/>
        </p:nvSpPr>
        <p:spPr>
          <a:xfrm>
            <a:off x="9098280" y="3264408"/>
            <a:ext cx="2514600" cy="365760"/>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Change the next step</a:t>
            </a:r>
          </a:p>
        </p:txBody>
      </p:sp>
      <p:sp>
        <p:nvSpPr>
          <p:cNvPr id="40" name="Oval 39"/>
          <p:cNvSpPr/>
          <p:nvPr/>
        </p:nvSpPr>
        <p:spPr>
          <a:xfrm>
            <a:off x="8801100" y="3945635"/>
            <a:ext cx="118872" cy="118872"/>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98280" y="3767327"/>
            <a:ext cx="2514600" cy="292608"/>
          </a:xfrm>
          <a:prstGeom prst="rect">
            <a:avLst/>
          </a:prstGeom>
          <a:noFill/>
        </p:spPr>
        <p:txBody>
          <a:bodyPr wrap="square" tIns="0" bIns="0" lIns="0" rIns="0">
            <a:spAutoFit/>
          </a:bodyPr>
          <a:lstStyle/>
          <a:p>
            <a:pPr algn="l">
              <a:spcAft>
                <a:spcPts val="500"/>
              </a:spcAft>
              <a:defRPr sz="1700" b="1">
                <a:solidFill>
                  <a:srgbClr val="83BFFF"/>
                </a:solidFill>
                <a:latin typeface="Aptos"/>
              </a:defRPr>
            </a:pPr>
            <a:r>
              <a:t>EXPLAIN</a:t>
            </a:r>
          </a:p>
        </p:txBody>
      </p:sp>
      <p:sp>
        <p:nvSpPr>
          <p:cNvPr id="42" name="TextBox 41"/>
          <p:cNvSpPr txBox="1"/>
          <p:nvPr/>
        </p:nvSpPr>
        <p:spPr>
          <a:xfrm>
            <a:off x="9098280" y="4160520"/>
            <a:ext cx="2514600" cy="365760"/>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Inspect the evidence</a:t>
            </a:r>
          </a:p>
        </p:txBody>
      </p:sp>
      <p:sp>
        <p:nvSpPr>
          <p:cNvPr id="43" name="Oval 42"/>
          <p:cNvSpPr/>
          <p:nvPr/>
        </p:nvSpPr>
        <p:spPr>
          <a:xfrm>
            <a:off x="8801100" y="4841748"/>
            <a:ext cx="118872" cy="118872"/>
          </a:xfrm>
          <a:prstGeom prst="ellipse">
            <a:avLst/>
          </a:prstGeom>
          <a:solidFill>
            <a:srgbClr val="F4C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98280" y="4663440"/>
            <a:ext cx="2514600" cy="292608"/>
          </a:xfrm>
          <a:prstGeom prst="rect">
            <a:avLst/>
          </a:prstGeom>
          <a:noFill/>
        </p:spPr>
        <p:txBody>
          <a:bodyPr wrap="square" tIns="0" bIns="0" lIns="0" rIns="0">
            <a:spAutoFit/>
          </a:bodyPr>
          <a:lstStyle/>
          <a:p>
            <a:pPr algn="l">
              <a:spcAft>
                <a:spcPts val="500"/>
              </a:spcAft>
              <a:defRPr sz="1700" b="1">
                <a:solidFill>
                  <a:srgbClr val="F4C77E"/>
                </a:solidFill>
                <a:latin typeface="Aptos"/>
              </a:defRPr>
            </a:pPr>
            <a:r>
              <a:t>REUSE</a:t>
            </a:r>
          </a:p>
        </p:txBody>
      </p:sp>
      <p:sp>
        <p:nvSpPr>
          <p:cNvPr id="45" name="TextBox 44"/>
          <p:cNvSpPr txBox="1"/>
          <p:nvPr/>
        </p:nvSpPr>
        <p:spPr>
          <a:xfrm>
            <a:off x="9098280" y="5056632"/>
            <a:ext cx="2514600" cy="365760"/>
          </a:xfrm>
          <a:prstGeom prst="rect">
            <a:avLst/>
          </a:prstGeom>
          <a:noFill/>
        </p:spPr>
        <p:txBody>
          <a:bodyPr wrap="square" tIns="0" bIns="0" lIns="0" rIns="0">
            <a:spAutoFit/>
          </a:bodyPr>
          <a:lstStyle/>
          <a:p>
            <a:pPr algn="l">
              <a:spcAft>
                <a:spcPts val="500"/>
              </a:spcAft>
              <a:defRPr sz="1600" b="0">
                <a:solidFill>
                  <a:srgbClr val="F1F5F6"/>
                </a:solidFill>
                <a:latin typeface="Aptos"/>
              </a:defRPr>
            </a:pPr>
            <a:r>
              <a:t>Transfer reviewed work</a:t>
            </a:r>
          </a:p>
        </p:txBody>
      </p:sp>
      <p:sp>
        <p:nvSpPr>
          <p:cNvPr id="46" name="TextBox 45"/>
          <p:cNvSpPr txBox="1"/>
          <p:nvPr/>
        </p:nvSpPr>
        <p:spPr>
          <a:xfrm>
            <a:off x="557784" y="5952744"/>
            <a:ext cx="11045952" cy="365760"/>
          </a:xfrm>
          <a:prstGeom prst="rect">
            <a:avLst/>
          </a:prstGeom>
          <a:noFill/>
        </p:spPr>
        <p:txBody>
          <a:bodyPr wrap="square" tIns="0" bIns="0" lIns="0" rIns="0">
            <a:spAutoFit/>
          </a:bodyPr>
          <a:lstStyle/>
          <a:p>
            <a:pPr algn="l">
              <a:spcAft>
                <a:spcPts val="500"/>
              </a:spcAft>
              <a:defRPr sz="2000" b="1">
                <a:solidFill>
                  <a:srgbClr val="56D9BD"/>
                </a:solidFill>
                <a:latin typeface="Aptos"/>
              </a:defRPr>
            </a:pPr>
            <a:r>
              <a:t>Prove the advantage against existing platforms and custom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03 / THE INVESTMENT CASE</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Every campaign can make the next one more valuable</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The potential asset: reviewed knowledge of which research paths work, where and why.</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POTENTIAL VALUE / TO PROVE</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03</a:t>
            </a:r>
          </a:p>
        </p:txBody>
      </p:sp>
      <p:sp>
        <p:nvSpPr>
          <p:cNvPr id="9" name="Rounded Rectangle 8"/>
          <p:cNvSpPr/>
          <p:nvPr/>
        </p:nvSpPr>
        <p:spPr>
          <a:xfrm>
            <a:off x="539496" y="2697480"/>
            <a:ext cx="2212848" cy="1033271"/>
          </a:xfrm>
          <a:prstGeom prst="roundRect">
            <a:avLst>
              <a:gd name="adj" fmla="val 12000"/>
            </a:avLst>
          </a:prstGeom>
          <a:solidFill>
            <a:srgbClr val="192B3E"/>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862072"/>
            <a:ext cx="1975104"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RUN</a:t>
            </a:r>
          </a:p>
        </p:txBody>
      </p:sp>
      <p:sp>
        <p:nvSpPr>
          <p:cNvPr id="11" name="TextBox 10"/>
          <p:cNvSpPr txBox="1"/>
          <p:nvPr/>
        </p:nvSpPr>
        <p:spPr>
          <a:xfrm>
            <a:off x="649224" y="3255264"/>
            <a:ext cx="1993391" cy="292608"/>
          </a:xfrm>
          <a:prstGeom prst="rect">
            <a:avLst/>
          </a:prstGeom>
          <a:noFill/>
        </p:spPr>
        <p:txBody>
          <a:bodyPr wrap="square" tIns="0" bIns="0" lIns="0" rIns="0">
            <a:spAutoFit/>
          </a:bodyPr>
          <a:lstStyle/>
          <a:p>
            <a:pPr algn="ctr">
              <a:spcAft>
                <a:spcPts val="500"/>
              </a:spcAft>
              <a:defRPr sz="1100" b="0">
                <a:solidFill>
                  <a:srgbClr val="AFC1CE"/>
                </a:solidFill>
                <a:latin typeface="Aptos"/>
              </a:defRPr>
            </a:pPr>
            <a:r>
              <a:t>Attempts + outcomes</a:t>
            </a:r>
          </a:p>
        </p:txBody>
      </p:sp>
      <p:sp>
        <p:nvSpPr>
          <p:cNvPr id="12" name="Rounded Rectangle 11"/>
          <p:cNvSpPr/>
          <p:nvPr/>
        </p:nvSpPr>
        <p:spPr>
          <a:xfrm>
            <a:off x="3502152" y="2697480"/>
            <a:ext cx="2212848" cy="1033271"/>
          </a:xfrm>
          <a:prstGeom prst="roundRect">
            <a:avLst>
              <a:gd name="adj" fmla="val 12000"/>
            </a:avLst>
          </a:prstGeom>
          <a:solidFill>
            <a:srgbClr val="192B3E"/>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2862072"/>
            <a:ext cx="1975104"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COMPARE</a:t>
            </a:r>
          </a:p>
        </p:txBody>
      </p:sp>
      <p:sp>
        <p:nvSpPr>
          <p:cNvPr id="14" name="TextBox 13"/>
          <p:cNvSpPr txBox="1"/>
          <p:nvPr/>
        </p:nvSpPr>
        <p:spPr>
          <a:xfrm>
            <a:off x="3611880" y="3255264"/>
            <a:ext cx="1993391" cy="292608"/>
          </a:xfrm>
          <a:prstGeom prst="rect">
            <a:avLst/>
          </a:prstGeom>
          <a:noFill/>
        </p:spPr>
        <p:txBody>
          <a:bodyPr wrap="square" tIns="0" bIns="0" lIns="0" rIns="0">
            <a:spAutoFit/>
          </a:bodyPr>
          <a:lstStyle/>
          <a:p>
            <a:pPr algn="ctr">
              <a:spcAft>
                <a:spcPts val="500"/>
              </a:spcAft>
              <a:defRPr sz="1100" b="0">
                <a:solidFill>
                  <a:srgbClr val="AFC1CE"/>
                </a:solidFill>
                <a:latin typeface="Aptos"/>
              </a:defRPr>
            </a:pPr>
            <a:r>
              <a:t>Cost + evidence</a:t>
            </a:r>
          </a:p>
        </p:txBody>
      </p:sp>
      <p:sp>
        <p:nvSpPr>
          <p:cNvPr id="15" name="Rounded Rectangle 14"/>
          <p:cNvSpPr/>
          <p:nvPr/>
        </p:nvSpPr>
        <p:spPr>
          <a:xfrm>
            <a:off x="6464808" y="2697480"/>
            <a:ext cx="2212848" cy="1033271"/>
          </a:xfrm>
          <a:prstGeom prst="roundRect">
            <a:avLst>
              <a:gd name="adj" fmla="val 12000"/>
            </a:avLst>
          </a:prstGeom>
          <a:solidFill>
            <a:srgbClr val="192B3E"/>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862072"/>
            <a:ext cx="1975104"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REVIEW</a:t>
            </a:r>
          </a:p>
        </p:txBody>
      </p:sp>
      <p:sp>
        <p:nvSpPr>
          <p:cNvPr id="17" name="TextBox 16"/>
          <p:cNvSpPr txBox="1"/>
          <p:nvPr/>
        </p:nvSpPr>
        <p:spPr>
          <a:xfrm>
            <a:off x="6574536" y="3255264"/>
            <a:ext cx="1993391" cy="292608"/>
          </a:xfrm>
          <a:prstGeom prst="rect">
            <a:avLst/>
          </a:prstGeom>
          <a:noFill/>
        </p:spPr>
        <p:txBody>
          <a:bodyPr wrap="square" tIns="0" bIns="0" lIns="0" rIns="0">
            <a:spAutoFit/>
          </a:bodyPr>
          <a:lstStyle/>
          <a:p>
            <a:pPr algn="ctr">
              <a:spcAft>
                <a:spcPts val="500"/>
              </a:spcAft>
              <a:defRPr sz="1100" b="0">
                <a:solidFill>
                  <a:srgbClr val="AFC1CE"/>
                </a:solidFill>
                <a:latin typeface="Aptos"/>
              </a:defRPr>
            </a:pPr>
            <a:r>
              <a:t>Context + rights</a:t>
            </a:r>
          </a:p>
        </p:txBody>
      </p:sp>
      <p:sp>
        <p:nvSpPr>
          <p:cNvPr id="18" name="Rounded Rectangle 17"/>
          <p:cNvSpPr/>
          <p:nvPr/>
        </p:nvSpPr>
        <p:spPr>
          <a:xfrm>
            <a:off x="9427464" y="2697480"/>
            <a:ext cx="2212848" cy="1033271"/>
          </a:xfrm>
          <a:prstGeom prst="roundRect">
            <a:avLst>
              <a:gd name="adj" fmla="val 12000"/>
            </a:avLst>
          </a:prstGeom>
          <a:solidFill>
            <a:srgbClr val="192B3E"/>
          </a:solidFill>
          <a:ln>
            <a:solidFill>
              <a:srgbClr val="F4C7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46336" y="2862072"/>
            <a:ext cx="1975104" cy="320040"/>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REUSE</a:t>
            </a:r>
          </a:p>
        </p:txBody>
      </p:sp>
      <p:sp>
        <p:nvSpPr>
          <p:cNvPr id="20" name="TextBox 19"/>
          <p:cNvSpPr txBox="1"/>
          <p:nvPr/>
        </p:nvSpPr>
        <p:spPr>
          <a:xfrm>
            <a:off x="9537192" y="3255264"/>
            <a:ext cx="1993391" cy="292608"/>
          </a:xfrm>
          <a:prstGeom prst="rect">
            <a:avLst/>
          </a:prstGeom>
          <a:noFill/>
        </p:spPr>
        <p:txBody>
          <a:bodyPr wrap="square" tIns="0" bIns="0" lIns="0" rIns="0">
            <a:spAutoFit/>
          </a:bodyPr>
          <a:lstStyle/>
          <a:p>
            <a:pPr algn="ctr">
              <a:spcAft>
                <a:spcPts val="500"/>
              </a:spcAft>
              <a:defRPr sz="1100" b="0">
                <a:solidFill>
                  <a:srgbClr val="AFC1CE"/>
                </a:solidFill>
                <a:latin typeface="Aptos"/>
              </a:defRPr>
            </a:pPr>
            <a:r>
              <a:t>Campaign patterns</a:t>
            </a:r>
          </a:p>
        </p:txBody>
      </p:sp>
      <p:cxnSp>
        <p:nvCxnSpPr>
          <p:cNvPr id="21" name="Connector 20"/>
          <p:cNvCxnSpPr/>
          <p:nvPr/>
        </p:nvCxnSpPr>
        <p:spPr>
          <a:xfrm>
            <a:off x="2788920" y="3200400"/>
            <a:ext cx="649224"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350855" y="320040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3350855" y="315042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51576" y="3200400"/>
            <a:ext cx="649224"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313511" y="320040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313511" y="315042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14232" y="3200400"/>
            <a:ext cx="649224"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9276167" y="320040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9276167" y="315042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533888" y="3767328"/>
            <a:ext cx="0" cy="493776"/>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645920" y="4261104"/>
            <a:ext cx="8887968" cy="0"/>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645920" y="3767328"/>
            <a:ext cx="0" cy="493776"/>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45920" y="3767328"/>
            <a:ext cx="49978" cy="87288"/>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595941" y="3767328"/>
            <a:ext cx="49979" cy="87288"/>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21608" y="3977639"/>
            <a:ext cx="4690872" cy="265176"/>
          </a:xfrm>
          <a:prstGeom prst="rect">
            <a:avLst/>
          </a:prstGeom>
          <a:noFill/>
        </p:spPr>
        <p:txBody>
          <a:bodyPr wrap="square" tIns="0" bIns="0" lIns="0" rIns="0">
            <a:spAutoFit/>
          </a:bodyPr>
          <a:lstStyle/>
          <a:p>
            <a:pPr algn="ctr">
              <a:spcAft>
                <a:spcPts val="500"/>
              </a:spcAft>
              <a:defRPr sz="1100" b="1">
                <a:solidFill>
                  <a:srgbClr val="F4C77E"/>
                </a:solidFill>
                <a:latin typeface="Aptos"/>
              </a:defRPr>
            </a:pPr>
            <a:r>
              <a:t>RETAIN FAILURES. PRESERVE THE LESSON.</a:t>
            </a:r>
          </a:p>
        </p:txBody>
      </p:sp>
      <p:sp>
        <p:nvSpPr>
          <p:cNvPr id="36" name="Oval 35"/>
          <p:cNvSpPr/>
          <p:nvPr/>
        </p:nvSpPr>
        <p:spPr>
          <a:xfrm>
            <a:off x="544068" y="4905756"/>
            <a:ext cx="137160" cy="137160"/>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3816" y="4828032"/>
            <a:ext cx="3346704" cy="329184"/>
          </a:xfrm>
          <a:prstGeom prst="rect">
            <a:avLst/>
          </a:prstGeom>
          <a:noFill/>
        </p:spPr>
        <p:txBody>
          <a:bodyPr wrap="square" tIns="0" bIns="0" lIns="0" rIns="0">
            <a:spAutoFit/>
          </a:bodyPr>
          <a:lstStyle/>
          <a:p>
            <a:pPr algn="l">
              <a:spcAft>
                <a:spcPts val="500"/>
              </a:spcAft>
              <a:defRPr sz="1500" b="1">
                <a:solidFill>
                  <a:srgbClr val="56D9BD"/>
                </a:solidFill>
                <a:latin typeface="Aptos"/>
              </a:defRPr>
            </a:pPr>
            <a:r>
              <a:t>START FOCUSED</a:t>
            </a:r>
          </a:p>
        </p:txBody>
      </p:sp>
      <p:sp>
        <p:nvSpPr>
          <p:cNvPr id="38" name="TextBox 37"/>
          <p:cNvSpPr txBox="1"/>
          <p:nvPr/>
        </p:nvSpPr>
        <p:spPr>
          <a:xfrm>
            <a:off x="813816" y="5340096"/>
            <a:ext cx="3310128" cy="566928"/>
          </a:xfrm>
          <a:prstGeom prst="rect">
            <a:avLst/>
          </a:prstGeom>
          <a:noFill/>
        </p:spPr>
        <p:txBody>
          <a:bodyPr wrap="square" tIns="0" bIns="0" lIns="0" rIns="0">
            <a:spAutoFit/>
          </a:bodyPr>
          <a:lstStyle/>
          <a:p>
            <a:pPr algn="l">
              <a:spcAft>
                <a:spcPts val="500"/>
              </a:spcAft>
              <a:defRPr sz="1800" b="1">
                <a:solidFill>
                  <a:srgbClr val="F1F5F6"/>
                </a:solidFill>
                <a:latin typeface="Aptos"/>
              </a:defRPr>
            </a:pPr>
            <a:r>
              <a:t>Delivery / formulation programs</a:t>
            </a:r>
          </a:p>
        </p:txBody>
      </p:sp>
      <p:sp>
        <p:nvSpPr>
          <p:cNvPr id="39" name="Oval 38"/>
          <p:cNvSpPr/>
          <p:nvPr/>
        </p:nvSpPr>
        <p:spPr>
          <a:xfrm>
            <a:off x="4375404" y="4905756"/>
            <a:ext cx="137160" cy="13716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45152" y="4828032"/>
            <a:ext cx="3346704" cy="329184"/>
          </a:xfrm>
          <a:prstGeom prst="rect">
            <a:avLst/>
          </a:prstGeom>
          <a:noFill/>
        </p:spPr>
        <p:txBody>
          <a:bodyPr wrap="square" tIns="0" bIns="0" lIns="0" rIns="0">
            <a:spAutoFit/>
          </a:bodyPr>
          <a:lstStyle/>
          <a:p>
            <a:pPr algn="l">
              <a:spcAft>
                <a:spcPts val="500"/>
              </a:spcAft>
              <a:defRPr sz="1500" b="1">
                <a:solidFill>
                  <a:srgbClr val="83BFFF"/>
                </a:solidFill>
                <a:latin typeface="Aptos"/>
              </a:defRPr>
            </a:pPr>
            <a:r>
              <a:t>PROVE VALUE</a:t>
            </a:r>
          </a:p>
        </p:txBody>
      </p:sp>
      <p:sp>
        <p:nvSpPr>
          <p:cNvPr id="41" name="TextBox 40"/>
          <p:cNvSpPr txBox="1"/>
          <p:nvPr/>
        </p:nvSpPr>
        <p:spPr>
          <a:xfrm>
            <a:off x="4645152" y="5340096"/>
            <a:ext cx="3310128" cy="566928"/>
          </a:xfrm>
          <a:prstGeom prst="rect">
            <a:avLst/>
          </a:prstGeom>
          <a:noFill/>
        </p:spPr>
        <p:txBody>
          <a:bodyPr wrap="square" tIns="0" bIns="0" lIns="0" rIns="0">
            <a:spAutoFit/>
          </a:bodyPr>
          <a:lstStyle/>
          <a:p>
            <a:pPr algn="l">
              <a:spcAft>
                <a:spcPts val="500"/>
              </a:spcAft>
              <a:defRPr sz="1800" b="1">
                <a:solidFill>
                  <a:srgbClr val="F1F5F6"/>
                </a:solidFill>
                <a:latin typeface="Aptos"/>
              </a:defRPr>
            </a:pPr>
            <a:r>
              <a:t>Measured pilot + validated science</a:t>
            </a:r>
          </a:p>
        </p:txBody>
      </p:sp>
      <p:sp>
        <p:nvSpPr>
          <p:cNvPr id="42" name="Oval 41"/>
          <p:cNvSpPr/>
          <p:nvPr/>
        </p:nvSpPr>
        <p:spPr>
          <a:xfrm>
            <a:off x="8206740" y="4905756"/>
            <a:ext cx="137160" cy="137160"/>
          </a:xfrm>
          <a:prstGeom prst="ellipse">
            <a:avLst/>
          </a:prstGeom>
          <a:solidFill>
            <a:srgbClr val="BEA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76488" y="4828032"/>
            <a:ext cx="3346704" cy="329184"/>
          </a:xfrm>
          <a:prstGeom prst="rect">
            <a:avLst/>
          </a:prstGeom>
          <a:noFill/>
        </p:spPr>
        <p:txBody>
          <a:bodyPr wrap="square" tIns="0" bIns="0" lIns="0" rIns="0">
            <a:spAutoFit/>
          </a:bodyPr>
          <a:lstStyle/>
          <a:p>
            <a:pPr algn="l">
              <a:spcAft>
                <a:spcPts val="500"/>
              </a:spcAft>
              <a:defRPr sz="1500" b="1">
                <a:solidFill>
                  <a:srgbClr val="BEA5F4"/>
                </a:solidFill>
                <a:latin typeface="Aptos"/>
              </a:defRPr>
            </a:pPr>
            <a:r>
              <a:t>EXPAND</a:t>
            </a:r>
          </a:p>
        </p:txBody>
      </p:sp>
      <p:sp>
        <p:nvSpPr>
          <p:cNvPr id="44" name="TextBox 43"/>
          <p:cNvSpPr txBox="1"/>
          <p:nvPr/>
        </p:nvSpPr>
        <p:spPr>
          <a:xfrm>
            <a:off x="8476488" y="5340096"/>
            <a:ext cx="3310128" cy="566928"/>
          </a:xfrm>
          <a:prstGeom prst="rect">
            <a:avLst/>
          </a:prstGeom>
          <a:noFill/>
        </p:spPr>
        <p:txBody>
          <a:bodyPr wrap="square" tIns="0" bIns="0" lIns="0" rIns="0">
            <a:spAutoFit/>
          </a:bodyPr>
          <a:lstStyle/>
          <a:p>
            <a:pPr algn="l">
              <a:spcAft>
                <a:spcPts val="500"/>
              </a:spcAft>
              <a:defRPr sz="1800" b="1">
                <a:solidFill>
                  <a:srgbClr val="F1F5F6"/>
                </a:solidFill>
                <a:latin typeface="Aptos"/>
              </a:defRPr>
            </a:pPr>
            <a:r>
              <a:t>Reusable materials + biology tools</a:t>
            </a:r>
          </a:p>
        </p:txBody>
      </p:sp>
      <p:sp>
        <p:nvSpPr>
          <p:cNvPr id="45" name="TextBox 44"/>
          <p:cNvSpPr txBox="1"/>
          <p:nvPr/>
        </p:nvSpPr>
        <p:spPr>
          <a:xfrm>
            <a:off x="557784" y="6062472"/>
            <a:ext cx="11036808" cy="310896"/>
          </a:xfrm>
          <a:prstGeom prst="rect">
            <a:avLst/>
          </a:prstGeom>
          <a:noFill/>
        </p:spPr>
        <p:txBody>
          <a:bodyPr wrap="square" tIns="0" bIns="0" lIns="0" rIns="0">
            <a:spAutoFit/>
          </a:bodyPr>
          <a:lstStyle/>
          <a:p>
            <a:pPr algn="l">
              <a:spcAft>
                <a:spcPts val="500"/>
              </a:spcAft>
              <a:defRPr sz="2000" b="1">
                <a:solidFill>
                  <a:srgbClr val="56D9BD"/>
                </a:solidFill>
                <a:latin typeface="Aptos"/>
              </a:defRPr>
            </a:pPr>
            <a:r>
              <a:t>Invest to prove repeatable value—then earn the right to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Amphora | Research Engine in Three Slides</dc:title>
  <dc:subject>Visual investor summary of engine, differentiation and investment thesis</dc:subject>
  <dc:creator>Amphora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